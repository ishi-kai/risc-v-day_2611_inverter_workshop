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67"/>
  </p:notesMasterIdLst>
  <p:handoutMasterIdLst>
    <p:handoutMasterId r:id="rId168"/>
  </p:handoutMasterIdLst>
  <p:sldIdLst>
    <p:sldId id="602" r:id="rId5"/>
    <p:sldId id="4936" r:id="rId6"/>
    <p:sldId id="4937" r:id="rId7"/>
    <p:sldId id="4939" r:id="rId8"/>
    <p:sldId id="4775" r:id="rId9"/>
    <p:sldId id="4902" r:id="rId10"/>
    <p:sldId id="4906" r:id="rId11"/>
    <p:sldId id="4904" r:id="rId12"/>
    <p:sldId id="4905" r:id="rId13"/>
    <p:sldId id="4840" r:id="rId14"/>
    <p:sldId id="710" r:id="rId15"/>
    <p:sldId id="688" r:id="rId16"/>
    <p:sldId id="4841" r:id="rId17"/>
    <p:sldId id="4842" r:id="rId18"/>
    <p:sldId id="4843" r:id="rId19"/>
    <p:sldId id="681" r:id="rId20"/>
    <p:sldId id="682" r:id="rId21"/>
    <p:sldId id="683" r:id="rId22"/>
    <p:sldId id="684" r:id="rId23"/>
    <p:sldId id="4844" r:id="rId24"/>
    <p:sldId id="4845" r:id="rId25"/>
    <p:sldId id="4846" r:id="rId26"/>
    <p:sldId id="4847" r:id="rId27"/>
    <p:sldId id="4866" r:id="rId28"/>
    <p:sldId id="4875" r:id="rId29"/>
    <p:sldId id="627" r:id="rId30"/>
    <p:sldId id="626" r:id="rId31"/>
    <p:sldId id="629" r:id="rId32"/>
    <p:sldId id="630" r:id="rId33"/>
    <p:sldId id="631" r:id="rId34"/>
    <p:sldId id="632" r:id="rId35"/>
    <p:sldId id="406" r:id="rId36"/>
    <p:sldId id="551" r:id="rId37"/>
    <p:sldId id="552" r:id="rId38"/>
    <p:sldId id="321" r:id="rId39"/>
    <p:sldId id="669" r:id="rId40"/>
    <p:sldId id="668" r:id="rId41"/>
    <p:sldId id="4907" r:id="rId42"/>
    <p:sldId id="635" r:id="rId43"/>
    <p:sldId id="636" r:id="rId44"/>
    <p:sldId id="637" r:id="rId45"/>
    <p:sldId id="638" r:id="rId46"/>
    <p:sldId id="4930" r:id="rId47"/>
    <p:sldId id="4916" r:id="rId48"/>
    <p:sldId id="593" r:id="rId49"/>
    <p:sldId id="4933" r:id="rId50"/>
    <p:sldId id="639" r:id="rId51"/>
    <p:sldId id="640" r:id="rId52"/>
    <p:sldId id="609" r:id="rId53"/>
    <p:sldId id="607" r:id="rId54"/>
    <p:sldId id="606" r:id="rId55"/>
    <p:sldId id="610" r:id="rId56"/>
    <p:sldId id="641" r:id="rId57"/>
    <p:sldId id="642" r:id="rId58"/>
    <p:sldId id="643" r:id="rId59"/>
    <p:sldId id="644" r:id="rId60"/>
    <p:sldId id="611" r:id="rId61"/>
    <p:sldId id="645" r:id="rId62"/>
    <p:sldId id="612" r:id="rId63"/>
    <p:sldId id="646" r:id="rId64"/>
    <p:sldId id="647" r:id="rId65"/>
    <p:sldId id="648" r:id="rId66"/>
    <p:sldId id="613" r:id="rId67"/>
    <p:sldId id="650" r:id="rId68"/>
    <p:sldId id="4909" r:id="rId69"/>
    <p:sldId id="4887" r:id="rId70"/>
    <p:sldId id="4882" r:id="rId71"/>
    <p:sldId id="4910" r:id="rId72"/>
    <p:sldId id="680" r:id="rId73"/>
    <p:sldId id="685" r:id="rId74"/>
    <p:sldId id="4886" r:id="rId75"/>
    <p:sldId id="686" r:id="rId76"/>
    <p:sldId id="702" r:id="rId77"/>
    <p:sldId id="4881" r:id="rId78"/>
    <p:sldId id="4911" r:id="rId79"/>
    <p:sldId id="4857" r:id="rId80"/>
    <p:sldId id="566" r:id="rId81"/>
    <p:sldId id="567" r:id="rId82"/>
    <p:sldId id="4893" r:id="rId83"/>
    <p:sldId id="4915" r:id="rId84"/>
    <p:sldId id="297" r:id="rId85"/>
    <p:sldId id="4891" r:id="rId86"/>
    <p:sldId id="4894" r:id="rId87"/>
    <p:sldId id="284" r:id="rId88"/>
    <p:sldId id="291" r:id="rId89"/>
    <p:sldId id="293" r:id="rId90"/>
    <p:sldId id="734" r:id="rId91"/>
    <p:sldId id="741" r:id="rId92"/>
    <p:sldId id="651" r:id="rId93"/>
    <p:sldId id="652" r:id="rId94"/>
    <p:sldId id="4917" r:id="rId95"/>
    <p:sldId id="4921" r:id="rId96"/>
    <p:sldId id="4922" r:id="rId97"/>
    <p:sldId id="4912" r:id="rId98"/>
    <p:sldId id="4913" r:id="rId99"/>
    <p:sldId id="604" r:id="rId100"/>
    <p:sldId id="653" r:id="rId101"/>
    <p:sldId id="605" r:id="rId102"/>
    <p:sldId id="619" r:id="rId103"/>
    <p:sldId id="622" r:id="rId104"/>
    <p:sldId id="623" r:id="rId105"/>
    <p:sldId id="625" r:id="rId106"/>
    <p:sldId id="4918" r:id="rId107"/>
    <p:sldId id="4923" r:id="rId108"/>
    <p:sldId id="654" r:id="rId109"/>
    <p:sldId id="660" r:id="rId110"/>
    <p:sldId id="661" r:id="rId111"/>
    <p:sldId id="655" r:id="rId112"/>
    <p:sldId id="656" r:id="rId113"/>
    <p:sldId id="617" r:id="rId114"/>
    <p:sldId id="616" r:id="rId115"/>
    <p:sldId id="4920" r:id="rId116"/>
    <p:sldId id="657" r:id="rId117"/>
    <p:sldId id="658" r:id="rId118"/>
    <p:sldId id="664" r:id="rId119"/>
    <p:sldId id="615" r:id="rId120"/>
    <p:sldId id="614" r:id="rId121"/>
    <p:sldId id="575" r:id="rId122"/>
    <p:sldId id="570" r:id="rId123"/>
    <p:sldId id="4940" r:id="rId124"/>
    <p:sldId id="4941" r:id="rId125"/>
    <p:sldId id="299" r:id="rId126"/>
    <p:sldId id="573" r:id="rId127"/>
    <p:sldId id="574" r:id="rId128"/>
    <p:sldId id="330" r:id="rId129"/>
    <p:sldId id="329" r:id="rId130"/>
    <p:sldId id="331" r:id="rId131"/>
    <p:sldId id="584" r:id="rId132"/>
    <p:sldId id="585" r:id="rId133"/>
    <p:sldId id="586" r:id="rId134"/>
    <p:sldId id="4872" r:id="rId135"/>
    <p:sldId id="4878" r:id="rId136"/>
    <p:sldId id="4895" r:id="rId137"/>
    <p:sldId id="4897" r:id="rId138"/>
    <p:sldId id="4899" r:id="rId139"/>
    <p:sldId id="4901" r:id="rId140"/>
    <p:sldId id="4877" r:id="rId141"/>
    <p:sldId id="712" r:id="rId142"/>
    <p:sldId id="4889" r:id="rId143"/>
    <p:sldId id="4898" r:id="rId144"/>
    <p:sldId id="4900" r:id="rId145"/>
    <p:sldId id="666" r:id="rId146"/>
    <p:sldId id="256" r:id="rId147"/>
    <p:sldId id="4769" r:id="rId148"/>
    <p:sldId id="4645" r:id="rId149"/>
    <p:sldId id="4765" r:id="rId150"/>
    <p:sldId id="4807" r:id="rId151"/>
    <p:sldId id="4812" r:id="rId152"/>
    <p:sldId id="4817" r:id="rId153"/>
    <p:sldId id="4834" r:id="rId154"/>
    <p:sldId id="4816" r:id="rId155"/>
    <p:sldId id="4914" r:id="rId156"/>
    <p:sldId id="565" r:id="rId157"/>
    <p:sldId id="557" r:id="rId158"/>
    <p:sldId id="559" r:id="rId159"/>
    <p:sldId id="590" r:id="rId160"/>
    <p:sldId id="589" r:id="rId161"/>
    <p:sldId id="592" r:id="rId162"/>
    <p:sldId id="568" r:id="rId163"/>
    <p:sldId id="322" r:id="rId164"/>
    <p:sldId id="582" r:id="rId165"/>
    <p:sldId id="583" r:id="rId166"/>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3" pos="480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B7472A"/>
    <a:srgbClr val="F5F5F5"/>
    <a:srgbClr val="D24726"/>
    <a:srgbClr val="9FCDB3"/>
    <a:srgbClr val="217346"/>
    <a:srgbClr val="000000"/>
    <a:srgbClr val="D9D9D9"/>
    <a:srgbClr val="F3F2F1"/>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AB1E21-F130-4129-8A10-728D616F80A4}" v="39" dt="2026-10-24T05:48:14.62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6" autoAdjust="0"/>
    <p:restoredTop sz="94560"/>
  </p:normalViewPr>
  <p:slideViewPr>
    <p:cSldViewPr snapToGrid="0">
      <p:cViewPr varScale="1">
        <p:scale>
          <a:sx n="108" d="100"/>
          <a:sy n="108" d="100"/>
        </p:scale>
        <p:origin x="51" y="99"/>
      </p:cViewPr>
      <p:guideLst>
        <p:guide orient="horz" pos="2880"/>
        <p:guide pos="4800"/>
      </p:guideLst>
    </p:cSldViewPr>
  </p:slideViewPr>
  <p:notesTextViewPr>
    <p:cViewPr>
      <p:scale>
        <a:sx n="1" d="1"/>
        <a:sy n="1" d="1"/>
      </p:scale>
      <p:origin x="0" y="0"/>
    </p:cViewPr>
  </p:notesTextViewPr>
  <p:notesViewPr>
    <p:cSldViewPr snapToGrid="0">
      <p:cViewPr>
        <p:scale>
          <a:sx n="1" d="2"/>
          <a:sy n="1" d="2"/>
        </p:scale>
        <p:origin x="3882" y="133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presProps" Target="presProp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viewProps" Target="viewProps.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72" Type="http://schemas.openxmlformats.org/officeDocument/2006/relationships/theme" Target="theme/theme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microsoft.com/office/2016/11/relationships/changesInfo" Target="changesInfos/changesInfo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microsoft.com/office/2015/10/relationships/revisionInfo" Target="revisionInfo.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microsoft.com/office/2018/10/relationships/authors" Target="authors.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itsuna Imamura" userId="5b2da16fa1785921" providerId="LiveId" clId="{342DA2C4-B094-4B86-9045-6AA34CD7B848}"/>
    <pc:docChg chg="undo custSel addSld delSld modSld sldOrd">
      <pc:chgData name="Noritsuna Imamura" userId="5b2da16fa1785921" providerId="LiveId" clId="{342DA2C4-B094-4B86-9045-6AA34CD7B848}" dt="2026-10-24T05:48:15.894" v="3527" actId="47"/>
      <pc:docMkLst>
        <pc:docMk/>
      </pc:docMkLst>
      <pc:sldChg chg="del">
        <pc:chgData name="Noritsuna Imamura" userId="5b2da16fa1785921" providerId="LiveId" clId="{342DA2C4-B094-4B86-9045-6AA34CD7B848}" dt="2026-10-24T05:48:03.343" v="3522" actId="47"/>
        <pc:sldMkLst>
          <pc:docMk/>
          <pc:sldMk cId="1735863039" sldId="571"/>
        </pc:sldMkLst>
      </pc:sldChg>
      <pc:sldChg chg="modSp del mod">
        <pc:chgData name="Noritsuna Imamura" userId="5b2da16fa1785921" providerId="LiveId" clId="{342DA2C4-B094-4B86-9045-6AA34CD7B848}" dt="2026-10-24T05:48:15.894" v="3527" actId="47"/>
        <pc:sldMkLst>
          <pc:docMk/>
          <pc:sldMk cId="3980455388" sldId="572"/>
        </pc:sldMkLst>
        <pc:spChg chg="mod">
          <ac:chgData name="Noritsuna Imamura" userId="5b2da16fa1785921" providerId="LiveId" clId="{342DA2C4-B094-4B86-9045-6AA34CD7B848}" dt="2026-10-24T05:48:07.489" v="3525" actId="20577"/>
          <ac:spMkLst>
            <pc:docMk/>
            <pc:sldMk cId="3980455388" sldId="572"/>
            <ac:spMk id="3" creationId="{CAB1E9A4-FE85-F645-6CE1-0C3ABCDE6CCC}"/>
          </ac:spMkLst>
        </pc:spChg>
      </pc:sldChg>
      <pc:sldChg chg="addSp modSp mod">
        <pc:chgData name="Noritsuna Imamura" userId="5b2da16fa1785921" providerId="LiveId" clId="{342DA2C4-B094-4B86-9045-6AA34CD7B848}" dt="2026-10-20T09:11:41.772" v="243" actId="20577"/>
        <pc:sldMkLst>
          <pc:docMk/>
          <pc:sldMk cId="4101640319" sldId="575"/>
        </pc:sldMkLst>
        <pc:spChg chg="add mod">
          <ac:chgData name="Noritsuna Imamura" userId="5b2da16fa1785921" providerId="LiveId" clId="{342DA2C4-B094-4B86-9045-6AA34CD7B848}" dt="2026-10-20T09:11:41.772" v="243" actId="20577"/>
          <ac:spMkLst>
            <pc:docMk/>
            <pc:sldMk cId="4101640319" sldId="575"/>
            <ac:spMk id="7" creationId="{6EFAA252-0165-2327-2082-F634886151EA}"/>
          </ac:spMkLst>
        </pc:spChg>
      </pc:sldChg>
      <pc:sldChg chg="modSp mod">
        <pc:chgData name="Noritsuna Imamura" userId="5b2da16fa1785921" providerId="LiveId" clId="{342DA2C4-B094-4B86-9045-6AA34CD7B848}" dt="2026-10-20T09:04:18.713" v="14" actId="1076"/>
        <pc:sldMkLst>
          <pc:docMk/>
          <pc:sldMk cId="3507706596" sldId="602"/>
        </pc:sldMkLst>
        <pc:spChg chg="mod">
          <ac:chgData name="Noritsuna Imamura" userId="5b2da16fa1785921" providerId="LiveId" clId="{342DA2C4-B094-4B86-9045-6AA34CD7B848}" dt="2026-10-20T09:04:18.713" v="14" actId="1076"/>
          <ac:spMkLst>
            <pc:docMk/>
            <pc:sldMk cId="3507706596" sldId="602"/>
            <ac:spMk id="4" creationId="{8D66E636-D1D5-3AAC-5CD5-A2F5C585CB49}"/>
          </ac:spMkLst>
        </pc:spChg>
      </pc:sldChg>
      <pc:sldChg chg="ord">
        <pc:chgData name="Noritsuna Imamura" userId="5b2da16fa1785921" providerId="LiveId" clId="{342DA2C4-B094-4B86-9045-6AA34CD7B848}" dt="2026-10-20T10:30:41.016" v="2002" actId="20578"/>
        <pc:sldMkLst>
          <pc:docMk/>
          <pc:sldMk cId="3037869157" sldId="604"/>
        </pc:sldMkLst>
      </pc:sldChg>
      <pc:sldChg chg="modSp mod">
        <pc:chgData name="Noritsuna Imamura" userId="5b2da16fa1785921" providerId="LiveId" clId="{342DA2C4-B094-4B86-9045-6AA34CD7B848}" dt="2026-10-20T09:05:49.675" v="67" actId="20577"/>
        <pc:sldMkLst>
          <pc:docMk/>
          <pc:sldMk cId="1926772114" sldId="626"/>
        </pc:sldMkLst>
        <pc:spChg chg="mod">
          <ac:chgData name="Noritsuna Imamura" userId="5b2da16fa1785921" providerId="LiveId" clId="{342DA2C4-B094-4B86-9045-6AA34CD7B848}" dt="2026-10-20T09:05:49.675" v="67" actId="20577"/>
          <ac:spMkLst>
            <pc:docMk/>
            <pc:sldMk cId="1926772114" sldId="626"/>
            <ac:spMk id="8" creationId="{E818F46E-A0ED-5685-71A3-5EB79B72548D}"/>
          </ac:spMkLst>
        </pc:spChg>
      </pc:sldChg>
      <pc:sldChg chg="modSp mod">
        <pc:chgData name="Noritsuna Imamura" userId="5b2da16fa1785921" providerId="LiveId" clId="{342DA2C4-B094-4B86-9045-6AA34CD7B848}" dt="2026-10-20T09:07:02.007" v="87" actId="20577"/>
        <pc:sldMkLst>
          <pc:docMk/>
          <pc:sldMk cId="2563643059" sldId="639"/>
        </pc:sldMkLst>
        <pc:spChg chg="mod">
          <ac:chgData name="Noritsuna Imamura" userId="5b2da16fa1785921" providerId="LiveId" clId="{342DA2C4-B094-4B86-9045-6AA34CD7B848}" dt="2026-10-20T09:07:02.007" v="87" actId="20577"/>
          <ac:spMkLst>
            <pc:docMk/>
            <pc:sldMk cId="2563643059" sldId="639"/>
            <ac:spMk id="16" creationId="{CA46111F-FF1D-F183-3235-8AEDFBC1A52C}"/>
          </ac:spMkLst>
        </pc:spChg>
      </pc:sldChg>
      <pc:sldChg chg="addSp modSp mod">
        <pc:chgData name="Noritsuna Imamura" userId="5b2da16fa1785921" providerId="LiveId" clId="{342DA2C4-B094-4B86-9045-6AA34CD7B848}" dt="2026-10-20T09:07:35.547" v="154" actId="14100"/>
        <pc:sldMkLst>
          <pc:docMk/>
          <pc:sldMk cId="3555397421" sldId="640"/>
        </pc:sldMkLst>
        <pc:spChg chg="add mod">
          <ac:chgData name="Noritsuna Imamura" userId="5b2da16fa1785921" providerId="LiveId" clId="{342DA2C4-B094-4B86-9045-6AA34CD7B848}" dt="2026-10-20T09:07:35.547" v="154" actId="14100"/>
          <ac:spMkLst>
            <pc:docMk/>
            <pc:sldMk cId="3555397421" sldId="640"/>
            <ac:spMk id="7" creationId="{474A1272-224B-BD7D-3B02-78CCF1E5E050}"/>
          </ac:spMkLst>
        </pc:spChg>
      </pc:sldChg>
      <pc:sldChg chg="delSp modSp mod ord">
        <pc:chgData name="Noritsuna Imamura" userId="5b2da16fa1785921" providerId="LiveId" clId="{342DA2C4-B094-4B86-9045-6AA34CD7B848}" dt="2026-10-20T10:32:03.986" v="2114" actId="20577"/>
        <pc:sldMkLst>
          <pc:docMk/>
          <pc:sldMk cId="566016983" sldId="652"/>
        </pc:sldMkLst>
        <pc:spChg chg="mod">
          <ac:chgData name="Noritsuna Imamura" userId="5b2da16fa1785921" providerId="LiveId" clId="{342DA2C4-B094-4B86-9045-6AA34CD7B848}" dt="2026-10-20T10:32:03.986" v="2114" actId="20577"/>
          <ac:spMkLst>
            <pc:docMk/>
            <pc:sldMk cId="566016983" sldId="652"/>
            <ac:spMk id="2" creationId="{C8B8E3A5-518A-F74F-0B42-0CBB4FD86534}"/>
          </ac:spMkLst>
        </pc:spChg>
        <pc:spChg chg="mod">
          <ac:chgData name="Noritsuna Imamura" userId="5b2da16fa1785921" providerId="LiveId" clId="{342DA2C4-B094-4B86-9045-6AA34CD7B848}" dt="2026-10-20T10:31:35.513" v="2105" actId="14"/>
          <ac:spMkLst>
            <pc:docMk/>
            <pc:sldMk cId="566016983" sldId="652"/>
            <ac:spMk id="5" creationId="{7C86C403-917E-3A7B-2F2C-8146F3969DEB}"/>
          </ac:spMkLst>
        </pc:spChg>
      </pc:sldChg>
      <pc:sldChg chg="addSp delSp modSp mod">
        <pc:chgData name="Noritsuna Imamura" userId="5b2da16fa1785921" providerId="LiveId" clId="{342DA2C4-B094-4B86-9045-6AA34CD7B848}" dt="2026-10-20T09:10:18.521" v="221" actId="14100"/>
        <pc:sldMkLst>
          <pc:docMk/>
          <pc:sldMk cId="2793809204" sldId="653"/>
        </pc:sldMkLst>
        <pc:spChg chg="mod">
          <ac:chgData name="Noritsuna Imamura" userId="5b2da16fa1785921" providerId="LiveId" clId="{342DA2C4-B094-4B86-9045-6AA34CD7B848}" dt="2026-10-20T09:10:18.521" v="221" actId="14100"/>
          <ac:spMkLst>
            <pc:docMk/>
            <pc:sldMk cId="2793809204" sldId="653"/>
            <ac:spMk id="5" creationId="{54E28E9B-7F13-E717-67F9-7826A8451B6C}"/>
          </ac:spMkLst>
        </pc:spChg>
      </pc:sldChg>
      <pc:sldChg chg="addSp delSp mod">
        <pc:chgData name="Noritsuna Imamura" userId="5b2da16fa1785921" providerId="LiveId" clId="{342DA2C4-B094-4B86-9045-6AA34CD7B848}" dt="2026-10-20T12:58:49.377" v="3519" actId="478"/>
        <pc:sldMkLst>
          <pc:docMk/>
          <pc:sldMk cId="2166977015" sldId="658"/>
        </pc:sldMkLst>
        <pc:cxnChg chg="add del">
          <ac:chgData name="Noritsuna Imamura" userId="5b2da16fa1785921" providerId="LiveId" clId="{342DA2C4-B094-4B86-9045-6AA34CD7B848}" dt="2026-10-20T12:58:49.377" v="3519" actId="478"/>
          <ac:cxnSpMkLst>
            <pc:docMk/>
            <pc:sldMk cId="2166977015" sldId="658"/>
            <ac:cxnSpMk id="9" creationId="{2E484DBC-D68B-A2A7-8F0C-C6F9DFF50CF3}"/>
          </ac:cxnSpMkLst>
        </pc:cxnChg>
      </pc:sldChg>
      <pc:sldChg chg="addSp modSp mod">
        <pc:chgData name="Noritsuna Imamura" userId="5b2da16fa1785921" providerId="LiveId" clId="{342DA2C4-B094-4B86-9045-6AA34CD7B848}" dt="2026-10-20T10:58:47.663" v="3517" actId="14100"/>
        <pc:sldMkLst>
          <pc:docMk/>
          <pc:sldMk cId="678399955" sldId="666"/>
        </pc:sldMkLst>
        <pc:spChg chg="mod">
          <ac:chgData name="Noritsuna Imamura" userId="5b2da16fa1785921" providerId="LiveId" clId="{342DA2C4-B094-4B86-9045-6AA34CD7B848}" dt="2026-10-20T10:56:46.935" v="3460" actId="20577"/>
          <ac:spMkLst>
            <pc:docMk/>
            <pc:sldMk cId="678399955" sldId="666"/>
            <ac:spMk id="2" creationId="{8FAF1C97-4A63-D5F7-21BA-ECE12AA95A25}"/>
          </ac:spMkLst>
        </pc:spChg>
        <pc:spChg chg="mod">
          <ac:chgData name="Noritsuna Imamura" userId="5b2da16fa1785921" providerId="LiveId" clId="{342DA2C4-B094-4B86-9045-6AA34CD7B848}" dt="2026-10-20T10:57:55.188" v="3509" actId="20577"/>
          <ac:spMkLst>
            <pc:docMk/>
            <pc:sldMk cId="678399955" sldId="666"/>
            <ac:spMk id="5" creationId="{8D7548D8-62A5-AB2B-BDDE-C9DB31B7055D}"/>
          </ac:spMkLst>
        </pc:spChg>
        <pc:spChg chg="add mod">
          <ac:chgData name="Noritsuna Imamura" userId="5b2da16fa1785921" providerId="LiveId" clId="{342DA2C4-B094-4B86-9045-6AA34CD7B848}" dt="2026-10-20T10:58:47.663" v="3517" actId="14100"/>
          <ac:spMkLst>
            <pc:docMk/>
            <pc:sldMk cId="678399955" sldId="666"/>
            <ac:spMk id="9" creationId="{2835C246-1A00-D2A5-C249-F22C7B89D752}"/>
          </ac:spMkLst>
        </pc:spChg>
        <pc:picChg chg="add mod">
          <ac:chgData name="Noritsuna Imamura" userId="5b2da16fa1785921" providerId="LiveId" clId="{342DA2C4-B094-4B86-9045-6AA34CD7B848}" dt="2026-10-20T10:58:42.134" v="3515" actId="1076"/>
          <ac:picMkLst>
            <pc:docMk/>
            <pc:sldMk cId="678399955" sldId="666"/>
            <ac:picMk id="7" creationId="{469D6A43-8AC8-6329-E521-7B1F73CE4419}"/>
          </ac:picMkLst>
        </pc:picChg>
      </pc:sldChg>
      <pc:sldChg chg="addSp modSp mod">
        <pc:chgData name="Noritsuna Imamura" userId="5b2da16fa1785921" providerId="LiveId" clId="{342DA2C4-B094-4B86-9045-6AA34CD7B848}" dt="2026-10-20T09:11:52.525" v="246" actId="14100"/>
        <pc:sldMkLst>
          <pc:docMk/>
          <pc:sldMk cId="3253705667" sldId="4872"/>
        </pc:sldMkLst>
        <pc:spChg chg="add mod">
          <ac:chgData name="Noritsuna Imamura" userId="5b2da16fa1785921" providerId="LiveId" clId="{342DA2C4-B094-4B86-9045-6AA34CD7B848}" dt="2026-10-20T09:11:52.525" v="246" actId="14100"/>
          <ac:spMkLst>
            <pc:docMk/>
            <pc:sldMk cId="3253705667" sldId="4872"/>
            <ac:spMk id="7" creationId="{1AE3C322-225F-9A35-35FE-F6F17E00EC54}"/>
          </ac:spMkLst>
        </pc:spChg>
      </pc:sldChg>
      <pc:sldChg chg="ord">
        <pc:chgData name="Noritsuna Imamura" userId="5b2da16fa1785921" providerId="LiveId" clId="{342DA2C4-B094-4B86-9045-6AA34CD7B848}" dt="2026-10-20T10:30:41.016" v="2002" actId="20578"/>
        <pc:sldMkLst>
          <pc:docMk/>
          <pc:sldMk cId="451433931" sldId="4912"/>
        </pc:sldMkLst>
      </pc:sldChg>
      <pc:sldChg chg="ord">
        <pc:chgData name="Noritsuna Imamura" userId="5b2da16fa1785921" providerId="LiveId" clId="{342DA2C4-B094-4B86-9045-6AA34CD7B848}" dt="2026-10-20T10:30:41.016" v="2002" actId="20578"/>
        <pc:sldMkLst>
          <pc:docMk/>
          <pc:sldMk cId="4228673853" sldId="4913"/>
        </pc:sldMkLst>
      </pc:sldChg>
      <pc:sldChg chg="ord">
        <pc:chgData name="Noritsuna Imamura" userId="5b2da16fa1785921" providerId="LiveId" clId="{342DA2C4-B094-4B86-9045-6AA34CD7B848}" dt="2026-10-20T10:23:23.295" v="1722"/>
        <pc:sldMkLst>
          <pc:docMk/>
          <pc:sldMk cId="508681424" sldId="4916"/>
        </pc:sldMkLst>
      </pc:sldChg>
      <pc:sldChg chg="ord">
        <pc:chgData name="Noritsuna Imamura" userId="5b2da16fa1785921" providerId="LiveId" clId="{342DA2C4-B094-4B86-9045-6AA34CD7B848}" dt="2026-10-20T10:31:46.538" v="2107"/>
        <pc:sldMkLst>
          <pc:docMk/>
          <pc:sldMk cId="991639816" sldId="4917"/>
        </pc:sldMkLst>
      </pc:sldChg>
      <pc:sldChg chg="addSp modSp new mod ord">
        <pc:chgData name="Noritsuna Imamura" userId="5b2da16fa1785921" providerId="LiveId" clId="{342DA2C4-B094-4B86-9045-6AA34CD7B848}" dt="2026-10-20T10:39:50.830" v="2367" actId="1076"/>
        <pc:sldMkLst>
          <pc:docMk/>
          <pc:sldMk cId="4225076158" sldId="4921"/>
        </pc:sldMkLst>
        <pc:spChg chg="mod">
          <ac:chgData name="Noritsuna Imamura" userId="5b2da16fa1785921" providerId="LiveId" clId="{342DA2C4-B094-4B86-9045-6AA34CD7B848}" dt="2026-10-20T10:32:09.431" v="2125" actId="20577"/>
          <ac:spMkLst>
            <pc:docMk/>
            <pc:sldMk cId="4225076158" sldId="4921"/>
            <ac:spMk id="2" creationId="{F10CA1FE-2A0A-1BBD-F1D1-5597175C4E8A}"/>
          </ac:spMkLst>
        </pc:spChg>
        <pc:spChg chg="mod">
          <ac:chgData name="Noritsuna Imamura" userId="5b2da16fa1785921" providerId="LiveId" clId="{342DA2C4-B094-4B86-9045-6AA34CD7B848}" dt="2026-10-20T10:39:46.832" v="2365" actId="20577"/>
          <ac:spMkLst>
            <pc:docMk/>
            <pc:sldMk cId="4225076158" sldId="4921"/>
            <ac:spMk id="5" creationId="{D6193E8F-C3F0-2D1F-D23C-9FC30E305DBA}"/>
          </ac:spMkLst>
        </pc:spChg>
        <pc:spChg chg="add mod">
          <ac:chgData name="Noritsuna Imamura" userId="5b2da16fa1785921" providerId="LiveId" clId="{342DA2C4-B094-4B86-9045-6AA34CD7B848}" dt="2026-10-20T10:37:55.066" v="2274" actId="14100"/>
          <ac:spMkLst>
            <pc:docMk/>
            <pc:sldMk cId="4225076158" sldId="4921"/>
            <ac:spMk id="11" creationId="{83FBDE3D-F302-8B23-2A1D-1A6B4E1787B7}"/>
          </ac:spMkLst>
        </pc:spChg>
        <pc:spChg chg="add mod">
          <ac:chgData name="Noritsuna Imamura" userId="5b2da16fa1785921" providerId="LiveId" clId="{342DA2C4-B094-4B86-9045-6AA34CD7B848}" dt="2026-10-20T10:38:04.687" v="2277" actId="1076"/>
          <ac:spMkLst>
            <pc:docMk/>
            <pc:sldMk cId="4225076158" sldId="4921"/>
            <ac:spMk id="13" creationId="{D3C062F5-394F-3714-BA6E-0A272E58210C}"/>
          </ac:spMkLst>
        </pc:spChg>
        <pc:spChg chg="add mod">
          <ac:chgData name="Noritsuna Imamura" userId="5b2da16fa1785921" providerId="LiveId" clId="{342DA2C4-B094-4B86-9045-6AA34CD7B848}" dt="2026-10-20T10:38:11.972" v="2280" actId="14100"/>
          <ac:spMkLst>
            <pc:docMk/>
            <pc:sldMk cId="4225076158" sldId="4921"/>
            <ac:spMk id="15" creationId="{149BFADE-C90A-613C-10E5-6C4D47121914}"/>
          </ac:spMkLst>
        </pc:spChg>
        <pc:picChg chg="add mod">
          <ac:chgData name="Noritsuna Imamura" userId="5b2da16fa1785921" providerId="LiveId" clId="{342DA2C4-B094-4B86-9045-6AA34CD7B848}" dt="2026-10-20T10:37:57.738" v="2275" actId="1076"/>
          <ac:picMkLst>
            <pc:docMk/>
            <pc:sldMk cId="4225076158" sldId="4921"/>
            <ac:picMk id="7" creationId="{3A02FE37-D7E8-5AA0-A854-7898D42E3D27}"/>
          </ac:picMkLst>
        </pc:picChg>
        <pc:picChg chg="add mod">
          <ac:chgData name="Noritsuna Imamura" userId="5b2da16fa1785921" providerId="LiveId" clId="{342DA2C4-B094-4B86-9045-6AA34CD7B848}" dt="2026-10-20T10:37:23.648" v="2271" actId="1076"/>
          <ac:picMkLst>
            <pc:docMk/>
            <pc:sldMk cId="4225076158" sldId="4921"/>
            <ac:picMk id="9" creationId="{5E356A30-167F-10AC-F05B-6BE03D6C2511}"/>
          </ac:picMkLst>
        </pc:picChg>
        <pc:picChg chg="add mod">
          <ac:chgData name="Noritsuna Imamura" userId="5b2da16fa1785921" providerId="LiveId" clId="{342DA2C4-B094-4B86-9045-6AA34CD7B848}" dt="2026-10-20T10:39:50.830" v="2367" actId="1076"/>
          <ac:picMkLst>
            <pc:docMk/>
            <pc:sldMk cId="4225076158" sldId="4921"/>
            <ac:picMk id="17" creationId="{D2B1EFD5-DAF9-E2B2-74FF-8913FD5DD4DD}"/>
          </ac:picMkLst>
        </pc:picChg>
      </pc:sldChg>
      <pc:sldChg chg="addSp delSp modSp new mod ord">
        <pc:chgData name="Noritsuna Imamura" userId="5b2da16fa1785921" providerId="LiveId" clId="{342DA2C4-B094-4B86-9045-6AA34CD7B848}" dt="2026-10-20T10:44:24.144" v="2640" actId="14100"/>
        <pc:sldMkLst>
          <pc:docMk/>
          <pc:sldMk cId="2796345700" sldId="4922"/>
        </pc:sldMkLst>
        <pc:spChg chg="mod">
          <ac:chgData name="Noritsuna Imamura" userId="5b2da16fa1785921" providerId="LiveId" clId="{342DA2C4-B094-4B86-9045-6AA34CD7B848}" dt="2026-10-20T10:39:33.532" v="2332" actId="20577"/>
          <ac:spMkLst>
            <pc:docMk/>
            <pc:sldMk cId="2796345700" sldId="4922"/>
            <ac:spMk id="2" creationId="{86CC901C-9138-9E5B-1CEB-171F57E0051C}"/>
          </ac:spMkLst>
        </pc:spChg>
        <pc:spChg chg="mod">
          <ac:chgData name="Noritsuna Imamura" userId="5b2da16fa1785921" providerId="LiveId" clId="{342DA2C4-B094-4B86-9045-6AA34CD7B848}" dt="2026-10-20T10:43:50.721" v="2625" actId="20577"/>
          <ac:spMkLst>
            <pc:docMk/>
            <pc:sldMk cId="2796345700" sldId="4922"/>
            <ac:spMk id="5" creationId="{A3AC13D6-74DC-0A79-07A8-5CA6FC5236E6}"/>
          </ac:spMkLst>
        </pc:spChg>
        <pc:spChg chg="add mod">
          <ac:chgData name="Noritsuna Imamura" userId="5b2da16fa1785921" providerId="LiveId" clId="{342DA2C4-B094-4B86-9045-6AA34CD7B848}" dt="2026-10-20T10:44:09.462" v="2632" actId="1076"/>
          <ac:spMkLst>
            <pc:docMk/>
            <pc:sldMk cId="2796345700" sldId="4922"/>
            <ac:spMk id="15" creationId="{3562D90E-4A4B-4885-AB46-BB8038D5ED33}"/>
          </ac:spMkLst>
        </pc:spChg>
        <pc:spChg chg="add mod">
          <ac:chgData name="Noritsuna Imamura" userId="5b2da16fa1785921" providerId="LiveId" clId="{342DA2C4-B094-4B86-9045-6AA34CD7B848}" dt="2026-10-20T10:44:12.459" v="2634" actId="1076"/>
          <ac:spMkLst>
            <pc:docMk/>
            <pc:sldMk cId="2796345700" sldId="4922"/>
            <ac:spMk id="17" creationId="{4A573FE2-7B3F-6FA5-F236-3C23D0AA6744}"/>
          </ac:spMkLst>
        </pc:spChg>
        <pc:spChg chg="add mod">
          <ac:chgData name="Noritsuna Imamura" userId="5b2da16fa1785921" providerId="LiveId" clId="{342DA2C4-B094-4B86-9045-6AA34CD7B848}" dt="2026-10-20T10:44:18.507" v="2637" actId="14100"/>
          <ac:spMkLst>
            <pc:docMk/>
            <pc:sldMk cId="2796345700" sldId="4922"/>
            <ac:spMk id="19" creationId="{8CB5AC4F-75AA-5FE5-84AF-478937A0D571}"/>
          </ac:spMkLst>
        </pc:spChg>
        <pc:spChg chg="add mod">
          <ac:chgData name="Noritsuna Imamura" userId="5b2da16fa1785921" providerId="LiveId" clId="{342DA2C4-B094-4B86-9045-6AA34CD7B848}" dt="2026-10-20T10:44:24.144" v="2640" actId="14100"/>
          <ac:spMkLst>
            <pc:docMk/>
            <pc:sldMk cId="2796345700" sldId="4922"/>
            <ac:spMk id="21" creationId="{E0F995AF-23AC-DEF0-3D7C-DF723CE23537}"/>
          </ac:spMkLst>
        </pc:spChg>
        <pc:picChg chg="add mod">
          <ac:chgData name="Noritsuna Imamura" userId="5b2da16fa1785921" providerId="LiveId" clId="{342DA2C4-B094-4B86-9045-6AA34CD7B848}" dt="2026-10-20T10:44:00.879" v="2630" actId="1076"/>
          <ac:picMkLst>
            <pc:docMk/>
            <pc:sldMk cId="2796345700" sldId="4922"/>
            <ac:picMk id="11" creationId="{6BD3424F-3D37-1536-4D2D-857616F4F16C}"/>
          </ac:picMkLst>
        </pc:picChg>
        <pc:picChg chg="add mod">
          <ac:chgData name="Noritsuna Imamura" userId="5b2da16fa1785921" providerId="LiveId" clId="{342DA2C4-B094-4B86-9045-6AA34CD7B848}" dt="2026-10-20T10:43:55.373" v="2627" actId="1076"/>
          <ac:picMkLst>
            <pc:docMk/>
            <pc:sldMk cId="2796345700" sldId="4922"/>
            <ac:picMk id="13" creationId="{49FEBBFF-66C7-2167-52B4-B161FEEF5B7D}"/>
          </ac:picMkLst>
        </pc:picChg>
      </pc:sldChg>
      <pc:sldChg chg="add">
        <pc:chgData name="Noritsuna Imamura" userId="5b2da16fa1785921" providerId="LiveId" clId="{342DA2C4-B094-4B86-9045-6AA34CD7B848}" dt="2026-10-24T05:47:24.689" v="3520"/>
        <pc:sldMkLst>
          <pc:docMk/>
          <pc:sldMk cId="3538482588" sldId="4923"/>
        </pc:sldMkLst>
      </pc:sldChg>
      <pc:sldChg chg="addSp modSp new mod">
        <pc:chgData name="Noritsuna Imamura" userId="5b2da16fa1785921" providerId="LiveId" clId="{342DA2C4-B094-4B86-9045-6AA34CD7B848}" dt="2026-10-20T10:23:11.831" v="1718" actId="20577"/>
        <pc:sldMkLst>
          <pc:docMk/>
          <pc:sldMk cId="2894417413" sldId="4930"/>
        </pc:sldMkLst>
        <pc:spChg chg="mod">
          <ac:chgData name="Noritsuna Imamura" userId="5b2da16fa1785921" providerId="LiveId" clId="{342DA2C4-B094-4B86-9045-6AA34CD7B848}" dt="2026-10-20T09:18:20.399" v="474" actId="20577"/>
          <ac:spMkLst>
            <pc:docMk/>
            <pc:sldMk cId="2894417413" sldId="4930"/>
            <ac:spMk id="2" creationId="{0338B18E-C951-636B-6DED-230D3210B096}"/>
          </ac:spMkLst>
        </pc:spChg>
        <pc:spChg chg="mod">
          <ac:chgData name="Noritsuna Imamura" userId="5b2da16fa1785921" providerId="LiveId" clId="{342DA2C4-B094-4B86-9045-6AA34CD7B848}" dt="2026-10-20T10:23:11.831" v="1718" actId="20577"/>
          <ac:spMkLst>
            <pc:docMk/>
            <pc:sldMk cId="2894417413" sldId="4930"/>
            <ac:spMk id="5" creationId="{EBF411B1-5EAE-4330-B61C-1117AEA5006A}"/>
          </ac:spMkLst>
        </pc:spChg>
        <pc:spChg chg="add mod">
          <ac:chgData name="Noritsuna Imamura" userId="5b2da16fa1785921" providerId="LiveId" clId="{342DA2C4-B094-4B86-9045-6AA34CD7B848}" dt="2026-10-20T10:21:33.703" v="1651" actId="14100"/>
          <ac:spMkLst>
            <pc:docMk/>
            <pc:sldMk cId="2894417413" sldId="4930"/>
            <ac:spMk id="9" creationId="{F727CB60-0451-F15F-3172-ABAA12F2EF24}"/>
          </ac:spMkLst>
        </pc:spChg>
        <pc:spChg chg="add mod">
          <ac:chgData name="Noritsuna Imamura" userId="5b2da16fa1785921" providerId="LiveId" clId="{342DA2C4-B094-4B86-9045-6AA34CD7B848}" dt="2026-10-20T10:22:19.430" v="1661" actId="14100"/>
          <ac:spMkLst>
            <pc:docMk/>
            <pc:sldMk cId="2894417413" sldId="4930"/>
            <ac:spMk id="11" creationId="{DEB77FF1-105B-346F-4610-513A96C8BA7B}"/>
          </ac:spMkLst>
        </pc:spChg>
        <pc:spChg chg="add mod">
          <ac:chgData name="Noritsuna Imamura" userId="5b2da16fa1785921" providerId="LiveId" clId="{342DA2C4-B094-4B86-9045-6AA34CD7B848}" dt="2026-10-20T10:21:44.934" v="1656" actId="14100"/>
          <ac:spMkLst>
            <pc:docMk/>
            <pc:sldMk cId="2894417413" sldId="4930"/>
            <ac:spMk id="13" creationId="{B1114E51-A585-4A96-16D2-E07A34F59D54}"/>
          </ac:spMkLst>
        </pc:spChg>
        <pc:spChg chg="add mod">
          <ac:chgData name="Noritsuna Imamura" userId="5b2da16fa1785921" providerId="LiveId" clId="{342DA2C4-B094-4B86-9045-6AA34CD7B848}" dt="2026-10-20T10:22:16.715" v="1660" actId="14100"/>
          <ac:spMkLst>
            <pc:docMk/>
            <pc:sldMk cId="2894417413" sldId="4930"/>
            <ac:spMk id="15" creationId="{D66F99BE-AD19-59EE-63F6-394868C5B1B2}"/>
          </ac:spMkLst>
        </pc:spChg>
        <pc:picChg chg="add mod">
          <ac:chgData name="Noritsuna Imamura" userId="5b2da16fa1785921" providerId="LiveId" clId="{342DA2C4-B094-4B86-9045-6AA34CD7B848}" dt="2026-10-20T10:21:36.259" v="1654" actId="1076"/>
          <ac:picMkLst>
            <pc:docMk/>
            <pc:sldMk cId="2894417413" sldId="4930"/>
            <ac:picMk id="7" creationId="{C39EE819-26CB-D2C3-229C-AA8942CCCDCA}"/>
          </ac:picMkLst>
        </pc:picChg>
      </pc:sldChg>
      <pc:sldChg chg="addSp modSp new mod ord">
        <pc:chgData name="Noritsuna Imamura" userId="5b2da16fa1785921" providerId="LiveId" clId="{342DA2C4-B094-4B86-9045-6AA34CD7B848}" dt="2026-10-20T10:28:21.788" v="1939" actId="1076"/>
        <pc:sldMkLst>
          <pc:docMk/>
          <pc:sldMk cId="3497839752" sldId="4933"/>
        </pc:sldMkLst>
        <pc:spChg chg="mod">
          <ac:chgData name="Noritsuna Imamura" userId="5b2da16fa1785921" providerId="LiveId" clId="{342DA2C4-B094-4B86-9045-6AA34CD7B848}" dt="2026-10-20T09:18:45.758" v="517" actId="20577"/>
          <ac:spMkLst>
            <pc:docMk/>
            <pc:sldMk cId="3497839752" sldId="4933"/>
            <ac:spMk id="2" creationId="{33CE5BAD-CF48-3820-865F-9361CAAFF016}"/>
          </ac:spMkLst>
        </pc:spChg>
        <pc:spChg chg="mod">
          <ac:chgData name="Noritsuna Imamura" userId="5b2da16fa1785921" providerId="LiveId" clId="{342DA2C4-B094-4B86-9045-6AA34CD7B848}" dt="2026-10-20T10:27:29.693" v="1921" actId="20577"/>
          <ac:spMkLst>
            <pc:docMk/>
            <pc:sldMk cId="3497839752" sldId="4933"/>
            <ac:spMk id="5" creationId="{D046BBE3-1631-03FD-A588-7BAE0E9517EE}"/>
          </ac:spMkLst>
        </pc:spChg>
        <pc:spChg chg="add mod">
          <ac:chgData name="Noritsuna Imamura" userId="5b2da16fa1785921" providerId="LiveId" clId="{342DA2C4-B094-4B86-9045-6AA34CD7B848}" dt="2026-10-20T10:28:05.484" v="1932" actId="14100"/>
          <ac:spMkLst>
            <pc:docMk/>
            <pc:sldMk cId="3497839752" sldId="4933"/>
            <ac:spMk id="11" creationId="{57EE8A98-B41D-A1AD-D8B7-96CA6D78934A}"/>
          </ac:spMkLst>
        </pc:spChg>
        <pc:spChg chg="add mod">
          <ac:chgData name="Noritsuna Imamura" userId="5b2da16fa1785921" providerId="LiveId" clId="{342DA2C4-B094-4B86-9045-6AA34CD7B848}" dt="2026-10-20T10:28:12.402" v="1934" actId="1076"/>
          <ac:spMkLst>
            <pc:docMk/>
            <pc:sldMk cId="3497839752" sldId="4933"/>
            <ac:spMk id="13" creationId="{3C4E213B-E132-73AD-CF8B-A69F2D6560D8}"/>
          </ac:spMkLst>
        </pc:spChg>
        <pc:spChg chg="add mod">
          <ac:chgData name="Noritsuna Imamura" userId="5b2da16fa1785921" providerId="LiveId" clId="{342DA2C4-B094-4B86-9045-6AA34CD7B848}" dt="2026-10-20T10:28:18.182" v="1937" actId="14100"/>
          <ac:spMkLst>
            <pc:docMk/>
            <pc:sldMk cId="3497839752" sldId="4933"/>
            <ac:spMk id="15" creationId="{64CFD4A3-5E8F-DE73-990F-E0640637955E}"/>
          </ac:spMkLst>
        </pc:spChg>
        <pc:spChg chg="add mod">
          <ac:chgData name="Noritsuna Imamura" userId="5b2da16fa1785921" providerId="LiveId" clId="{342DA2C4-B094-4B86-9045-6AA34CD7B848}" dt="2026-10-20T10:28:21.788" v="1939" actId="1076"/>
          <ac:spMkLst>
            <pc:docMk/>
            <pc:sldMk cId="3497839752" sldId="4933"/>
            <ac:spMk id="17" creationId="{12E5575E-92E1-AB3C-A3F5-8C218D2A8239}"/>
          </ac:spMkLst>
        </pc:spChg>
        <pc:picChg chg="add mod">
          <ac:chgData name="Noritsuna Imamura" userId="5b2da16fa1785921" providerId="LiveId" clId="{342DA2C4-B094-4B86-9045-6AA34CD7B848}" dt="2026-10-20T10:27:41.997" v="1925" actId="1076"/>
          <ac:picMkLst>
            <pc:docMk/>
            <pc:sldMk cId="3497839752" sldId="4933"/>
            <ac:picMk id="7" creationId="{8EF6B563-9116-D690-0EC0-E32F9EEF789B}"/>
          </ac:picMkLst>
        </pc:picChg>
        <pc:picChg chg="add mod">
          <ac:chgData name="Noritsuna Imamura" userId="5b2da16fa1785921" providerId="LiveId" clId="{342DA2C4-B094-4B86-9045-6AA34CD7B848}" dt="2026-10-20T10:27:46.962" v="1927" actId="1076"/>
          <ac:picMkLst>
            <pc:docMk/>
            <pc:sldMk cId="3497839752" sldId="4933"/>
            <ac:picMk id="9" creationId="{65540193-3FF2-B552-8EF9-120CDEBA4D07}"/>
          </ac:picMkLst>
        </pc:picChg>
      </pc:sldChg>
      <pc:sldChg chg="modSp new mod">
        <pc:chgData name="Noritsuna Imamura" userId="5b2da16fa1785921" providerId="LiveId" clId="{342DA2C4-B094-4B86-9045-6AA34CD7B848}" dt="2026-10-20T10:10:52.860" v="970" actId="20577"/>
        <pc:sldMkLst>
          <pc:docMk/>
          <pc:sldMk cId="251883980" sldId="4936"/>
        </pc:sldMkLst>
        <pc:spChg chg="mod">
          <ac:chgData name="Noritsuna Imamura" userId="5b2da16fa1785921" providerId="LiveId" clId="{342DA2C4-B094-4B86-9045-6AA34CD7B848}" dt="2026-10-20T10:10:52.860" v="970" actId="20577"/>
          <ac:spMkLst>
            <pc:docMk/>
            <pc:sldMk cId="251883980" sldId="4936"/>
            <ac:spMk id="2" creationId="{7BA1C185-85B4-A34D-E5FB-1D30459FB0AF}"/>
          </ac:spMkLst>
        </pc:spChg>
        <pc:spChg chg="mod">
          <ac:chgData name="Noritsuna Imamura" userId="5b2da16fa1785921" providerId="LiveId" clId="{342DA2C4-B094-4B86-9045-6AA34CD7B848}" dt="2026-10-20T10:08:58.233" v="942" actId="20577"/>
          <ac:spMkLst>
            <pc:docMk/>
            <pc:sldMk cId="251883980" sldId="4936"/>
            <ac:spMk id="5" creationId="{13277C44-3960-6771-3579-A73A9AE091B7}"/>
          </ac:spMkLst>
        </pc:spChg>
      </pc:sldChg>
      <pc:sldChg chg="addSp modSp add mod ord">
        <pc:chgData name="Noritsuna Imamura" userId="5b2da16fa1785921" providerId="LiveId" clId="{342DA2C4-B094-4B86-9045-6AA34CD7B848}" dt="2026-10-20T10:13:51.494" v="1401" actId="20577"/>
        <pc:sldMkLst>
          <pc:docMk/>
          <pc:sldMk cId="2410430671" sldId="4937"/>
        </pc:sldMkLst>
        <pc:spChg chg="mod">
          <ac:chgData name="Noritsuna Imamura" userId="5b2da16fa1785921" providerId="LiveId" clId="{342DA2C4-B094-4B86-9045-6AA34CD7B848}" dt="2026-10-20T10:10:48.991" v="966" actId="20577"/>
          <ac:spMkLst>
            <pc:docMk/>
            <pc:sldMk cId="2410430671" sldId="4937"/>
            <ac:spMk id="2" creationId="{FEFC165C-69E6-527C-A9F1-146804933CB6}"/>
          </ac:spMkLst>
        </pc:spChg>
        <pc:spChg chg="add mod">
          <ac:chgData name="Noritsuna Imamura" userId="5b2da16fa1785921" providerId="LiveId" clId="{342DA2C4-B094-4B86-9045-6AA34CD7B848}" dt="2026-10-20T10:13:51.494" v="1401" actId="20577"/>
          <ac:spMkLst>
            <pc:docMk/>
            <pc:sldMk cId="2410430671" sldId="4937"/>
            <ac:spMk id="5" creationId="{16A3E439-F8F7-DB89-88DB-26FBE8CB2FC1}"/>
          </ac:spMkLst>
        </pc:spChg>
        <pc:picChg chg="mod ord">
          <ac:chgData name="Noritsuna Imamura" userId="5b2da16fa1785921" providerId="LiveId" clId="{342DA2C4-B094-4B86-9045-6AA34CD7B848}" dt="2026-10-20T10:13:36.738" v="1369" actId="1076"/>
          <ac:picMkLst>
            <pc:docMk/>
            <pc:sldMk cId="2410430671" sldId="4937"/>
            <ac:picMk id="7" creationId="{AB50BFAA-9CDC-9E55-A9AF-7AB9F17569FD}"/>
          </ac:picMkLst>
        </pc:picChg>
      </pc:sldChg>
      <pc:sldChg chg="addSp delSp modSp add mod">
        <pc:chgData name="Noritsuna Imamura" userId="5b2da16fa1785921" providerId="LiveId" clId="{342DA2C4-B094-4B86-9045-6AA34CD7B848}" dt="2026-10-20T10:14:29.081" v="1426" actId="14100"/>
        <pc:sldMkLst>
          <pc:docMk/>
          <pc:sldMk cId="1162993384" sldId="4939"/>
        </pc:sldMkLst>
        <pc:spChg chg="mod">
          <ac:chgData name="Noritsuna Imamura" userId="5b2da16fa1785921" providerId="LiveId" clId="{342DA2C4-B094-4B86-9045-6AA34CD7B848}" dt="2026-10-20T10:14:04.419" v="1417" actId="20577"/>
          <ac:spMkLst>
            <pc:docMk/>
            <pc:sldMk cId="1162993384" sldId="4939"/>
            <ac:spMk id="2" creationId="{F89AED1A-1482-6B8C-828D-8ADDF6DF2693}"/>
          </ac:spMkLst>
        </pc:spChg>
        <pc:spChg chg="mod">
          <ac:chgData name="Noritsuna Imamura" userId="5b2da16fa1785921" providerId="LiveId" clId="{342DA2C4-B094-4B86-9045-6AA34CD7B848}" dt="2026-10-20T10:14:01.738" v="1415" actId="20577"/>
          <ac:spMkLst>
            <pc:docMk/>
            <pc:sldMk cId="1162993384" sldId="4939"/>
            <ac:spMk id="5" creationId="{4DED699E-F7BD-F7BB-1C2A-0A1F103F9DD8}"/>
          </ac:spMkLst>
        </pc:spChg>
        <pc:spChg chg="add mod">
          <ac:chgData name="Noritsuna Imamura" userId="5b2da16fa1785921" providerId="LiveId" clId="{342DA2C4-B094-4B86-9045-6AA34CD7B848}" dt="2026-10-20T10:14:29.081" v="1426" actId="14100"/>
          <ac:spMkLst>
            <pc:docMk/>
            <pc:sldMk cId="1162993384" sldId="4939"/>
            <ac:spMk id="11" creationId="{A4255DCF-B126-A730-9A95-74DA38C466EF}"/>
          </ac:spMkLst>
        </pc:spChg>
        <pc:picChg chg="add mod">
          <ac:chgData name="Noritsuna Imamura" userId="5b2da16fa1785921" providerId="LiveId" clId="{342DA2C4-B094-4B86-9045-6AA34CD7B848}" dt="2026-10-20T10:14:17.563" v="1423" actId="1076"/>
          <ac:picMkLst>
            <pc:docMk/>
            <pc:sldMk cId="1162993384" sldId="4939"/>
            <ac:picMk id="9" creationId="{BDB9F826-BFB9-8499-B7B4-C2CFE6220E5D}"/>
          </ac:picMkLst>
        </pc:picChg>
      </pc:sldChg>
      <pc:sldChg chg="add">
        <pc:chgData name="Noritsuna Imamura" userId="5b2da16fa1785921" providerId="LiveId" clId="{342DA2C4-B094-4B86-9045-6AA34CD7B848}" dt="2026-10-24T05:48:01.794" v="3521"/>
        <pc:sldMkLst>
          <pc:docMk/>
          <pc:sldMk cId="734213961" sldId="4940"/>
        </pc:sldMkLst>
      </pc:sldChg>
      <pc:sldChg chg="add">
        <pc:chgData name="Noritsuna Imamura" userId="5b2da16fa1785921" providerId="LiveId" clId="{342DA2C4-B094-4B86-9045-6AA34CD7B848}" dt="2026-10-24T05:48:14.606" v="3526"/>
        <pc:sldMkLst>
          <pc:docMk/>
          <pc:sldMk cId="3879872119" sldId="494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8CD7AE-1462-4D68-810D-C5A5FB76B86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54B4050-8683-43ED-9054-8F2EECA02EFB}">
      <dgm:prSet/>
      <dgm:spPr/>
      <dgm:t>
        <a:bodyPr/>
        <a:lstStyle/>
        <a:p>
          <a:r>
            <a:rPr lang="ja-JP" altLang="en-US" dirty="0"/>
            <a:t>チップは</a:t>
          </a:r>
          <a:r>
            <a:rPr lang="ja-JP" dirty="0"/>
            <a:t>「小型」と「低コスト」がキモ</a:t>
          </a:r>
          <a:r>
            <a:rPr lang="ja-JP" altLang="en-US" dirty="0"/>
            <a:t>！</a:t>
          </a:r>
          <a:endParaRPr lang="en-US" dirty="0"/>
        </a:p>
      </dgm:t>
    </dgm:pt>
    <dgm:pt modelId="{D90D9AC2-9A77-4A05-8DF8-5A9A954F6ECB}" type="parTrans" cxnId="{EFA793A0-873C-428B-9981-AC98F16D5D6E}">
      <dgm:prSet/>
      <dgm:spPr/>
      <dgm:t>
        <a:bodyPr/>
        <a:lstStyle/>
        <a:p>
          <a:endParaRPr lang="en-US"/>
        </a:p>
      </dgm:t>
    </dgm:pt>
    <dgm:pt modelId="{FF8C8674-4DED-4A0E-8A28-1E1A2FFFD280}" type="sibTrans" cxnId="{EFA793A0-873C-428B-9981-AC98F16D5D6E}">
      <dgm:prSet/>
      <dgm:spPr/>
      <dgm:t>
        <a:bodyPr/>
        <a:lstStyle/>
        <a:p>
          <a:endParaRPr lang="en-US"/>
        </a:p>
      </dgm:t>
    </dgm:pt>
    <dgm:pt modelId="{846C8704-8B2E-4FFC-AAA0-27B834A45266}">
      <dgm:prSet/>
      <dgm:spPr/>
      <dgm:t>
        <a:bodyPr/>
        <a:lstStyle/>
        <a:p>
          <a:r>
            <a:rPr lang="ja-JP" dirty="0"/>
            <a:t>最終到達点は「超小型の専用チップ化</a:t>
          </a:r>
          <a:r>
            <a:rPr lang="ja-JP" altLang="en-US" dirty="0"/>
            <a:t>」</a:t>
          </a:r>
          <a:endParaRPr lang="en-US" dirty="0"/>
        </a:p>
      </dgm:t>
    </dgm:pt>
    <dgm:pt modelId="{D768A80F-62BF-43CC-832F-A943AB3EF469}" type="parTrans" cxnId="{60560782-94FD-40F7-BBDB-B0A902186533}">
      <dgm:prSet/>
      <dgm:spPr/>
      <dgm:t>
        <a:bodyPr/>
        <a:lstStyle/>
        <a:p>
          <a:endParaRPr lang="en-US"/>
        </a:p>
      </dgm:t>
    </dgm:pt>
    <dgm:pt modelId="{EBBEA77E-358C-4A1E-A95C-A7B431B70F21}" type="sibTrans" cxnId="{60560782-94FD-40F7-BBDB-B0A902186533}">
      <dgm:prSet/>
      <dgm:spPr/>
      <dgm:t>
        <a:bodyPr/>
        <a:lstStyle/>
        <a:p>
          <a:endParaRPr lang="en-US"/>
        </a:p>
      </dgm:t>
    </dgm:pt>
    <dgm:pt modelId="{E93213AB-C7A3-4AFC-BECF-B03C0B6A01B2}">
      <dgm:prSet/>
      <dgm:spPr/>
      <dgm:t>
        <a:bodyPr/>
        <a:lstStyle/>
        <a:p>
          <a:r>
            <a:rPr lang="en-US" altLang="ja-JP" dirty="0"/>
            <a:t>PCB</a:t>
          </a:r>
          <a:r>
            <a:rPr lang="ja-JP" dirty="0"/>
            <a:t>基板</a:t>
          </a:r>
          <a:r>
            <a:rPr lang="ja-JP" altLang="en-US" dirty="0"/>
            <a:t>はチップと一体化！</a:t>
          </a:r>
          <a:endParaRPr lang="en-US" dirty="0"/>
        </a:p>
      </dgm:t>
    </dgm:pt>
    <dgm:pt modelId="{E3BA3990-04D1-4EB4-82A2-D871CB4DE2CD}" type="parTrans" cxnId="{62FE770E-E2BD-45BA-A0A4-9000A48F932E}">
      <dgm:prSet/>
      <dgm:spPr/>
      <dgm:t>
        <a:bodyPr/>
        <a:lstStyle/>
        <a:p>
          <a:endParaRPr lang="en-US"/>
        </a:p>
      </dgm:t>
    </dgm:pt>
    <dgm:pt modelId="{87BDBA5E-4A74-467F-85FD-D891C0A7E186}" type="sibTrans" cxnId="{62FE770E-E2BD-45BA-A0A4-9000A48F932E}">
      <dgm:prSet/>
      <dgm:spPr/>
      <dgm:t>
        <a:bodyPr/>
        <a:lstStyle/>
        <a:p>
          <a:endParaRPr lang="en-US"/>
        </a:p>
      </dgm:t>
    </dgm:pt>
    <dgm:pt modelId="{F30D6FDD-BC91-4779-9399-B85D7C9A35E4}">
      <dgm:prSet/>
      <dgm:spPr/>
      <dgm:t>
        <a:bodyPr/>
        <a:lstStyle/>
        <a:p>
          <a:r>
            <a:rPr lang="ja-JP" altLang="en-US" dirty="0"/>
            <a:t>最終到達点は、チップと基板は一体化し、</a:t>
          </a:r>
          <a:r>
            <a:rPr lang="ja-JP" dirty="0"/>
            <a:t>センサーやアクチュエーター、筐体</a:t>
          </a:r>
          <a:r>
            <a:rPr lang="ja-JP" altLang="en-US" dirty="0"/>
            <a:t>と統合される</a:t>
          </a:r>
          <a:endParaRPr lang="en-US" dirty="0"/>
        </a:p>
      </dgm:t>
    </dgm:pt>
    <dgm:pt modelId="{0E74A285-0E87-416B-AF8B-F7DFB72274FA}" type="parTrans" cxnId="{EB63E68F-0C32-4004-91FF-CA9B5ED3171C}">
      <dgm:prSet/>
      <dgm:spPr/>
      <dgm:t>
        <a:bodyPr/>
        <a:lstStyle/>
        <a:p>
          <a:endParaRPr lang="en-US"/>
        </a:p>
      </dgm:t>
    </dgm:pt>
    <dgm:pt modelId="{50264373-A4C5-4C81-B10E-FA4B08566B5A}" type="sibTrans" cxnId="{EB63E68F-0C32-4004-91FF-CA9B5ED3171C}">
      <dgm:prSet/>
      <dgm:spPr/>
      <dgm:t>
        <a:bodyPr/>
        <a:lstStyle/>
        <a:p>
          <a:endParaRPr lang="en-US"/>
        </a:p>
      </dgm:t>
    </dgm:pt>
    <dgm:pt modelId="{8E28DBEB-330C-4058-8216-D560BD50943F}">
      <dgm:prSet/>
      <dgm:spPr/>
      <dgm:t>
        <a:bodyPr/>
        <a:lstStyle/>
        <a:p>
          <a:endParaRPr lang="en-US" dirty="0"/>
        </a:p>
      </dgm:t>
    </dgm:pt>
    <dgm:pt modelId="{6966226C-74D5-4BA3-BC64-DCD6117367A1}" type="parTrans" cxnId="{6E7842E2-E9D0-42FA-9E85-A760A10B9F6A}">
      <dgm:prSet/>
      <dgm:spPr/>
      <dgm:t>
        <a:bodyPr/>
        <a:lstStyle/>
        <a:p>
          <a:endParaRPr kumimoji="1" lang="ja-JP" altLang="en-US"/>
        </a:p>
      </dgm:t>
    </dgm:pt>
    <dgm:pt modelId="{8C083972-9595-420F-9206-59EACF36BB36}" type="sibTrans" cxnId="{6E7842E2-E9D0-42FA-9E85-A760A10B9F6A}">
      <dgm:prSet/>
      <dgm:spPr/>
      <dgm:t>
        <a:bodyPr/>
        <a:lstStyle/>
        <a:p>
          <a:endParaRPr kumimoji="1" lang="ja-JP" altLang="en-US"/>
        </a:p>
      </dgm:t>
    </dgm:pt>
    <dgm:pt modelId="{B85BF9E8-D1FF-4501-ACC6-E3897F53280F}" type="pres">
      <dgm:prSet presAssocID="{648CD7AE-1462-4D68-810D-C5A5FB76B86B}" presName="linear" presStyleCnt="0">
        <dgm:presLayoutVars>
          <dgm:animLvl val="lvl"/>
          <dgm:resizeHandles val="exact"/>
        </dgm:presLayoutVars>
      </dgm:prSet>
      <dgm:spPr/>
    </dgm:pt>
    <dgm:pt modelId="{5EA587FF-5228-40B5-B13D-4B966147B74F}" type="pres">
      <dgm:prSet presAssocID="{A54B4050-8683-43ED-9054-8F2EECA02EFB}" presName="parentText" presStyleLbl="node1" presStyleIdx="0" presStyleCnt="2">
        <dgm:presLayoutVars>
          <dgm:chMax val="0"/>
          <dgm:bulletEnabled val="1"/>
        </dgm:presLayoutVars>
      </dgm:prSet>
      <dgm:spPr/>
    </dgm:pt>
    <dgm:pt modelId="{036AFCBD-597A-40DF-A035-C2A32A1324E2}" type="pres">
      <dgm:prSet presAssocID="{A54B4050-8683-43ED-9054-8F2EECA02EFB}" presName="childText" presStyleLbl="revTx" presStyleIdx="0" presStyleCnt="2">
        <dgm:presLayoutVars>
          <dgm:bulletEnabled val="1"/>
        </dgm:presLayoutVars>
      </dgm:prSet>
      <dgm:spPr/>
    </dgm:pt>
    <dgm:pt modelId="{043490D9-936F-4FA2-9701-57663E2F78FD}" type="pres">
      <dgm:prSet presAssocID="{E93213AB-C7A3-4AFC-BECF-B03C0B6A01B2}" presName="parentText" presStyleLbl="node1" presStyleIdx="1" presStyleCnt="2">
        <dgm:presLayoutVars>
          <dgm:chMax val="0"/>
          <dgm:bulletEnabled val="1"/>
        </dgm:presLayoutVars>
      </dgm:prSet>
      <dgm:spPr/>
    </dgm:pt>
    <dgm:pt modelId="{167E22BA-3EF7-41AD-9AE7-1E7FEA6DE5F3}" type="pres">
      <dgm:prSet presAssocID="{E93213AB-C7A3-4AFC-BECF-B03C0B6A01B2}" presName="childText" presStyleLbl="revTx" presStyleIdx="1" presStyleCnt="2">
        <dgm:presLayoutVars>
          <dgm:bulletEnabled val="1"/>
        </dgm:presLayoutVars>
      </dgm:prSet>
      <dgm:spPr/>
    </dgm:pt>
  </dgm:ptLst>
  <dgm:cxnLst>
    <dgm:cxn modelId="{15414F02-BD08-49EE-8C66-CD623A82DF6E}" type="presOf" srcId="{846C8704-8B2E-4FFC-AAA0-27B834A45266}" destId="{036AFCBD-597A-40DF-A035-C2A32A1324E2}" srcOrd="0" destOrd="0" presId="urn:microsoft.com/office/officeart/2005/8/layout/vList2"/>
    <dgm:cxn modelId="{62FE770E-E2BD-45BA-A0A4-9000A48F932E}" srcId="{648CD7AE-1462-4D68-810D-C5A5FB76B86B}" destId="{E93213AB-C7A3-4AFC-BECF-B03C0B6A01B2}" srcOrd="1" destOrd="0" parTransId="{E3BA3990-04D1-4EB4-82A2-D871CB4DE2CD}" sibTransId="{87BDBA5E-4A74-467F-85FD-D891C0A7E186}"/>
    <dgm:cxn modelId="{771A4C15-A87C-477E-A68B-73A46172EE48}" type="presOf" srcId="{8E28DBEB-330C-4058-8216-D560BD50943F}" destId="{036AFCBD-597A-40DF-A035-C2A32A1324E2}" srcOrd="0" destOrd="1" presId="urn:microsoft.com/office/officeart/2005/8/layout/vList2"/>
    <dgm:cxn modelId="{1405932B-8DE4-44EC-A4A4-29EF37B36E63}" type="presOf" srcId="{F30D6FDD-BC91-4779-9399-B85D7C9A35E4}" destId="{167E22BA-3EF7-41AD-9AE7-1E7FEA6DE5F3}" srcOrd="0" destOrd="0" presId="urn:microsoft.com/office/officeart/2005/8/layout/vList2"/>
    <dgm:cxn modelId="{60560782-94FD-40F7-BBDB-B0A902186533}" srcId="{A54B4050-8683-43ED-9054-8F2EECA02EFB}" destId="{846C8704-8B2E-4FFC-AAA0-27B834A45266}" srcOrd="0" destOrd="0" parTransId="{D768A80F-62BF-43CC-832F-A943AB3EF469}" sibTransId="{EBBEA77E-358C-4A1E-A95C-A7B431B70F21}"/>
    <dgm:cxn modelId="{7051F887-B4FE-4786-AA50-662A24B3C9FD}" type="presOf" srcId="{A54B4050-8683-43ED-9054-8F2EECA02EFB}" destId="{5EA587FF-5228-40B5-B13D-4B966147B74F}" srcOrd="0" destOrd="0" presId="urn:microsoft.com/office/officeart/2005/8/layout/vList2"/>
    <dgm:cxn modelId="{EB63E68F-0C32-4004-91FF-CA9B5ED3171C}" srcId="{E93213AB-C7A3-4AFC-BECF-B03C0B6A01B2}" destId="{F30D6FDD-BC91-4779-9399-B85D7C9A35E4}" srcOrd="0" destOrd="0" parTransId="{0E74A285-0E87-416B-AF8B-F7DFB72274FA}" sibTransId="{50264373-A4C5-4C81-B10E-FA4B08566B5A}"/>
    <dgm:cxn modelId="{5AA5D79E-B7B4-437B-B986-0B9587F19633}" type="presOf" srcId="{E93213AB-C7A3-4AFC-BECF-B03C0B6A01B2}" destId="{043490D9-936F-4FA2-9701-57663E2F78FD}" srcOrd="0" destOrd="0" presId="urn:microsoft.com/office/officeart/2005/8/layout/vList2"/>
    <dgm:cxn modelId="{EFA793A0-873C-428B-9981-AC98F16D5D6E}" srcId="{648CD7AE-1462-4D68-810D-C5A5FB76B86B}" destId="{A54B4050-8683-43ED-9054-8F2EECA02EFB}" srcOrd="0" destOrd="0" parTransId="{D90D9AC2-9A77-4A05-8DF8-5A9A954F6ECB}" sibTransId="{FF8C8674-4DED-4A0E-8A28-1E1A2FFFD280}"/>
    <dgm:cxn modelId="{44EE7AAA-E2E6-444B-9EDD-3B153BDEEDF3}" type="presOf" srcId="{648CD7AE-1462-4D68-810D-C5A5FB76B86B}" destId="{B85BF9E8-D1FF-4501-ACC6-E3897F53280F}" srcOrd="0" destOrd="0" presId="urn:microsoft.com/office/officeart/2005/8/layout/vList2"/>
    <dgm:cxn modelId="{6E7842E2-E9D0-42FA-9E85-A760A10B9F6A}" srcId="{A54B4050-8683-43ED-9054-8F2EECA02EFB}" destId="{8E28DBEB-330C-4058-8216-D560BD50943F}" srcOrd="1" destOrd="0" parTransId="{6966226C-74D5-4BA3-BC64-DCD6117367A1}" sibTransId="{8C083972-9595-420F-9206-59EACF36BB36}"/>
    <dgm:cxn modelId="{09705AEF-D988-4224-A460-D6C5C6570FFD}" type="presParOf" srcId="{B85BF9E8-D1FF-4501-ACC6-E3897F53280F}" destId="{5EA587FF-5228-40B5-B13D-4B966147B74F}" srcOrd="0" destOrd="0" presId="urn:microsoft.com/office/officeart/2005/8/layout/vList2"/>
    <dgm:cxn modelId="{80F14F57-1544-4262-9943-6D49B203320C}" type="presParOf" srcId="{B85BF9E8-D1FF-4501-ACC6-E3897F53280F}" destId="{036AFCBD-597A-40DF-A035-C2A32A1324E2}" srcOrd="1" destOrd="0" presId="urn:microsoft.com/office/officeart/2005/8/layout/vList2"/>
    <dgm:cxn modelId="{494C0A23-3580-4913-ACAA-0CA0B47B22E4}" type="presParOf" srcId="{B85BF9E8-D1FF-4501-ACC6-E3897F53280F}" destId="{043490D9-936F-4FA2-9701-57663E2F78FD}" srcOrd="2" destOrd="0" presId="urn:microsoft.com/office/officeart/2005/8/layout/vList2"/>
    <dgm:cxn modelId="{6AF2198D-F22C-4F7F-BE57-1414BA011942}" type="presParOf" srcId="{B85BF9E8-D1FF-4501-ACC6-E3897F53280F}" destId="{167E22BA-3EF7-41AD-9AE7-1E7FEA6DE5F3}"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A587FF-5228-40B5-B13D-4B966147B74F}">
      <dsp:nvSpPr>
        <dsp:cNvPr id="0" name=""/>
        <dsp:cNvSpPr/>
      </dsp:nvSpPr>
      <dsp:spPr>
        <a:xfrm>
          <a:off x="0" y="18276"/>
          <a:ext cx="5305413" cy="11255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ja-JP" altLang="en-US" sz="2600" kern="1200" dirty="0"/>
            <a:t>チップは</a:t>
          </a:r>
          <a:r>
            <a:rPr lang="ja-JP" sz="2600" kern="1200" dirty="0"/>
            <a:t>「小型」と「低コスト」がキモ</a:t>
          </a:r>
          <a:r>
            <a:rPr lang="ja-JP" altLang="en-US" sz="2600" kern="1200" dirty="0"/>
            <a:t>！</a:t>
          </a:r>
          <a:endParaRPr lang="en-US" sz="2600" kern="1200" dirty="0"/>
        </a:p>
      </dsp:txBody>
      <dsp:txXfrm>
        <a:off x="54944" y="73220"/>
        <a:ext cx="5195525" cy="1015652"/>
      </dsp:txXfrm>
    </dsp:sp>
    <dsp:sp modelId="{036AFCBD-597A-40DF-A035-C2A32A1324E2}">
      <dsp:nvSpPr>
        <dsp:cNvPr id="0" name=""/>
        <dsp:cNvSpPr/>
      </dsp:nvSpPr>
      <dsp:spPr>
        <a:xfrm>
          <a:off x="0" y="1143816"/>
          <a:ext cx="5305413" cy="75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7"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ja-JP" sz="2000" kern="1200" dirty="0"/>
            <a:t>最終到達点は「超小型の専用チップ化</a:t>
          </a:r>
          <a:r>
            <a:rPr lang="ja-JP" altLang="en-US" sz="2000" kern="1200" dirty="0"/>
            <a:t>」</a:t>
          </a:r>
          <a:endParaRPr lang="en-US" sz="2000" kern="1200" dirty="0"/>
        </a:p>
        <a:p>
          <a:pPr marL="228600" lvl="1" indent="-228600" algn="l" defTabSz="889000">
            <a:lnSpc>
              <a:spcPct val="90000"/>
            </a:lnSpc>
            <a:spcBef>
              <a:spcPct val="0"/>
            </a:spcBef>
            <a:spcAft>
              <a:spcPct val="20000"/>
            </a:spcAft>
            <a:buChar char="•"/>
          </a:pPr>
          <a:endParaRPr lang="en-US" sz="2000" kern="1200" dirty="0"/>
        </a:p>
      </dsp:txBody>
      <dsp:txXfrm>
        <a:off x="0" y="1143816"/>
        <a:ext cx="5305413" cy="753480"/>
      </dsp:txXfrm>
    </dsp:sp>
    <dsp:sp modelId="{043490D9-936F-4FA2-9701-57663E2F78FD}">
      <dsp:nvSpPr>
        <dsp:cNvPr id="0" name=""/>
        <dsp:cNvSpPr/>
      </dsp:nvSpPr>
      <dsp:spPr>
        <a:xfrm>
          <a:off x="0" y="1897296"/>
          <a:ext cx="5305413" cy="11255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altLang="ja-JP" sz="2600" kern="1200" dirty="0"/>
            <a:t>PCB</a:t>
          </a:r>
          <a:r>
            <a:rPr lang="ja-JP" sz="2600" kern="1200" dirty="0"/>
            <a:t>基板</a:t>
          </a:r>
          <a:r>
            <a:rPr lang="ja-JP" altLang="en-US" sz="2600" kern="1200" dirty="0"/>
            <a:t>はチップと一体化！</a:t>
          </a:r>
          <a:endParaRPr lang="en-US" sz="2600" kern="1200" dirty="0"/>
        </a:p>
      </dsp:txBody>
      <dsp:txXfrm>
        <a:off x="54944" y="1952240"/>
        <a:ext cx="5195525" cy="1015652"/>
      </dsp:txXfrm>
    </dsp:sp>
    <dsp:sp modelId="{167E22BA-3EF7-41AD-9AE7-1E7FEA6DE5F3}">
      <dsp:nvSpPr>
        <dsp:cNvPr id="0" name=""/>
        <dsp:cNvSpPr/>
      </dsp:nvSpPr>
      <dsp:spPr>
        <a:xfrm>
          <a:off x="0" y="3022836"/>
          <a:ext cx="5305413"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7"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ja-JP" altLang="en-US" sz="2000" kern="1200" dirty="0"/>
            <a:t>最終到達点は、チップと基板は一体化し、</a:t>
          </a:r>
          <a:r>
            <a:rPr lang="ja-JP" sz="2000" kern="1200" dirty="0"/>
            <a:t>センサーやアクチュエーター、筐体</a:t>
          </a:r>
          <a:r>
            <a:rPr lang="ja-JP" altLang="en-US" sz="2000" kern="1200" dirty="0"/>
            <a:t>と統合される</a:t>
          </a:r>
          <a:endParaRPr lang="en-US" sz="2000" kern="1200" dirty="0"/>
        </a:p>
      </dsp:txBody>
      <dsp:txXfrm>
        <a:off x="0" y="3022836"/>
        <a:ext cx="5305413" cy="9956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06701CF-6506-4C71-B9C0-D553E89A3065}" type="datetime1">
              <a:rPr lang="ja-JP" altLang="en-US" smtClean="0">
                <a:latin typeface="Meiryo UI" panose="020B0604030504040204" pitchFamily="50" charset="-128"/>
                <a:ea typeface="Meiryo UI" panose="020B0604030504040204" pitchFamily="50" charset="-128"/>
              </a:rPr>
              <a:t>2026/10/24</a:t>
            </a:fld>
            <a:endParaRPr lang="ja-JP" altLang="en-US">
              <a:latin typeface="Meiryo UI" panose="020B0604030504040204" pitchFamily="50" charset="-128"/>
              <a:ea typeface="Meiryo UI" panose="020B0604030504040204" pitchFamily="50" charset="-128"/>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ja-JP" altLang="en-US">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n-US" altLang="ja-JP" smtClean="0">
                <a:latin typeface="Meiryo UI" panose="020B0604030504040204" pitchFamily="50" charset="-128"/>
                <a:ea typeface="Meiryo UI" panose="020B0604030504040204" pitchFamily="50" charset="-128"/>
              </a:r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50" charset="-128"/>
                <a:ea typeface="Meiryo UI" panose="020B0604030504040204" pitchFamily="50" charset="-128"/>
              </a:defRPr>
            </a:lvl1pPr>
          </a:lstStyle>
          <a:p>
            <a:fld id="{62CAF6EC-44B5-4F44-84B2-F1866F3C3CE5}" type="datetime1">
              <a:rPr lang="ja-JP" altLang="en-US" smtClean="0"/>
              <a:pPr/>
              <a:t>2026/10/24</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a:t>クリックしてマスター テキストのスタイルを編集</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50" charset="-128"/>
                <a:ea typeface="Meiryo UI" panose="020B0604030504040204" pitchFamily="50" charset="-128"/>
              </a:defRPr>
            </a:lvl1pPr>
          </a:lstStyle>
          <a:p>
            <a:fld id="{DF61EA0F-A667-4B49-8422-0062BC55E249}" type="slidenum">
              <a:rPr lang="en-US" altLang="ja-JP" smtClean="0"/>
              <a:pPr/>
              <a:t>‹#›</a:t>
            </a:fld>
            <a:endParaRPr lang="ja-JP"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5"/>
          </p:nvPr>
        </p:nvSpPr>
        <p:spPr/>
        <p:txBody>
          <a:bodyPr/>
          <a:lstStyle/>
          <a:p>
            <a:pPr rtl="0"/>
            <a:fld id="{DF61EA0F-A667-4B49-8422-0062BC55E249}" type="slidenum">
              <a:rPr lang="en-US" altLang="ja-JP" smtClean="0"/>
              <a:t>1</a:t>
            </a:fld>
            <a:endParaRPr lang="ja-JP" altLang="en-US"/>
          </a:p>
        </p:txBody>
      </p:sp>
    </p:spTree>
    <p:extLst>
      <p:ext uri="{BB962C8B-B14F-4D97-AF65-F5344CB8AC3E}">
        <p14:creationId xmlns:p14="http://schemas.microsoft.com/office/powerpoint/2010/main" val="387410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109</a:t>
            </a:fld>
            <a:endParaRPr kumimoji="1" lang="ja-JP" altLang="en-US"/>
          </a:p>
        </p:txBody>
      </p:sp>
    </p:spTree>
    <p:extLst>
      <p:ext uri="{BB962C8B-B14F-4D97-AF65-F5344CB8AC3E}">
        <p14:creationId xmlns:p14="http://schemas.microsoft.com/office/powerpoint/2010/main" val="265894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115</a:t>
            </a:fld>
            <a:endParaRPr kumimoji="1" lang="ja-JP" altLang="en-US"/>
          </a:p>
        </p:txBody>
      </p:sp>
    </p:spTree>
    <p:extLst>
      <p:ext uri="{BB962C8B-B14F-4D97-AF65-F5344CB8AC3E}">
        <p14:creationId xmlns:p14="http://schemas.microsoft.com/office/powerpoint/2010/main" val="819700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4636702-3D9D-4952-9CC2-483F2286A737}" type="slidenum">
              <a:rPr kumimoji="1" lang="ja-JP" altLang="en-US" smtClean="0"/>
              <a:t>160</a:t>
            </a:fld>
            <a:endParaRPr kumimoji="1" lang="ja-JP" altLang="en-US"/>
          </a:p>
        </p:txBody>
      </p:sp>
    </p:spTree>
    <p:extLst>
      <p:ext uri="{BB962C8B-B14F-4D97-AF65-F5344CB8AC3E}">
        <p14:creationId xmlns:p14="http://schemas.microsoft.com/office/powerpoint/2010/main" val="25913300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title"/>
          </p:nvPr>
        </p:nvSpPr>
        <p:spPr>
          <a:xfrm>
            <a:off x="448056" y="2551176"/>
            <a:ext cx="9922447" cy="914400"/>
          </a:xfrm>
        </p:spPr>
        <p:txBody>
          <a:bodyPr rtlCol="0"/>
          <a:lstStyle>
            <a:lvl1pPr>
              <a:defRPr sz="5400" b="0">
                <a:solidFill>
                  <a:schemeClr val="tx1"/>
                </a:solidFill>
              </a:defRPr>
            </a:lvl1pPr>
          </a:lstStyle>
          <a:p>
            <a:pPr rtl="0"/>
            <a:r>
              <a:rPr lang="ja-JP" altLang="en-US" noProof="0"/>
              <a:t>マスター タイトルの書式設定</a:t>
            </a:r>
            <a:endParaRPr lang="ja-JP" altLang="en-US" noProof="0" dirty="0"/>
          </a:p>
        </p:txBody>
      </p:sp>
      <p:sp>
        <p:nvSpPr>
          <p:cNvPr id="5" name="テキスト プレースホルダー 4">
            <a:extLst>
              <a:ext uri="{FF2B5EF4-FFF2-40B4-BE49-F238E27FC236}">
                <a16:creationId xmlns:a16="http://schemas.microsoft.com/office/drawing/2014/main" id="{B107D0E1-EAED-8E08-24BA-8F930364BA96}"/>
              </a:ext>
            </a:extLst>
          </p:cNvPr>
          <p:cNvSpPr>
            <a:spLocks noGrp="1"/>
          </p:cNvSpPr>
          <p:nvPr>
            <p:ph type="body" sz="quarter" idx="10" hasCustomPrompt="1"/>
          </p:nvPr>
        </p:nvSpPr>
        <p:spPr>
          <a:xfrm>
            <a:off x="448056" y="3575304"/>
            <a:ext cx="9921943" cy="862012"/>
          </a:xfrm>
        </p:spPr>
        <p:txBody>
          <a:bodyPr rtlCol="0">
            <a:normAutofit/>
          </a:bodyPr>
          <a:lstStyle>
            <a:lvl1pPr>
              <a:defRPr sz="2400">
                <a:solidFill>
                  <a:schemeClr val="accent2"/>
                </a:solidFill>
              </a:defRPr>
            </a:lvl1pPr>
          </a:lstStyle>
          <a:p>
            <a:pPr lvl="0" rtl="0"/>
            <a:r>
              <a:rPr lang="ja-JP" altLang="en-US" noProof="0" dirty="0"/>
              <a:t>クリックしてマスター テキストのスタイルを編集</a:t>
            </a:r>
          </a:p>
        </p:txBody>
      </p:sp>
      <p:pic>
        <p:nvPicPr>
          <p:cNvPr id="3" name="図 2">
            <a:extLst>
              <a:ext uri="{FF2B5EF4-FFF2-40B4-BE49-F238E27FC236}">
                <a16:creationId xmlns:a16="http://schemas.microsoft.com/office/drawing/2014/main" id="{422F3FE2-6705-F565-5229-C8D3DCC9E6BB}"/>
              </a:ext>
            </a:extLst>
          </p:cNvPr>
          <p:cNvPicPr>
            <a:picLocks noChangeAspect="1"/>
          </p:cNvPicPr>
          <p:nvPr userDrawn="1"/>
        </p:nvPicPr>
        <p:blipFill>
          <a:blip r:embed="rId2"/>
          <a:stretch>
            <a:fillRect/>
          </a:stretch>
        </p:blipFill>
        <p:spPr>
          <a:xfrm>
            <a:off x="0" y="6569077"/>
            <a:ext cx="12192000" cy="292608"/>
          </a:xfrm>
          <a:prstGeom prst="rect">
            <a:avLst/>
          </a:prstGeom>
        </p:spPr>
      </p:pic>
      <p:sp>
        <p:nvSpPr>
          <p:cNvPr id="4" name="テキスト ボックス 3">
            <a:extLst>
              <a:ext uri="{FF2B5EF4-FFF2-40B4-BE49-F238E27FC236}">
                <a16:creationId xmlns:a16="http://schemas.microsoft.com/office/drawing/2014/main" id="{4C823333-8525-866C-7083-D7296C0AB8D7}"/>
              </a:ext>
            </a:extLst>
          </p:cNvPr>
          <p:cNvSpPr txBox="1"/>
          <p:nvPr userDrawn="1"/>
        </p:nvSpPr>
        <p:spPr>
          <a:xfrm>
            <a:off x="-1" y="6550223"/>
            <a:ext cx="3223403" cy="307777"/>
          </a:xfrm>
          <a:prstGeom prst="rect">
            <a:avLst/>
          </a:prstGeom>
          <a:noFill/>
        </p:spPr>
        <p:txBody>
          <a:bodyPr wrap="square" rtlCol="0">
            <a:spAutoFit/>
          </a:bodyPr>
          <a:lstStyle/>
          <a:p>
            <a:pPr algn="ctr"/>
            <a:r>
              <a:rPr kumimoji="1" lang="en-US" altLang="ja-JP" sz="1400" b="1" dirty="0">
                <a:solidFill>
                  <a:srgbClr val="FFC000"/>
                </a:solidFill>
              </a:rPr>
              <a:t>GF180MCU</a:t>
            </a:r>
            <a:endParaRPr kumimoji="1" lang="ja-JP" altLang="en-US" sz="1400" b="1" dirty="0">
              <a:solidFill>
                <a:srgbClr val="FFC000"/>
              </a:solidFill>
            </a:endParaRPr>
          </a:p>
        </p:txBody>
      </p:sp>
      <p:sp>
        <p:nvSpPr>
          <p:cNvPr id="8" name="日付プレースホルダー 3">
            <a:extLst>
              <a:ext uri="{FF2B5EF4-FFF2-40B4-BE49-F238E27FC236}">
                <a16:creationId xmlns:a16="http://schemas.microsoft.com/office/drawing/2014/main" id="{3C85F884-E1B0-E184-69BB-E82FBA7703DF}"/>
              </a:ext>
            </a:extLst>
          </p:cNvPr>
          <p:cNvSpPr>
            <a:spLocks noGrp="1"/>
          </p:cNvSpPr>
          <p:nvPr>
            <p:ph type="dt" sz="half" idx="2"/>
          </p:nvPr>
        </p:nvSpPr>
        <p:spPr>
          <a:xfrm>
            <a:off x="9454552" y="6569077"/>
            <a:ext cx="1682149" cy="290766"/>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D3186764-8249-4F86-9F1E-0124A3C0442F}" type="datetime1">
              <a:rPr lang="ja-JP" altLang="en-US" smtClean="0"/>
              <a:t>2026/10/24</a:t>
            </a:fld>
            <a:endParaRPr lang="ja-JP" altLang="en-US" dirty="0"/>
          </a:p>
        </p:txBody>
      </p:sp>
    </p:spTree>
    <p:extLst>
      <p:ext uri="{BB962C8B-B14F-4D97-AF65-F5344CB8AC3E}">
        <p14:creationId xmlns:p14="http://schemas.microsoft.com/office/powerpoint/2010/main" val="171854949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884BB682-BA63-4ECD-A8A0-C601AA3E7964}" type="datetime1">
              <a:rPr lang="ja-JP" altLang="en-US" noProof="0" smtClean="0"/>
              <a:t>2026/10/24</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11210543"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54681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段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0F1E2E95-C42D-4C36-B7CE-3A9BBBB31134}" type="datetime1">
              <a:rPr lang="ja-JP" altLang="en-US" noProof="0" smtClean="0"/>
              <a:t>2026/10/24</a:t>
            </a:fld>
            <a:endParaRPr lang="ja-JP" altLang="en-US" noProof="0" dirty="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8" name="コンテンツ プレースホルダー 6">
            <a:extLst>
              <a:ext uri="{FF2B5EF4-FFF2-40B4-BE49-F238E27FC236}">
                <a16:creationId xmlns:a16="http://schemas.microsoft.com/office/drawing/2014/main" id="{904E943F-C687-D3B3-4E36-65D69E3E2F0C}"/>
              </a:ext>
            </a:extLst>
          </p:cNvPr>
          <p:cNvSpPr>
            <a:spLocks noGrp="1"/>
          </p:cNvSpPr>
          <p:nvPr>
            <p:ph sz="quarter" idx="14" hasCustomPrompt="1"/>
          </p:nvPr>
        </p:nvSpPr>
        <p:spPr>
          <a:xfrm>
            <a:off x="629869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83321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短)">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endParaRPr lang="ja-JP" altLang="en-US" noProof="0" dirty="0"/>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19B1E2FC-C007-45CB-A704-E25C88D29217}" type="datetime1">
              <a:rPr lang="ja-JP" altLang="en-US" noProof="0" smtClean="0"/>
              <a:t>2026/10/24</a:t>
            </a:fld>
            <a:endParaRPr lang="ja-JP" altLang="en-US" noProof="0" dirty="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dirty="0"/>
          </a:p>
        </p:txBody>
      </p:sp>
      <p:sp>
        <p:nvSpPr>
          <p:cNvPr id="7" name="コンテンツ プレースホルダー 6">
            <a:extLst>
              <a:ext uri="{FF2B5EF4-FFF2-40B4-BE49-F238E27FC236}">
                <a16:creationId xmlns:a16="http://schemas.microsoft.com/office/drawing/2014/main" id="{CB40353B-463E-6D13-F92E-564948AFA386}"/>
              </a:ext>
            </a:extLst>
          </p:cNvPr>
          <p:cNvSpPr>
            <a:spLocks noGrp="1"/>
          </p:cNvSpPr>
          <p:nvPr>
            <p:ph sz="quarter" idx="13" hasCustomPrompt="1"/>
          </p:nvPr>
        </p:nvSpPr>
        <p:spPr>
          <a:xfrm>
            <a:off x="444500" y="1463040"/>
            <a:ext cx="5330952" cy="4601748"/>
          </a:xfrm>
        </p:spPr>
        <p:txBody>
          <a:bodyPr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Tree>
    <p:extLst>
      <p:ext uri="{BB962C8B-B14F-4D97-AF65-F5344CB8AC3E}">
        <p14:creationId xmlns:p14="http://schemas.microsoft.com/office/powerpoint/2010/main" val="409070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p>
            <a:pPr rtl="0"/>
            <a:r>
              <a:rPr lang="ja-JP" altLang="en-US" noProof="0"/>
              <a:t>マスター タイトルの書式設定</a:t>
            </a:r>
          </a:p>
        </p:txBody>
      </p:sp>
      <p:sp>
        <p:nvSpPr>
          <p:cNvPr id="3" name="日付プレースホルダー 2">
            <a:extLst>
              <a:ext uri="{FF2B5EF4-FFF2-40B4-BE49-F238E27FC236}">
                <a16:creationId xmlns:a16="http://schemas.microsoft.com/office/drawing/2014/main" id="{B85243B5-B498-1E60-5D02-983D13E8289B}"/>
              </a:ext>
            </a:extLst>
          </p:cNvPr>
          <p:cNvSpPr>
            <a:spLocks noGrp="1"/>
          </p:cNvSpPr>
          <p:nvPr>
            <p:ph type="dt" sz="half" idx="10"/>
          </p:nvPr>
        </p:nvSpPr>
        <p:spPr/>
        <p:txBody>
          <a:bodyPr rtlCol="0"/>
          <a:lstStyle/>
          <a:p>
            <a:pPr rtl="0"/>
            <a:fld id="{5F73EFFE-E2D8-4196-AC21-B05505B1EE2E}" type="datetime1">
              <a:rPr lang="ja-JP" altLang="en-US" noProof="0" smtClean="0"/>
              <a:t>2026/10/24</a:t>
            </a:fld>
            <a:endParaRPr lang="ja-JP" altLang="en-US" noProof="0"/>
          </a:p>
        </p:txBody>
      </p:sp>
      <p:sp>
        <p:nvSpPr>
          <p:cNvPr id="5" name="スライド番号プレースホルダー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rtlCol="0"/>
          <a:lstStyle/>
          <a:p>
            <a:pPr rtl="0"/>
            <a:fld id="{9860EDB8-5305-433F-BE41-D7A86D811DB3}" type="slidenum">
              <a:rPr lang="en-US" altLang="ja-JP" noProof="0" smtClean="0"/>
              <a:pPr/>
              <a:t>‹#›</a:t>
            </a:fld>
            <a:endParaRPr lang="ja-JP" altLang="en-US" noProof="0"/>
          </a:p>
        </p:txBody>
      </p:sp>
    </p:spTree>
    <p:extLst>
      <p:ext uri="{BB962C8B-B14F-4D97-AF65-F5344CB8AC3E}">
        <p14:creationId xmlns:p14="http://schemas.microsoft.com/office/powerpoint/2010/main" val="292383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Footer Placeholder 4"/>
          <p:cNvSpPr>
            <a:spLocks noGrp="1"/>
          </p:cNvSpPr>
          <p:nvPr>
            <p:ph type="ftr" sz="quarter" idx="11"/>
          </p:nvPr>
        </p:nvSpPr>
        <p:spPr/>
        <p:txBody>
          <a:bodyPr/>
          <a:lstStyle/>
          <a:p>
            <a:r>
              <a:rPr kumimoji="1" lang="en-US" altLang="ja-JP"/>
              <a:t>Mizuki Mori</a:t>
            </a:r>
            <a:endParaRPr kumimoji="1" lang="ja-JP" altLang="en-US" dirty="0"/>
          </a:p>
        </p:txBody>
      </p:sp>
      <p:sp>
        <p:nvSpPr>
          <p:cNvPr id="6" name="Slide Number Placeholder 5"/>
          <p:cNvSpPr>
            <a:spLocks noGrp="1"/>
          </p:cNvSpPr>
          <p:nvPr>
            <p:ph type="sldNum" sz="quarter" idx="12"/>
          </p:nvPr>
        </p:nvSpPr>
        <p:spPr/>
        <p:txBody>
          <a:bodyPr/>
          <a:lstStyle/>
          <a:p>
            <a:fld id="{66E89953-8AEA-4BDF-A508-664B12926AB4}" type="slidenum">
              <a:rPr kumimoji="1" lang="ja-JP" altLang="en-US" smtClean="0"/>
              <a:t>‹#›</a:t>
            </a:fld>
            <a:endParaRPr kumimoji="1" lang="ja-JP" altLang="en-US"/>
          </a:p>
        </p:txBody>
      </p:sp>
    </p:spTree>
    <p:extLst>
      <p:ext uri="{BB962C8B-B14F-4D97-AF65-F5344CB8AC3E}">
        <p14:creationId xmlns:p14="http://schemas.microsoft.com/office/powerpoint/2010/main" val="901617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274617"/>
            <a:ext cx="5181600" cy="490234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274617"/>
            <a:ext cx="5181600" cy="490234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4756F5D-CCE5-41E6-8FA1-BF3CFA5E5468}" type="datetime1">
              <a:rPr kumimoji="1" lang="ja-JP" altLang="en-US" smtClean="0"/>
              <a:t>2026/10/24</a:t>
            </a:fld>
            <a:endParaRPr kumimoji="1" lang="ja-JP" altLang="en-US"/>
          </a:p>
        </p:txBody>
      </p:sp>
      <p:sp>
        <p:nvSpPr>
          <p:cNvPr id="6" name="Footer Placeholder 5"/>
          <p:cNvSpPr>
            <a:spLocks noGrp="1"/>
          </p:cNvSpPr>
          <p:nvPr>
            <p:ph type="ftr" sz="quarter" idx="11"/>
          </p:nvPr>
        </p:nvSpPr>
        <p:spPr/>
        <p:txBody>
          <a:bodyPr/>
          <a:lstStyle/>
          <a:p>
            <a:r>
              <a:rPr kumimoji="1" lang="en-US" altLang="ja-JP"/>
              <a:t>Mizuki Mori</a:t>
            </a:r>
            <a:endParaRPr kumimoji="1" lang="ja-JP" altLang="en-US" dirty="0"/>
          </a:p>
        </p:txBody>
      </p:sp>
      <p:sp>
        <p:nvSpPr>
          <p:cNvPr id="7" name="Slide Number Placeholder 6"/>
          <p:cNvSpPr>
            <a:spLocks noGrp="1"/>
          </p:cNvSpPr>
          <p:nvPr>
            <p:ph type="sldNum" sz="quarter" idx="12"/>
          </p:nvPr>
        </p:nvSpPr>
        <p:spPr/>
        <p:txBody>
          <a:bodyPr/>
          <a:lstStyle/>
          <a:p>
            <a:fld id="{66E89953-8AEA-4BDF-A508-664B12926AB4}" type="slidenum">
              <a:rPr kumimoji="1" lang="ja-JP" altLang="en-US" smtClean="0"/>
              <a:t>‹#›</a:t>
            </a:fld>
            <a:endParaRPr kumimoji="1" lang="ja-JP" altLang="en-US"/>
          </a:p>
        </p:txBody>
      </p:sp>
    </p:spTree>
    <p:extLst>
      <p:ext uri="{BB962C8B-B14F-4D97-AF65-F5344CB8AC3E}">
        <p14:creationId xmlns:p14="http://schemas.microsoft.com/office/powerpoint/2010/main" val="3446657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93F5D-5A8F-FDB8-2312-7C365AD8B8E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3FEFC5D-E911-2492-EBF4-7C560C935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D3B3258-3956-C471-1ADB-DB8BF6962114}"/>
              </a:ext>
            </a:extLst>
          </p:cNvPr>
          <p:cNvSpPr>
            <a:spLocks noGrp="1"/>
          </p:cNvSpPr>
          <p:nvPr>
            <p:ph type="dt" sz="half" idx="10"/>
          </p:nvPr>
        </p:nvSpPr>
        <p:spPr/>
        <p:txBody>
          <a:bodyPr/>
          <a:lstStyle/>
          <a:p>
            <a:fld id="{6038B33F-4E30-40CF-8982-DA02651F1878}" type="datetimeFigureOut">
              <a:rPr kumimoji="1" lang="ja-JP" altLang="en-US" smtClean="0"/>
              <a:t>2026/10/24</a:t>
            </a:fld>
            <a:endParaRPr kumimoji="1" lang="ja-JP" altLang="en-US"/>
          </a:p>
        </p:txBody>
      </p:sp>
      <p:sp>
        <p:nvSpPr>
          <p:cNvPr id="5" name="フッター プレースホルダー 4">
            <a:extLst>
              <a:ext uri="{FF2B5EF4-FFF2-40B4-BE49-F238E27FC236}">
                <a16:creationId xmlns:a16="http://schemas.microsoft.com/office/drawing/2014/main" id="{592FA95B-9B52-9CD7-0253-D859773DEF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22BE04-F456-2AE2-4548-B04DECF62EAD}"/>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3776692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A13E4DDB-C357-5010-28A6-ABF482442272}"/>
              </a:ext>
            </a:extLst>
          </p:cNvPr>
          <p:cNvPicPr>
            <a:picLocks noChangeAspect="1"/>
          </p:cNvPicPr>
          <p:nvPr userDrawn="1"/>
        </p:nvPicPr>
        <p:blipFill>
          <a:blip r:embed="rId10"/>
          <a:stretch>
            <a:fillRect/>
          </a:stretch>
        </p:blipFill>
        <p:spPr>
          <a:xfrm>
            <a:off x="0" y="6569077"/>
            <a:ext cx="12192000" cy="292608"/>
          </a:xfrm>
          <a:prstGeom prst="rect">
            <a:avLst/>
          </a:prstGeom>
        </p:spPr>
      </p:pic>
      <p:sp>
        <p:nvSpPr>
          <p:cNvPr id="2" name="タイトル プレースホルダー 1"/>
          <p:cNvSpPr>
            <a:spLocks noGrp="1"/>
          </p:cNvSpPr>
          <p:nvPr>
            <p:ph type="title"/>
          </p:nvPr>
        </p:nvSpPr>
        <p:spPr>
          <a:xfrm>
            <a:off x="444500" y="430609"/>
            <a:ext cx="11210544" cy="557784"/>
          </a:xfrm>
          <a:prstGeom prst="rect">
            <a:avLst/>
          </a:prstGeom>
        </p:spPr>
        <p:txBody>
          <a:bodyPr vert="horz" lIns="91440" tIns="45720" rIns="91440" bIns="45720" rtlCol="0" anchor="t" anchorCtr="0">
            <a:normAutofit/>
          </a:bodyPr>
          <a:lstStyle/>
          <a:p>
            <a:pPr rtl="0"/>
            <a:r>
              <a:rPr lang="ja-JP" altLang="en-US" noProof="0" dirty="0"/>
              <a:t>マスター タイトルの書式設定</a:t>
            </a:r>
          </a:p>
        </p:txBody>
      </p:sp>
      <p:sp>
        <p:nvSpPr>
          <p:cNvPr id="3" name="テキスト プレースホルダー 2"/>
          <p:cNvSpPr>
            <a:spLocks noGrp="1"/>
          </p:cNvSpPr>
          <p:nvPr>
            <p:ph type="body" idx="1"/>
          </p:nvPr>
        </p:nvSpPr>
        <p:spPr>
          <a:xfrm>
            <a:off x="448056" y="1447800"/>
            <a:ext cx="11210543" cy="3977640"/>
          </a:xfrm>
          <a:prstGeom prst="rect">
            <a:avLst/>
          </a:prstGeom>
        </p:spPr>
        <p:txBody>
          <a:bodyPr vert="horz" lIns="91440" tIns="45720" rIns="91440" bIns="45720" rtlCol="0">
            <a:normAutofit/>
          </a:bodyPr>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4" name="日付プレースホルダー 3"/>
          <p:cNvSpPr>
            <a:spLocks noGrp="1"/>
          </p:cNvSpPr>
          <p:nvPr>
            <p:ph type="dt" sz="half" idx="2"/>
          </p:nvPr>
        </p:nvSpPr>
        <p:spPr>
          <a:xfrm>
            <a:off x="9454552" y="6569077"/>
            <a:ext cx="1682149" cy="290766"/>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E037CD71-3842-4EB6-9815-0BB8C1A5FDAB}" type="datetime1">
              <a:rPr lang="ja-JP" altLang="en-US" smtClean="0"/>
              <a:t>2026/10/24</a:t>
            </a:fld>
            <a:endParaRPr lang="ja-JP" altLang="en-US" dirty="0"/>
          </a:p>
        </p:txBody>
      </p:sp>
      <p:sp>
        <p:nvSpPr>
          <p:cNvPr id="6" name="スライド番号プレースホルダー 5"/>
          <p:cNvSpPr>
            <a:spLocks noGrp="1"/>
          </p:cNvSpPr>
          <p:nvPr>
            <p:ph type="sldNum" sz="quarter" idx="4"/>
          </p:nvPr>
        </p:nvSpPr>
        <p:spPr>
          <a:xfrm>
            <a:off x="11136702" y="6565392"/>
            <a:ext cx="1055298" cy="292608"/>
          </a:xfrm>
          <a:prstGeom prst="rect">
            <a:avLst/>
          </a:prstGeom>
        </p:spPr>
        <p:txBody>
          <a:bodyPr vert="horz" lIns="91440" tIns="45720" rIns="91440" bIns="45720" rtlCol="0" anchor="ctr"/>
          <a:lstStyle>
            <a:lvl1pPr algn="ctr">
              <a:defRPr sz="1400" b="1" baseline="0">
                <a:solidFill>
                  <a:schemeClr val="bg1"/>
                </a:solidFill>
                <a:latin typeface="Meiryo UI" panose="020B0604030504040204" pitchFamily="50" charset="-128"/>
                <a:ea typeface="Meiryo UI" panose="020B0604030504040204" pitchFamily="50" charset="-128"/>
              </a:defRPr>
            </a:lvl1pPr>
          </a:lstStyle>
          <a:p>
            <a:fld id="{9860EDB8-5305-433F-BE41-D7A86D811DB3}" type="slidenum">
              <a:rPr lang="en-US" altLang="ja-JP" smtClean="0"/>
              <a:pPr/>
              <a:t>‹#›</a:t>
            </a:fld>
            <a:endParaRPr lang="ja-JP" altLang="en-US" dirty="0"/>
          </a:p>
        </p:txBody>
      </p:sp>
      <p:cxnSp>
        <p:nvCxnSpPr>
          <p:cNvPr id="7" name="直線​​コネクタ(S) 6">
            <a:extLst>
              <a:ext uri="{FF2B5EF4-FFF2-40B4-BE49-F238E27FC236}">
                <a16:creationId xmlns:a16="http://schemas.microsoft.com/office/drawing/2014/main" id="{D8F39A1B-8AD1-2C34-AB40-00704468E828}"/>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C37EAAFE-9B47-47B4-C480-DF338419C005}"/>
              </a:ext>
            </a:extLst>
          </p:cNvPr>
          <p:cNvSpPr txBox="1"/>
          <p:nvPr userDrawn="1"/>
        </p:nvSpPr>
        <p:spPr>
          <a:xfrm>
            <a:off x="-1" y="6550223"/>
            <a:ext cx="3223403" cy="307777"/>
          </a:xfrm>
          <a:prstGeom prst="rect">
            <a:avLst/>
          </a:prstGeom>
          <a:noFill/>
        </p:spPr>
        <p:txBody>
          <a:bodyPr wrap="square" rtlCol="0">
            <a:spAutoFit/>
          </a:bodyPr>
          <a:lstStyle/>
          <a:p>
            <a:pPr algn="ctr"/>
            <a:r>
              <a:rPr kumimoji="1" lang="en-US" altLang="ja-JP" sz="1400" b="1" dirty="0">
                <a:solidFill>
                  <a:srgbClr val="FFC000"/>
                </a:solidFill>
              </a:rPr>
              <a:t>GF180MCU</a:t>
            </a:r>
            <a:endParaRPr kumimoji="1" lang="ja-JP" altLang="en-US" sz="1400" b="1" dirty="0">
              <a:solidFill>
                <a:srgbClr val="FFC000"/>
              </a:solidFill>
            </a:endParaRPr>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 id="2147483668" r:id="rId6"/>
    <p:sldLayoutId id="2147483669" r:id="rId7"/>
    <p:sldLayoutId id="2147483670" r:id="rId8"/>
  </p:sldLayoutIdLst>
  <p:hf hdr="0" ftr="0"/>
  <p:txStyles>
    <p:titleStyle>
      <a:lvl1pPr algn="l" defTabSz="914400" rtl="0" eaLnBrk="1" latinLnBrk="0" hangingPunct="1">
        <a:spcBef>
          <a:spcPct val="0"/>
        </a:spcBef>
        <a:buNone/>
        <a:defRPr kumimoji="1" sz="2800" kern="1200">
          <a:solidFill>
            <a:schemeClr val="bg2">
              <a:lumMod val="25000"/>
            </a:schemeClr>
          </a:solidFill>
          <a:latin typeface="Meiryo UI" panose="020B0604030504040204" pitchFamily="50" charset="-128"/>
          <a:ea typeface="Meiryo UI" panose="020B0604030504040204" pitchFamily="50" charset="-128"/>
          <a:cs typeface="+mj-cs"/>
        </a:defRPr>
      </a:lvl1pPr>
    </p:titleStyle>
    <p:body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userDrawn="1">
          <p15:clr>
            <a:srgbClr val="F26B43"/>
          </p15:clr>
        </p15:guide>
        <p15:guide id="2" pos="336" userDrawn="1">
          <p15:clr>
            <a:srgbClr val="F26B43"/>
          </p15:clr>
        </p15:guide>
        <p15:guide id="3" pos="7320" userDrawn="1">
          <p15:clr>
            <a:srgbClr val="F26B43"/>
          </p15:clr>
        </p15:guide>
        <p15:guide id="4" orient="horz" pos="912" userDrawn="1">
          <p15:clr>
            <a:srgbClr val="F26B43"/>
          </p15:clr>
        </p15:guide>
        <p15:guide id="5" orient="horz" pos="264" userDrawn="1">
          <p15:clr>
            <a:srgbClr val="F26B43"/>
          </p15:clr>
        </p15:guide>
        <p15:guide id="6" orient="horz" pos="696" userDrawn="1">
          <p15:clr>
            <a:srgbClr val="F26B43"/>
          </p15:clr>
        </p15:guide>
        <p15:guide id="7" pos="36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3zk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shumpei.kawasaki@riscv.or.jp"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32.png"/><Relationship Id="rId7" Type="http://schemas.openxmlformats.org/officeDocument/2006/relationships/image" Target="../media/image12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21.png"/><Relationship Id="rId4" Type="http://schemas.openxmlformats.org/officeDocument/2006/relationships/image" Target="../media/image90.png"/><Relationship Id="rId9"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10.png"/><Relationship Id="rId7" Type="http://schemas.openxmlformats.org/officeDocument/2006/relationships/image" Target="../media/image170.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64.png"/><Relationship Id="rId5" Type="http://schemas.openxmlformats.org/officeDocument/2006/relationships/image" Target="../media/image154.png"/><Relationship Id="rId10" Type="http://schemas.openxmlformats.org/officeDocument/2006/relationships/image" Target="../media/image200.png"/><Relationship Id="rId4" Type="http://schemas.openxmlformats.org/officeDocument/2006/relationships/image" Target="../media/image141.png"/><Relationship Id="rId9" Type="http://schemas.openxmlformats.org/officeDocument/2006/relationships/image" Target="../media/image19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ishi-kai/OpenEDA-PDK_SetupScript/" TargetMode="External"/><Relationship Id="rId2" Type="http://schemas.openxmlformats.org/officeDocument/2006/relationships/hyperlink" Target="https://github.com/google/gf180mcu-pdk"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4.png"/><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69.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38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gf180mcu-pdk.readthedocs.io/en/latest/physical_verification/design_manual/drm_16.html"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8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84.xml.rels><?xml version="1.0" encoding="UTF-8" standalone="yes"?>
<Relationships xmlns="http://schemas.openxmlformats.org/package/2006/relationships"><Relationship Id="rId8" Type="http://schemas.openxmlformats.org/officeDocument/2006/relationships/image" Target="../media/image490.png"/><Relationship Id="rId7" Type="http://schemas.openxmlformats.org/officeDocument/2006/relationships/image" Target="../media/image66.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9" Type="http://schemas.openxmlformats.org/officeDocument/2006/relationships/image" Target="../media/image500.png"/></Relationships>
</file>

<file path=ppt/slides/_rels/slide8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8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9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hyperlink" Target="https://gf180mcu-pdk.readthedocs.io/en/latest/" TargetMode="Externa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98.png"/></Relationships>
</file>

<file path=ppt/slides/_rels/slide11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5.png"/><Relationship Id="rId4" Type="http://schemas.openxmlformats.org/officeDocument/2006/relationships/image" Target="../media/image104.png"/></Relationships>
</file>

<file path=ppt/slides/_rels/slide11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13.png"/><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hyperlink" Target="http://repo.hu/projects/xschem/xschem_man/symbol_property_syntax.html" TargetMode="Externa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image" Target="../media/image119.JPG"/><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13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sv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3" Type="http://schemas.openxmlformats.org/officeDocument/2006/relationships/image" Target="../media/image127.jpg"/><Relationship Id="rId2" Type="http://schemas.openxmlformats.org/officeDocument/2006/relationships/image" Target="../media/image126.jpg"/><Relationship Id="rId1" Type="http://schemas.openxmlformats.org/officeDocument/2006/relationships/slideLayout" Target="../slideLayouts/slideLayout2.xml"/><Relationship Id="rId5" Type="http://schemas.openxmlformats.org/officeDocument/2006/relationships/image" Target="../media/image129.jpg"/><Relationship Id="rId4" Type="http://schemas.openxmlformats.org/officeDocument/2006/relationships/image" Target="../media/image128.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hyperlink" Target="https://github.com/ishi-kai/RISC-V-Day_2611_inverter_workshop.git" TargetMode="External"/><Relationship Id="rId2" Type="http://schemas.openxmlformats.org/officeDocument/2006/relationships/hyperlink" Target="https://github.com/ishi-kai/RISC-V-Day_MPW_template.git" TargetMode="External"/><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143.xml.rels><?xml version="1.0" encoding="UTF-8" standalone="yes"?>
<Relationships xmlns="http://schemas.openxmlformats.org/package/2006/relationships"><Relationship Id="rId3" Type="http://schemas.openxmlformats.org/officeDocument/2006/relationships/hyperlink" Target="https://ishi-kai.org/" TargetMode="External"/><Relationship Id="rId2" Type="http://schemas.openxmlformats.org/officeDocument/2006/relationships/image" Target="../media/image138.jpeg"/><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6.xml"/><Relationship Id="rId4" Type="http://schemas.openxmlformats.org/officeDocument/2006/relationships/image" Target="../media/image143.png"/></Relationships>
</file>

<file path=ppt/slides/_rels/slide149.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146.png"/><Relationship Id="rId1" Type="http://schemas.openxmlformats.org/officeDocument/2006/relationships/slideLayout" Target="../slideLayouts/slideLayout6.xml"/><Relationship Id="rId4" Type="http://schemas.openxmlformats.org/officeDocument/2006/relationships/image" Target="../media/image148.png"/></Relationships>
</file>

<file path=ppt/slides/_rels/slide150.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150.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hyperlink" Target="https://gf180mcu-pdk.readthedocs.io/en/latest/physical_verification/design_manual/Design_Manual.html" TargetMode="Externa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60.png"/></Relationships>
</file>

<file path=ppt/slides/_rels/slide161.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D66E636-D1D5-3AAC-5CD5-A2F5C585CB49}"/>
              </a:ext>
            </a:extLst>
          </p:cNvPr>
          <p:cNvSpPr>
            <a:spLocks noGrp="1"/>
          </p:cNvSpPr>
          <p:nvPr>
            <p:ph type="title"/>
          </p:nvPr>
        </p:nvSpPr>
        <p:spPr>
          <a:xfrm>
            <a:off x="232579" y="1573985"/>
            <a:ext cx="11726842" cy="914400"/>
          </a:xfrm>
        </p:spPr>
        <p:txBody>
          <a:bodyPr rtlCol="0">
            <a:noAutofit/>
          </a:bodyPr>
          <a:lstStyle/>
          <a:p>
            <a:r>
              <a:rPr lang="en-US" altLang="ja-JP" sz="4400" dirty="0"/>
              <a:t>CMOS</a:t>
            </a:r>
            <a:r>
              <a:rPr lang="ja-JP" altLang="en-US" sz="4400" dirty="0"/>
              <a:t>インバータ設計・半導体チップ製作ハンズオン</a:t>
            </a:r>
            <a:r>
              <a:rPr lang="en-US" altLang="ja-JP" sz="4400" dirty="0">
                <a:latin typeface="Meiryo UI" panose="020B0604030504040204" pitchFamily="50" charset="-128"/>
                <a:ea typeface="Meiryo UI" panose="020B0604030504040204" pitchFamily="50" charset="-128"/>
              </a:rPr>
              <a:t>(GF180mcu)</a:t>
            </a:r>
            <a:endParaRPr lang="ja-JP" altLang="en-US" sz="4400" dirty="0">
              <a:latin typeface="Meiryo UI" panose="020B0604030504040204" pitchFamily="50" charset="-128"/>
              <a:ea typeface="Meiryo UI" panose="020B0604030504040204" pitchFamily="50" charset="-128"/>
            </a:endParaRPr>
          </a:p>
        </p:txBody>
      </p:sp>
      <p:sp>
        <p:nvSpPr>
          <p:cNvPr id="5" name="テキスト プレースホルダー 4">
            <a:extLst>
              <a:ext uri="{FF2B5EF4-FFF2-40B4-BE49-F238E27FC236}">
                <a16:creationId xmlns:a16="http://schemas.microsoft.com/office/drawing/2014/main" id="{DE831F0C-52BB-6204-5BF6-C4DDD23942D3}"/>
              </a:ext>
            </a:extLst>
          </p:cNvPr>
          <p:cNvSpPr>
            <a:spLocks noGrp="1"/>
          </p:cNvSpPr>
          <p:nvPr>
            <p:ph type="body" sz="quarter" idx="10"/>
          </p:nvPr>
        </p:nvSpPr>
        <p:spPr>
          <a:xfrm>
            <a:off x="453531" y="3569828"/>
            <a:ext cx="9921943" cy="2409363"/>
          </a:xfrm>
        </p:spPr>
        <p:txBody>
          <a:bodyPr rtlCol="0">
            <a:normAutofit/>
          </a:bodyPr>
          <a:lstStyle/>
          <a:p>
            <a:r>
              <a:rPr lang="en-US" altLang="ja-JP" dirty="0"/>
              <a:t>ISHI</a:t>
            </a:r>
            <a:r>
              <a:rPr lang="ja-JP" altLang="en-US" dirty="0"/>
              <a:t>会</a:t>
            </a:r>
            <a:endParaRPr lang="en-US" altLang="ja-JP" dirty="0"/>
          </a:p>
          <a:p>
            <a:pPr rtl="0"/>
            <a:r>
              <a:rPr lang="en-US" altLang="ja-JP" sz="2400" dirty="0">
                <a:solidFill>
                  <a:schemeClr val="accent2"/>
                </a:solidFill>
                <a:latin typeface="Meiryo UI" panose="020B0604030504040204" pitchFamily="50" charset="-128"/>
                <a:ea typeface="Meiryo UI" panose="020B0604030504040204" pitchFamily="50" charset="-128"/>
              </a:rPr>
              <a:t>	</a:t>
            </a:r>
            <a:r>
              <a:rPr lang="ja-JP" altLang="en-US" sz="2400" dirty="0">
                <a:solidFill>
                  <a:schemeClr val="accent2"/>
                </a:solidFill>
                <a:latin typeface="Meiryo UI" panose="020B0604030504040204" pitchFamily="50" charset="-128"/>
                <a:ea typeface="Meiryo UI" panose="020B0604030504040204" pitchFamily="50" charset="-128"/>
              </a:rPr>
              <a:t>森　瑞紀 </a:t>
            </a:r>
            <a:r>
              <a:rPr lang="en-US" altLang="ja-JP" sz="2400" dirty="0">
                <a:solidFill>
                  <a:schemeClr val="accent2"/>
                </a:solidFill>
                <a:latin typeface="Meiryo UI" panose="020B0604030504040204" pitchFamily="50" charset="-128"/>
                <a:ea typeface="Meiryo UI" panose="020B0604030504040204" pitchFamily="50" charset="-128"/>
              </a:rPr>
              <a:t>(Mizuki Mori) , </a:t>
            </a:r>
            <a:r>
              <a:rPr lang="en-US" altLang="ja-JP" sz="2400" dirty="0">
                <a:solidFill>
                  <a:schemeClr val="accent2"/>
                </a:solidFill>
                <a:latin typeface="Meiryo UI" panose="020B0604030504040204" pitchFamily="50" charset="-128"/>
                <a:ea typeface="Meiryo UI" panose="020B0604030504040204" pitchFamily="50" charset="-128"/>
                <a:hlinkClick r:id="rId3"/>
              </a:rPr>
              <a:t>https://github.com/3zki</a:t>
            </a:r>
            <a:endParaRPr lang="en-US" altLang="ja-JP" sz="2400" dirty="0">
              <a:solidFill>
                <a:schemeClr val="accent2"/>
              </a:solidFill>
              <a:latin typeface="Meiryo UI" panose="020B0604030504040204" pitchFamily="50" charset="-128"/>
              <a:ea typeface="Meiryo UI" panose="020B0604030504040204" pitchFamily="50" charset="-128"/>
            </a:endParaRPr>
          </a:p>
          <a:p>
            <a:pPr rtl="0"/>
            <a:r>
              <a:rPr lang="en-US" altLang="ja-JP" dirty="0"/>
              <a:t>	</a:t>
            </a:r>
            <a:r>
              <a:rPr lang="ja-JP" altLang="en-US" dirty="0"/>
              <a:t>今村　謙之（</a:t>
            </a:r>
            <a:r>
              <a:rPr lang="en-US" altLang="ja-JP" dirty="0"/>
              <a:t>Noritsuna Imamura</a:t>
            </a:r>
            <a:r>
              <a:rPr lang="ja-JP" altLang="en-US" dirty="0"/>
              <a:t>）</a:t>
            </a:r>
            <a:endParaRPr lang="en-US" altLang="ja-JP" dirty="0"/>
          </a:p>
          <a:p>
            <a:pPr rtl="0"/>
            <a:r>
              <a:rPr lang="en-US" altLang="ja-JP" dirty="0"/>
              <a:t>	Rev.1</a:t>
            </a:r>
          </a:p>
        </p:txBody>
      </p:sp>
      <p:sp>
        <p:nvSpPr>
          <p:cNvPr id="2" name="日付プレースホルダー 1">
            <a:extLst>
              <a:ext uri="{FF2B5EF4-FFF2-40B4-BE49-F238E27FC236}">
                <a16:creationId xmlns:a16="http://schemas.microsoft.com/office/drawing/2014/main" id="{48590216-C9B9-CB61-44C2-15F08B0B9852}"/>
              </a:ext>
            </a:extLst>
          </p:cNvPr>
          <p:cNvSpPr>
            <a:spLocks noGrp="1"/>
          </p:cNvSpPr>
          <p:nvPr>
            <p:ph type="dt" sz="half" idx="2"/>
          </p:nvPr>
        </p:nvSpPr>
        <p:spPr/>
        <p:txBody>
          <a:bodyPr/>
          <a:lstStyle/>
          <a:p>
            <a:fld id="{CCC39FBC-62DA-4958-9F4D-68C05A2FE900}" type="datetime1">
              <a:rPr lang="ja-JP" altLang="en-US" smtClean="0"/>
              <a:t>2026/10/24</a:t>
            </a:fld>
            <a:endParaRPr lang="ja-JP" altLang="en-US" dirty="0"/>
          </a:p>
        </p:txBody>
      </p:sp>
    </p:spTree>
    <p:extLst>
      <p:ext uri="{BB962C8B-B14F-4D97-AF65-F5344CB8AC3E}">
        <p14:creationId xmlns:p14="http://schemas.microsoft.com/office/powerpoint/2010/main" val="350770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A1C185-85B4-A34D-E5FB-1D30459FB0AF}"/>
              </a:ext>
            </a:extLst>
          </p:cNvPr>
          <p:cNvSpPr>
            <a:spLocks noGrp="1"/>
          </p:cNvSpPr>
          <p:nvPr>
            <p:ph type="title"/>
          </p:nvPr>
        </p:nvSpPr>
        <p:spPr/>
        <p:txBody>
          <a:bodyPr/>
          <a:lstStyle/>
          <a:p>
            <a:r>
              <a:rPr lang="ja-JP" altLang="en-US" dirty="0"/>
              <a:t>最初に </a:t>
            </a:r>
            <a:r>
              <a:rPr lang="en-US" altLang="ja-JP" dirty="0"/>
              <a:t>1/3</a:t>
            </a:r>
            <a:endParaRPr kumimoji="1" lang="ja-JP" altLang="en-US" dirty="0"/>
          </a:p>
        </p:txBody>
      </p:sp>
      <p:sp>
        <p:nvSpPr>
          <p:cNvPr id="3" name="日付プレースホルダー 2">
            <a:extLst>
              <a:ext uri="{FF2B5EF4-FFF2-40B4-BE49-F238E27FC236}">
                <a16:creationId xmlns:a16="http://schemas.microsoft.com/office/drawing/2014/main" id="{BA6EFE76-A782-E49A-975F-DEAE1910379D}"/>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92D2B1D-3A23-6E82-ED99-5AE20BA5CCAE}"/>
              </a:ext>
            </a:extLst>
          </p:cNvPr>
          <p:cNvSpPr>
            <a:spLocks noGrp="1"/>
          </p:cNvSpPr>
          <p:nvPr>
            <p:ph type="sldNum" sz="quarter" idx="12"/>
          </p:nvPr>
        </p:nvSpPr>
        <p:spPr/>
        <p:txBody>
          <a:bodyPr/>
          <a:lstStyle/>
          <a:p>
            <a:pPr rtl="0"/>
            <a:fld id="{9860EDB8-5305-433F-BE41-D7A86D811DB3}" type="slidenum">
              <a:rPr lang="en-US" altLang="ja-JP" noProof="0" smtClean="0"/>
              <a:pPr rtl="0"/>
              <a:t>2</a:t>
            </a:fld>
            <a:endParaRPr lang="ja-JP" altLang="en-US" noProof="0"/>
          </a:p>
        </p:txBody>
      </p:sp>
      <p:sp>
        <p:nvSpPr>
          <p:cNvPr id="5" name="コンテンツ プレースホルダー 4">
            <a:extLst>
              <a:ext uri="{FF2B5EF4-FFF2-40B4-BE49-F238E27FC236}">
                <a16:creationId xmlns:a16="http://schemas.microsoft.com/office/drawing/2014/main" id="{13277C44-3960-6771-3579-A73A9AE091B7}"/>
              </a:ext>
            </a:extLst>
          </p:cNvPr>
          <p:cNvSpPr>
            <a:spLocks noGrp="1"/>
          </p:cNvSpPr>
          <p:nvPr>
            <p:ph sz="quarter" idx="13"/>
          </p:nvPr>
        </p:nvSpPr>
        <p:spPr>
          <a:xfrm>
            <a:off x="444500" y="1463039"/>
            <a:ext cx="11210543" cy="4757235"/>
          </a:xfrm>
        </p:spPr>
        <p:txBody>
          <a:bodyPr>
            <a:normAutofit fontScale="92500" lnSpcReduction="10000"/>
          </a:bodyPr>
          <a:lstStyle/>
          <a:p>
            <a:pPr marL="285750" indent="-285750">
              <a:buFont typeface="Arial" panose="020B0604020202020204" pitchFamily="34" charset="0"/>
              <a:buChar char="•"/>
            </a:pPr>
            <a:r>
              <a:rPr kumimoji="1" lang="ja-JP" altLang="en-US" dirty="0"/>
              <a:t>運営から下記のものがメールにて届いていることを確認してください。届いていない場合は、運営に問い合わせてください。</a:t>
            </a:r>
            <a:endParaRPr kumimoji="1" lang="en-US" altLang="ja-JP" dirty="0"/>
          </a:p>
          <a:p>
            <a:pPr marL="569214" lvl="1" indent="-285750"/>
            <a:r>
              <a:rPr kumimoji="1" lang="ja-JP" altLang="en-US" dirty="0"/>
              <a:t>運営連絡先：</a:t>
            </a:r>
            <a:r>
              <a:rPr lang="en-US" altLang="ja-JP" dirty="0"/>
              <a:t> </a:t>
            </a:r>
            <a:r>
              <a:rPr lang="en-US" altLang="ja-JP" dirty="0">
                <a:hlinkClick r:id="rId2"/>
              </a:rPr>
              <a:t>shumpei.kawasaki@riscv.or.jp</a:t>
            </a:r>
            <a:endParaRPr lang="en-US" altLang="ja-JP" dirty="0"/>
          </a:p>
          <a:p>
            <a:pPr marL="285750" indent="-285750"/>
            <a:endParaRPr kumimoji="1" lang="en-US" altLang="ja-JP" dirty="0"/>
          </a:p>
          <a:p>
            <a:pPr marL="285750" indent="-285750">
              <a:buFont typeface="Arial" panose="020B0604020202020204" pitchFamily="34" charset="0"/>
              <a:buChar char="•"/>
            </a:pPr>
            <a:r>
              <a:rPr kumimoji="1" lang="ja-JP" altLang="en-US" dirty="0"/>
              <a:t>ハンズオンに必要な情報（運営から通知されます）</a:t>
            </a:r>
            <a:endParaRPr kumimoji="1" lang="en-US" altLang="ja-JP" dirty="0"/>
          </a:p>
          <a:p>
            <a:pPr marL="626364" lvl="1" indent="-342900">
              <a:buFont typeface="+mj-lt"/>
              <a:buAutoNum type="arabicPeriod"/>
            </a:pPr>
            <a:r>
              <a:rPr lang="en-US" altLang="ja-JP" dirty="0"/>
              <a:t>DUT</a:t>
            </a:r>
            <a:r>
              <a:rPr lang="ja-JP" altLang="en-US" dirty="0"/>
              <a:t>番号</a:t>
            </a:r>
            <a:endParaRPr lang="en-US" altLang="ja-JP" dirty="0"/>
          </a:p>
          <a:p>
            <a:pPr marL="626364" lvl="1" indent="-342900">
              <a:buFont typeface="+mj-lt"/>
              <a:buAutoNum type="arabicPeriod"/>
            </a:pPr>
            <a:r>
              <a:rPr lang="ja-JP" altLang="en-US" dirty="0"/>
              <a:t>割り当てられたインバータ回路のスペック</a:t>
            </a:r>
            <a:endParaRPr lang="en-US" altLang="ja-JP" dirty="0"/>
          </a:p>
          <a:p>
            <a:pPr marL="1028700" lvl="2" indent="-342900">
              <a:buFont typeface="+mj-lt"/>
              <a:buAutoNum type="arabicPeriod"/>
            </a:pPr>
            <a:r>
              <a:rPr lang="en-US" altLang="ja-JP" dirty="0"/>
              <a:t>P-FET</a:t>
            </a:r>
            <a:r>
              <a:rPr lang="ja-JP" altLang="en-US" dirty="0"/>
              <a:t>のモジュール名、</a:t>
            </a:r>
            <a:r>
              <a:rPr lang="en-US" altLang="ja-JP" dirty="0"/>
              <a:t>W</a:t>
            </a:r>
            <a:r>
              <a:rPr lang="ja-JP" altLang="en-US" dirty="0"/>
              <a:t>値、</a:t>
            </a:r>
            <a:r>
              <a:rPr lang="en-US" altLang="ja-JP" dirty="0"/>
              <a:t>L</a:t>
            </a:r>
            <a:r>
              <a:rPr lang="ja-JP" altLang="en-US" dirty="0"/>
              <a:t>値</a:t>
            </a:r>
            <a:endParaRPr lang="en-US" altLang="ja-JP" dirty="0"/>
          </a:p>
          <a:p>
            <a:pPr marL="1028700" lvl="2" indent="-342900">
              <a:buFont typeface="+mj-lt"/>
              <a:buAutoNum type="arabicPeriod"/>
            </a:pPr>
            <a:r>
              <a:rPr lang="en-US" altLang="ja-JP" dirty="0"/>
              <a:t>N-FET</a:t>
            </a:r>
            <a:r>
              <a:rPr lang="ja-JP" altLang="en-US" dirty="0"/>
              <a:t>のモジュール名、</a:t>
            </a:r>
            <a:r>
              <a:rPr lang="en-US" altLang="ja-JP" dirty="0"/>
              <a:t>W</a:t>
            </a:r>
            <a:r>
              <a:rPr lang="ja-JP" altLang="en-US" dirty="0"/>
              <a:t>値、</a:t>
            </a:r>
            <a:r>
              <a:rPr lang="en-US" altLang="ja-JP" dirty="0"/>
              <a:t>L</a:t>
            </a:r>
            <a:r>
              <a:rPr lang="ja-JP" altLang="en-US" dirty="0"/>
              <a:t>値</a:t>
            </a:r>
            <a:endParaRPr lang="en-US" altLang="ja-JP" dirty="0"/>
          </a:p>
          <a:p>
            <a:pPr marL="626364" lvl="1" indent="-342900">
              <a:buFont typeface="+mj-lt"/>
              <a:buAutoNum type="arabicPeriod"/>
            </a:pPr>
            <a:r>
              <a:rPr kumimoji="1" lang="ja-JP" altLang="en-US" dirty="0"/>
              <a:t>シークレットキー</a:t>
            </a:r>
            <a:endParaRPr kumimoji="1" lang="en-US" altLang="ja-JP" dirty="0"/>
          </a:p>
          <a:p>
            <a:pPr marL="626364" lvl="1" indent="-342900">
              <a:buFont typeface="+mj-lt"/>
              <a:buAutoNum type="arabicPeriod"/>
            </a:pPr>
            <a:r>
              <a:rPr lang="ja-JP" altLang="en-US" dirty="0"/>
              <a:t>登録先サイトの</a:t>
            </a:r>
            <a:r>
              <a:rPr lang="en-US" altLang="ja-JP" dirty="0"/>
              <a:t>URL</a:t>
            </a:r>
            <a:endParaRPr kumimoji="1" lang="ja-JP" altLang="en-US" dirty="0"/>
          </a:p>
        </p:txBody>
      </p:sp>
    </p:spTree>
    <p:extLst>
      <p:ext uri="{BB962C8B-B14F-4D97-AF65-F5344CB8AC3E}">
        <p14:creationId xmlns:p14="http://schemas.microsoft.com/office/powerpoint/2010/main" val="251883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FD455-F7B0-80B2-0DD4-58E01CB71A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FC165C-69E6-527C-A9F1-146804933CB6}"/>
              </a:ext>
            </a:extLst>
          </p:cNvPr>
          <p:cNvSpPr>
            <a:spLocks noGrp="1"/>
          </p:cNvSpPr>
          <p:nvPr>
            <p:ph type="title"/>
          </p:nvPr>
        </p:nvSpPr>
        <p:spPr/>
        <p:txBody>
          <a:bodyPr/>
          <a:lstStyle/>
          <a:p>
            <a:r>
              <a:rPr lang="ja-JP" altLang="en-US" dirty="0"/>
              <a:t>最初に </a:t>
            </a:r>
            <a:r>
              <a:rPr lang="en-US" altLang="ja-JP" dirty="0"/>
              <a:t>2/3</a:t>
            </a:r>
            <a:endParaRPr kumimoji="1" lang="ja-JP" altLang="en-US" dirty="0"/>
          </a:p>
        </p:txBody>
      </p:sp>
      <p:sp>
        <p:nvSpPr>
          <p:cNvPr id="3" name="日付プレースホルダー 2">
            <a:extLst>
              <a:ext uri="{FF2B5EF4-FFF2-40B4-BE49-F238E27FC236}">
                <a16:creationId xmlns:a16="http://schemas.microsoft.com/office/drawing/2014/main" id="{30945082-AD2E-22D2-466D-E20BF54C90BF}"/>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F414BA72-C40A-31E5-140F-6CE2876B01C1}"/>
              </a:ext>
            </a:extLst>
          </p:cNvPr>
          <p:cNvSpPr>
            <a:spLocks noGrp="1"/>
          </p:cNvSpPr>
          <p:nvPr>
            <p:ph type="sldNum" sz="quarter" idx="12"/>
          </p:nvPr>
        </p:nvSpPr>
        <p:spPr/>
        <p:txBody>
          <a:bodyPr/>
          <a:lstStyle/>
          <a:p>
            <a:pPr rtl="0"/>
            <a:fld id="{9860EDB8-5305-433F-BE41-D7A86D811DB3}" type="slidenum">
              <a:rPr lang="en-US" altLang="ja-JP" noProof="0" smtClean="0"/>
              <a:pPr rtl="0"/>
              <a:t>3</a:t>
            </a:fld>
            <a:endParaRPr lang="ja-JP" altLang="en-US" noProof="0"/>
          </a:p>
        </p:txBody>
      </p:sp>
      <p:sp>
        <p:nvSpPr>
          <p:cNvPr id="5" name="コンテンツ プレースホルダー 4">
            <a:extLst>
              <a:ext uri="{FF2B5EF4-FFF2-40B4-BE49-F238E27FC236}">
                <a16:creationId xmlns:a16="http://schemas.microsoft.com/office/drawing/2014/main" id="{16A3E439-F8F7-DB89-88DB-26FBE8CB2FC1}"/>
              </a:ext>
            </a:extLst>
          </p:cNvPr>
          <p:cNvSpPr txBox="1">
            <a:spLocks/>
          </p:cNvSpPr>
          <p:nvPr/>
        </p:nvSpPr>
        <p:spPr>
          <a:xfrm>
            <a:off x="444500" y="1463039"/>
            <a:ext cx="11210543" cy="475723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a:lstStyle>
          <a:p>
            <a:pPr marL="285750" indent="-285750">
              <a:buFont typeface="Arial" panose="020B0604020202020204" pitchFamily="34" charset="0"/>
              <a:buChar char="•"/>
            </a:pPr>
            <a:r>
              <a:rPr lang="en-US" altLang="ja-JP" dirty="0"/>
              <a:t>ISHI</a:t>
            </a:r>
            <a:r>
              <a:rPr lang="ja-JP" altLang="en-US" dirty="0"/>
              <a:t>会の</a:t>
            </a:r>
            <a:r>
              <a:rPr lang="en-US" altLang="ja-JP" dirty="0"/>
              <a:t>WSL</a:t>
            </a:r>
            <a:r>
              <a:rPr lang="ja-JP" altLang="en-US" dirty="0"/>
              <a:t>を起動後、「</a:t>
            </a:r>
            <a:r>
              <a:rPr lang="en-US" altLang="ja-JP" dirty="0" err="1"/>
              <a:t>xschem</a:t>
            </a:r>
            <a:r>
              <a:rPr lang="ja-JP" altLang="en-US" dirty="0"/>
              <a:t>」とコマンドを打って、下記の画面が出ることを確認してください。</a:t>
            </a:r>
            <a:endParaRPr lang="en-US" altLang="ja-JP" dirty="0"/>
          </a:p>
          <a:p>
            <a:pPr marL="569214" lvl="1" indent="-285750"/>
            <a:r>
              <a:rPr lang="ja-JP" altLang="en-US" dirty="0"/>
              <a:t>出ない場合は、インストールに失敗しています。再インストールをお願いします。</a:t>
            </a:r>
            <a:endParaRPr lang="en-US" altLang="ja-JP" dirty="0"/>
          </a:p>
          <a:p>
            <a:pPr marL="971550" lvl="2" indent="-285750"/>
            <a:r>
              <a:rPr lang="ja-JP" altLang="en-US" dirty="0"/>
              <a:t>上記内容で意味が分からない方は、勉強しておいてください。</a:t>
            </a:r>
            <a:r>
              <a:rPr lang="en-US" altLang="ja-JP" dirty="0"/>
              <a:t>WSL</a:t>
            </a:r>
            <a:r>
              <a:rPr lang="ja-JP" altLang="en-US" dirty="0"/>
              <a:t>やコマンドラインの使い方は知っている前提となります。</a:t>
            </a:r>
          </a:p>
        </p:txBody>
      </p:sp>
      <p:pic>
        <p:nvPicPr>
          <p:cNvPr id="7" name="コンテンツ プレースホルダー 6">
            <a:extLst>
              <a:ext uri="{FF2B5EF4-FFF2-40B4-BE49-F238E27FC236}">
                <a16:creationId xmlns:a16="http://schemas.microsoft.com/office/drawing/2014/main" id="{AB50BFAA-9CDC-9E55-A9AF-7AB9F17569FD}"/>
              </a:ext>
            </a:extLst>
          </p:cNvPr>
          <p:cNvPicPr>
            <a:picLocks noGrp="1" noChangeAspect="1"/>
          </p:cNvPicPr>
          <p:nvPr>
            <p:ph sz="quarter" idx="13"/>
          </p:nvPr>
        </p:nvPicPr>
        <p:blipFill>
          <a:blip r:embed="rId2"/>
          <a:stretch>
            <a:fillRect/>
          </a:stretch>
        </p:blipFill>
        <p:spPr>
          <a:xfrm>
            <a:off x="2433167" y="2845530"/>
            <a:ext cx="6977696" cy="3719862"/>
          </a:xfrm>
          <a:prstGeom prst="rect">
            <a:avLst/>
          </a:prstGeom>
        </p:spPr>
      </p:pic>
    </p:spTree>
    <p:extLst>
      <p:ext uri="{BB962C8B-B14F-4D97-AF65-F5344CB8AC3E}">
        <p14:creationId xmlns:p14="http://schemas.microsoft.com/office/powerpoint/2010/main" val="2410430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FF56B-FDBE-7570-70F2-F805C459B9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9AED1A-1482-6B8C-828D-8ADDF6DF2693}"/>
              </a:ext>
            </a:extLst>
          </p:cNvPr>
          <p:cNvSpPr>
            <a:spLocks noGrp="1"/>
          </p:cNvSpPr>
          <p:nvPr>
            <p:ph type="title"/>
          </p:nvPr>
        </p:nvSpPr>
        <p:spPr/>
        <p:txBody>
          <a:bodyPr/>
          <a:lstStyle/>
          <a:p>
            <a:r>
              <a:rPr lang="ja-JP" altLang="en-US" dirty="0"/>
              <a:t>最初に </a:t>
            </a:r>
            <a:r>
              <a:rPr lang="en-US" altLang="ja-JP" dirty="0"/>
              <a:t>3/3</a:t>
            </a:r>
            <a:endParaRPr kumimoji="1" lang="ja-JP" altLang="en-US" dirty="0"/>
          </a:p>
        </p:txBody>
      </p:sp>
      <p:sp>
        <p:nvSpPr>
          <p:cNvPr id="3" name="日付プレースホルダー 2">
            <a:extLst>
              <a:ext uri="{FF2B5EF4-FFF2-40B4-BE49-F238E27FC236}">
                <a16:creationId xmlns:a16="http://schemas.microsoft.com/office/drawing/2014/main" id="{66BEBD0A-7A3B-9624-59E1-0C4E60C7D472}"/>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A09F02C3-646A-5E65-DAEE-6CA294C9D967}"/>
              </a:ext>
            </a:extLst>
          </p:cNvPr>
          <p:cNvSpPr>
            <a:spLocks noGrp="1"/>
          </p:cNvSpPr>
          <p:nvPr>
            <p:ph type="sldNum" sz="quarter" idx="12"/>
          </p:nvPr>
        </p:nvSpPr>
        <p:spPr/>
        <p:txBody>
          <a:bodyPr/>
          <a:lstStyle/>
          <a:p>
            <a:pPr rtl="0"/>
            <a:fld id="{9860EDB8-5305-433F-BE41-D7A86D811DB3}" type="slidenum">
              <a:rPr lang="en-US" altLang="ja-JP" noProof="0" smtClean="0"/>
              <a:pPr rtl="0"/>
              <a:t>4</a:t>
            </a:fld>
            <a:endParaRPr lang="ja-JP" altLang="en-US" noProof="0"/>
          </a:p>
        </p:txBody>
      </p:sp>
      <p:sp>
        <p:nvSpPr>
          <p:cNvPr id="5" name="コンテンツ プレースホルダー 4">
            <a:extLst>
              <a:ext uri="{FF2B5EF4-FFF2-40B4-BE49-F238E27FC236}">
                <a16:creationId xmlns:a16="http://schemas.microsoft.com/office/drawing/2014/main" id="{4DED699E-F7BD-F7BB-1C2A-0A1F103F9DD8}"/>
              </a:ext>
            </a:extLst>
          </p:cNvPr>
          <p:cNvSpPr txBox="1">
            <a:spLocks/>
          </p:cNvSpPr>
          <p:nvPr/>
        </p:nvSpPr>
        <p:spPr>
          <a:xfrm>
            <a:off x="444500" y="1463039"/>
            <a:ext cx="11210543" cy="475723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a:lstStyle>
          <a:p>
            <a:pPr marL="285750" indent="-285750">
              <a:buFont typeface="Arial" panose="020B0604020202020204" pitchFamily="34" charset="0"/>
              <a:buChar char="•"/>
            </a:pPr>
            <a:r>
              <a:rPr lang="en-US" altLang="ja-JP" dirty="0"/>
              <a:t>ISHI</a:t>
            </a:r>
            <a:r>
              <a:rPr lang="ja-JP" altLang="en-US" dirty="0"/>
              <a:t>会の</a:t>
            </a:r>
            <a:r>
              <a:rPr lang="en-US" altLang="ja-JP" dirty="0"/>
              <a:t>WSL</a:t>
            </a:r>
            <a:r>
              <a:rPr lang="ja-JP" altLang="en-US" dirty="0"/>
              <a:t>を起動後、「</a:t>
            </a:r>
            <a:r>
              <a:rPr lang="en-US" altLang="ja-JP" dirty="0" err="1"/>
              <a:t>klayout</a:t>
            </a:r>
            <a:r>
              <a:rPr lang="ja-JP" altLang="en-US" dirty="0"/>
              <a:t>」とコマンドを打って、下記の画面が出ることを確認してください。</a:t>
            </a:r>
            <a:endParaRPr lang="en-US" altLang="ja-JP" dirty="0"/>
          </a:p>
          <a:p>
            <a:pPr marL="569214" lvl="1" indent="-285750"/>
            <a:r>
              <a:rPr lang="ja-JP" altLang="en-US" dirty="0"/>
              <a:t>出ない場合は、インストールに失敗しています。再インストールをお願いします。</a:t>
            </a:r>
            <a:endParaRPr lang="en-US" altLang="ja-JP" dirty="0"/>
          </a:p>
          <a:p>
            <a:pPr marL="971550" lvl="2" indent="-285750"/>
            <a:r>
              <a:rPr lang="ja-JP" altLang="en-US" dirty="0"/>
              <a:t>上記内容で意味が分からない方は、勉強しておいてください。</a:t>
            </a:r>
            <a:r>
              <a:rPr lang="en-US" altLang="ja-JP" dirty="0"/>
              <a:t>WSL</a:t>
            </a:r>
            <a:r>
              <a:rPr lang="ja-JP" altLang="en-US" dirty="0"/>
              <a:t>やコマンドラインの使い方は知っている前提となります。</a:t>
            </a:r>
          </a:p>
        </p:txBody>
      </p:sp>
      <p:pic>
        <p:nvPicPr>
          <p:cNvPr id="9" name="コンテンツ プレースホルダー 6">
            <a:extLst>
              <a:ext uri="{FF2B5EF4-FFF2-40B4-BE49-F238E27FC236}">
                <a16:creationId xmlns:a16="http://schemas.microsoft.com/office/drawing/2014/main" id="{BDB9F826-BFB9-8499-B7B4-C2CFE6220E5D}"/>
              </a:ext>
            </a:extLst>
          </p:cNvPr>
          <p:cNvPicPr>
            <a:picLocks noGrp="1" noChangeAspect="1"/>
          </p:cNvPicPr>
          <p:nvPr>
            <p:ph sz="quarter" idx="13"/>
          </p:nvPr>
        </p:nvPicPr>
        <p:blipFill>
          <a:blip r:embed="rId2"/>
          <a:stretch>
            <a:fillRect/>
          </a:stretch>
        </p:blipFill>
        <p:spPr>
          <a:xfrm>
            <a:off x="3451882" y="2854963"/>
            <a:ext cx="4754171" cy="3710429"/>
          </a:xfrm>
          <a:prstGeom prst="rect">
            <a:avLst/>
          </a:prstGeom>
        </p:spPr>
      </p:pic>
      <p:sp>
        <p:nvSpPr>
          <p:cNvPr id="11" name="吹き出し: 角を丸めた四角形 10">
            <a:extLst>
              <a:ext uri="{FF2B5EF4-FFF2-40B4-BE49-F238E27FC236}">
                <a16:creationId xmlns:a16="http://schemas.microsoft.com/office/drawing/2014/main" id="{A4255DCF-B126-A730-9A95-74DA38C466EF}"/>
              </a:ext>
            </a:extLst>
          </p:cNvPr>
          <p:cNvSpPr/>
          <p:nvPr/>
        </p:nvSpPr>
        <p:spPr>
          <a:xfrm>
            <a:off x="8206053" y="3061080"/>
            <a:ext cx="3373599" cy="647665"/>
          </a:xfrm>
          <a:prstGeom prst="wedgeRoundRectCallout">
            <a:avLst>
              <a:gd name="adj1" fmla="val -62771"/>
              <a:gd name="adj2" fmla="val 117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gf180mcu</a:t>
            </a:r>
            <a:r>
              <a:rPr kumimoji="1" lang="ja-JP" altLang="en-US" dirty="0"/>
              <a:t>となっている</a:t>
            </a:r>
            <a:endParaRPr kumimoji="1" lang="en-US" altLang="ja-JP" dirty="0"/>
          </a:p>
        </p:txBody>
      </p:sp>
    </p:spTree>
    <p:extLst>
      <p:ext uri="{BB962C8B-B14F-4D97-AF65-F5344CB8AC3E}">
        <p14:creationId xmlns:p14="http://schemas.microsoft.com/office/powerpoint/2010/main" val="1162993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A75A33-5C36-EF97-3C7C-B2600E653C17}"/>
              </a:ext>
            </a:extLst>
          </p:cNvPr>
          <p:cNvSpPr>
            <a:spLocks noGrp="1"/>
          </p:cNvSpPr>
          <p:nvPr>
            <p:ph type="title"/>
          </p:nvPr>
        </p:nvSpPr>
        <p:spPr/>
        <p:txBody>
          <a:bodyPr/>
          <a:lstStyle/>
          <a:p>
            <a:r>
              <a:rPr lang="ja-JP" altLang="en-US" dirty="0"/>
              <a:t>アジェンダ</a:t>
            </a:r>
            <a:endParaRPr kumimoji="1" lang="ja-JP" altLang="en-US" dirty="0"/>
          </a:p>
        </p:txBody>
      </p:sp>
      <p:sp>
        <p:nvSpPr>
          <p:cNvPr id="3" name="日付プレースホルダー 2">
            <a:extLst>
              <a:ext uri="{FF2B5EF4-FFF2-40B4-BE49-F238E27FC236}">
                <a16:creationId xmlns:a16="http://schemas.microsoft.com/office/drawing/2014/main" id="{8EDB2B59-7262-EB9B-6AB8-5753357B2E85}"/>
              </a:ext>
            </a:extLst>
          </p:cNvPr>
          <p:cNvSpPr>
            <a:spLocks noGrp="1"/>
          </p:cNvSpPr>
          <p:nvPr>
            <p:ph type="dt" sz="half" idx="10"/>
          </p:nvPr>
        </p:nvSpPr>
        <p:spPr/>
        <p:txBody>
          <a:bodyPr/>
          <a:lstStyle/>
          <a:p>
            <a:pPr rtl="0"/>
            <a:fld id="{305E5F2E-23C0-40DF-9DE2-9039FE5E1826}"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BF8C72C7-D384-2DDC-8C7C-CF417CC8319E}"/>
              </a:ext>
            </a:extLst>
          </p:cNvPr>
          <p:cNvSpPr>
            <a:spLocks noGrp="1"/>
          </p:cNvSpPr>
          <p:nvPr>
            <p:ph type="sldNum" sz="quarter" idx="12"/>
          </p:nvPr>
        </p:nvSpPr>
        <p:spPr/>
        <p:txBody>
          <a:bodyPr/>
          <a:lstStyle/>
          <a:p>
            <a:pPr rtl="0"/>
            <a:fld id="{9860EDB8-5305-433F-BE41-D7A86D811DB3}" type="slidenum">
              <a:rPr lang="en-US" altLang="ja-JP" noProof="0" smtClean="0"/>
              <a:pPr rtl="0"/>
              <a:t>5</a:t>
            </a:fld>
            <a:endParaRPr lang="ja-JP" altLang="en-US" noProof="0"/>
          </a:p>
        </p:txBody>
      </p:sp>
      <p:sp>
        <p:nvSpPr>
          <p:cNvPr id="5" name="コンテンツ プレースホルダー 4">
            <a:extLst>
              <a:ext uri="{FF2B5EF4-FFF2-40B4-BE49-F238E27FC236}">
                <a16:creationId xmlns:a16="http://schemas.microsoft.com/office/drawing/2014/main" id="{93ED14FC-3F1D-5E6A-6E63-5D0C0DFF8D92}"/>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3200" dirty="0"/>
              <a:t>なぜ、半導体を学ぶのか？</a:t>
            </a:r>
            <a:endParaRPr lang="en-US" altLang="ja-JP" sz="3200" dirty="0"/>
          </a:p>
          <a:p>
            <a:pPr marL="285750" indent="-285750">
              <a:buFont typeface="Arial" panose="020B0604020202020204" pitchFamily="34" charset="0"/>
              <a:buChar char="•"/>
            </a:pPr>
            <a:r>
              <a:rPr lang="ja-JP" altLang="en-US" sz="3200" dirty="0"/>
              <a:t>半導体の基礎知識</a:t>
            </a:r>
            <a:endParaRPr lang="en-US" altLang="ja-JP" sz="3200" dirty="0"/>
          </a:p>
          <a:p>
            <a:pPr marL="285750" indent="-285750">
              <a:buFont typeface="Arial" panose="020B0604020202020204" pitchFamily="34" charset="0"/>
              <a:buChar char="•"/>
            </a:pPr>
            <a:r>
              <a:rPr lang="ja-JP" altLang="en-US" sz="3200" dirty="0"/>
              <a:t>開発ツールの紹介、</a:t>
            </a:r>
            <a:r>
              <a:rPr lang="en-US" altLang="ja-JP" sz="3200" dirty="0"/>
              <a:t>PDK</a:t>
            </a:r>
            <a:r>
              <a:rPr lang="ja-JP" altLang="en-US" sz="3200" dirty="0"/>
              <a:t>の中身</a:t>
            </a:r>
            <a:endParaRPr lang="en-US" altLang="ja-JP" sz="3200" dirty="0"/>
          </a:p>
          <a:p>
            <a:pPr marL="285750" indent="-285750">
              <a:buFont typeface="Arial" panose="020B0604020202020204" pitchFamily="34" charset="0"/>
              <a:buChar char="•"/>
            </a:pPr>
            <a:r>
              <a:rPr lang="ja-JP" altLang="en-US" sz="3200" dirty="0"/>
              <a:t>アナログ半導体の設計フロー</a:t>
            </a:r>
            <a:endParaRPr lang="en-US" altLang="ja-JP" sz="3200" dirty="0"/>
          </a:p>
          <a:p>
            <a:pPr marL="457200" indent="-457200">
              <a:buFont typeface="Arial" panose="020B0604020202020204" pitchFamily="34" charset="0"/>
              <a:buChar char="•"/>
            </a:pPr>
            <a:r>
              <a:rPr lang="ja-JP" altLang="en-US" sz="3200" dirty="0"/>
              <a:t>アナログ半導体設計デモンストレーション　（</a:t>
            </a:r>
            <a:r>
              <a:rPr lang="en-US" altLang="ja-JP" sz="3200" dirty="0"/>
              <a:t>CMOS</a:t>
            </a:r>
            <a:r>
              <a:rPr lang="ja-JP" altLang="en-US" sz="3200" dirty="0"/>
              <a:t>インバータ）</a:t>
            </a:r>
            <a:endParaRPr lang="en-US" altLang="ja-JP" sz="3200" dirty="0"/>
          </a:p>
          <a:p>
            <a:pPr marL="457200" indent="-457200">
              <a:buFont typeface="Arial" panose="020B0604020202020204" pitchFamily="34" charset="0"/>
              <a:buChar char="•"/>
            </a:pPr>
            <a:r>
              <a:rPr lang="ja-JP" altLang="en-US" sz="3200" dirty="0"/>
              <a:t>フレーム・パッドとテープアウト（製造依頼）</a:t>
            </a:r>
            <a:endParaRPr lang="en-US" altLang="ja-JP" sz="3200" dirty="0"/>
          </a:p>
          <a:p>
            <a:pPr marL="457200" indent="-457200">
              <a:buFont typeface="Arial" panose="020B0604020202020204" pitchFamily="34" charset="0"/>
              <a:buChar char="•"/>
            </a:pPr>
            <a:endParaRPr lang="en-US" altLang="ja-JP" sz="3200" dirty="0"/>
          </a:p>
        </p:txBody>
      </p:sp>
    </p:spTree>
    <p:extLst>
      <p:ext uri="{BB962C8B-B14F-4D97-AF65-F5344CB8AC3E}">
        <p14:creationId xmlns:p14="http://schemas.microsoft.com/office/powerpoint/2010/main" val="3220133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A30A239B-CF60-F14D-D9CC-9879FA60F97F}"/>
              </a:ext>
            </a:extLst>
          </p:cNvPr>
          <p:cNvSpPr>
            <a:spLocks noGrp="1"/>
          </p:cNvSpPr>
          <p:nvPr>
            <p:ph type="title"/>
          </p:nvPr>
        </p:nvSpPr>
        <p:spPr/>
        <p:txBody>
          <a:bodyPr/>
          <a:lstStyle/>
          <a:p>
            <a:r>
              <a:rPr lang="ja-JP" altLang="en-US" dirty="0"/>
              <a:t>なぜ、半導体を学ぶのか？</a:t>
            </a:r>
          </a:p>
        </p:txBody>
      </p:sp>
      <p:sp>
        <p:nvSpPr>
          <p:cNvPr id="7" name="テキスト プレースホルダー 6">
            <a:extLst>
              <a:ext uri="{FF2B5EF4-FFF2-40B4-BE49-F238E27FC236}">
                <a16:creationId xmlns:a16="http://schemas.microsoft.com/office/drawing/2014/main" id="{8563F2CC-E883-5D8E-9E4D-A524C8CBCB0A}"/>
              </a:ext>
            </a:extLst>
          </p:cNvPr>
          <p:cNvSpPr>
            <a:spLocks noGrp="1"/>
          </p:cNvSpPr>
          <p:nvPr>
            <p:ph type="body" sz="quarter" idx="10"/>
          </p:nvPr>
        </p:nvSpPr>
        <p:spPr/>
        <p:txBody>
          <a:bodyPr/>
          <a:lstStyle/>
          <a:p>
            <a:r>
              <a:rPr lang="ja-JP" altLang="en-US" dirty="0"/>
              <a:t>次世代電子工作の世界へ</a:t>
            </a:r>
          </a:p>
        </p:txBody>
      </p:sp>
      <p:sp>
        <p:nvSpPr>
          <p:cNvPr id="3" name="日付プレースホルダー 2">
            <a:extLst>
              <a:ext uri="{FF2B5EF4-FFF2-40B4-BE49-F238E27FC236}">
                <a16:creationId xmlns:a16="http://schemas.microsoft.com/office/drawing/2014/main" id="{4E92EA04-BF04-AEDE-EE38-69247B176266}"/>
              </a:ext>
            </a:extLst>
          </p:cNvPr>
          <p:cNvSpPr>
            <a:spLocks noGrp="1"/>
          </p:cNvSpPr>
          <p:nvPr>
            <p:ph type="dt" sz="half" idx="2"/>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A354318-E272-2BE7-65A0-C3DAAD7656BB}"/>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6</a:t>
            </a:fld>
            <a:endParaRPr lang="ja-JP" altLang="en-US" noProof="0"/>
          </a:p>
        </p:txBody>
      </p:sp>
    </p:spTree>
    <p:extLst>
      <p:ext uri="{BB962C8B-B14F-4D97-AF65-F5344CB8AC3E}">
        <p14:creationId xmlns:p14="http://schemas.microsoft.com/office/powerpoint/2010/main" val="1504363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6A974383-D682-E58B-7B7A-D74DF8031CDD}"/>
              </a:ext>
            </a:extLst>
          </p:cNvPr>
          <p:cNvPicPr>
            <a:picLocks noChangeAspect="1"/>
          </p:cNvPicPr>
          <p:nvPr/>
        </p:nvPicPr>
        <p:blipFill>
          <a:blip r:embed="rId2"/>
          <a:stretch>
            <a:fillRect/>
          </a:stretch>
        </p:blipFill>
        <p:spPr>
          <a:xfrm>
            <a:off x="154179" y="1230861"/>
            <a:ext cx="6205379" cy="1896629"/>
          </a:xfrm>
          <a:prstGeom prst="rect">
            <a:avLst/>
          </a:prstGeom>
        </p:spPr>
      </p:pic>
      <p:sp>
        <p:nvSpPr>
          <p:cNvPr id="2" name="タイトル 1">
            <a:extLst>
              <a:ext uri="{FF2B5EF4-FFF2-40B4-BE49-F238E27FC236}">
                <a16:creationId xmlns:a16="http://schemas.microsoft.com/office/drawing/2014/main" id="{0DE8E9FB-F47C-D238-43B3-D6B7D96DB4DE}"/>
              </a:ext>
            </a:extLst>
          </p:cNvPr>
          <p:cNvSpPr>
            <a:spLocks noGrp="1"/>
          </p:cNvSpPr>
          <p:nvPr>
            <p:ph type="title"/>
          </p:nvPr>
        </p:nvSpPr>
        <p:spPr/>
        <p:txBody>
          <a:bodyPr/>
          <a:lstStyle/>
          <a:p>
            <a:r>
              <a:rPr lang="ja-JP" altLang="en-US" dirty="0"/>
              <a:t>現在は、専用チップ化が進む世界</a:t>
            </a:r>
            <a:endParaRPr kumimoji="1" lang="ja-JP" altLang="en-US" dirty="0"/>
          </a:p>
        </p:txBody>
      </p:sp>
      <p:sp>
        <p:nvSpPr>
          <p:cNvPr id="3" name="日付プレースホルダー 2">
            <a:extLst>
              <a:ext uri="{FF2B5EF4-FFF2-40B4-BE49-F238E27FC236}">
                <a16:creationId xmlns:a16="http://schemas.microsoft.com/office/drawing/2014/main" id="{C2FFE0AA-4181-3885-1A02-D5976B427950}"/>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67C27CB-E600-220F-779F-26D88591BCA2}"/>
              </a:ext>
            </a:extLst>
          </p:cNvPr>
          <p:cNvSpPr>
            <a:spLocks noGrp="1"/>
          </p:cNvSpPr>
          <p:nvPr>
            <p:ph type="sldNum" sz="quarter" idx="12"/>
          </p:nvPr>
        </p:nvSpPr>
        <p:spPr/>
        <p:txBody>
          <a:bodyPr/>
          <a:lstStyle/>
          <a:p>
            <a:pPr rtl="0"/>
            <a:fld id="{9860EDB8-5305-433F-BE41-D7A86D811DB3}" type="slidenum">
              <a:rPr lang="en-US" altLang="ja-JP" noProof="0" smtClean="0"/>
              <a:pPr rtl="0"/>
              <a:t>7</a:t>
            </a:fld>
            <a:endParaRPr lang="ja-JP" altLang="en-US" noProof="0"/>
          </a:p>
        </p:txBody>
      </p:sp>
      <p:pic>
        <p:nvPicPr>
          <p:cNvPr id="9" name="図 8">
            <a:extLst>
              <a:ext uri="{FF2B5EF4-FFF2-40B4-BE49-F238E27FC236}">
                <a16:creationId xmlns:a16="http://schemas.microsoft.com/office/drawing/2014/main" id="{A4D85BC3-5769-C623-82D2-43C706FD8778}"/>
              </a:ext>
            </a:extLst>
          </p:cNvPr>
          <p:cNvPicPr>
            <a:picLocks noChangeAspect="1"/>
          </p:cNvPicPr>
          <p:nvPr/>
        </p:nvPicPr>
        <p:blipFill>
          <a:blip r:embed="rId3"/>
          <a:srcRect t="805"/>
          <a:stretch>
            <a:fillRect/>
          </a:stretch>
        </p:blipFill>
        <p:spPr>
          <a:xfrm>
            <a:off x="174125" y="3127490"/>
            <a:ext cx="6165485" cy="3397701"/>
          </a:xfrm>
          <a:prstGeom prst="rect">
            <a:avLst/>
          </a:prstGeom>
        </p:spPr>
      </p:pic>
      <p:graphicFrame>
        <p:nvGraphicFramePr>
          <p:cNvPr id="10" name="コンテンツ プレースホルダー 4">
            <a:extLst>
              <a:ext uri="{FF2B5EF4-FFF2-40B4-BE49-F238E27FC236}">
                <a16:creationId xmlns:a16="http://schemas.microsoft.com/office/drawing/2014/main" id="{114069E7-C9BB-8ABC-AEE1-E133DB6DAE0A}"/>
              </a:ext>
            </a:extLst>
          </p:cNvPr>
          <p:cNvGraphicFramePr>
            <a:graphicFrameLocks/>
          </p:cNvGraphicFramePr>
          <p:nvPr/>
        </p:nvGraphicFramePr>
        <p:xfrm>
          <a:off x="6494284" y="1230861"/>
          <a:ext cx="5305414" cy="40367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正方形/長方形 10">
            <a:extLst>
              <a:ext uri="{FF2B5EF4-FFF2-40B4-BE49-F238E27FC236}">
                <a16:creationId xmlns:a16="http://schemas.microsoft.com/office/drawing/2014/main" id="{2755DD5D-DBDE-436E-18FE-888057ACCDB0}"/>
              </a:ext>
            </a:extLst>
          </p:cNvPr>
          <p:cNvSpPr/>
          <p:nvPr/>
        </p:nvSpPr>
        <p:spPr>
          <a:xfrm>
            <a:off x="6494284" y="5407648"/>
            <a:ext cx="5366665" cy="82252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ja-JP" dirty="0"/>
              <a:t>次世代電子工作は</a:t>
            </a:r>
            <a:endParaRPr lang="en-US" altLang="ja-JP" dirty="0"/>
          </a:p>
          <a:p>
            <a:pPr algn="ctr"/>
            <a:r>
              <a:rPr lang="ja-JP" altLang="ja-JP" dirty="0"/>
              <a:t>「基板設計」から「専用チップ設計」になる</a:t>
            </a:r>
            <a:r>
              <a:rPr lang="ja-JP" altLang="en-US" dirty="0"/>
              <a:t>！</a:t>
            </a:r>
            <a:endParaRPr lang="en-US" altLang="ja-JP" dirty="0"/>
          </a:p>
        </p:txBody>
      </p:sp>
    </p:spTree>
    <p:extLst>
      <p:ext uri="{BB962C8B-B14F-4D97-AF65-F5344CB8AC3E}">
        <p14:creationId xmlns:p14="http://schemas.microsoft.com/office/powerpoint/2010/main" val="2497794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サムネイル">
            <a:extLst>
              <a:ext uri="{FF2B5EF4-FFF2-40B4-BE49-F238E27FC236}">
                <a16:creationId xmlns:a16="http://schemas.microsoft.com/office/drawing/2014/main" id="{8A00BAE6-D09D-701F-E01F-83D10EAFE2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74" t="13084" b="12507"/>
          <a:stretch>
            <a:fillRect/>
          </a:stretch>
        </p:blipFill>
        <p:spPr bwMode="auto">
          <a:xfrm>
            <a:off x="-59607" y="3282040"/>
            <a:ext cx="4631607" cy="2674989"/>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8E194A67-9C84-3A61-FF9E-83FEDF384727}"/>
              </a:ext>
            </a:extLst>
          </p:cNvPr>
          <p:cNvSpPr>
            <a:spLocks noGrp="1"/>
          </p:cNvSpPr>
          <p:nvPr>
            <p:ph type="title"/>
          </p:nvPr>
        </p:nvSpPr>
        <p:spPr/>
        <p:txBody>
          <a:bodyPr/>
          <a:lstStyle/>
          <a:p>
            <a:r>
              <a:rPr lang="ja-JP" altLang="en-US" dirty="0"/>
              <a:t>半導体を自作する世界がやってきた</a:t>
            </a:r>
            <a:endParaRPr kumimoji="1" lang="ja-JP" altLang="en-US" dirty="0"/>
          </a:p>
        </p:txBody>
      </p:sp>
      <p:sp>
        <p:nvSpPr>
          <p:cNvPr id="3" name="日付プレースホルダー 2">
            <a:extLst>
              <a:ext uri="{FF2B5EF4-FFF2-40B4-BE49-F238E27FC236}">
                <a16:creationId xmlns:a16="http://schemas.microsoft.com/office/drawing/2014/main" id="{E19C7BE1-062E-94C9-56C5-5A5158CEA146}"/>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1051A50C-DB65-4EDE-6C30-963274A19470}"/>
              </a:ext>
            </a:extLst>
          </p:cNvPr>
          <p:cNvSpPr>
            <a:spLocks noGrp="1"/>
          </p:cNvSpPr>
          <p:nvPr>
            <p:ph type="sldNum" sz="quarter" idx="12"/>
          </p:nvPr>
        </p:nvSpPr>
        <p:spPr/>
        <p:txBody>
          <a:bodyPr/>
          <a:lstStyle/>
          <a:p>
            <a:pPr rtl="0"/>
            <a:fld id="{9860EDB8-5305-433F-BE41-D7A86D811DB3}" type="slidenum">
              <a:rPr lang="en-US" altLang="ja-JP" noProof="0" smtClean="0"/>
              <a:pPr rtl="0"/>
              <a:t>8</a:t>
            </a:fld>
            <a:endParaRPr lang="ja-JP" altLang="en-US" noProof="0"/>
          </a:p>
        </p:txBody>
      </p:sp>
      <p:pic>
        <p:nvPicPr>
          <p:cNvPr id="6" name="Picture 2">
            <a:extLst>
              <a:ext uri="{FF2B5EF4-FFF2-40B4-BE49-F238E27FC236}">
                <a16:creationId xmlns:a16="http://schemas.microsoft.com/office/drawing/2014/main" id="{98903BB6-9329-8597-4BBF-3CC20479E8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114" t="14405" r="68011" b="56160"/>
          <a:stretch>
            <a:fillRect/>
          </a:stretch>
        </p:blipFill>
        <p:spPr bwMode="auto">
          <a:xfrm>
            <a:off x="4341399" y="1139252"/>
            <a:ext cx="3361748" cy="5424297"/>
          </a:xfrm>
          <a:prstGeom prst="rect">
            <a:avLst/>
          </a:prstGeom>
          <a:noFill/>
          <a:extLst>
            <a:ext uri="{909E8E84-426E-40DD-AFC4-6F175D3DCCD1}">
              <a14:hiddenFill xmlns:a14="http://schemas.microsoft.com/office/drawing/2010/main">
                <a:solidFill>
                  <a:srgbClr val="FFFFFF"/>
                </a:solidFill>
              </a14:hiddenFill>
            </a:ext>
          </a:extLst>
        </p:spPr>
      </p:pic>
      <p:pic>
        <p:nvPicPr>
          <p:cNvPr id="8" name="コンテンツ プレースホルダー 6">
            <a:extLst>
              <a:ext uri="{FF2B5EF4-FFF2-40B4-BE49-F238E27FC236}">
                <a16:creationId xmlns:a16="http://schemas.microsoft.com/office/drawing/2014/main" id="{199D129D-0B09-646E-59AA-2AE86B4C4DE5}"/>
              </a:ext>
            </a:extLst>
          </p:cNvPr>
          <p:cNvPicPr>
            <a:picLocks noChangeAspect="1"/>
          </p:cNvPicPr>
          <p:nvPr/>
        </p:nvPicPr>
        <p:blipFill>
          <a:blip r:embed="rId4"/>
          <a:stretch>
            <a:fillRect/>
          </a:stretch>
        </p:blipFill>
        <p:spPr>
          <a:xfrm>
            <a:off x="7725022" y="0"/>
            <a:ext cx="4466978" cy="6563549"/>
          </a:xfrm>
          <a:prstGeom prst="rect">
            <a:avLst/>
          </a:prstGeom>
        </p:spPr>
      </p:pic>
      <p:pic>
        <p:nvPicPr>
          <p:cNvPr id="10" name="図 9">
            <a:extLst>
              <a:ext uri="{FF2B5EF4-FFF2-40B4-BE49-F238E27FC236}">
                <a16:creationId xmlns:a16="http://schemas.microsoft.com/office/drawing/2014/main" id="{6008F8C4-E233-212A-A2F2-640C5284DEE4}"/>
              </a:ext>
            </a:extLst>
          </p:cNvPr>
          <p:cNvPicPr>
            <a:picLocks noChangeAspect="1"/>
          </p:cNvPicPr>
          <p:nvPr/>
        </p:nvPicPr>
        <p:blipFill>
          <a:blip r:embed="rId5"/>
          <a:stretch>
            <a:fillRect/>
          </a:stretch>
        </p:blipFill>
        <p:spPr>
          <a:xfrm>
            <a:off x="-59607" y="1139251"/>
            <a:ext cx="4401005" cy="2142789"/>
          </a:xfrm>
          <a:prstGeom prst="rect">
            <a:avLst/>
          </a:prstGeom>
        </p:spPr>
      </p:pic>
    </p:spTree>
    <p:extLst>
      <p:ext uri="{BB962C8B-B14F-4D97-AF65-F5344CB8AC3E}">
        <p14:creationId xmlns:p14="http://schemas.microsoft.com/office/powerpoint/2010/main" val="3081113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9B0B01-B026-DC75-0283-1CF9F27EAAEE}"/>
              </a:ext>
            </a:extLst>
          </p:cNvPr>
          <p:cNvSpPr>
            <a:spLocks noGrp="1"/>
          </p:cNvSpPr>
          <p:nvPr>
            <p:ph type="title"/>
          </p:nvPr>
        </p:nvSpPr>
        <p:spPr/>
        <p:txBody>
          <a:bodyPr/>
          <a:lstStyle/>
          <a:p>
            <a:r>
              <a:rPr kumimoji="1" lang="ja-JP" altLang="en-US" dirty="0"/>
              <a:t>次世代電子工作の世界へ</a:t>
            </a:r>
          </a:p>
        </p:txBody>
      </p:sp>
      <p:sp>
        <p:nvSpPr>
          <p:cNvPr id="3" name="日付プレースホルダー 2">
            <a:extLst>
              <a:ext uri="{FF2B5EF4-FFF2-40B4-BE49-F238E27FC236}">
                <a16:creationId xmlns:a16="http://schemas.microsoft.com/office/drawing/2014/main" id="{B2A92327-2242-0480-D7DA-C4A39E5287D3}"/>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6833426-FFC4-77CF-B01B-A9CA7DE717B3}"/>
              </a:ext>
            </a:extLst>
          </p:cNvPr>
          <p:cNvSpPr>
            <a:spLocks noGrp="1"/>
          </p:cNvSpPr>
          <p:nvPr>
            <p:ph type="sldNum" sz="quarter" idx="12"/>
          </p:nvPr>
        </p:nvSpPr>
        <p:spPr/>
        <p:txBody>
          <a:bodyPr/>
          <a:lstStyle/>
          <a:p>
            <a:pPr rtl="0"/>
            <a:fld id="{9860EDB8-5305-433F-BE41-D7A86D811DB3}" type="slidenum">
              <a:rPr lang="en-US" altLang="ja-JP" noProof="0" smtClean="0"/>
              <a:pPr rtl="0"/>
              <a:t>9</a:t>
            </a:fld>
            <a:endParaRPr lang="ja-JP" altLang="en-US" noProof="0"/>
          </a:p>
        </p:txBody>
      </p:sp>
      <p:sp>
        <p:nvSpPr>
          <p:cNvPr id="5" name="コンテンツ プレースホルダー 4">
            <a:extLst>
              <a:ext uri="{FF2B5EF4-FFF2-40B4-BE49-F238E27FC236}">
                <a16:creationId xmlns:a16="http://schemas.microsoft.com/office/drawing/2014/main" id="{990BF76C-9B1B-5B9D-08A9-F1D80568547A}"/>
              </a:ext>
            </a:extLst>
          </p:cNvPr>
          <p:cNvSpPr>
            <a:spLocks noGrp="1"/>
          </p:cNvSpPr>
          <p:nvPr>
            <p:ph sz="quarter" idx="13"/>
          </p:nvPr>
        </p:nvSpPr>
        <p:spPr>
          <a:xfrm>
            <a:off x="444500" y="1327971"/>
            <a:ext cx="5540173" cy="2229561"/>
          </a:xfrm>
        </p:spPr>
        <p:txBody>
          <a:bodyPr/>
          <a:lstStyle/>
          <a:p>
            <a:pPr marL="285750" indent="-285750">
              <a:buFont typeface="Arial" panose="020B0604020202020204" pitchFamily="34" charset="0"/>
              <a:buChar char="•"/>
            </a:pPr>
            <a:r>
              <a:rPr lang="ja-JP" altLang="en-US" dirty="0"/>
              <a:t>マイコンは、大雑把に分けると・・・</a:t>
            </a:r>
            <a:endParaRPr lang="en-US" altLang="ja-JP" dirty="0"/>
          </a:p>
          <a:p>
            <a:pPr marL="569214" lvl="1" indent="-285750"/>
            <a:r>
              <a:rPr lang="ja-JP" altLang="en-US" dirty="0"/>
              <a:t>周辺機器部（ペリフェラル部＋</a:t>
            </a:r>
            <a:r>
              <a:rPr lang="en-US" altLang="ja-JP" dirty="0"/>
              <a:t>IO </a:t>
            </a:r>
            <a:r>
              <a:rPr lang="ja-JP" altLang="en-US" dirty="0"/>
              <a:t>部）</a:t>
            </a:r>
            <a:endParaRPr lang="en-US" altLang="ja-JP" dirty="0"/>
          </a:p>
          <a:p>
            <a:pPr marL="569214" lvl="1" indent="-285750"/>
            <a:r>
              <a:rPr lang="ja-JP" altLang="en-US" dirty="0"/>
              <a:t>クロック部（内蔵発振器 </a:t>
            </a:r>
            <a:r>
              <a:rPr lang="en-US" altLang="ja-JP" dirty="0"/>
              <a:t>or </a:t>
            </a:r>
            <a:r>
              <a:rPr lang="ja-JP" altLang="en-US" dirty="0"/>
              <a:t>外部発振器）</a:t>
            </a:r>
            <a:endParaRPr lang="en-US" altLang="ja-JP" dirty="0"/>
          </a:p>
          <a:p>
            <a:pPr marL="569214" lvl="1" indent="-285750"/>
            <a:r>
              <a:rPr lang="ja-JP" altLang="en-US" dirty="0"/>
              <a:t>コンピュータ部（プロセッサ部＋メモリ部＋バス部）</a:t>
            </a:r>
            <a:endParaRPr lang="en-US" altLang="ja-JP" dirty="0"/>
          </a:p>
          <a:p>
            <a:pPr marL="285750" indent="-285750">
              <a:buFont typeface="Arial" panose="020B0604020202020204" pitchFamily="34" charset="0"/>
              <a:buChar char="•"/>
            </a:pPr>
            <a:endParaRPr kumimoji="1" lang="ja-JP" altLang="en-US" dirty="0"/>
          </a:p>
        </p:txBody>
      </p:sp>
      <p:pic>
        <p:nvPicPr>
          <p:cNvPr id="7" name="図 6">
            <a:extLst>
              <a:ext uri="{FF2B5EF4-FFF2-40B4-BE49-F238E27FC236}">
                <a16:creationId xmlns:a16="http://schemas.microsoft.com/office/drawing/2014/main" id="{98E4CD09-6F58-8A8A-E0D7-CA2BCC68F366}"/>
              </a:ext>
            </a:extLst>
          </p:cNvPr>
          <p:cNvPicPr>
            <a:picLocks noChangeAspect="1"/>
          </p:cNvPicPr>
          <p:nvPr/>
        </p:nvPicPr>
        <p:blipFill>
          <a:blip r:embed="rId2"/>
          <a:stretch>
            <a:fillRect/>
          </a:stretch>
        </p:blipFill>
        <p:spPr>
          <a:xfrm>
            <a:off x="5984673" y="76355"/>
            <a:ext cx="6111596" cy="5738179"/>
          </a:xfrm>
          <a:prstGeom prst="rect">
            <a:avLst/>
          </a:prstGeom>
        </p:spPr>
      </p:pic>
      <p:sp>
        <p:nvSpPr>
          <p:cNvPr id="8" name="正方形/長方形 7">
            <a:extLst>
              <a:ext uri="{FF2B5EF4-FFF2-40B4-BE49-F238E27FC236}">
                <a16:creationId xmlns:a16="http://schemas.microsoft.com/office/drawing/2014/main" id="{0F414B84-9FEF-4890-A615-3EFA7E1AB610}"/>
              </a:ext>
            </a:extLst>
          </p:cNvPr>
          <p:cNvSpPr/>
          <p:nvPr/>
        </p:nvSpPr>
        <p:spPr>
          <a:xfrm>
            <a:off x="6809160" y="5867828"/>
            <a:ext cx="4462622" cy="6019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ラズベリー</a:t>
            </a:r>
            <a:r>
              <a:rPr kumimoji="1" lang="en-US" altLang="ja-JP" dirty="0"/>
              <a:t>Pico </a:t>
            </a:r>
            <a:r>
              <a:rPr kumimoji="1" lang="ja-JP" altLang="en-US" dirty="0"/>
              <a:t>マイコンのブロック図</a:t>
            </a:r>
          </a:p>
        </p:txBody>
      </p:sp>
      <p:sp>
        <p:nvSpPr>
          <p:cNvPr id="9" name="正方形/長方形 8">
            <a:extLst>
              <a:ext uri="{FF2B5EF4-FFF2-40B4-BE49-F238E27FC236}">
                <a16:creationId xmlns:a16="http://schemas.microsoft.com/office/drawing/2014/main" id="{14CF551A-90FC-0067-B8EB-59973CE3B94C}"/>
              </a:ext>
            </a:extLst>
          </p:cNvPr>
          <p:cNvSpPr/>
          <p:nvPr/>
        </p:nvSpPr>
        <p:spPr>
          <a:xfrm>
            <a:off x="182855" y="3377067"/>
            <a:ext cx="5670155" cy="6019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今日はこれら専用チップ設計の基礎を身につける講座</a:t>
            </a:r>
          </a:p>
        </p:txBody>
      </p:sp>
      <p:pic>
        <p:nvPicPr>
          <p:cNvPr id="11" name="図 10">
            <a:extLst>
              <a:ext uri="{FF2B5EF4-FFF2-40B4-BE49-F238E27FC236}">
                <a16:creationId xmlns:a16="http://schemas.microsoft.com/office/drawing/2014/main" id="{4D14ABED-8407-FC58-10C3-F35B14A5DC7F}"/>
              </a:ext>
            </a:extLst>
          </p:cNvPr>
          <p:cNvPicPr>
            <a:picLocks noChangeAspect="1"/>
          </p:cNvPicPr>
          <p:nvPr/>
        </p:nvPicPr>
        <p:blipFill>
          <a:blip r:embed="rId3"/>
          <a:srcRect l="2988" t="13782" r="1782" b="2574"/>
          <a:stretch>
            <a:fillRect/>
          </a:stretch>
        </p:blipFill>
        <p:spPr>
          <a:xfrm>
            <a:off x="156697" y="4080950"/>
            <a:ext cx="3454230" cy="2437977"/>
          </a:xfrm>
          <a:prstGeom prst="rect">
            <a:avLst/>
          </a:prstGeom>
        </p:spPr>
      </p:pic>
      <p:sp>
        <p:nvSpPr>
          <p:cNvPr id="12" name="吹き出し: 角を丸めた四角形 11">
            <a:extLst>
              <a:ext uri="{FF2B5EF4-FFF2-40B4-BE49-F238E27FC236}">
                <a16:creationId xmlns:a16="http://schemas.microsoft.com/office/drawing/2014/main" id="{B6BC3187-792B-7124-907D-658CBE16F129}"/>
              </a:ext>
            </a:extLst>
          </p:cNvPr>
          <p:cNvSpPr/>
          <p:nvPr/>
        </p:nvSpPr>
        <p:spPr>
          <a:xfrm>
            <a:off x="3574474" y="4130113"/>
            <a:ext cx="2340688" cy="701453"/>
          </a:xfrm>
          <a:prstGeom prst="wedgeRoundRectCallout">
            <a:avLst>
              <a:gd name="adj1" fmla="val -53488"/>
              <a:gd name="adj2" fmla="val 7857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詳細を知りたい方は</a:t>
            </a:r>
            <a:endParaRPr kumimoji="1" lang="en-US" altLang="ja-JP" dirty="0"/>
          </a:p>
          <a:p>
            <a:pPr algn="ctr"/>
            <a:r>
              <a:rPr kumimoji="1" lang="ja-JP" altLang="en-US" dirty="0"/>
              <a:t>こちらをどうぞ</a:t>
            </a:r>
          </a:p>
        </p:txBody>
      </p:sp>
      <p:pic>
        <p:nvPicPr>
          <p:cNvPr id="1028" name="Picture 4">
            <a:extLst>
              <a:ext uri="{FF2B5EF4-FFF2-40B4-BE49-F238E27FC236}">
                <a16:creationId xmlns:a16="http://schemas.microsoft.com/office/drawing/2014/main" id="{EA8D18D1-1C7A-10F3-4A71-4EF04A5F33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239" b="7016"/>
          <a:stretch>
            <a:fillRect/>
          </a:stretch>
        </p:blipFill>
        <p:spPr bwMode="auto">
          <a:xfrm>
            <a:off x="3874252" y="4981599"/>
            <a:ext cx="1847095" cy="1583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4884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A30A239B-CF60-F14D-D9CC-9879FA60F97F}"/>
              </a:ext>
            </a:extLst>
          </p:cNvPr>
          <p:cNvSpPr>
            <a:spLocks noGrp="1"/>
          </p:cNvSpPr>
          <p:nvPr>
            <p:ph type="title"/>
          </p:nvPr>
        </p:nvSpPr>
        <p:spPr/>
        <p:txBody>
          <a:bodyPr/>
          <a:lstStyle/>
          <a:p>
            <a:r>
              <a:rPr lang="ja-JP" altLang="en-US" dirty="0"/>
              <a:t>半導体の基礎知識</a:t>
            </a:r>
          </a:p>
        </p:txBody>
      </p:sp>
      <p:sp>
        <p:nvSpPr>
          <p:cNvPr id="7" name="テキスト プレースホルダー 6">
            <a:extLst>
              <a:ext uri="{FF2B5EF4-FFF2-40B4-BE49-F238E27FC236}">
                <a16:creationId xmlns:a16="http://schemas.microsoft.com/office/drawing/2014/main" id="{8563F2CC-E883-5D8E-9E4D-A524C8CBCB0A}"/>
              </a:ext>
            </a:extLst>
          </p:cNvPr>
          <p:cNvSpPr>
            <a:spLocks noGrp="1"/>
          </p:cNvSpPr>
          <p:nvPr>
            <p:ph type="body" sz="quarter" idx="10"/>
          </p:nvPr>
        </p:nvSpPr>
        <p:spPr/>
        <p:txBody>
          <a:bodyPr/>
          <a:lstStyle/>
          <a:p>
            <a:r>
              <a:rPr lang="ja-JP" altLang="en-US" dirty="0"/>
              <a:t>プレーナ型</a:t>
            </a:r>
            <a:r>
              <a:rPr lang="en-US" altLang="ja-JP" dirty="0"/>
              <a:t>FET</a:t>
            </a:r>
            <a:r>
              <a:rPr lang="ja-JP" altLang="en-US" dirty="0"/>
              <a:t>プロセス</a:t>
            </a:r>
          </a:p>
        </p:txBody>
      </p:sp>
      <p:sp>
        <p:nvSpPr>
          <p:cNvPr id="3" name="日付プレースホルダー 2">
            <a:extLst>
              <a:ext uri="{FF2B5EF4-FFF2-40B4-BE49-F238E27FC236}">
                <a16:creationId xmlns:a16="http://schemas.microsoft.com/office/drawing/2014/main" id="{4E92EA04-BF04-AEDE-EE38-69247B176266}"/>
              </a:ext>
            </a:extLst>
          </p:cNvPr>
          <p:cNvSpPr>
            <a:spLocks noGrp="1"/>
          </p:cNvSpPr>
          <p:nvPr>
            <p:ph type="dt" sz="half" idx="2"/>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A354318-E272-2BE7-65A0-C3DAAD7656BB}"/>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10</a:t>
            </a:fld>
            <a:endParaRPr lang="ja-JP" altLang="en-US" noProof="0"/>
          </a:p>
        </p:txBody>
      </p:sp>
    </p:spTree>
    <p:extLst>
      <p:ext uri="{BB962C8B-B14F-4D97-AF65-F5344CB8AC3E}">
        <p14:creationId xmlns:p14="http://schemas.microsoft.com/office/powerpoint/2010/main" val="1422712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0F50D1-BECF-EE3D-C1B5-91574A297CA5}"/>
              </a:ext>
            </a:extLst>
          </p:cNvPr>
          <p:cNvSpPr>
            <a:spLocks noGrp="1"/>
          </p:cNvSpPr>
          <p:nvPr>
            <p:ph type="title"/>
          </p:nvPr>
        </p:nvSpPr>
        <p:spPr/>
        <p:txBody>
          <a:bodyPr/>
          <a:lstStyle/>
          <a:p>
            <a:r>
              <a:rPr kumimoji="1" lang="en-US" altLang="ja-JP" dirty="0"/>
              <a:t>IC</a:t>
            </a:r>
            <a:r>
              <a:rPr kumimoji="1" lang="ja-JP" altLang="en-US" dirty="0"/>
              <a:t>とは？</a:t>
            </a:r>
          </a:p>
        </p:txBody>
      </p:sp>
      <p:sp>
        <p:nvSpPr>
          <p:cNvPr id="3" name="日付プレースホルダー 2">
            <a:extLst>
              <a:ext uri="{FF2B5EF4-FFF2-40B4-BE49-F238E27FC236}">
                <a16:creationId xmlns:a16="http://schemas.microsoft.com/office/drawing/2014/main" id="{54C5253F-4600-4722-513C-770D070259E8}"/>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57CCB3F8-6397-1359-331E-546E4F991FDE}"/>
              </a:ext>
            </a:extLst>
          </p:cNvPr>
          <p:cNvSpPr>
            <a:spLocks noGrp="1"/>
          </p:cNvSpPr>
          <p:nvPr>
            <p:ph type="sldNum" sz="quarter" idx="12"/>
          </p:nvPr>
        </p:nvSpPr>
        <p:spPr/>
        <p:txBody>
          <a:bodyPr/>
          <a:lstStyle/>
          <a:p>
            <a:pPr rtl="0"/>
            <a:fld id="{9860EDB8-5305-433F-BE41-D7A86D811DB3}" type="slidenum">
              <a:rPr lang="en-US" altLang="ja-JP" noProof="0" smtClean="0"/>
              <a:pPr rtl="0"/>
              <a:t>11</a:t>
            </a:fld>
            <a:endParaRPr lang="ja-JP" altLang="en-US" noProof="0"/>
          </a:p>
        </p:txBody>
      </p:sp>
      <p:sp>
        <p:nvSpPr>
          <p:cNvPr id="5" name="コンテンツ プレースホルダー 4">
            <a:extLst>
              <a:ext uri="{FF2B5EF4-FFF2-40B4-BE49-F238E27FC236}">
                <a16:creationId xmlns:a16="http://schemas.microsoft.com/office/drawing/2014/main" id="{C97920B1-BF16-F052-7E94-C09EC7ED861B}"/>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en-US" altLang="ja-JP" sz="2000" dirty="0"/>
              <a:t>Integrated Circuit, </a:t>
            </a:r>
            <a:r>
              <a:rPr kumimoji="1" lang="ja-JP" altLang="en-US" sz="2000" dirty="0"/>
              <a:t>集積回路 には様々な形態がある。</a:t>
            </a:r>
            <a:endParaRPr kumimoji="1" lang="en-US" altLang="ja-JP" sz="2000" dirty="0"/>
          </a:p>
          <a:p>
            <a:pPr marL="569214" lvl="1" indent="-285750"/>
            <a:r>
              <a:rPr lang="ja-JP" altLang="en-US" sz="2000" dirty="0"/>
              <a:t>我々が目にする</a:t>
            </a:r>
            <a:r>
              <a:rPr lang="en-US" altLang="ja-JP" sz="2000" dirty="0"/>
              <a:t>IC</a:t>
            </a:r>
            <a:r>
              <a:rPr lang="ja-JP" altLang="en-US" sz="2000" dirty="0"/>
              <a:t>は“</a:t>
            </a:r>
            <a:r>
              <a:rPr lang="ja-JP" altLang="en-US" sz="2000" b="1" dirty="0">
                <a:solidFill>
                  <a:srgbClr val="FF0000"/>
                </a:solidFill>
              </a:rPr>
              <a:t>モノリシック</a:t>
            </a:r>
            <a:r>
              <a:rPr lang="en-US" altLang="ja-JP" sz="2000" b="1" dirty="0">
                <a:solidFill>
                  <a:srgbClr val="FF0000"/>
                </a:solidFill>
              </a:rPr>
              <a:t>IC</a:t>
            </a:r>
            <a:r>
              <a:rPr lang="ja-JP" altLang="en-US" sz="2000" dirty="0"/>
              <a:t>“☞</a:t>
            </a:r>
            <a:br>
              <a:rPr lang="en-US" altLang="ja-JP" sz="2000" dirty="0"/>
            </a:br>
            <a:r>
              <a:rPr lang="en-US" altLang="ja-JP" sz="2000" dirty="0"/>
              <a:t>1</a:t>
            </a:r>
            <a:r>
              <a:rPr lang="ja-JP" altLang="en-US" sz="2000" dirty="0"/>
              <a:t>枚のシリコン基板に回路が構成。</a:t>
            </a:r>
            <a:endParaRPr lang="en-US" altLang="ja-JP" sz="2000" dirty="0"/>
          </a:p>
          <a:p>
            <a:pPr marL="285750" indent="-285750">
              <a:buFont typeface="Arial" panose="020B0604020202020204" pitchFamily="34" charset="0"/>
              <a:buChar char="•"/>
            </a:pPr>
            <a:r>
              <a:rPr lang="ja-JP" altLang="en-US" sz="2000" dirty="0"/>
              <a:t>複数の部品を集積させた</a:t>
            </a:r>
            <a:r>
              <a:rPr lang="en-US" altLang="ja-JP" sz="2000" dirty="0"/>
              <a:t>IC</a:t>
            </a:r>
            <a:r>
              <a:rPr lang="ja-JP" altLang="en-US" sz="2000" dirty="0"/>
              <a:t>を</a:t>
            </a:r>
            <a:r>
              <a:rPr lang="en-US" altLang="ja-JP" sz="2000" dirty="0"/>
              <a:t>”</a:t>
            </a:r>
            <a:r>
              <a:rPr lang="ja-JP" altLang="en-US" sz="2000" b="1" dirty="0">
                <a:solidFill>
                  <a:srgbClr val="FF0000"/>
                </a:solidFill>
              </a:rPr>
              <a:t>ハイブリッド</a:t>
            </a:r>
            <a:r>
              <a:rPr lang="en-US" altLang="ja-JP" sz="2000" b="1" dirty="0">
                <a:solidFill>
                  <a:srgbClr val="FF0000"/>
                </a:solidFill>
              </a:rPr>
              <a:t>IC</a:t>
            </a:r>
            <a:r>
              <a:rPr lang="en-US" altLang="ja-JP" sz="2000" dirty="0"/>
              <a:t>”</a:t>
            </a:r>
            <a:r>
              <a:rPr lang="ja-JP" altLang="en-US" sz="2000" dirty="0"/>
              <a:t>という</a:t>
            </a:r>
            <a:r>
              <a:rPr lang="en-US" altLang="ja-JP" sz="2000" dirty="0"/>
              <a:t> </a:t>
            </a:r>
          </a:p>
          <a:p>
            <a:pPr marL="569214" lvl="1" indent="-285750"/>
            <a:r>
              <a:rPr lang="ja-JP" altLang="en-US" sz="2000" dirty="0"/>
              <a:t>例</a:t>
            </a:r>
            <a:r>
              <a:rPr lang="en-US" altLang="ja-JP" sz="2000" dirty="0"/>
              <a:t>: </a:t>
            </a:r>
            <a:r>
              <a:rPr lang="ja-JP" altLang="en-US" sz="2000" dirty="0"/>
              <a:t>水晶発振器 </a:t>
            </a:r>
            <a:r>
              <a:rPr lang="en-US" altLang="ja-JP" sz="2000" dirty="0"/>
              <a:t>= </a:t>
            </a:r>
            <a:r>
              <a:rPr kumimoji="1" lang="ja-JP" altLang="en-US" sz="2000" dirty="0"/>
              <a:t>水晶発振子＋発振回路</a:t>
            </a:r>
            <a:endParaRPr lang="en-US" altLang="ja-JP" sz="2000" dirty="0"/>
          </a:p>
          <a:p>
            <a:pPr marL="342900" indent="-342900">
              <a:buFont typeface="Arial" panose="020B0604020202020204" pitchFamily="34" charset="0"/>
              <a:buChar char="•"/>
            </a:pPr>
            <a:r>
              <a:rPr lang="ja-JP" altLang="en-US" sz="2000" dirty="0"/>
              <a:t>モノリシック</a:t>
            </a:r>
            <a:r>
              <a:rPr lang="en-US" altLang="ja-JP" sz="2000" dirty="0"/>
              <a:t>IC</a:t>
            </a:r>
            <a:r>
              <a:rPr lang="ja-JP" altLang="en-US" sz="2000" dirty="0"/>
              <a:t>の集積密度を高めたものが</a:t>
            </a:r>
            <a:br>
              <a:rPr lang="en-US" altLang="ja-JP" sz="2000" dirty="0"/>
            </a:br>
            <a:r>
              <a:rPr lang="ja-JP" altLang="en-US" sz="2000" dirty="0">
                <a:solidFill>
                  <a:srgbClr val="FF0000"/>
                </a:solidFill>
              </a:rPr>
              <a:t>大規模集積回路</a:t>
            </a:r>
            <a:r>
              <a:rPr lang="ja-JP" altLang="en-US" sz="2000" dirty="0"/>
              <a:t>、</a:t>
            </a:r>
            <a:r>
              <a:rPr lang="en-US" altLang="ja-JP" sz="2000" b="1" dirty="0">
                <a:solidFill>
                  <a:srgbClr val="FF0000"/>
                </a:solidFill>
              </a:rPr>
              <a:t>LSI</a:t>
            </a:r>
            <a:r>
              <a:rPr lang="ja-JP" altLang="en-US" sz="2000" dirty="0"/>
              <a:t> </a:t>
            </a:r>
            <a:r>
              <a:rPr lang="en-US" altLang="ja-JP" sz="2000" dirty="0"/>
              <a:t>(Large Scale Integration)</a:t>
            </a:r>
          </a:p>
          <a:p>
            <a:pPr marL="569214" lvl="1" indent="-285750"/>
            <a:endParaRPr lang="en-US" altLang="ja-JP" sz="2000" dirty="0"/>
          </a:p>
        </p:txBody>
      </p:sp>
      <p:pic>
        <p:nvPicPr>
          <p:cNvPr id="6" name="図 5">
            <a:extLst>
              <a:ext uri="{FF2B5EF4-FFF2-40B4-BE49-F238E27FC236}">
                <a16:creationId xmlns:a16="http://schemas.microsoft.com/office/drawing/2014/main" id="{4F97595D-FA55-80E0-C6BC-5F26341AD138}"/>
              </a:ext>
            </a:extLst>
          </p:cNvPr>
          <p:cNvPicPr>
            <a:picLocks noChangeAspect="1"/>
          </p:cNvPicPr>
          <p:nvPr/>
        </p:nvPicPr>
        <p:blipFill>
          <a:blip r:embed="rId2"/>
          <a:stretch>
            <a:fillRect/>
          </a:stretch>
        </p:blipFill>
        <p:spPr>
          <a:xfrm>
            <a:off x="6984189" y="1461197"/>
            <a:ext cx="4763311" cy="3572483"/>
          </a:xfrm>
          <a:prstGeom prst="rect">
            <a:avLst/>
          </a:prstGeom>
        </p:spPr>
      </p:pic>
      <p:sp>
        <p:nvSpPr>
          <p:cNvPr id="7" name="テキスト ボックス 6">
            <a:extLst>
              <a:ext uri="{FF2B5EF4-FFF2-40B4-BE49-F238E27FC236}">
                <a16:creationId xmlns:a16="http://schemas.microsoft.com/office/drawing/2014/main" id="{B276F699-C633-A08D-5168-2D110C6138B6}"/>
              </a:ext>
            </a:extLst>
          </p:cNvPr>
          <p:cNvSpPr txBox="1"/>
          <p:nvPr/>
        </p:nvSpPr>
        <p:spPr>
          <a:xfrm>
            <a:off x="6858000" y="5214026"/>
            <a:ext cx="4889500" cy="369332"/>
          </a:xfrm>
          <a:prstGeom prst="rect">
            <a:avLst/>
          </a:prstGeom>
          <a:noFill/>
        </p:spPr>
        <p:txBody>
          <a:bodyPr wrap="square" rtlCol="0">
            <a:spAutoFit/>
          </a:bodyPr>
          <a:lstStyle/>
          <a:p>
            <a:pPr algn="ctr"/>
            <a:r>
              <a:rPr kumimoji="1" lang="en-US" altLang="ja-JP" dirty="0">
                <a:solidFill>
                  <a:schemeClr val="bg2">
                    <a:lumMod val="25000"/>
                  </a:schemeClr>
                </a:solidFill>
              </a:rPr>
              <a:t>Crystal Oscillator  (Photo: my own work)</a:t>
            </a:r>
            <a:endParaRPr kumimoji="1" lang="ja-JP" altLang="en-US" dirty="0">
              <a:solidFill>
                <a:schemeClr val="bg2">
                  <a:lumMod val="25000"/>
                </a:schemeClr>
              </a:solidFill>
            </a:endParaRPr>
          </a:p>
        </p:txBody>
      </p:sp>
      <p:cxnSp>
        <p:nvCxnSpPr>
          <p:cNvPr id="9" name="直線矢印コネクタ 8">
            <a:extLst>
              <a:ext uri="{FF2B5EF4-FFF2-40B4-BE49-F238E27FC236}">
                <a16:creationId xmlns:a16="http://schemas.microsoft.com/office/drawing/2014/main" id="{F8A9B6F2-82C4-F523-0E88-EB68918DABCA}"/>
              </a:ext>
            </a:extLst>
          </p:cNvPr>
          <p:cNvCxnSpPr>
            <a:cxnSpLocks/>
          </p:cNvCxnSpPr>
          <p:nvPr/>
        </p:nvCxnSpPr>
        <p:spPr>
          <a:xfrm flipV="1">
            <a:off x="8934020" y="3875698"/>
            <a:ext cx="834669" cy="36443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38795004-E9D1-5D76-A705-7D7CF5B0F0A5}"/>
              </a:ext>
            </a:extLst>
          </p:cNvPr>
          <p:cNvCxnSpPr>
            <a:cxnSpLocks/>
          </p:cNvCxnSpPr>
          <p:nvPr/>
        </p:nvCxnSpPr>
        <p:spPr>
          <a:xfrm>
            <a:off x="8934020" y="2004328"/>
            <a:ext cx="431230" cy="51643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458E621F-7F3A-935B-C7BC-BEAF68ED47FE}"/>
              </a:ext>
            </a:extLst>
          </p:cNvPr>
          <p:cNvSpPr txBox="1"/>
          <p:nvPr/>
        </p:nvSpPr>
        <p:spPr>
          <a:xfrm>
            <a:off x="6638733" y="1731714"/>
            <a:ext cx="2381061" cy="646331"/>
          </a:xfrm>
          <a:prstGeom prst="rect">
            <a:avLst/>
          </a:prstGeom>
          <a:noFill/>
        </p:spPr>
        <p:txBody>
          <a:bodyPr wrap="square" rtlCol="0">
            <a:spAutoFit/>
          </a:bodyPr>
          <a:lstStyle/>
          <a:p>
            <a:pPr algn="r"/>
            <a:r>
              <a:rPr kumimoji="1" lang="ja-JP" altLang="en-US" dirty="0">
                <a:solidFill>
                  <a:schemeClr val="bg2">
                    <a:lumMod val="25000"/>
                  </a:schemeClr>
                </a:solidFill>
              </a:rPr>
              <a:t>ハイブリッド</a:t>
            </a:r>
            <a:r>
              <a:rPr kumimoji="1" lang="en-US" altLang="ja-JP" dirty="0">
                <a:solidFill>
                  <a:schemeClr val="bg2">
                    <a:lumMod val="25000"/>
                  </a:schemeClr>
                </a:solidFill>
              </a:rPr>
              <a:t>IC</a:t>
            </a:r>
          </a:p>
          <a:p>
            <a:pPr algn="r"/>
            <a:r>
              <a:rPr kumimoji="1" lang="en-US" altLang="ja-JP" dirty="0">
                <a:solidFill>
                  <a:schemeClr val="bg2">
                    <a:lumMod val="25000"/>
                  </a:schemeClr>
                </a:solidFill>
              </a:rPr>
              <a:t>(</a:t>
            </a:r>
            <a:r>
              <a:rPr kumimoji="1" lang="ja-JP" altLang="en-US" dirty="0">
                <a:solidFill>
                  <a:schemeClr val="bg2">
                    <a:lumMod val="25000"/>
                  </a:schemeClr>
                </a:solidFill>
              </a:rPr>
              <a:t>混成集積回路</a:t>
            </a:r>
            <a:r>
              <a:rPr kumimoji="1" lang="en-US" altLang="ja-JP" dirty="0">
                <a:solidFill>
                  <a:schemeClr val="bg2">
                    <a:lumMod val="25000"/>
                  </a:schemeClr>
                </a:solidFill>
              </a:rPr>
              <a:t>)</a:t>
            </a:r>
          </a:p>
        </p:txBody>
      </p:sp>
      <p:sp>
        <p:nvSpPr>
          <p:cNvPr id="14" name="テキスト ボックス 13">
            <a:extLst>
              <a:ext uri="{FF2B5EF4-FFF2-40B4-BE49-F238E27FC236}">
                <a16:creationId xmlns:a16="http://schemas.microsoft.com/office/drawing/2014/main" id="{D8AE8A91-8EED-5339-FDEE-C0A9876EDA69}"/>
              </a:ext>
            </a:extLst>
          </p:cNvPr>
          <p:cNvSpPr txBox="1"/>
          <p:nvPr/>
        </p:nvSpPr>
        <p:spPr>
          <a:xfrm>
            <a:off x="7129684" y="4240131"/>
            <a:ext cx="2381061" cy="369332"/>
          </a:xfrm>
          <a:prstGeom prst="rect">
            <a:avLst/>
          </a:prstGeom>
          <a:noFill/>
        </p:spPr>
        <p:txBody>
          <a:bodyPr wrap="square" rtlCol="0">
            <a:spAutoFit/>
          </a:bodyPr>
          <a:lstStyle/>
          <a:p>
            <a:pPr algn="r"/>
            <a:r>
              <a:rPr kumimoji="1" lang="ja-JP" altLang="en-US" dirty="0">
                <a:solidFill>
                  <a:schemeClr val="bg2">
                    <a:lumMod val="25000"/>
                  </a:schemeClr>
                </a:solidFill>
              </a:rPr>
              <a:t>水晶発振子</a:t>
            </a:r>
          </a:p>
        </p:txBody>
      </p:sp>
      <p:pic>
        <p:nvPicPr>
          <p:cNvPr id="35" name="図 34">
            <a:extLst>
              <a:ext uri="{FF2B5EF4-FFF2-40B4-BE49-F238E27FC236}">
                <a16:creationId xmlns:a16="http://schemas.microsoft.com/office/drawing/2014/main" id="{D7BD61A2-8BCE-0696-15BD-D9B49D0922F6}"/>
              </a:ext>
            </a:extLst>
          </p:cNvPr>
          <p:cNvPicPr>
            <a:picLocks noChangeAspect="1"/>
          </p:cNvPicPr>
          <p:nvPr/>
        </p:nvPicPr>
        <p:blipFill>
          <a:blip r:embed="rId3"/>
          <a:stretch>
            <a:fillRect/>
          </a:stretch>
        </p:blipFill>
        <p:spPr>
          <a:xfrm>
            <a:off x="5237251" y="1988851"/>
            <a:ext cx="1124107" cy="590632"/>
          </a:xfrm>
          <a:prstGeom prst="rect">
            <a:avLst/>
          </a:prstGeom>
        </p:spPr>
      </p:pic>
    </p:spTree>
    <p:extLst>
      <p:ext uri="{BB962C8B-B14F-4D97-AF65-F5344CB8AC3E}">
        <p14:creationId xmlns:p14="http://schemas.microsoft.com/office/powerpoint/2010/main" val="382861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descr="ダイアグラム&#10;&#10;自動的に生成された説明">
            <a:extLst>
              <a:ext uri="{FF2B5EF4-FFF2-40B4-BE49-F238E27FC236}">
                <a16:creationId xmlns:a16="http://schemas.microsoft.com/office/drawing/2014/main" id="{175035B5-825F-4206-5BDD-737CA76121E4}"/>
              </a:ext>
            </a:extLst>
          </p:cNvPr>
          <p:cNvPicPr>
            <a:picLocks noChangeAspect="1"/>
          </p:cNvPicPr>
          <p:nvPr/>
        </p:nvPicPr>
        <p:blipFill>
          <a:blip r:embed="rId2"/>
          <a:stretch>
            <a:fillRect/>
          </a:stretch>
        </p:blipFill>
        <p:spPr>
          <a:xfrm>
            <a:off x="8209952" y="1289432"/>
            <a:ext cx="3552825" cy="2459648"/>
          </a:xfrm>
          <a:prstGeom prst="rect">
            <a:avLst/>
          </a:prstGeom>
        </p:spPr>
      </p:pic>
      <p:sp>
        <p:nvSpPr>
          <p:cNvPr id="2" name="タイトル 1">
            <a:extLst>
              <a:ext uri="{FF2B5EF4-FFF2-40B4-BE49-F238E27FC236}">
                <a16:creationId xmlns:a16="http://schemas.microsoft.com/office/drawing/2014/main" id="{D0CAE913-4AC9-4EDC-17B5-6A1E414AF859}"/>
              </a:ext>
            </a:extLst>
          </p:cNvPr>
          <p:cNvSpPr>
            <a:spLocks noGrp="1"/>
          </p:cNvSpPr>
          <p:nvPr>
            <p:ph type="title"/>
          </p:nvPr>
        </p:nvSpPr>
        <p:spPr/>
        <p:txBody>
          <a:bodyPr/>
          <a:lstStyle/>
          <a:p>
            <a:r>
              <a:rPr kumimoji="1" lang="ja-JP" altLang="en-US" dirty="0"/>
              <a:t>プレーナ型</a:t>
            </a:r>
            <a:r>
              <a:rPr kumimoji="1" lang="en-US" altLang="ja-JP" dirty="0"/>
              <a:t>FET</a:t>
            </a:r>
            <a:r>
              <a:rPr kumimoji="1" lang="ja-JP" altLang="en-US" dirty="0"/>
              <a:t>プロセスとは</a:t>
            </a:r>
          </a:p>
        </p:txBody>
      </p:sp>
      <p:sp>
        <p:nvSpPr>
          <p:cNvPr id="3" name="日付プレースホルダー 2">
            <a:extLst>
              <a:ext uri="{FF2B5EF4-FFF2-40B4-BE49-F238E27FC236}">
                <a16:creationId xmlns:a16="http://schemas.microsoft.com/office/drawing/2014/main" id="{61F6579B-AD5A-7A60-1421-1D3BFF3E0F8E}"/>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57310787-00C3-9379-D185-FBDFFDAD36A7}"/>
              </a:ext>
            </a:extLst>
          </p:cNvPr>
          <p:cNvSpPr>
            <a:spLocks noGrp="1"/>
          </p:cNvSpPr>
          <p:nvPr>
            <p:ph type="sldNum" sz="quarter" idx="12"/>
          </p:nvPr>
        </p:nvSpPr>
        <p:spPr/>
        <p:txBody>
          <a:bodyPr/>
          <a:lstStyle/>
          <a:p>
            <a:pPr rtl="0"/>
            <a:fld id="{9860EDB8-5305-433F-BE41-D7A86D811DB3}" type="slidenum">
              <a:rPr lang="en-US" altLang="ja-JP" noProof="0" smtClean="0"/>
              <a:pPr rtl="0"/>
              <a:t>12</a:t>
            </a:fld>
            <a:endParaRPr lang="ja-JP" altLang="en-US" noProof="0"/>
          </a:p>
        </p:txBody>
      </p:sp>
      <p:sp>
        <p:nvSpPr>
          <p:cNvPr id="5" name="コンテンツ プレースホルダー 4">
            <a:extLst>
              <a:ext uri="{FF2B5EF4-FFF2-40B4-BE49-F238E27FC236}">
                <a16:creationId xmlns:a16="http://schemas.microsoft.com/office/drawing/2014/main" id="{8EFFF712-822F-636C-5FF2-71180BE302A2}"/>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ja-JP" altLang="en-US" sz="2000" dirty="0"/>
              <a:t>一言に</a:t>
            </a:r>
            <a:r>
              <a:rPr lang="ja-JP" altLang="en-US" sz="2000" dirty="0"/>
              <a:t>半導体</a:t>
            </a:r>
            <a:r>
              <a:rPr kumimoji="1" lang="ja-JP" altLang="en-US" sz="2000" dirty="0"/>
              <a:t>と言っても様々な種類があ</a:t>
            </a:r>
            <a:r>
              <a:rPr lang="ja-JP" altLang="en-US" sz="2000" dirty="0"/>
              <a:t>り、設計手法もそれぞれ異なる</a:t>
            </a:r>
            <a:endParaRPr kumimoji="1" lang="en-US" altLang="ja-JP" sz="2000" dirty="0"/>
          </a:p>
          <a:p>
            <a:pPr marL="285750" indent="-285750">
              <a:buFont typeface="Arial" panose="020B0604020202020204" pitchFamily="34" charset="0"/>
              <a:buChar char="•"/>
            </a:pPr>
            <a:r>
              <a:rPr lang="ja-JP" altLang="en-US" sz="2000" dirty="0"/>
              <a:t>東海理化</a:t>
            </a:r>
            <a:r>
              <a:rPr lang="en-US" altLang="ja-JP" sz="2000" dirty="0"/>
              <a:t>(TR-1um)</a:t>
            </a:r>
            <a:r>
              <a:rPr lang="ja-JP" altLang="en-US" sz="2000" dirty="0"/>
              <a:t>は</a:t>
            </a:r>
            <a:r>
              <a:rPr lang="ja-JP" altLang="en-US" sz="2000" dirty="0">
                <a:solidFill>
                  <a:srgbClr val="FF0000"/>
                </a:solidFill>
              </a:rPr>
              <a:t>プレーナ型</a:t>
            </a:r>
            <a:r>
              <a:rPr lang="en-US" altLang="ja-JP" sz="2000" b="1" dirty="0">
                <a:solidFill>
                  <a:srgbClr val="FF0000"/>
                </a:solidFill>
              </a:rPr>
              <a:t>FET</a:t>
            </a:r>
            <a:r>
              <a:rPr lang="ja-JP" altLang="en-US" sz="2000" dirty="0">
                <a:solidFill>
                  <a:srgbClr val="FF0000"/>
                </a:solidFill>
              </a:rPr>
              <a:t>プロセス</a:t>
            </a:r>
            <a:r>
              <a:rPr lang="en-US" altLang="ja-JP" sz="2000" b="1" dirty="0">
                <a:solidFill>
                  <a:srgbClr val="FF0000"/>
                </a:solidFill>
              </a:rPr>
              <a:t>   </a:t>
            </a:r>
            <a:r>
              <a:rPr lang="ja-JP" altLang="en-US" sz="2000" b="1" dirty="0">
                <a:solidFill>
                  <a:srgbClr val="FF0000"/>
                </a:solidFill>
              </a:rPr>
              <a:t>☞</a:t>
            </a:r>
            <a:br>
              <a:rPr lang="en-US" altLang="ja-JP" sz="2000" b="1" dirty="0">
                <a:solidFill>
                  <a:srgbClr val="FF0000"/>
                </a:solidFill>
              </a:rPr>
            </a:br>
            <a:r>
              <a:rPr lang="en-US" altLang="ja-JP" sz="2000" dirty="0">
                <a:solidFill>
                  <a:srgbClr val="464646"/>
                </a:solidFill>
              </a:rPr>
              <a:t>P</a:t>
            </a:r>
            <a:r>
              <a:rPr lang="ja-JP" altLang="en-US" sz="2000" dirty="0">
                <a:solidFill>
                  <a:srgbClr val="464646"/>
                </a:solidFill>
              </a:rPr>
              <a:t>型</a:t>
            </a:r>
            <a:r>
              <a:rPr lang="en-US" altLang="ja-JP" sz="2000" dirty="0">
                <a:solidFill>
                  <a:srgbClr val="464646"/>
                </a:solidFill>
              </a:rPr>
              <a:t>MOSFET</a:t>
            </a:r>
            <a:r>
              <a:rPr lang="ja-JP" altLang="en-US" sz="2000" dirty="0">
                <a:solidFill>
                  <a:srgbClr val="464646"/>
                </a:solidFill>
              </a:rPr>
              <a:t>と</a:t>
            </a:r>
            <a:r>
              <a:rPr lang="en-US" altLang="ja-JP" sz="2000" dirty="0">
                <a:solidFill>
                  <a:srgbClr val="464646"/>
                </a:solidFill>
              </a:rPr>
              <a:t>N</a:t>
            </a:r>
            <a:r>
              <a:rPr lang="ja-JP" altLang="en-US" sz="2000" dirty="0">
                <a:solidFill>
                  <a:srgbClr val="464646"/>
                </a:solidFill>
              </a:rPr>
              <a:t>型</a:t>
            </a:r>
            <a:r>
              <a:rPr lang="en-US" altLang="ja-JP" sz="2000" dirty="0">
                <a:solidFill>
                  <a:srgbClr val="464646"/>
                </a:solidFill>
              </a:rPr>
              <a:t>MOSFET</a:t>
            </a:r>
            <a:r>
              <a:rPr lang="ja-JP" altLang="en-US" sz="2000" dirty="0">
                <a:solidFill>
                  <a:srgbClr val="464646"/>
                </a:solidFill>
              </a:rPr>
              <a:t>が作成可能</a:t>
            </a:r>
            <a:endParaRPr lang="en-US" altLang="ja-JP" sz="2000" dirty="0">
              <a:solidFill>
                <a:srgbClr val="464646"/>
              </a:solidFill>
            </a:endParaRPr>
          </a:p>
          <a:p>
            <a:pPr marL="285750" indent="-285750">
              <a:buFont typeface="Arial" panose="020B0604020202020204" pitchFamily="34" charset="0"/>
              <a:buChar char="•"/>
            </a:pPr>
            <a:r>
              <a:rPr lang="ja-JP" altLang="en-US" sz="2000" dirty="0">
                <a:solidFill>
                  <a:srgbClr val="464646"/>
                </a:solidFill>
              </a:rPr>
              <a:t>プレーナ型</a:t>
            </a:r>
            <a:r>
              <a:rPr lang="en-US" altLang="ja-JP" sz="2000" dirty="0">
                <a:solidFill>
                  <a:srgbClr val="464646"/>
                </a:solidFill>
              </a:rPr>
              <a:t>FET</a:t>
            </a:r>
            <a:r>
              <a:rPr lang="ja-JP" altLang="en-US" sz="2000" dirty="0">
                <a:solidFill>
                  <a:srgbClr val="464646"/>
                </a:solidFill>
              </a:rPr>
              <a:t>は</a:t>
            </a:r>
            <a:r>
              <a:rPr lang="en-US" altLang="ja-JP" sz="2000" dirty="0">
                <a:solidFill>
                  <a:srgbClr val="464646"/>
                </a:solidFill>
              </a:rPr>
              <a:t>20nm</a:t>
            </a:r>
            <a:r>
              <a:rPr lang="ja-JP" altLang="en-US" sz="2000" dirty="0">
                <a:solidFill>
                  <a:srgbClr val="464646"/>
                </a:solidFill>
              </a:rPr>
              <a:t>程度が限界。</a:t>
            </a:r>
            <a:br>
              <a:rPr lang="en-US" altLang="ja-JP" sz="2000" dirty="0">
                <a:solidFill>
                  <a:srgbClr val="464646"/>
                </a:solidFill>
              </a:rPr>
            </a:br>
            <a:r>
              <a:rPr lang="en-US" altLang="ja-JP" sz="2000" dirty="0">
                <a:solidFill>
                  <a:srgbClr val="464646"/>
                </a:solidFill>
              </a:rPr>
              <a:t>CPU</a:t>
            </a:r>
            <a:r>
              <a:rPr lang="ja-JP" altLang="en-US" sz="2000" dirty="0">
                <a:solidFill>
                  <a:srgbClr val="464646"/>
                </a:solidFill>
              </a:rPr>
              <a:t>のような高密度集積回路では</a:t>
            </a:r>
            <a:r>
              <a:rPr lang="en-US" altLang="ja-JP" sz="2000" dirty="0" err="1">
                <a:solidFill>
                  <a:srgbClr val="464646"/>
                </a:solidFill>
              </a:rPr>
              <a:t>FinFET</a:t>
            </a:r>
            <a:r>
              <a:rPr lang="ja-JP" altLang="en-US" sz="2000" dirty="0">
                <a:solidFill>
                  <a:srgbClr val="464646"/>
                </a:solidFill>
              </a:rPr>
              <a:t>や</a:t>
            </a:r>
            <a:r>
              <a:rPr lang="en-US" altLang="ja-JP" sz="2000" dirty="0">
                <a:solidFill>
                  <a:srgbClr val="464646"/>
                </a:solidFill>
              </a:rPr>
              <a:t>GAA-FET</a:t>
            </a:r>
            <a:r>
              <a:rPr lang="ja-JP" altLang="en-US" sz="2000" dirty="0">
                <a:solidFill>
                  <a:srgbClr val="464646"/>
                </a:solidFill>
              </a:rPr>
              <a:t>といった</a:t>
            </a:r>
            <a:r>
              <a:rPr lang="en-US" altLang="ja-JP" sz="2000" dirty="0">
                <a:solidFill>
                  <a:srgbClr val="464646"/>
                </a:solidFill>
              </a:rPr>
              <a:t> </a:t>
            </a:r>
            <a:br>
              <a:rPr lang="en-US" altLang="ja-JP" sz="2000" dirty="0">
                <a:solidFill>
                  <a:srgbClr val="464646"/>
                </a:solidFill>
              </a:rPr>
            </a:br>
            <a:r>
              <a:rPr lang="ja-JP" altLang="en-US" sz="2000" dirty="0">
                <a:solidFill>
                  <a:srgbClr val="464646"/>
                </a:solidFill>
              </a:rPr>
              <a:t>全く別の構造をしたプロセスを現在は使用している。</a:t>
            </a:r>
            <a:endParaRPr lang="en-US" altLang="ja-JP" sz="2000" dirty="0">
              <a:solidFill>
                <a:srgbClr val="464646"/>
              </a:solidFill>
            </a:endParaRPr>
          </a:p>
          <a:p>
            <a:pPr marL="285750" indent="-285750">
              <a:buFont typeface="Arial" panose="020B0604020202020204" pitchFamily="34" charset="0"/>
              <a:buChar char="•"/>
            </a:pPr>
            <a:r>
              <a:rPr lang="ja-JP" altLang="en-US" sz="2000" dirty="0">
                <a:solidFill>
                  <a:srgbClr val="464646"/>
                </a:solidFill>
              </a:rPr>
              <a:t>プレーナ型 </a:t>
            </a:r>
            <a:r>
              <a:rPr lang="en-US" altLang="ja-JP" sz="2000" dirty="0">
                <a:solidFill>
                  <a:srgbClr val="464646"/>
                </a:solidFill>
              </a:rPr>
              <a:t>4</a:t>
            </a:r>
            <a:r>
              <a:rPr lang="en-US" altLang="ja-JP" sz="2000">
                <a:solidFill>
                  <a:srgbClr val="464646"/>
                </a:solidFill>
              </a:rPr>
              <a:t>5~130nm</a:t>
            </a:r>
            <a:r>
              <a:rPr lang="ja-JP" altLang="en-US" sz="2000" dirty="0">
                <a:solidFill>
                  <a:srgbClr val="464646"/>
                </a:solidFill>
              </a:rPr>
              <a:t>はロジック回路用としては時代遅れ </a:t>
            </a:r>
            <a:r>
              <a:rPr lang="en-US" altLang="ja-JP" sz="2000" dirty="0">
                <a:solidFill>
                  <a:srgbClr val="464646"/>
                </a:solidFill>
              </a:rPr>
              <a:t>(2000</a:t>
            </a:r>
            <a:r>
              <a:rPr lang="ja-JP" altLang="en-US" sz="2000" dirty="0">
                <a:solidFill>
                  <a:srgbClr val="464646"/>
                </a:solidFill>
              </a:rPr>
              <a:t>年前後</a:t>
            </a:r>
            <a:r>
              <a:rPr lang="en-US" altLang="ja-JP" sz="2000" dirty="0">
                <a:solidFill>
                  <a:srgbClr val="464646"/>
                </a:solidFill>
              </a:rPr>
              <a:t>) </a:t>
            </a:r>
            <a:r>
              <a:rPr lang="ja-JP" altLang="en-US" sz="2000" dirty="0">
                <a:solidFill>
                  <a:srgbClr val="464646"/>
                </a:solidFill>
              </a:rPr>
              <a:t>だが、</a:t>
            </a:r>
            <a:br>
              <a:rPr lang="en-US" altLang="ja-JP" sz="2000" dirty="0">
                <a:solidFill>
                  <a:srgbClr val="464646"/>
                </a:solidFill>
              </a:rPr>
            </a:br>
            <a:r>
              <a:rPr lang="en-US" altLang="ja-JP" sz="2000" dirty="0" err="1">
                <a:solidFill>
                  <a:srgbClr val="464646"/>
                </a:solidFill>
              </a:rPr>
              <a:t>FinFET</a:t>
            </a:r>
            <a:r>
              <a:rPr lang="ja-JP" altLang="en-US" sz="2000" dirty="0">
                <a:solidFill>
                  <a:srgbClr val="464646"/>
                </a:solidFill>
              </a:rPr>
              <a:t>よりも安く製造でき、アナログ</a:t>
            </a:r>
            <a:r>
              <a:rPr lang="en-US" altLang="ja-JP" sz="2000" dirty="0">
                <a:solidFill>
                  <a:srgbClr val="464646"/>
                </a:solidFill>
              </a:rPr>
              <a:t>LSI</a:t>
            </a:r>
            <a:r>
              <a:rPr lang="ja-JP" altLang="en-US" sz="2000" dirty="0">
                <a:solidFill>
                  <a:srgbClr val="464646"/>
                </a:solidFill>
              </a:rPr>
              <a:t>としては現役。</a:t>
            </a:r>
            <a:endParaRPr lang="en-US" altLang="ja-JP" sz="2000" dirty="0">
              <a:solidFill>
                <a:srgbClr val="464646"/>
              </a:solidFill>
            </a:endParaRPr>
          </a:p>
        </p:txBody>
      </p:sp>
      <p:sp>
        <p:nvSpPr>
          <p:cNvPr id="8" name="テキスト ボックス 7">
            <a:extLst>
              <a:ext uri="{FF2B5EF4-FFF2-40B4-BE49-F238E27FC236}">
                <a16:creationId xmlns:a16="http://schemas.microsoft.com/office/drawing/2014/main" id="{26336CF3-3D49-577A-6559-D865DAFC2EB1}"/>
              </a:ext>
            </a:extLst>
          </p:cNvPr>
          <p:cNvSpPr txBox="1"/>
          <p:nvPr/>
        </p:nvSpPr>
        <p:spPr>
          <a:xfrm>
            <a:off x="0" y="5920903"/>
            <a:ext cx="10537133" cy="646331"/>
          </a:xfrm>
          <a:prstGeom prst="rect">
            <a:avLst/>
          </a:prstGeom>
          <a:noFill/>
        </p:spPr>
        <p:txBody>
          <a:bodyPr wrap="square">
            <a:spAutoFit/>
          </a:bodyPr>
          <a:lstStyle/>
          <a:p>
            <a:r>
              <a:rPr lang="en-US" altLang="ja-JP" dirty="0"/>
              <a:t>https://commons.wikimedia.org/wiki/File:Multigate_models.png</a:t>
            </a:r>
          </a:p>
          <a:p>
            <a:r>
              <a:rPr lang="en-US" altLang="ja-JP" dirty="0"/>
              <a:t>https://commons.wikimedia.org/wiki/File:MOS-FET_gate_model_(n-channel)_E.PNG</a:t>
            </a:r>
            <a:endParaRPr lang="ja-JP" altLang="en-US" dirty="0"/>
          </a:p>
        </p:txBody>
      </p:sp>
      <p:pic>
        <p:nvPicPr>
          <p:cNvPr id="17" name="図 16">
            <a:extLst>
              <a:ext uri="{FF2B5EF4-FFF2-40B4-BE49-F238E27FC236}">
                <a16:creationId xmlns:a16="http://schemas.microsoft.com/office/drawing/2014/main" id="{A2351A5A-1E72-FB83-4937-7473E56CD875}"/>
              </a:ext>
            </a:extLst>
          </p:cNvPr>
          <p:cNvPicPr>
            <a:picLocks noChangeAspect="1"/>
          </p:cNvPicPr>
          <p:nvPr/>
        </p:nvPicPr>
        <p:blipFill>
          <a:blip r:embed="rId3"/>
          <a:stretch>
            <a:fillRect/>
          </a:stretch>
        </p:blipFill>
        <p:spPr>
          <a:xfrm>
            <a:off x="8681940" y="4249684"/>
            <a:ext cx="2608845" cy="1622375"/>
          </a:xfrm>
          <a:prstGeom prst="rect">
            <a:avLst/>
          </a:prstGeom>
        </p:spPr>
      </p:pic>
      <p:sp>
        <p:nvSpPr>
          <p:cNvPr id="18" name="テキスト ボックス 17">
            <a:extLst>
              <a:ext uri="{FF2B5EF4-FFF2-40B4-BE49-F238E27FC236}">
                <a16:creationId xmlns:a16="http://schemas.microsoft.com/office/drawing/2014/main" id="{93108EB4-A51D-1906-F0E7-6DEB46AD5C99}"/>
              </a:ext>
            </a:extLst>
          </p:cNvPr>
          <p:cNvSpPr txBox="1"/>
          <p:nvPr/>
        </p:nvSpPr>
        <p:spPr>
          <a:xfrm>
            <a:off x="8808463" y="3579248"/>
            <a:ext cx="2355798" cy="369332"/>
          </a:xfrm>
          <a:prstGeom prst="rect">
            <a:avLst/>
          </a:prstGeom>
          <a:noFill/>
        </p:spPr>
        <p:txBody>
          <a:bodyPr wrap="square">
            <a:spAutoFit/>
          </a:bodyPr>
          <a:lstStyle/>
          <a:p>
            <a:pPr algn="ctr"/>
            <a:r>
              <a:rPr lang="en-US" altLang="ja-JP" dirty="0"/>
              <a:t>Planar FET  (~20nm)</a:t>
            </a:r>
          </a:p>
        </p:txBody>
      </p:sp>
      <p:sp>
        <p:nvSpPr>
          <p:cNvPr id="19" name="テキスト ボックス 18">
            <a:extLst>
              <a:ext uri="{FF2B5EF4-FFF2-40B4-BE49-F238E27FC236}">
                <a16:creationId xmlns:a16="http://schemas.microsoft.com/office/drawing/2014/main" id="{D3D8EAE8-01B1-D879-684E-80BD1F141EC7}"/>
              </a:ext>
            </a:extLst>
          </p:cNvPr>
          <p:cNvSpPr txBox="1"/>
          <p:nvPr/>
        </p:nvSpPr>
        <p:spPr>
          <a:xfrm>
            <a:off x="8618925" y="5881044"/>
            <a:ext cx="2608845" cy="369332"/>
          </a:xfrm>
          <a:prstGeom prst="rect">
            <a:avLst/>
          </a:prstGeom>
          <a:noFill/>
        </p:spPr>
        <p:txBody>
          <a:bodyPr wrap="square">
            <a:spAutoFit/>
          </a:bodyPr>
          <a:lstStyle/>
          <a:p>
            <a:pPr algn="ctr"/>
            <a:r>
              <a:rPr lang="en-US" altLang="ja-JP" dirty="0"/>
              <a:t>FinFET (16nm ~ 7nm)</a:t>
            </a:r>
          </a:p>
        </p:txBody>
      </p:sp>
    </p:spTree>
    <p:extLst>
      <p:ext uri="{BB962C8B-B14F-4D97-AF65-F5344CB8AC3E}">
        <p14:creationId xmlns:p14="http://schemas.microsoft.com/office/powerpoint/2010/main" val="3117063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1CF987-02FD-A720-2907-BC7FBA2767D7}"/>
              </a:ext>
            </a:extLst>
          </p:cNvPr>
          <p:cNvSpPr>
            <a:spLocks noGrp="1"/>
          </p:cNvSpPr>
          <p:nvPr>
            <p:ph type="title"/>
          </p:nvPr>
        </p:nvSpPr>
        <p:spPr/>
        <p:txBody>
          <a:bodyPr/>
          <a:lstStyle/>
          <a:p>
            <a:r>
              <a:rPr kumimoji="1" lang="ja-JP" altLang="en-US" dirty="0"/>
              <a:t>プレーナ型</a:t>
            </a:r>
            <a:r>
              <a:rPr kumimoji="1" lang="en-US" altLang="ja-JP" dirty="0"/>
              <a:t>FET</a:t>
            </a:r>
            <a:r>
              <a:rPr kumimoji="1" lang="ja-JP" altLang="en-US" dirty="0"/>
              <a:t>プロセスで作れる素子</a:t>
            </a:r>
          </a:p>
        </p:txBody>
      </p:sp>
      <p:sp>
        <p:nvSpPr>
          <p:cNvPr id="3" name="日付プレースホルダー 2">
            <a:extLst>
              <a:ext uri="{FF2B5EF4-FFF2-40B4-BE49-F238E27FC236}">
                <a16:creationId xmlns:a16="http://schemas.microsoft.com/office/drawing/2014/main" id="{558C7535-D012-1B4F-3BEB-88F8B38CF3E5}"/>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DEEB5EB3-9706-AF40-FD5F-D7F8D36A2C7C}"/>
              </a:ext>
            </a:extLst>
          </p:cNvPr>
          <p:cNvSpPr>
            <a:spLocks noGrp="1"/>
          </p:cNvSpPr>
          <p:nvPr>
            <p:ph type="sldNum" sz="quarter" idx="12"/>
          </p:nvPr>
        </p:nvSpPr>
        <p:spPr/>
        <p:txBody>
          <a:bodyPr/>
          <a:lstStyle/>
          <a:p>
            <a:pPr rtl="0"/>
            <a:fld id="{9860EDB8-5305-433F-BE41-D7A86D811DB3}" type="slidenum">
              <a:rPr lang="en-US" altLang="ja-JP" noProof="0" smtClean="0"/>
              <a:pPr rtl="0"/>
              <a:t>13</a:t>
            </a:fld>
            <a:endParaRPr lang="ja-JP" altLang="en-US" noProof="0"/>
          </a:p>
        </p:txBody>
      </p:sp>
      <p:sp>
        <p:nvSpPr>
          <p:cNvPr id="5" name="コンテンツ プレースホルダー 4">
            <a:extLst>
              <a:ext uri="{FF2B5EF4-FFF2-40B4-BE49-F238E27FC236}">
                <a16:creationId xmlns:a16="http://schemas.microsoft.com/office/drawing/2014/main" id="{D7829C71-4456-C4B2-0FB5-9129B0799F07}"/>
              </a:ext>
            </a:extLst>
          </p:cNvPr>
          <p:cNvSpPr>
            <a:spLocks noGrp="1"/>
          </p:cNvSpPr>
          <p:nvPr>
            <p:ph sz="quarter" idx="13"/>
          </p:nvPr>
        </p:nvSpPr>
        <p:spPr>
          <a:xfrm>
            <a:off x="444500" y="1463039"/>
            <a:ext cx="11210543" cy="4964351"/>
          </a:xfrm>
        </p:spPr>
        <p:txBody>
          <a:bodyPr>
            <a:normAutofit/>
          </a:bodyPr>
          <a:lstStyle/>
          <a:p>
            <a:pPr marL="285750" indent="-285750">
              <a:buFont typeface="Arial" panose="020B0604020202020204" pitchFamily="34" charset="0"/>
              <a:buChar char="•"/>
            </a:pPr>
            <a:r>
              <a:rPr kumimoji="1" lang="ja-JP" altLang="en-US" sz="2000" dirty="0"/>
              <a:t>プレーナ</a:t>
            </a:r>
            <a:r>
              <a:rPr kumimoji="1" lang="en-US" altLang="ja-JP" sz="2000" dirty="0"/>
              <a:t>MOSFET:</a:t>
            </a:r>
            <a:r>
              <a:rPr lang="ja-JP" altLang="en-US" sz="2000" dirty="0"/>
              <a:t> </a:t>
            </a:r>
            <a:r>
              <a:rPr kumimoji="1" lang="en-US" altLang="ja-JP" sz="2000" b="1" u="sng" dirty="0">
                <a:solidFill>
                  <a:srgbClr val="FF0000"/>
                </a:solidFill>
              </a:rPr>
              <a:t>PMOS</a:t>
            </a:r>
            <a:r>
              <a:rPr kumimoji="1" lang="en-US" altLang="ja-JP" sz="2000" dirty="0"/>
              <a:t>, </a:t>
            </a:r>
            <a:r>
              <a:rPr kumimoji="1" lang="en-US" altLang="ja-JP" sz="2000" b="1" u="sng" dirty="0">
                <a:solidFill>
                  <a:srgbClr val="FF0000"/>
                </a:solidFill>
              </a:rPr>
              <a:t>NMOS</a:t>
            </a:r>
          </a:p>
          <a:p>
            <a:pPr marL="569214" lvl="1" indent="-285750"/>
            <a:r>
              <a:rPr lang="ja-JP" altLang="en-US" sz="2000" dirty="0"/>
              <a:t>耐圧により種類があることがある：</a:t>
            </a:r>
            <a:r>
              <a:rPr lang="en-US" altLang="ja-JP" sz="2000" dirty="0">
                <a:solidFill>
                  <a:srgbClr val="FF0000"/>
                </a:solidFill>
              </a:rPr>
              <a:t>1.8V, 3.3V</a:t>
            </a:r>
            <a:r>
              <a:rPr lang="ja-JP" altLang="en-US" sz="2000" dirty="0">
                <a:solidFill>
                  <a:srgbClr val="FF0000"/>
                </a:solidFill>
              </a:rPr>
              <a:t> </a:t>
            </a:r>
            <a:r>
              <a:rPr lang="en-US" altLang="ja-JP" sz="2000" dirty="0">
                <a:solidFill>
                  <a:srgbClr val="FF0000"/>
                </a:solidFill>
              </a:rPr>
              <a:t>5.0V</a:t>
            </a:r>
            <a:r>
              <a:rPr lang="en-US" altLang="ja-JP" sz="2000" dirty="0"/>
              <a:t>,</a:t>
            </a:r>
            <a:r>
              <a:rPr lang="ja-JP" altLang="en-US" sz="2000" dirty="0"/>
              <a:t> </a:t>
            </a:r>
            <a:r>
              <a:rPr lang="en-US" altLang="ja-JP" sz="2000" dirty="0"/>
              <a:t>10.5V,</a:t>
            </a:r>
            <a:r>
              <a:rPr lang="ja-JP" altLang="en-US" sz="2000" dirty="0"/>
              <a:t> </a:t>
            </a:r>
            <a:r>
              <a:rPr lang="en-US" altLang="ja-JP" sz="2000" dirty="0"/>
              <a:t>16V,</a:t>
            </a:r>
            <a:r>
              <a:rPr lang="ja-JP" altLang="en-US" sz="2000" dirty="0"/>
              <a:t> </a:t>
            </a:r>
            <a:r>
              <a:rPr lang="en-US" altLang="ja-JP" sz="2000" dirty="0"/>
              <a:t>20V</a:t>
            </a:r>
            <a:r>
              <a:rPr lang="ja-JP" altLang="en-US" sz="2000" dirty="0"/>
              <a:t> など</a:t>
            </a:r>
            <a:endParaRPr lang="en-US" altLang="ja-JP" sz="2000" dirty="0"/>
          </a:p>
          <a:p>
            <a:pPr marL="342900" indent="-342900">
              <a:buFont typeface="Arial" panose="020B0604020202020204" pitchFamily="34" charset="0"/>
              <a:buChar char="•"/>
            </a:pPr>
            <a:r>
              <a:rPr kumimoji="1" lang="ja-JP" altLang="en-US" sz="2000" dirty="0">
                <a:solidFill>
                  <a:srgbClr val="FF0000"/>
                </a:solidFill>
              </a:rPr>
              <a:t>ダイオード</a:t>
            </a:r>
            <a:endParaRPr kumimoji="1" lang="en-US" altLang="ja-JP" sz="2000" dirty="0">
              <a:solidFill>
                <a:srgbClr val="FF0000"/>
              </a:solidFill>
            </a:endParaRPr>
          </a:p>
          <a:p>
            <a:pPr marL="342900" indent="-342900">
              <a:buFont typeface="Arial" panose="020B0604020202020204" pitchFamily="34" charset="0"/>
              <a:buChar char="•"/>
            </a:pPr>
            <a:r>
              <a:rPr lang="ja-JP" altLang="en-US" sz="2000" dirty="0"/>
              <a:t>抵抗</a:t>
            </a:r>
            <a:r>
              <a:rPr lang="en-US" altLang="ja-JP" sz="2000" dirty="0"/>
              <a:t>: </a:t>
            </a:r>
            <a:r>
              <a:rPr kumimoji="1" lang="ja-JP" altLang="en-US" sz="2000" dirty="0">
                <a:solidFill>
                  <a:srgbClr val="FF0000"/>
                </a:solidFill>
              </a:rPr>
              <a:t>ポリ抵抗</a:t>
            </a:r>
            <a:r>
              <a:rPr kumimoji="1" lang="ja-JP" altLang="en-US" sz="2000" dirty="0"/>
              <a:t>，</a:t>
            </a:r>
            <a:r>
              <a:rPr kumimoji="1" lang="ja-JP" altLang="en-US" sz="2000" dirty="0">
                <a:solidFill>
                  <a:srgbClr val="FF0000"/>
                </a:solidFill>
              </a:rPr>
              <a:t>拡散層抵抗（アクティブ抵抗），</a:t>
            </a:r>
            <a:r>
              <a:rPr kumimoji="1" lang="en-US" altLang="ja-JP" sz="2000" dirty="0" err="1">
                <a:solidFill>
                  <a:srgbClr val="FF0000"/>
                </a:solidFill>
              </a:rPr>
              <a:t>Nwell</a:t>
            </a:r>
            <a:r>
              <a:rPr lang="ja-JP" altLang="en-US" sz="2000" dirty="0">
                <a:solidFill>
                  <a:srgbClr val="FF0000"/>
                </a:solidFill>
              </a:rPr>
              <a:t>抵抗</a:t>
            </a:r>
            <a:endParaRPr kumimoji="1" lang="en-US" altLang="ja-JP" sz="2000" dirty="0">
              <a:solidFill>
                <a:srgbClr val="FF0000"/>
              </a:solidFill>
            </a:endParaRPr>
          </a:p>
          <a:p>
            <a:pPr marL="342900" indent="-342900">
              <a:buFont typeface="Arial" panose="020B0604020202020204" pitchFamily="34" charset="0"/>
              <a:buChar char="•"/>
            </a:pPr>
            <a:r>
              <a:rPr kumimoji="1" lang="ja-JP" altLang="en-US" sz="2000" dirty="0"/>
              <a:t>キャパシタ</a:t>
            </a:r>
            <a:r>
              <a:rPr kumimoji="1" lang="en-US" altLang="ja-JP" sz="2000" dirty="0"/>
              <a:t>: </a:t>
            </a:r>
            <a:r>
              <a:rPr lang="ja-JP" altLang="en-US" sz="2000" dirty="0">
                <a:solidFill>
                  <a:srgbClr val="FF0000"/>
                </a:solidFill>
              </a:rPr>
              <a:t>ポリ容量</a:t>
            </a:r>
            <a:r>
              <a:rPr lang="ja-JP" altLang="en-US" sz="2000" dirty="0"/>
              <a:t>，</a:t>
            </a:r>
            <a:r>
              <a:rPr lang="ja-JP" altLang="en-US" sz="2000" dirty="0">
                <a:solidFill>
                  <a:srgbClr val="FF0000"/>
                </a:solidFill>
              </a:rPr>
              <a:t>拡散層容量</a:t>
            </a:r>
            <a:r>
              <a:rPr lang="en-US" altLang="ja-JP" sz="2000" dirty="0">
                <a:solidFill>
                  <a:srgbClr val="FF0000"/>
                </a:solidFill>
              </a:rPr>
              <a:t>, MIMCAP </a:t>
            </a:r>
            <a:r>
              <a:rPr lang="en-US" altLang="ja-JP" sz="2000" dirty="0"/>
              <a:t>(</a:t>
            </a:r>
            <a:r>
              <a:rPr lang="ja-JP" altLang="en-US" sz="2000" dirty="0"/>
              <a:t>プロセスによっては無い</a:t>
            </a:r>
            <a:r>
              <a:rPr lang="en-US" altLang="ja-JP" sz="2000" dirty="0"/>
              <a:t>), </a:t>
            </a:r>
            <a:r>
              <a:rPr lang="ja-JP" altLang="en-US" sz="2000" dirty="0">
                <a:solidFill>
                  <a:srgbClr val="FF0000"/>
                </a:solidFill>
              </a:rPr>
              <a:t>配線層の寄生容量</a:t>
            </a:r>
            <a:endParaRPr lang="en-US" altLang="ja-JP" sz="2000" dirty="0">
              <a:solidFill>
                <a:srgbClr val="FF0000"/>
              </a:solidFill>
            </a:endParaRPr>
          </a:p>
          <a:p>
            <a:pPr marL="342900" indent="-342900">
              <a:buFont typeface="Arial" panose="020B0604020202020204" pitchFamily="34" charset="0"/>
              <a:buChar char="•"/>
            </a:pPr>
            <a:r>
              <a:rPr lang="ja-JP" altLang="en-US" sz="2000" dirty="0">
                <a:solidFill>
                  <a:srgbClr val="FF0000"/>
                </a:solidFill>
              </a:rPr>
              <a:t>バラクタダイオード</a:t>
            </a:r>
            <a:r>
              <a:rPr lang="en-US" altLang="ja-JP" sz="2000" dirty="0"/>
              <a:t>: </a:t>
            </a:r>
            <a:r>
              <a:rPr lang="ja-JP" altLang="en-US" sz="2000" dirty="0"/>
              <a:t>プロセスによっては無い</a:t>
            </a:r>
            <a:endParaRPr lang="en-US" altLang="ja-JP" sz="2000" dirty="0"/>
          </a:p>
          <a:p>
            <a:pPr marL="342900" indent="-342900">
              <a:buFont typeface="Arial" panose="020B0604020202020204" pitchFamily="34" charset="0"/>
              <a:buChar char="•"/>
            </a:pPr>
            <a:r>
              <a:rPr lang="ja-JP" altLang="en-US" sz="2000" dirty="0">
                <a:solidFill>
                  <a:srgbClr val="FF0000"/>
                </a:solidFill>
              </a:rPr>
              <a:t>ラテラルバイポーラ </a:t>
            </a:r>
            <a:r>
              <a:rPr lang="en-US" altLang="ja-JP" sz="2000" dirty="0">
                <a:solidFill>
                  <a:srgbClr val="FF0000"/>
                </a:solidFill>
              </a:rPr>
              <a:t>(PNP, NPN)</a:t>
            </a:r>
            <a:r>
              <a:rPr lang="ja-JP" altLang="en-US" sz="2000" dirty="0">
                <a:solidFill>
                  <a:srgbClr val="FF0000"/>
                </a:solidFill>
              </a:rPr>
              <a:t> </a:t>
            </a:r>
            <a:r>
              <a:rPr lang="en-US" altLang="ja-JP" sz="2000" dirty="0"/>
              <a:t>:</a:t>
            </a:r>
            <a:r>
              <a:rPr lang="ja-JP" altLang="en-US" sz="2000" dirty="0"/>
              <a:t> プロセスによっては無い</a:t>
            </a:r>
            <a:endParaRPr kumimoji="1" lang="en-US" altLang="ja-JP" dirty="0"/>
          </a:p>
          <a:p>
            <a:pPr marL="285750" indent="-285750">
              <a:buFont typeface="Arial" panose="020B0604020202020204" pitchFamily="34" charset="0"/>
              <a:buChar char="•"/>
            </a:pPr>
            <a:endParaRPr kumimoji="1" lang="ja-JP" altLang="en-US" sz="2000" dirty="0"/>
          </a:p>
        </p:txBody>
      </p:sp>
    </p:spTree>
    <p:extLst>
      <p:ext uri="{BB962C8B-B14F-4D97-AF65-F5344CB8AC3E}">
        <p14:creationId xmlns:p14="http://schemas.microsoft.com/office/powerpoint/2010/main" val="1733288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216186-FD63-86FF-E554-D77052002A19}"/>
              </a:ext>
            </a:extLst>
          </p:cNvPr>
          <p:cNvSpPr>
            <a:spLocks noGrp="1"/>
          </p:cNvSpPr>
          <p:nvPr>
            <p:ph type="title"/>
          </p:nvPr>
        </p:nvSpPr>
        <p:spPr/>
        <p:txBody>
          <a:bodyPr/>
          <a:lstStyle/>
          <a:p>
            <a:r>
              <a:rPr kumimoji="1" lang="en-US" altLang="ja-JP" dirty="0"/>
              <a:t>PMOS, NMOS</a:t>
            </a:r>
            <a:r>
              <a:rPr lang="ja-JP" altLang="en-US" dirty="0"/>
              <a:t>とは</a:t>
            </a:r>
            <a:endParaRPr kumimoji="1" lang="ja-JP" altLang="en-US" dirty="0"/>
          </a:p>
        </p:txBody>
      </p:sp>
      <p:sp>
        <p:nvSpPr>
          <p:cNvPr id="3" name="日付プレースホルダー 2">
            <a:extLst>
              <a:ext uri="{FF2B5EF4-FFF2-40B4-BE49-F238E27FC236}">
                <a16:creationId xmlns:a16="http://schemas.microsoft.com/office/drawing/2014/main" id="{A96EE5DE-66CB-8B81-3304-160475A8830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8EA93FF-58FD-40C1-E2AC-91650BB5DD92}"/>
              </a:ext>
            </a:extLst>
          </p:cNvPr>
          <p:cNvSpPr>
            <a:spLocks noGrp="1"/>
          </p:cNvSpPr>
          <p:nvPr>
            <p:ph type="sldNum" sz="quarter" idx="12"/>
          </p:nvPr>
        </p:nvSpPr>
        <p:spPr/>
        <p:txBody>
          <a:bodyPr/>
          <a:lstStyle/>
          <a:p>
            <a:pPr rtl="0"/>
            <a:fld id="{9860EDB8-5305-433F-BE41-D7A86D811DB3}" type="slidenum">
              <a:rPr lang="en-US" altLang="ja-JP" noProof="0" smtClean="0"/>
              <a:pPr rtl="0"/>
              <a:t>14</a:t>
            </a:fld>
            <a:endParaRPr lang="ja-JP" altLang="en-US" noProof="0"/>
          </a:p>
        </p:txBody>
      </p:sp>
      <p:sp>
        <p:nvSpPr>
          <p:cNvPr id="5" name="コンテンツ プレースホルダー 4">
            <a:extLst>
              <a:ext uri="{FF2B5EF4-FFF2-40B4-BE49-F238E27FC236}">
                <a16:creationId xmlns:a16="http://schemas.microsoft.com/office/drawing/2014/main" id="{758F4885-BCE8-EA32-EE04-0B89768C02F4}"/>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2000" dirty="0"/>
              <a:t>可変抵抗（ボリューム）に似ている</a:t>
            </a:r>
            <a:endParaRPr lang="en-US" altLang="ja-JP" sz="2000" dirty="0"/>
          </a:p>
          <a:p>
            <a:pPr marL="569214" lvl="1" indent="-285750"/>
            <a:r>
              <a:rPr kumimoji="1" lang="en-US" altLang="ja-JP" sz="2000" dirty="0"/>
              <a:t>0Ω</a:t>
            </a:r>
            <a:r>
              <a:rPr kumimoji="1" lang="ja-JP" altLang="en-US" sz="2000" dirty="0"/>
              <a:t>から摺動子</a:t>
            </a:r>
            <a:r>
              <a:rPr kumimoji="1" lang="en-US" altLang="ja-JP" sz="2000" dirty="0"/>
              <a:t>(</a:t>
            </a:r>
            <a:r>
              <a:rPr kumimoji="1" lang="ja-JP" altLang="en-US" sz="2000" dirty="0"/>
              <a:t>ツマミ</a:t>
            </a:r>
            <a:r>
              <a:rPr kumimoji="1" lang="en-US" altLang="ja-JP" sz="2000" dirty="0"/>
              <a:t>)</a:t>
            </a:r>
            <a:r>
              <a:rPr kumimoji="1" lang="ja-JP" altLang="en-US" sz="2000" dirty="0"/>
              <a:t>を回すと、抵抗値が増加する</a:t>
            </a:r>
            <a:endParaRPr kumimoji="1" lang="en-US" altLang="ja-JP" sz="2000" dirty="0"/>
          </a:p>
          <a:p>
            <a:pPr marL="569214" lvl="1" indent="-285750"/>
            <a:r>
              <a:rPr lang="ja-JP" altLang="en-US" sz="2000" dirty="0"/>
              <a:t>スペックでは最大抵抗値とカーブが記載</a:t>
            </a:r>
            <a:endParaRPr lang="en-US" altLang="ja-JP" sz="2000" dirty="0"/>
          </a:p>
          <a:p>
            <a:pPr marL="569214" lvl="1" indent="-285750"/>
            <a:r>
              <a:rPr lang="ja-JP" altLang="en-US" sz="2000" dirty="0"/>
              <a:t>抵抗値の増え方にバリエーションがある（カーブ）</a:t>
            </a:r>
            <a:endParaRPr lang="en-US" altLang="ja-JP" sz="2000" dirty="0"/>
          </a:p>
          <a:p>
            <a:pPr marL="342900" indent="-342900">
              <a:buFont typeface="Arial" panose="020B0604020202020204" pitchFamily="34" charset="0"/>
              <a:buChar char="•"/>
            </a:pPr>
            <a:endParaRPr kumimoji="1" lang="ja-JP" altLang="en-US" sz="2000" dirty="0"/>
          </a:p>
        </p:txBody>
      </p:sp>
      <p:pic>
        <p:nvPicPr>
          <p:cNvPr id="6" name="図 5">
            <a:extLst>
              <a:ext uri="{FF2B5EF4-FFF2-40B4-BE49-F238E27FC236}">
                <a16:creationId xmlns:a16="http://schemas.microsoft.com/office/drawing/2014/main" id="{538FAE19-4FD8-EC9D-C0CF-2E1D2F5C85C0}"/>
              </a:ext>
            </a:extLst>
          </p:cNvPr>
          <p:cNvPicPr>
            <a:picLocks noChangeAspect="1"/>
          </p:cNvPicPr>
          <p:nvPr/>
        </p:nvPicPr>
        <p:blipFill>
          <a:blip r:embed="rId2"/>
          <a:stretch>
            <a:fillRect/>
          </a:stretch>
        </p:blipFill>
        <p:spPr>
          <a:xfrm>
            <a:off x="6406552" y="1286320"/>
            <a:ext cx="3048000" cy="2286000"/>
          </a:xfrm>
          <a:prstGeom prst="rect">
            <a:avLst/>
          </a:prstGeom>
        </p:spPr>
      </p:pic>
      <p:pic>
        <p:nvPicPr>
          <p:cNvPr id="7" name="図 6">
            <a:extLst>
              <a:ext uri="{FF2B5EF4-FFF2-40B4-BE49-F238E27FC236}">
                <a16:creationId xmlns:a16="http://schemas.microsoft.com/office/drawing/2014/main" id="{D80F3AAF-6187-6F3D-3A9C-F1BD234E7B67}"/>
              </a:ext>
            </a:extLst>
          </p:cNvPr>
          <p:cNvPicPr>
            <a:picLocks noChangeAspect="1"/>
          </p:cNvPicPr>
          <p:nvPr/>
        </p:nvPicPr>
        <p:blipFill>
          <a:blip r:embed="rId3"/>
          <a:stretch>
            <a:fillRect/>
          </a:stretch>
        </p:blipFill>
        <p:spPr>
          <a:xfrm>
            <a:off x="9369067" y="1358198"/>
            <a:ext cx="2606154" cy="2397050"/>
          </a:xfrm>
          <a:prstGeom prst="rect">
            <a:avLst/>
          </a:prstGeom>
        </p:spPr>
      </p:pic>
    </p:spTree>
    <p:extLst>
      <p:ext uri="{BB962C8B-B14F-4D97-AF65-F5344CB8AC3E}">
        <p14:creationId xmlns:p14="http://schemas.microsoft.com/office/powerpoint/2010/main" val="2340219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8324AB-109E-62BC-B44A-BB3D1C1C6849}"/>
              </a:ext>
            </a:extLst>
          </p:cNvPr>
          <p:cNvSpPr>
            <a:spLocks noGrp="1"/>
          </p:cNvSpPr>
          <p:nvPr>
            <p:ph type="title"/>
          </p:nvPr>
        </p:nvSpPr>
        <p:spPr/>
        <p:txBody>
          <a:bodyPr/>
          <a:lstStyle/>
          <a:p>
            <a:r>
              <a:rPr kumimoji="1" lang="en-US" altLang="ja-JP" dirty="0"/>
              <a:t>PMOS, NMOS</a:t>
            </a:r>
            <a:r>
              <a:rPr lang="ja-JP" altLang="en-US" dirty="0"/>
              <a:t>とは</a:t>
            </a:r>
            <a:endParaRPr kumimoji="1" lang="ja-JP" altLang="en-US" dirty="0"/>
          </a:p>
        </p:txBody>
      </p:sp>
      <p:sp>
        <p:nvSpPr>
          <p:cNvPr id="3" name="日付プレースホルダー 2">
            <a:extLst>
              <a:ext uri="{FF2B5EF4-FFF2-40B4-BE49-F238E27FC236}">
                <a16:creationId xmlns:a16="http://schemas.microsoft.com/office/drawing/2014/main" id="{B17F9F4B-05EE-D638-141D-2E805C70F100}"/>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7F3AEA3-2538-A296-7414-59B5F2FB1914}"/>
              </a:ext>
            </a:extLst>
          </p:cNvPr>
          <p:cNvSpPr>
            <a:spLocks noGrp="1"/>
          </p:cNvSpPr>
          <p:nvPr>
            <p:ph type="sldNum" sz="quarter" idx="12"/>
          </p:nvPr>
        </p:nvSpPr>
        <p:spPr/>
        <p:txBody>
          <a:bodyPr/>
          <a:lstStyle/>
          <a:p>
            <a:pPr rtl="0"/>
            <a:fld id="{9860EDB8-5305-433F-BE41-D7A86D811DB3}" type="slidenum">
              <a:rPr lang="en-US" altLang="ja-JP" noProof="0" smtClean="0"/>
              <a:pPr rtl="0"/>
              <a:t>15</a:t>
            </a:fld>
            <a:endParaRPr lang="ja-JP" altLang="en-US" noProof="0"/>
          </a:p>
        </p:txBody>
      </p:sp>
      <mc:AlternateContent xmlns:mc="http://schemas.openxmlformats.org/markup-compatibility/2006" xmlns:a14="http://schemas.microsoft.com/office/drawing/2010/main">
        <mc:Choice Requires="a14">
          <p:sp>
            <p:nvSpPr>
              <p:cNvPr id="5" name="コンテンツ プレースホルダー 4">
                <a:extLst>
                  <a:ext uri="{FF2B5EF4-FFF2-40B4-BE49-F238E27FC236}">
                    <a16:creationId xmlns:a16="http://schemas.microsoft.com/office/drawing/2014/main" id="{4A26C06E-4AC0-2A1C-73DE-56C4A126F44D}"/>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altLang="ja-JP" sz="2000" dirty="0"/>
                  <a:t>MOSFET</a:t>
                </a:r>
                <a:r>
                  <a:rPr lang="ja-JP" altLang="en-US" sz="2000" dirty="0"/>
                  <a:t>は電流をベースにして考える（抵抗値に置き換えて考える事は基本的にない）</a:t>
                </a:r>
                <a:endParaRPr kumimoji="1" lang="en-US" altLang="ja-JP" sz="2000" dirty="0"/>
              </a:p>
              <a:p>
                <a:pPr marL="342900" indent="-342900">
                  <a:buFont typeface="Arial" panose="020B0604020202020204" pitchFamily="34" charset="0"/>
                  <a:buChar char="•"/>
                </a:pPr>
                <a:r>
                  <a:rPr kumimoji="1" lang="en-US" altLang="ja-JP" sz="2000" dirty="0"/>
                  <a:t>MOSFET</a:t>
                </a:r>
                <a:r>
                  <a:rPr kumimoji="1" lang="ja-JP" altLang="en-US" sz="2000" dirty="0"/>
                  <a:t>は可変抵抗の逆</a:t>
                </a:r>
                <a:endParaRPr kumimoji="1" lang="en-US" altLang="ja-JP" sz="2000" dirty="0"/>
              </a:p>
              <a:p>
                <a:pPr marL="626364" lvl="1" indent="-342900"/>
                <a:r>
                  <a:rPr lang="ja-JP" altLang="en-US" sz="2000" dirty="0"/>
                  <a:t>摺動子（ツマミ）ではなくゲート電圧</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𝑉</m:t>
                        </m:r>
                      </m:e>
                      <m:sub>
                        <m:r>
                          <a:rPr lang="en-US" altLang="ja-JP" sz="2000" b="0" i="1" smtClean="0">
                            <a:latin typeface="Cambria Math" panose="02040503050406030204" pitchFamily="18" charset="0"/>
                          </a:rPr>
                          <m:t>𝐺𝑆</m:t>
                        </m:r>
                      </m:sub>
                    </m:sSub>
                  </m:oMath>
                </a14:m>
                <a:r>
                  <a:rPr lang="ja-JP" altLang="en-US" sz="2000" dirty="0"/>
                  <a:t>によってドレインソース間の電流を制御</a:t>
                </a:r>
                <a:endParaRPr lang="en-US" altLang="ja-JP" sz="2000" dirty="0"/>
              </a:p>
              <a:p>
                <a:pPr marL="626364" lvl="1" indent="-342900"/>
                <a:r>
                  <a:rPr lang="ja-JP" altLang="en-US" sz="2000" dirty="0"/>
                  <a:t>∞</a:t>
                </a:r>
                <a:r>
                  <a:rPr lang="en-US" altLang="ja-JP" sz="2000" dirty="0"/>
                  <a:t>Ω</a:t>
                </a:r>
                <a:r>
                  <a:rPr lang="ja-JP" altLang="en-US" sz="2000" dirty="0"/>
                  <a:t>からゲート電圧を調整すると抵抗値減少</a:t>
                </a:r>
                <a:endParaRPr lang="en-US" altLang="ja-JP" sz="2000" dirty="0"/>
              </a:p>
              <a:p>
                <a:pPr marL="626364" lvl="1" indent="-342900"/>
                <a:r>
                  <a:rPr lang="ja-JP" altLang="en-US" sz="2000" dirty="0"/>
                  <a:t>スペックでは電流カーブが記載</a:t>
                </a:r>
                <a:r>
                  <a:rPr lang="en-US" altLang="ja-JP" sz="2000" dirty="0"/>
                  <a:t>(</a:t>
                </a:r>
                <a:r>
                  <a:rPr lang="ja-JP" altLang="en-US" sz="2000" dirty="0"/>
                  <a:t>ドレインソース間電流 </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𝐼</m:t>
                        </m:r>
                      </m:e>
                      <m:sub>
                        <m:r>
                          <a:rPr lang="en-US" altLang="ja-JP" sz="2000" b="0" i="1" smtClean="0">
                            <a:latin typeface="Cambria Math" panose="02040503050406030204" pitchFamily="18" charset="0"/>
                          </a:rPr>
                          <m:t>𝐷𝑆</m:t>
                        </m:r>
                      </m:sub>
                    </m:sSub>
                  </m:oMath>
                </a14:m>
                <a:r>
                  <a:rPr lang="en-US" altLang="ja-JP" sz="2000" dirty="0"/>
                  <a:t>)</a:t>
                </a:r>
              </a:p>
              <a:p>
                <a:pPr marL="1028700" lvl="2" indent="-342900"/>
                <a:r>
                  <a:rPr lang="ja-JP" altLang="en-US" sz="2000" dirty="0"/>
                  <a:t>最小抵抗値は電流カーブから計算 </a:t>
                </a:r>
                <a:r>
                  <a:rPr lang="en-US" altLang="ja-JP" sz="2000" dirty="0"/>
                  <a:t>(</a:t>
                </a:r>
                <a:r>
                  <a:rPr lang="ja-JP" altLang="en-US" sz="2000" dirty="0"/>
                  <a:t>オン抵抗</a:t>
                </a:r>
                <a14:m>
                  <m:oMath xmlns:m="http://schemas.openxmlformats.org/officeDocument/2006/math">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𝑜𝑛</m:t>
                        </m:r>
                      </m:sub>
                    </m:sSub>
                  </m:oMath>
                </a14:m>
                <a:r>
                  <a:rPr lang="ja-JP" altLang="en-US" sz="2000" dirty="0"/>
                  <a:t>）</a:t>
                </a:r>
                <a:endParaRPr lang="en-US" altLang="ja-JP" sz="2000" dirty="0"/>
              </a:p>
              <a:p>
                <a:pPr marL="626364" lvl="1" indent="-342900"/>
                <a:r>
                  <a:rPr lang="ja-JP" altLang="en-US" sz="2000" dirty="0"/>
                  <a:t>抵抗値の増え方はプロセス依存（閾値電圧</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𝑉</m:t>
                        </m:r>
                      </m:e>
                      <m:sub>
                        <m:r>
                          <a:rPr lang="en-US" altLang="ja-JP" sz="2000" b="0" i="1" smtClean="0">
                            <a:latin typeface="Cambria Math" panose="02040503050406030204" pitchFamily="18" charset="0"/>
                          </a:rPr>
                          <m:t>𝑡ℎ</m:t>
                        </m:r>
                      </m:sub>
                    </m:sSub>
                    <m:r>
                      <a:rPr lang="en-US" altLang="ja-JP" sz="2000" b="0" i="1" smtClean="0">
                        <a:latin typeface="Cambria Math" panose="02040503050406030204" pitchFamily="18" charset="0"/>
                      </a:rPr>
                      <m:t> </m:t>
                    </m:r>
                    <m:r>
                      <a:rPr lang="ja-JP" altLang="en-US" sz="2000" i="1">
                        <a:latin typeface="Cambria Math" panose="02040503050406030204" pitchFamily="18" charset="0"/>
                      </a:rPr>
                      <m:t>、</m:t>
                    </m:r>
                    <m:r>
                      <a:rPr lang="ja-JP" altLang="en-US" sz="2000" i="1" smtClean="0">
                        <a:latin typeface="Cambria Math" panose="02040503050406030204" pitchFamily="18" charset="0"/>
                      </a:rPr>
                      <m:t>トランス</m:t>
                    </m:r>
                    <m:r>
                      <a:rPr lang="ja-JP" altLang="en-US" sz="2000" i="1">
                        <a:latin typeface="Cambria Math" panose="02040503050406030204" pitchFamily="18" charset="0"/>
                      </a:rPr>
                      <m:t>コンダクタンス</m:t>
                    </m:r>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𝑔</m:t>
                        </m:r>
                      </m:e>
                      <m:sub>
                        <m:r>
                          <a:rPr lang="en-US" altLang="ja-JP" sz="2000" b="0" i="1" smtClean="0">
                            <a:latin typeface="Cambria Math" panose="02040503050406030204" pitchFamily="18" charset="0"/>
                          </a:rPr>
                          <m:t>𝑚</m:t>
                        </m:r>
                      </m:sub>
                    </m:sSub>
                    <m:r>
                      <a:rPr lang="ja-JP" altLang="en-US" sz="2000" i="1">
                        <a:latin typeface="Cambria Math" panose="02040503050406030204" pitchFamily="18" charset="0"/>
                      </a:rPr>
                      <m:t>）</m:t>
                    </m:r>
                  </m:oMath>
                </a14:m>
                <a:endParaRPr lang="en-US" altLang="ja-JP" sz="2000" dirty="0"/>
              </a:p>
            </p:txBody>
          </p:sp>
        </mc:Choice>
        <mc:Fallback xmlns="">
          <p:sp>
            <p:nvSpPr>
              <p:cNvPr id="5" name="コンテンツ プレースホルダー 4">
                <a:extLst>
                  <a:ext uri="{FF2B5EF4-FFF2-40B4-BE49-F238E27FC236}">
                    <a16:creationId xmlns:a16="http://schemas.microsoft.com/office/drawing/2014/main" id="{4A26C06E-4AC0-2A1C-73DE-56C4A126F44D}"/>
                  </a:ext>
                </a:extLst>
              </p:cNvPr>
              <p:cNvSpPr>
                <a:spLocks noGrp="1" noRot="1" noChangeAspect="1" noMove="1" noResize="1" noEditPoints="1" noAdjustHandles="1" noChangeArrowheads="1" noChangeShapeType="1" noTextEdit="1"/>
              </p:cNvSpPr>
              <p:nvPr>
                <p:ph sz="quarter" idx="13"/>
              </p:nvPr>
            </p:nvSpPr>
            <p:spPr>
              <a:blipFill>
                <a:blip r:embed="rId2"/>
                <a:stretch>
                  <a:fillRect l="-489" t="-662"/>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59BF4A9D-93B7-7D75-094E-BDBBBFD3A005}"/>
              </a:ext>
            </a:extLst>
          </p:cNvPr>
          <p:cNvPicPr>
            <a:picLocks noChangeAspect="1"/>
          </p:cNvPicPr>
          <p:nvPr/>
        </p:nvPicPr>
        <p:blipFill>
          <a:blip r:embed="rId3"/>
          <a:stretch>
            <a:fillRect/>
          </a:stretch>
        </p:blipFill>
        <p:spPr>
          <a:xfrm>
            <a:off x="8981315" y="1874617"/>
            <a:ext cx="2228571" cy="3152381"/>
          </a:xfrm>
          <a:prstGeom prst="rect">
            <a:avLst/>
          </a:prstGeom>
        </p:spPr>
      </p:pic>
    </p:spTree>
    <p:extLst>
      <p:ext uri="{BB962C8B-B14F-4D97-AF65-F5344CB8AC3E}">
        <p14:creationId xmlns:p14="http://schemas.microsoft.com/office/powerpoint/2010/main" val="2904474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5F29A-65FE-1E11-0CF7-8E651F33B6E3}"/>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2242101A-3090-5899-73B2-A30EC6AEE4B0}"/>
              </a:ext>
            </a:extLst>
          </p:cNvPr>
          <p:cNvSpPr/>
          <p:nvPr/>
        </p:nvSpPr>
        <p:spPr>
          <a:xfrm>
            <a:off x="3385127" y="3260436"/>
            <a:ext cx="5421745" cy="1902691"/>
          </a:xfrm>
          <a:prstGeom prst="rect">
            <a:avLst/>
          </a:prstGeom>
          <a:solidFill>
            <a:srgbClr val="FF7C8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8F36D6AC-F496-F139-489C-8359E7E41076}"/>
              </a:ext>
            </a:extLst>
          </p:cNvPr>
          <p:cNvSpPr/>
          <p:nvPr/>
        </p:nvSpPr>
        <p:spPr>
          <a:xfrm>
            <a:off x="7421417" y="3292901"/>
            <a:ext cx="1357745" cy="674256"/>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5" name="四角形: 角を丸くする 4">
            <a:extLst>
              <a:ext uri="{FF2B5EF4-FFF2-40B4-BE49-F238E27FC236}">
                <a16:creationId xmlns:a16="http://schemas.microsoft.com/office/drawing/2014/main" id="{2318E31B-7FEF-292C-5D80-4BAE3BD6E5AF}"/>
              </a:ext>
            </a:extLst>
          </p:cNvPr>
          <p:cNvSpPr/>
          <p:nvPr/>
        </p:nvSpPr>
        <p:spPr>
          <a:xfrm>
            <a:off x="3405236" y="3292901"/>
            <a:ext cx="1357745" cy="674256"/>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 name="タイトル 1">
            <a:extLst>
              <a:ext uri="{FF2B5EF4-FFF2-40B4-BE49-F238E27FC236}">
                <a16:creationId xmlns:a16="http://schemas.microsoft.com/office/drawing/2014/main" id="{E6014764-67CD-1FB8-0671-9D49686801DF}"/>
              </a:ext>
            </a:extLst>
          </p:cNvPr>
          <p:cNvSpPr>
            <a:spLocks noGrp="1"/>
          </p:cNvSpPr>
          <p:nvPr>
            <p:ph type="title"/>
          </p:nvPr>
        </p:nvSpPr>
        <p:spPr/>
        <p:txBody>
          <a:bodyPr/>
          <a:lstStyle/>
          <a:p>
            <a:r>
              <a:rPr kumimoji="1" lang="en-US" altLang="ja-JP" dirty="0"/>
              <a:t>NMOS </a:t>
            </a:r>
            <a:r>
              <a:rPr kumimoji="1" lang="ja-JP" altLang="en-US" dirty="0"/>
              <a:t>簡単な模式図</a:t>
            </a:r>
          </a:p>
        </p:txBody>
      </p:sp>
      <p:sp>
        <p:nvSpPr>
          <p:cNvPr id="4" name="日付プレースホルダー 3">
            <a:extLst>
              <a:ext uri="{FF2B5EF4-FFF2-40B4-BE49-F238E27FC236}">
                <a16:creationId xmlns:a16="http://schemas.microsoft.com/office/drawing/2014/main" id="{CAEAF110-AF01-9051-C0E8-9D6934B8CC60}"/>
              </a:ext>
            </a:extLst>
          </p:cNvPr>
          <p:cNvSpPr>
            <a:spLocks noGrp="1"/>
          </p:cNvSpPr>
          <p:nvPr>
            <p:ph type="dt" sz="half" idx="10"/>
          </p:nvPr>
        </p:nvSpPr>
        <p:spPr/>
        <p:txBody>
          <a:bodyPr/>
          <a:lstStyle/>
          <a:p>
            <a:fld id="{C8D55FC4-4FBB-4061-B0B6-96F0050D7C51}"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A7686CB-176A-3DA9-BFC2-A8DD92894091}"/>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16</a:t>
            </a:fld>
            <a:endParaRPr kumimoji="1" lang="ja-JP" altLang="en-US"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121A277F-865F-F189-B137-AE6002A334B5}"/>
              </a:ext>
            </a:extLst>
          </p:cNvPr>
          <p:cNvSpPr/>
          <p:nvPr/>
        </p:nvSpPr>
        <p:spPr>
          <a:xfrm>
            <a:off x="4371703" y="2752436"/>
            <a:ext cx="3386840"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フリーフォーム: 図形 12">
            <a:extLst>
              <a:ext uri="{FF2B5EF4-FFF2-40B4-BE49-F238E27FC236}">
                <a16:creationId xmlns:a16="http://schemas.microsoft.com/office/drawing/2014/main" id="{AD0A9FC8-5221-9846-1085-F7FE281493F9}"/>
              </a:ext>
            </a:extLst>
          </p:cNvPr>
          <p:cNvSpPr/>
          <p:nvPr/>
        </p:nvSpPr>
        <p:spPr>
          <a:xfrm>
            <a:off x="2540000" y="2567709"/>
            <a:ext cx="1357745" cy="674255"/>
          </a:xfrm>
          <a:custGeom>
            <a:avLst/>
            <a:gdLst>
              <a:gd name="connsiteX0" fmla="*/ 1357745 w 1357745"/>
              <a:gd name="connsiteY0" fmla="*/ 674255 h 674255"/>
              <a:gd name="connsiteX1" fmla="*/ 1320800 w 1357745"/>
              <a:gd name="connsiteY1" fmla="*/ 535709 h 674255"/>
              <a:gd name="connsiteX2" fmla="*/ 1209964 w 1357745"/>
              <a:gd name="connsiteY2" fmla="*/ 350982 h 674255"/>
              <a:gd name="connsiteX3" fmla="*/ 942109 w 1357745"/>
              <a:gd name="connsiteY3" fmla="*/ 147782 h 674255"/>
              <a:gd name="connsiteX4" fmla="*/ 785091 w 1357745"/>
              <a:gd name="connsiteY4" fmla="*/ 73891 h 674255"/>
              <a:gd name="connsiteX5" fmla="*/ 535709 w 1357745"/>
              <a:gd name="connsiteY5" fmla="*/ 18473 h 674255"/>
              <a:gd name="connsiteX6" fmla="*/ 267855 w 1357745"/>
              <a:gd name="connsiteY6" fmla="*/ 0 h 674255"/>
              <a:gd name="connsiteX7" fmla="*/ 0 w 1357745"/>
              <a:gd name="connsiteY7" fmla="*/ 18473 h 6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7745" h="674255">
                <a:moveTo>
                  <a:pt x="1357745" y="674255"/>
                </a:moveTo>
                <a:cubicBezTo>
                  <a:pt x="1347678" y="623920"/>
                  <a:pt x="1341814" y="587076"/>
                  <a:pt x="1320800" y="535709"/>
                </a:cubicBezTo>
                <a:cubicBezTo>
                  <a:pt x="1294534" y="471504"/>
                  <a:pt x="1258174" y="402636"/>
                  <a:pt x="1209964" y="350982"/>
                </a:cubicBezTo>
                <a:cubicBezTo>
                  <a:pt x="1155139" y="292240"/>
                  <a:pt x="971254" y="163974"/>
                  <a:pt x="942109" y="147782"/>
                </a:cubicBezTo>
                <a:cubicBezTo>
                  <a:pt x="872613" y="109173"/>
                  <a:pt x="858267" y="95844"/>
                  <a:pt x="785091" y="73891"/>
                </a:cubicBezTo>
                <a:cubicBezTo>
                  <a:pt x="736467" y="59304"/>
                  <a:pt x="578155" y="23296"/>
                  <a:pt x="535709" y="18473"/>
                </a:cubicBezTo>
                <a:cubicBezTo>
                  <a:pt x="446785" y="8368"/>
                  <a:pt x="267855" y="0"/>
                  <a:pt x="267855" y="0"/>
                </a:cubicBezTo>
                <a:lnTo>
                  <a:pt x="0" y="18473"/>
                </a:ln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フリーフォーム: 図形 14">
            <a:extLst>
              <a:ext uri="{FF2B5EF4-FFF2-40B4-BE49-F238E27FC236}">
                <a16:creationId xmlns:a16="http://schemas.microsoft.com/office/drawing/2014/main" id="{8A52C108-DF64-609B-CDAE-F83A0C6D9AAB}"/>
              </a:ext>
            </a:extLst>
          </p:cNvPr>
          <p:cNvSpPr/>
          <p:nvPr/>
        </p:nvSpPr>
        <p:spPr>
          <a:xfrm>
            <a:off x="8229600" y="2445839"/>
            <a:ext cx="1237673" cy="814597"/>
          </a:xfrm>
          <a:custGeom>
            <a:avLst/>
            <a:gdLst>
              <a:gd name="connsiteX0" fmla="*/ 0 w 1237673"/>
              <a:gd name="connsiteY0" fmla="*/ 814597 h 814597"/>
              <a:gd name="connsiteX1" fmla="*/ 18473 w 1237673"/>
              <a:gd name="connsiteY1" fmla="*/ 676052 h 814597"/>
              <a:gd name="connsiteX2" fmla="*/ 73891 w 1237673"/>
              <a:gd name="connsiteY2" fmla="*/ 519034 h 814597"/>
              <a:gd name="connsiteX3" fmla="*/ 120073 w 1237673"/>
              <a:gd name="connsiteY3" fmla="*/ 445143 h 814597"/>
              <a:gd name="connsiteX4" fmla="*/ 295564 w 1237673"/>
              <a:gd name="connsiteY4" fmla="*/ 251179 h 814597"/>
              <a:gd name="connsiteX5" fmla="*/ 711200 w 1237673"/>
              <a:gd name="connsiteY5" fmla="*/ 66452 h 814597"/>
              <a:gd name="connsiteX6" fmla="*/ 1006764 w 1237673"/>
              <a:gd name="connsiteY6" fmla="*/ 1797 h 814597"/>
              <a:gd name="connsiteX7" fmla="*/ 1237673 w 1237673"/>
              <a:gd name="connsiteY7" fmla="*/ 1797 h 81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673" h="814597">
                <a:moveTo>
                  <a:pt x="0" y="814597"/>
                </a:moveTo>
                <a:cubicBezTo>
                  <a:pt x="6158" y="768415"/>
                  <a:pt x="8971" y="721663"/>
                  <a:pt x="18473" y="676052"/>
                </a:cubicBezTo>
                <a:cubicBezTo>
                  <a:pt x="21303" y="662467"/>
                  <a:pt x="65825" y="535167"/>
                  <a:pt x="73891" y="519034"/>
                </a:cubicBezTo>
                <a:cubicBezTo>
                  <a:pt x="86880" y="493055"/>
                  <a:pt x="103962" y="469310"/>
                  <a:pt x="120073" y="445143"/>
                </a:cubicBezTo>
                <a:cubicBezTo>
                  <a:pt x="169818" y="370526"/>
                  <a:pt x="215237" y="299749"/>
                  <a:pt x="295564" y="251179"/>
                </a:cubicBezTo>
                <a:cubicBezTo>
                  <a:pt x="396694" y="190031"/>
                  <a:pt x="579769" y="106280"/>
                  <a:pt x="711200" y="66452"/>
                </a:cubicBezTo>
                <a:cubicBezTo>
                  <a:pt x="783076" y="44671"/>
                  <a:pt x="922490" y="6233"/>
                  <a:pt x="1006764" y="1797"/>
                </a:cubicBezTo>
                <a:cubicBezTo>
                  <a:pt x="1083627" y="-2248"/>
                  <a:pt x="1160703" y="1797"/>
                  <a:pt x="1237673" y="1797"/>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6" name="フリーフォーム: 図形 15">
            <a:extLst>
              <a:ext uri="{FF2B5EF4-FFF2-40B4-BE49-F238E27FC236}">
                <a16:creationId xmlns:a16="http://schemas.microsoft.com/office/drawing/2014/main" id="{73852FBF-9C4C-8BFA-6485-3A6AFF8C9D3B}"/>
              </a:ext>
            </a:extLst>
          </p:cNvPr>
          <p:cNvSpPr/>
          <p:nvPr/>
        </p:nvSpPr>
        <p:spPr>
          <a:xfrm>
            <a:off x="6096000" y="2198255"/>
            <a:ext cx="92364" cy="591127"/>
          </a:xfrm>
          <a:custGeom>
            <a:avLst/>
            <a:gdLst>
              <a:gd name="connsiteX0" fmla="*/ 0 w 92364"/>
              <a:gd name="connsiteY0" fmla="*/ 591127 h 591127"/>
              <a:gd name="connsiteX1" fmla="*/ 64655 w 92364"/>
              <a:gd name="connsiteY1" fmla="*/ 46181 h 591127"/>
              <a:gd name="connsiteX2" fmla="*/ 92364 w 92364"/>
              <a:gd name="connsiteY2" fmla="*/ 0 h 591127"/>
            </a:gdLst>
            <a:ahLst/>
            <a:cxnLst>
              <a:cxn ang="0">
                <a:pos x="connsiteX0" y="connsiteY0"/>
              </a:cxn>
              <a:cxn ang="0">
                <a:pos x="connsiteX1" y="connsiteY1"/>
              </a:cxn>
              <a:cxn ang="0">
                <a:pos x="connsiteX2" y="connsiteY2"/>
              </a:cxn>
            </a:cxnLst>
            <a:rect l="l" t="t" r="r" b="b"/>
            <a:pathLst>
              <a:path w="92364" h="591127">
                <a:moveTo>
                  <a:pt x="0" y="591127"/>
                </a:moveTo>
                <a:cubicBezTo>
                  <a:pt x="2026" y="552628"/>
                  <a:pt x="2649" y="139193"/>
                  <a:pt x="64655" y="46181"/>
                </a:cubicBezTo>
                <a:cubicBezTo>
                  <a:pt x="86946" y="12744"/>
                  <a:pt x="78162" y="28400"/>
                  <a:pt x="92364" y="0"/>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B918B592-D935-D534-B8F0-0B5CF2371922}"/>
              </a:ext>
            </a:extLst>
          </p:cNvPr>
          <p:cNvSpPr/>
          <p:nvPr/>
        </p:nvSpPr>
        <p:spPr>
          <a:xfrm>
            <a:off x="6068291" y="4904509"/>
            <a:ext cx="258618" cy="803638"/>
          </a:xfrm>
          <a:custGeom>
            <a:avLst/>
            <a:gdLst>
              <a:gd name="connsiteX0" fmla="*/ 18473 w 258618"/>
              <a:gd name="connsiteY0" fmla="*/ 0 h 803638"/>
              <a:gd name="connsiteX1" fmla="*/ 9236 w 258618"/>
              <a:gd name="connsiteY1" fmla="*/ 193964 h 803638"/>
              <a:gd name="connsiteX2" fmla="*/ 0 w 258618"/>
              <a:gd name="connsiteY2" fmla="*/ 286327 h 803638"/>
              <a:gd name="connsiteX3" fmla="*/ 18473 w 258618"/>
              <a:gd name="connsiteY3" fmla="*/ 554182 h 803638"/>
              <a:gd name="connsiteX4" fmla="*/ 46182 w 258618"/>
              <a:gd name="connsiteY4" fmla="*/ 646546 h 803638"/>
              <a:gd name="connsiteX5" fmla="*/ 157018 w 258618"/>
              <a:gd name="connsiteY5" fmla="*/ 766618 h 803638"/>
              <a:gd name="connsiteX6" fmla="*/ 193964 w 258618"/>
              <a:gd name="connsiteY6" fmla="*/ 785091 h 803638"/>
              <a:gd name="connsiteX7" fmla="*/ 258618 w 258618"/>
              <a:gd name="connsiteY7" fmla="*/ 803564 h 8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18" h="803638">
                <a:moveTo>
                  <a:pt x="18473" y="0"/>
                </a:moveTo>
                <a:cubicBezTo>
                  <a:pt x="15394" y="64655"/>
                  <a:pt x="13403" y="129370"/>
                  <a:pt x="9236" y="193964"/>
                </a:cubicBezTo>
                <a:cubicBezTo>
                  <a:pt x="7244" y="224841"/>
                  <a:pt x="0" y="255386"/>
                  <a:pt x="0" y="286327"/>
                </a:cubicBezTo>
                <a:cubicBezTo>
                  <a:pt x="0" y="422698"/>
                  <a:pt x="238" y="453891"/>
                  <a:pt x="18473" y="554182"/>
                </a:cubicBezTo>
                <a:cubicBezTo>
                  <a:pt x="23647" y="582641"/>
                  <a:pt x="29602" y="621676"/>
                  <a:pt x="46182" y="646546"/>
                </a:cubicBezTo>
                <a:cubicBezTo>
                  <a:pt x="80770" y="698427"/>
                  <a:pt x="107631" y="735751"/>
                  <a:pt x="157018" y="766618"/>
                </a:cubicBezTo>
                <a:cubicBezTo>
                  <a:pt x="168694" y="773916"/>
                  <a:pt x="181382" y="779499"/>
                  <a:pt x="193964" y="785091"/>
                </a:cubicBezTo>
                <a:cubicBezTo>
                  <a:pt x="240673" y="805851"/>
                  <a:pt x="225493" y="803564"/>
                  <a:pt x="258618" y="803564"/>
                </a:cubicBez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ABBC6C92-318F-38D0-1709-FF83A8B6C28D}"/>
              </a:ext>
            </a:extLst>
          </p:cNvPr>
          <p:cNvSpPr txBox="1"/>
          <p:nvPr/>
        </p:nvSpPr>
        <p:spPr>
          <a:xfrm>
            <a:off x="1824181" y="2213766"/>
            <a:ext cx="683491" cy="707886"/>
          </a:xfrm>
          <a:prstGeom prst="rect">
            <a:avLst/>
          </a:prstGeom>
          <a:noFill/>
        </p:spPr>
        <p:txBody>
          <a:bodyPr wrap="square" rtlCol="0">
            <a:spAutoFit/>
          </a:bodyPr>
          <a:lstStyle/>
          <a:p>
            <a:pPr algn="ctr"/>
            <a:r>
              <a:rPr kumimoji="1" lang="en-US" altLang="ja-JP" sz="4000" dirty="0"/>
              <a:t>D</a:t>
            </a:r>
            <a:endParaRPr kumimoji="1" lang="ja-JP" altLang="en-US" sz="4000" dirty="0"/>
          </a:p>
        </p:txBody>
      </p:sp>
      <p:sp>
        <p:nvSpPr>
          <p:cNvPr id="20" name="テキスト ボックス 19">
            <a:extLst>
              <a:ext uri="{FF2B5EF4-FFF2-40B4-BE49-F238E27FC236}">
                <a16:creationId xmlns:a16="http://schemas.microsoft.com/office/drawing/2014/main" id="{72C861B1-00BF-3082-8045-E3449FC29356}"/>
              </a:ext>
            </a:extLst>
          </p:cNvPr>
          <p:cNvSpPr txBox="1"/>
          <p:nvPr/>
        </p:nvSpPr>
        <p:spPr>
          <a:xfrm>
            <a:off x="5754253" y="1490369"/>
            <a:ext cx="683491" cy="707886"/>
          </a:xfrm>
          <a:prstGeom prst="rect">
            <a:avLst/>
          </a:prstGeom>
          <a:noFill/>
        </p:spPr>
        <p:txBody>
          <a:bodyPr wrap="square" rtlCol="0">
            <a:spAutoFit/>
          </a:bodyPr>
          <a:lstStyle/>
          <a:p>
            <a:pPr algn="ctr"/>
            <a:r>
              <a:rPr kumimoji="1" lang="en-US" altLang="ja-JP" sz="4000" dirty="0"/>
              <a:t>G</a:t>
            </a:r>
            <a:endParaRPr kumimoji="1" lang="ja-JP" altLang="en-US" sz="4000" dirty="0"/>
          </a:p>
        </p:txBody>
      </p:sp>
      <p:sp>
        <p:nvSpPr>
          <p:cNvPr id="23" name="四角形: 角を丸くする 22">
            <a:extLst>
              <a:ext uri="{FF2B5EF4-FFF2-40B4-BE49-F238E27FC236}">
                <a16:creationId xmlns:a16="http://schemas.microsoft.com/office/drawing/2014/main" id="{EE74F321-7542-FE14-F649-7C1A3D76EBA8}"/>
              </a:ext>
            </a:extLst>
          </p:cNvPr>
          <p:cNvSpPr/>
          <p:nvPr/>
        </p:nvSpPr>
        <p:spPr>
          <a:xfrm>
            <a:off x="7541489" y="3257615"/>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7" name="テキスト ボックス 26">
            <a:extLst>
              <a:ext uri="{FF2B5EF4-FFF2-40B4-BE49-F238E27FC236}">
                <a16:creationId xmlns:a16="http://schemas.microsoft.com/office/drawing/2014/main" id="{C5375BAA-02DA-7641-A9AE-898CBA2335C7}"/>
              </a:ext>
            </a:extLst>
          </p:cNvPr>
          <p:cNvSpPr txBox="1"/>
          <p:nvPr/>
        </p:nvSpPr>
        <p:spPr>
          <a:xfrm>
            <a:off x="7758543" y="4399823"/>
            <a:ext cx="803563" cy="707886"/>
          </a:xfrm>
          <a:prstGeom prst="rect">
            <a:avLst/>
          </a:prstGeom>
          <a:noFill/>
        </p:spPr>
        <p:txBody>
          <a:bodyPr wrap="square" rtlCol="0">
            <a:spAutoFit/>
          </a:bodyPr>
          <a:lstStyle/>
          <a:p>
            <a:pPr algn="ctr"/>
            <a:r>
              <a:rPr kumimoji="1" lang="en-US" altLang="ja-JP" sz="4000" dirty="0">
                <a:solidFill>
                  <a:schemeClr val="bg1"/>
                </a:solidFill>
              </a:rPr>
              <a:t>p</a:t>
            </a:r>
            <a:endParaRPr kumimoji="1" lang="ja-JP" altLang="en-US" sz="4000" dirty="0">
              <a:solidFill>
                <a:schemeClr val="bg1"/>
              </a:solidFill>
            </a:endParaRPr>
          </a:p>
        </p:txBody>
      </p:sp>
      <p:sp>
        <p:nvSpPr>
          <p:cNvPr id="22" name="四角形: 角を丸くする 21">
            <a:extLst>
              <a:ext uri="{FF2B5EF4-FFF2-40B4-BE49-F238E27FC236}">
                <a16:creationId xmlns:a16="http://schemas.microsoft.com/office/drawing/2014/main" id="{72BB1EB6-A09A-9413-2CE2-7619C9F35D4D}"/>
              </a:ext>
            </a:extLst>
          </p:cNvPr>
          <p:cNvSpPr/>
          <p:nvPr/>
        </p:nvSpPr>
        <p:spPr>
          <a:xfrm>
            <a:off x="3385127" y="3260436"/>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10" name="テキスト ボックス 9">
            <a:extLst>
              <a:ext uri="{FF2B5EF4-FFF2-40B4-BE49-F238E27FC236}">
                <a16:creationId xmlns:a16="http://schemas.microsoft.com/office/drawing/2014/main" id="{546B6D31-EF67-1EBC-C9BD-A0C9DDC3D72D}"/>
              </a:ext>
            </a:extLst>
          </p:cNvPr>
          <p:cNvSpPr txBox="1"/>
          <p:nvPr/>
        </p:nvSpPr>
        <p:spPr>
          <a:xfrm>
            <a:off x="9397999" y="2091896"/>
            <a:ext cx="2378365" cy="707886"/>
          </a:xfrm>
          <a:prstGeom prst="rect">
            <a:avLst/>
          </a:prstGeom>
          <a:noFill/>
        </p:spPr>
        <p:txBody>
          <a:bodyPr wrap="square" rtlCol="0">
            <a:spAutoFit/>
          </a:bodyPr>
          <a:lstStyle/>
          <a:p>
            <a:r>
              <a:rPr kumimoji="1" lang="en-US" altLang="ja-JP" sz="4000" dirty="0"/>
              <a:t>S</a:t>
            </a:r>
            <a:endParaRPr kumimoji="1" lang="ja-JP" altLang="en-US" sz="4000" dirty="0"/>
          </a:p>
        </p:txBody>
      </p:sp>
      <p:sp>
        <p:nvSpPr>
          <p:cNvPr id="11" name="テキスト ボックス 10">
            <a:extLst>
              <a:ext uri="{FF2B5EF4-FFF2-40B4-BE49-F238E27FC236}">
                <a16:creationId xmlns:a16="http://schemas.microsoft.com/office/drawing/2014/main" id="{2516D716-9372-6DEA-EC1E-D9DCC599AA0C}"/>
              </a:ext>
            </a:extLst>
          </p:cNvPr>
          <p:cNvSpPr txBox="1"/>
          <p:nvPr/>
        </p:nvSpPr>
        <p:spPr>
          <a:xfrm>
            <a:off x="6216071" y="5354204"/>
            <a:ext cx="2253674" cy="707886"/>
          </a:xfrm>
          <a:prstGeom prst="rect">
            <a:avLst/>
          </a:prstGeom>
          <a:noFill/>
        </p:spPr>
        <p:txBody>
          <a:bodyPr wrap="square" rtlCol="0">
            <a:spAutoFit/>
          </a:bodyPr>
          <a:lstStyle/>
          <a:p>
            <a:r>
              <a:rPr kumimoji="1" lang="en-US" altLang="ja-JP" sz="4000" dirty="0"/>
              <a:t>B</a:t>
            </a:r>
            <a:endParaRPr kumimoji="1" lang="ja-JP" altLang="en-US" sz="4000" dirty="0"/>
          </a:p>
        </p:txBody>
      </p:sp>
      <p:cxnSp>
        <p:nvCxnSpPr>
          <p:cNvPr id="9" name="直線矢印コネクタ 8">
            <a:extLst>
              <a:ext uri="{FF2B5EF4-FFF2-40B4-BE49-F238E27FC236}">
                <a16:creationId xmlns:a16="http://schemas.microsoft.com/office/drawing/2014/main" id="{998E1D45-29BD-2E5D-9C57-600C24E9E84C}"/>
              </a:ext>
            </a:extLst>
          </p:cNvPr>
          <p:cNvCxnSpPr>
            <a:cxnSpLocks/>
          </p:cNvCxnSpPr>
          <p:nvPr/>
        </p:nvCxnSpPr>
        <p:spPr>
          <a:xfrm flipH="1" flipV="1">
            <a:off x="4762981" y="3967157"/>
            <a:ext cx="644762" cy="32069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10D87F49-DEBB-8153-F883-936330625C32}"/>
              </a:ext>
            </a:extLst>
          </p:cNvPr>
          <p:cNvCxnSpPr>
            <a:cxnSpLocks/>
          </p:cNvCxnSpPr>
          <p:nvPr/>
        </p:nvCxnSpPr>
        <p:spPr>
          <a:xfrm flipV="1">
            <a:off x="6654440" y="3951759"/>
            <a:ext cx="774581" cy="33609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794A2DBA-FE59-3CFA-27DE-FE70361C9803}"/>
              </a:ext>
            </a:extLst>
          </p:cNvPr>
          <p:cNvSpPr txBox="1"/>
          <p:nvPr/>
        </p:nvSpPr>
        <p:spPr>
          <a:xfrm>
            <a:off x="5407743" y="4242624"/>
            <a:ext cx="1376516" cy="523220"/>
          </a:xfrm>
          <a:prstGeom prst="rect">
            <a:avLst/>
          </a:prstGeom>
          <a:noFill/>
        </p:spPr>
        <p:txBody>
          <a:bodyPr wrap="square" rtlCol="0">
            <a:spAutoFit/>
          </a:bodyPr>
          <a:lstStyle/>
          <a:p>
            <a:pPr algn="ctr"/>
            <a:r>
              <a:rPr kumimoji="1" lang="ja-JP" altLang="en-US" sz="2800" dirty="0">
                <a:solidFill>
                  <a:schemeClr val="bg1"/>
                </a:solidFill>
              </a:rPr>
              <a:t>空乏層</a:t>
            </a:r>
          </a:p>
        </p:txBody>
      </p:sp>
    </p:spTree>
    <p:extLst>
      <p:ext uri="{BB962C8B-B14F-4D97-AF65-F5344CB8AC3E}">
        <p14:creationId xmlns:p14="http://schemas.microsoft.com/office/powerpoint/2010/main" val="2768631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363AD-E880-991B-BEFE-A0016105A466}"/>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BB5433-3480-E134-602D-412436060546}"/>
              </a:ext>
            </a:extLst>
          </p:cNvPr>
          <p:cNvSpPr/>
          <p:nvPr/>
        </p:nvSpPr>
        <p:spPr>
          <a:xfrm>
            <a:off x="3385127" y="3260436"/>
            <a:ext cx="5421745" cy="1902691"/>
          </a:xfrm>
          <a:prstGeom prst="rect">
            <a:avLst/>
          </a:prstGeom>
          <a:solidFill>
            <a:srgbClr val="FF7C8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772B773-4F49-FBF1-8116-D9BB647FDDC6}"/>
              </a:ext>
            </a:extLst>
          </p:cNvPr>
          <p:cNvSpPr/>
          <p:nvPr/>
        </p:nvSpPr>
        <p:spPr>
          <a:xfrm>
            <a:off x="7160483" y="3262783"/>
            <a:ext cx="1623298" cy="761174"/>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 name="タイトル 1">
            <a:extLst>
              <a:ext uri="{FF2B5EF4-FFF2-40B4-BE49-F238E27FC236}">
                <a16:creationId xmlns:a16="http://schemas.microsoft.com/office/drawing/2014/main" id="{DF3B5A53-ABB6-70A3-4B3F-AAFC500DDC04}"/>
              </a:ext>
            </a:extLst>
          </p:cNvPr>
          <p:cNvSpPr>
            <a:spLocks noGrp="1"/>
          </p:cNvSpPr>
          <p:nvPr>
            <p:ph type="title"/>
          </p:nvPr>
        </p:nvSpPr>
        <p:spPr/>
        <p:txBody>
          <a:bodyPr/>
          <a:lstStyle/>
          <a:p>
            <a:r>
              <a:rPr kumimoji="1" lang="en-US" altLang="ja-JP" dirty="0"/>
              <a:t>NMOS </a:t>
            </a:r>
            <a:r>
              <a:rPr kumimoji="1" lang="ja-JP" altLang="en-US" dirty="0"/>
              <a:t>簡単な模式図</a:t>
            </a:r>
          </a:p>
        </p:txBody>
      </p:sp>
      <p:sp>
        <p:nvSpPr>
          <p:cNvPr id="4" name="日付プレースホルダー 3">
            <a:extLst>
              <a:ext uri="{FF2B5EF4-FFF2-40B4-BE49-F238E27FC236}">
                <a16:creationId xmlns:a16="http://schemas.microsoft.com/office/drawing/2014/main" id="{EEA1DE85-BD0B-18D7-F68B-A640055ABB3F}"/>
              </a:ext>
            </a:extLst>
          </p:cNvPr>
          <p:cNvSpPr>
            <a:spLocks noGrp="1"/>
          </p:cNvSpPr>
          <p:nvPr>
            <p:ph type="dt" sz="half" idx="10"/>
          </p:nvPr>
        </p:nvSpPr>
        <p:spPr/>
        <p:txBody>
          <a:bodyPr/>
          <a:lstStyle/>
          <a:p>
            <a:fld id="{C8D55FC4-4FBB-4061-B0B6-96F0050D7C51}"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031CE0C5-AD93-2A17-AA53-DC3E04385501}"/>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17</a:t>
            </a:fld>
            <a:endParaRPr kumimoji="1" lang="ja-JP" altLang="en-US"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7A2359E5-5237-E83E-A071-A12B0B96748C}"/>
              </a:ext>
            </a:extLst>
          </p:cNvPr>
          <p:cNvSpPr/>
          <p:nvPr/>
        </p:nvSpPr>
        <p:spPr>
          <a:xfrm>
            <a:off x="4650508" y="2752436"/>
            <a:ext cx="2890982"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フリーフォーム: 図形 12">
            <a:extLst>
              <a:ext uri="{FF2B5EF4-FFF2-40B4-BE49-F238E27FC236}">
                <a16:creationId xmlns:a16="http://schemas.microsoft.com/office/drawing/2014/main" id="{B91465C3-5343-89AD-9078-63B6133E6FA9}"/>
              </a:ext>
            </a:extLst>
          </p:cNvPr>
          <p:cNvSpPr/>
          <p:nvPr/>
        </p:nvSpPr>
        <p:spPr>
          <a:xfrm>
            <a:off x="2540000" y="2567709"/>
            <a:ext cx="1357745" cy="674255"/>
          </a:xfrm>
          <a:custGeom>
            <a:avLst/>
            <a:gdLst>
              <a:gd name="connsiteX0" fmla="*/ 1357745 w 1357745"/>
              <a:gd name="connsiteY0" fmla="*/ 674255 h 674255"/>
              <a:gd name="connsiteX1" fmla="*/ 1320800 w 1357745"/>
              <a:gd name="connsiteY1" fmla="*/ 535709 h 674255"/>
              <a:gd name="connsiteX2" fmla="*/ 1209964 w 1357745"/>
              <a:gd name="connsiteY2" fmla="*/ 350982 h 674255"/>
              <a:gd name="connsiteX3" fmla="*/ 942109 w 1357745"/>
              <a:gd name="connsiteY3" fmla="*/ 147782 h 674255"/>
              <a:gd name="connsiteX4" fmla="*/ 785091 w 1357745"/>
              <a:gd name="connsiteY4" fmla="*/ 73891 h 674255"/>
              <a:gd name="connsiteX5" fmla="*/ 535709 w 1357745"/>
              <a:gd name="connsiteY5" fmla="*/ 18473 h 674255"/>
              <a:gd name="connsiteX6" fmla="*/ 267855 w 1357745"/>
              <a:gd name="connsiteY6" fmla="*/ 0 h 674255"/>
              <a:gd name="connsiteX7" fmla="*/ 0 w 1357745"/>
              <a:gd name="connsiteY7" fmla="*/ 18473 h 6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7745" h="674255">
                <a:moveTo>
                  <a:pt x="1357745" y="674255"/>
                </a:moveTo>
                <a:cubicBezTo>
                  <a:pt x="1347678" y="623920"/>
                  <a:pt x="1341814" y="587076"/>
                  <a:pt x="1320800" y="535709"/>
                </a:cubicBezTo>
                <a:cubicBezTo>
                  <a:pt x="1294534" y="471504"/>
                  <a:pt x="1258174" y="402636"/>
                  <a:pt x="1209964" y="350982"/>
                </a:cubicBezTo>
                <a:cubicBezTo>
                  <a:pt x="1155139" y="292240"/>
                  <a:pt x="971254" y="163974"/>
                  <a:pt x="942109" y="147782"/>
                </a:cubicBezTo>
                <a:cubicBezTo>
                  <a:pt x="872613" y="109173"/>
                  <a:pt x="858267" y="95844"/>
                  <a:pt x="785091" y="73891"/>
                </a:cubicBezTo>
                <a:cubicBezTo>
                  <a:pt x="736467" y="59304"/>
                  <a:pt x="578155" y="23296"/>
                  <a:pt x="535709" y="18473"/>
                </a:cubicBezTo>
                <a:cubicBezTo>
                  <a:pt x="446785" y="8368"/>
                  <a:pt x="267855" y="0"/>
                  <a:pt x="267855" y="0"/>
                </a:cubicBezTo>
                <a:lnTo>
                  <a:pt x="0" y="18473"/>
                </a:ln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フリーフォーム: 図形 14">
            <a:extLst>
              <a:ext uri="{FF2B5EF4-FFF2-40B4-BE49-F238E27FC236}">
                <a16:creationId xmlns:a16="http://schemas.microsoft.com/office/drawing/2014/main" id="{AAE36BB5-A8BC-B1C0-79D6-93051F0613D0}"/>
              </a:ext>
            </a:extLst>
          </p:cNvPr>
          <p:cNvSpPr/>
          <p:nvPr/>
        </p:nvSpPr>
        <p:spPr>
          <a:xfrm>
            <a:off x="8229600" y="2445839"/>
            <a:ext cx="1237673" cy="814597"/>
          </a:xfrm>
          <a:custGeom>
            <a:avLst/>
            <a:gdLst>
              <a:gd name="connsiteX0" fmla="*/ 0 w 1237673"/>
              <a:gd name="connsiteY0" fmla="*/ 814597 h 814597"/>
              <a:gd name="connsiteX1" fmla="*/ 18473 w 1237673"/>
              <a:gd name="connsiteY1" fmla="*/ 676052 h 814597"/>
              <a:gd name="connsiteX2" fmla="*/ 73891 w 1237673"/>
              <a:gd name="connsiteY2" fmla="*/ 519034 h 814597"/>
              <a:gd name="connsiteX3" fmla="*/ 120073 w 1237673"/>
              <a:gd name="connsiteY3" fmla="*/ 445143 h 814597"/>
              <a:gd name="connsiteX4" fmla="*/ 295564 w 1237673"/>
              <a:gd name="connsiteY4" fmla="*/ 251179 h 814597"/>
              <a:gd name="connsiteX5" fmla="*/ 711200 w 1237673"/>
              <a:gd name="connsiteY5" fmla="*/ 66452 h 814597"/>
              <a:gd name="connsiteX6" fmla="*/ 1006764 w 1237673"/>
              <a:gd name="connsiteY6" fmla="*/ 1797 h 814597"/>
              <a:gd name="connsiteX7" fmla="*/ 1237673 w 1237673"/>
              <a:gd name="connsiteY7" fmla="*/ 1797 h 81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673" h="814597">
                <a:moveTo>
                  <a:pt x="0" y="814597"/>
                </a:moveTo>
                <a:cubicBezTo>
                  <a:pt x="6158" y="768415"/>
                  <a:pt x="8971" y="721663"/>
                  <a:pt x="18473" y="676052"/>
                </a:cubicBezTo>
                <a:cubicBezTo>
                  <a:pt x="21303" y="662467"/>
                  <a:pt x="65825" y="535167"/>
                  <a:pt x="73891" y="519034"/>
                </a:cubicBezTo>
                <a:cubicBezTo>
                  <a:pt x="86880" y="493055"/>
                  <a:pt x="103962" y="469310"/>
                  <a:pt x="120073" y="445143"/>
                </a:cubicBezTo>
                <a:cubicBezTo>
                  <a:pt x="169818" y="370526"/>
                  <a:pt x="215237" y="299749"/>
                  <a:pt x="295564" y="251179"/>
                </a:cubicBezTo>
                <a:cubicBezTo>
                  <a:pt x="396694" y="190031"/>
                  <a:pt x="579769" y="106280"/>
                  <a:pt x="711200" y="66452"/>
                </a:cubicBezTo>
                <a:cubicBezTo>
                  <a:pt x="783076" y="44671"/>
                  <a:pt x="922490" y="6233"/>
                  <a:pt x="1006764" y="1797"/>
                </a:cubicBezTo>
                <a:cubicBezTo>
                  <a:pt x="1083627" y="-2248"/>
                  <a:pt x="1160703" y="1797"/>
                  <a:pt x="1237673" y="1797"/>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6" name="フリーフォーム: 図形 15">
            <a:extLst>
              <a:ext uri="{FF2B5EF4-FFF2-40B4-BE49-F238E27FC236}">
                <a16:creationId xmlns:a16="http://schemas.microsoft.com/office/drawing/2014/main" id="{24392328-3929-2C32-144C-ED9D88176031}"/>
              </a:ext>
            </a:extLst>
          </p:cNvPr>
          <p:cNvSpPr/>
          <p:nvPr/>
        </p:nvSpPr>
        <p:spPr>
          <a:xfrm>
            <a:off x="6096000" y="2198255"/>
            <a:ext cx="92364" cy="591127"/>
          </a:xfrm>
          <a:custGeom>
            <a:avLst/>
            <a:gdLst>
              <a:gd name="connsiteX0" fmla="*/ 0 w 92364"/>
              <a:gd name="connsiteY0" fmla="*/ 591127 h 591127"/>
              <a:gd name="connsiteX1" fmla="*/ 64655 w 92364"/>
              <a:gd name="connsiteY1" fmla="*/ 46181 h 591127"/>
              <a:gd name="connsiteX2" fmla="*/ 92364 w 92364"/>
              <a:gd name="connsiteY2" fmla="*/ 0 h 591127"/>
            </a:gdLst>
            <a:ahLst/>
            <a:cxnLst>
              <a:cxn ang="0">
                <a:pos x="connsiteX0" y="connsiteY0"/>
              </a:cxn>
              <a:cxn ang="0">
                <a:pos x="connsiteX1" y="connsiteY1"/>
              </a:cxn>
              <a:cxn ang="0">
                <a:pos x="connsiteX2" y="connsiteY2"/>
              </a:cxn>
            </a:cxnLst>
            <a:rect l="l" t="t" r="r" b="b"/>
            <a:pathLst>
              <a:path w="92364" h="591127">
                <a:moveTo>
                  <a:pt x="0" y="591127"/>
                </a:moveTo>
                <a:cubicBezTo>
                  <a:pt x="2026" y="552628"/>
                  <a:pt x="2649" y="139193"/>
                  <a:pt x="64655" y="46181"/>
                </a:cubicBezTo>
                <a:cubicBezTo>
                  <a:pt x="86946" y="12744"/>
                  <a:pt x="78162" y="28400"/>
                  <a:pt x="92364" y="0"/>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FFDD7272-F919-E4CE-F614-6DEA1F6A5188}"/>
              </a:ext>
            </a:extLst>
          </p:cNvPr>
          <p:cNvSpPr/>
          <p:nvPr/>
        </p:nvSpPr>
        <p:spPr>
          <a:xfrm>
            <a:off x="6068291" y="4904509"/>
            <a:ext cx="258618" cy="803638"/>
          </a:xfrm>
          <a:custGeom>
            <a:avLst/>
            <a:gdLst>
              <a:gd name="connsiteX0" fmla="*/ 18473 w 258618"/>
              <a:gd name="connsiteY0" fmla="*/ 0 h 803638"/>
              <a:gd name="connsiteX1" fmla="*/ 9236 w 258618"/>
              <a:gd name="connsiteY1" fmla="*/ 193964 h 803638"/>
              <a:gd name="connsiteX2" fmla="*/ 0 w 258618"/>
              <a:gd name="connsiteY2" fmla="*/ 286327 h 803638"/>
              <a:gd name="connsiteX3" fmla="*/ 18473 w 258618"/>
              <a:gd name="connsiteY3" fmla="*/ 554182 h 803638"/>
              <a:gd name="connsiteX4" fmla="*/ 46182 w 258618"/>
              <a:gd name="connsiteY4" fmla="*/ 646546 h 803638"/>
              <a:gd name="connsiteX5" fmla="*/ 157018 w 258618"/>
              <a:gd name="connsiteY5" fmla="*/ 766618 h 803638"/>
              <a:gd name="connsiteX6" fmla="*/ 193964 w 258618"/>
              <a:gd name="connsiteY6" fmla="*/ 785091 h 803638"/>
              <a:gd name="connsiteX7" fmla="*/ 258618 w 258618"/>
              <a:gd name="connsiteY7" fmla="*/ 803564 h 8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18" h="803638">
                <a:moveTo>
                  <a:pt x="18473" y="0"/>
                </a:moveTo>
                <a:cubicBezTo>
                  <a:pt x="15394" y="64655"/>
                  <a:pt x="13403" y="129370"/>
                  <a:pt x="9236" y="193964"/>
                </a:cubicBezTo>
                <a:cubicBezTo>
                  <a:pt x="7244" y="224841"/>
                  <a:pt x="0" y="255386"/>
                  <a:pt x="0" y="286327"/>
                </a:cubicBezTo>
                <a:cubicBezTo>
                  <a:pt x="0" y="422698"/>
                  <a:pt x="238" y="453891"/>
                  <a:pt x="18473" y="554182"/>
                </a:cubicBezTo>
                <a:cubicBezTo>
                  <a:pt x="23647" y="582641"/>
                  <a:pt x="29602" y="621676"/>
                  <a:pt x="46182" y="646546"/>
                </a:cubicBezTo>
                <a:cubicBezTo>
                  <a:pt x="80770" y="698427"/>
                  <a:pt x="107631" y="735751"/>
                  <a:pt x="157018" y="766618"/>
                </a:cubicBezTo>
                <a:cubicBezTo>
                  <a:pt x="168694" y="773916"/>
                  <a:pt x="181382" y="779499"/>
                  <a:pt x="193964" y="785091"/>
                </a:cubicBezTo>
                <a:cubicBezTo>
                  <a:pt x="240673" y="805851"/>
                  <a:pt x="225493" y="803564"/>
                  <a:pt x="258618" y="803564"/>
                </a:cubicBez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53D40ACA-9D00-286D-7236-2600DE13DDBC}"/>
              </a:ext>
            </a:extLst>
          </p:cNvPr>
          <p:cNvSpPr txBox="1"/>
          <p:nvPr/>
        </p:nvSpPr>
        <p:spPr>
          <a:xfrm>
            <a:off x="1824181" y="2213766"/>
            <a:ext cx="683491" cy="707886"/>
          </a:xfrm>
          <a:prstGeom prst="rect">
            <a:avLst/>
          </a:prstGeom>
          <a:noFill/>
        </p:spPr>
        <p:txBody>
          <a:bodyPr wrap="square" rtlCol="0">
            <a:spAutoFit/>
          </a:bodyPr>
          <a:lstStyle/>
          <a:p>
            <a:pPr algn="ctr"/>
            <a:r>
              <a:rPr kumimoji="1" lang="en-US" altLang="ja-JP" sz="4000" dirty="0"/>
              <a:t>D</a:t>
            </a:r>
            <a:endParaRPr kumimoji="1" lang="ja-JP" altLang="en-US" sz="4000" dirty="0"/>
          </a:p>
        </p:txBody>
      </p:sp>
      <p:sp>
        <p:nvSpPr>
          <p:cNvPr id="23" name="四角形: 角を丸くする 22">
            <a:extLst>
              <a:ext uri="{FF2B5EF4-FFF2-40B4-BE49-F238E27FC236}">
                <a16:creationId xmlns:a16="http://schemas.microsoft.com/office/drawing/2014/main" id="{9958351A-5DC9-0445-84E1-332920A60B30}"/>
              </a:ext>
            </a:extLst>
          </p:cNvPr>
          <p:cNvSpPr/>
          <p:nvPr/>
        </p:nvSpPr>
        <p:spPr>
          <a:xfrm>
            <a:off x="7541489" y="3257615"/>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8" name="四角形: 角を丸くする 27">
            <a:extLst>
              <a:ext uri="{FF2B5EF4-FFF2-40B4-BE49-F238E27FC236}">
                <a16:creationId xmlns:a16="http://schemas.microsoft.com/office/drawing/2014/main" id="{23AD333B-5B43-8871-A9D6-11EF96E23200}"/>
              </a:ext>
            </a:extLst>
          </p:cNvPr>
          <p:cNvSpPr/>
          <p:nvPr/>
        </p:nvSpPr>
        <p:spPr>
          <a:xfrm>
            <a:off x="3385127" y="3257615"/>
            <a:ext cx="2142836" cy="1074240"/>
          </a:xfrm>
          <a:prstGeom prst="roundRect">
            <a:avLst/>
          </a:prstGeom>
          <a:solidFill>
            <a:schemeClr val="accent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sz="3200" dirty="0">
              <a:solidFill>
                <a:schemeClr val="bg1"/>
              </a:solidFill>
            </a:endParaRPr>
          </a:p>
        </p:txBody>
      </p:sp>
      <p:sp>
        <p:nvSpPr>
          <p:cNvPr id="27" name="テキスト ボックス 26">
            <a:extLst>
              <a:ext uri="{FF2B5EF4-FFF2-40B4-BE49-F238E27FC236}">
                <a16:creationId xmlns:a16="http://schemas.microsoft.com/office/drawing/2014/main" id="{4BB226F4-95A0-DF84-9E4B-CC1125E9273A}"/>
              </a:ext>
            </a:extLst>
          </p:cNvPr>
          <p:cNvSpPr txBox="1"/>
          <p:nvPr/>
        </p:nvSpPr>
        <p:spPr>
          <a:xfrm>
            <a:off x="7758543" y="4399823"/>
            <a:ext cx="803563" cy="707886"/>
          </a:xfrm>
          <a:prstGeom prst="rect">
            <a:avLst/>
          </a:prstGeom>
          <a:noFill/>
        </p:spPr>
        <p:txBody>
          <a:bodyPr wrap="square" rtlCol="0">
            <a:spAutoFit/>
          </a:bodyPr>
          <a:lstStyle/>
          <a:p>
            <a:pPr algn="ctr"/>
            <a:r>
              <a:rPr kumimoji="1" lang="en-US" altLang="ja-JP" sz="4000" dirty="0">
                <a:solidFill>
                  <a:schemeClr val="bg1"/>
                </a:solidFill>
              </a:rPr>
              <a:t>p</a:t>
            </a:r>
            <a:endParaRPr kumimoji="1" lang="ja-JP" altLang="en-US" sz="4000" dirty="0">
              <a:solidFill>
                <a:schemeClr val="bg1"/>
              </a:solidFill>
            </a:endParaRPr>
          </a:p>
        </p:txBody>
      </p:sp>
      <p:sp>
        <p:nvSpPr>
          <p:cNvPr id="22" name="四角形: 角を丸くする 21">
            <a:extLst>
              <a:ext uri="{FF2B5EF4-FFF2-40B4-BE49-F238E27FC236}">
                <a16:creationId xmlns:a16="http://schemas.microsoft.com/office/drawing/2014/main" id="{0DFDD982-1386-91F9-1E06-D7A81F0D9F4C}"/>
              </a:ext>
            </a:extLst>
          </p:cNvPr>
          <p:cNvSpPr/>
          <p:nvPr/>
        </p:nvSpPr>
        <p:spPr>
          <a:xfrm>
            <a:off x="3385127" y="3257615"/>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9" name="テキスト ボックス 28">
            <a:extLst>
              <a:ext uri="{FF2B5EF4-FFF2-40B4-BE49-F238E27FC236}">
                <a16:creationId xmlns:a16="http://schemas.microsoft.com/office/drawing/2014/main" id="{3AFBD74B-395C-893B-BEE8-1FED923FD49C}"/>
              </a:ext>
            </a:extLst>
          </p:cNvPr>
          <p:cNvSpPr txBox="1"/>
          <p:nvPr/>
        </p:nvSpPr>
        <p:spPr>
          <a:xfrm>
            <a:off x="7958295" y="5233743"/>
            <a:ext cx="4233705" cy="861774"/>
          </a:xfrm>
          <a:prstGeom prst="rect">
            <a:avLst/>
          </a:prstGeom>
          <a:noFill/>
        </p:spPr>
        <p:txBody>
          <a:bodyPr wrap="square" rtlCol="0">
            <a:spAutoFit/>
          </a:bodyPr>
          <a:lstStyle/>
          <a:p>
            <a:pPr algn="ctr"/>
            <a:endParaRPr kumimoji="1" lang="en-US" altLang="ja-JP" dirty="0">
              <a:solidFill>
                <a:schemeClr val="accent1"/>
              </a:solidFill>
            </a:endParaRPr>
          </a:p>
          <a:p>
            <a:pPr algn="ctr"/>
            <a:r>
              <a:rPr kumimoji="1" lang="ja-JP" altLang="en-US" sz="3200" dirty="0">
                <a:solidFill>
                  <a:schemeClr val="accent1"/>
                </a:solidFill>
              </a:rPr>
              <a:t>まだ電流は流れない</a:t>
            </a:r>
            <a:endParaRPr kumimoji="1" lang="ja-JP" altLang="en-US" sz="3200" dirty="0"/>
          </a:p>
        </p:txBody>
      </p:sp>
      <p:sp>
        <p:nvSpPr>
          <p:cNvPr id="3" name="正方形/長方形 2">
            <a:extLst>
              <a:ext uri="{FF2B5EF4-FFF2-40B4-BE49-F238E27FC236}">
                <a16:creationId xmlns:a16="http://schemas.microsoft.com/office/drawing/2014/main" id="{E134A057-1727-742B-7DA4-DA38505362D1}"/>
              </a:ext>
            </a:extLst>
          </p:cNvPr>
          <p:cNvSpPr/>
          <p:nvPr/>
        </p:nvSpPr>
        <p:spPr>
          <a:xfrm>
            <a:off x="5338958" y="3257615"/>
            <a:ext cx="1932700" cy="383833"/>
          </a:xfrm>
          <a:prstGeom prst="rect">
            <a:avLst/>
          </a:prstGeom>
          <a:solidFill>
            <a:schemeClr val="accent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373783F-6462-7FEE-3AA9-36A8CF54821D}"/>
              </a:ext>
            </a:extLst>
          </p:cNvPr>
          <p:cNvSpPr/>
          <p:nvPr/>
        </p:nvSpPr>
        <p:spPr>
          <a:xfrm rot="21228101">
            <a:off x="5418605" y="3378035"/>
            <a:ext cx="1773407" cy="422592"/>
          </a:xfrm>
          <a:prstGeom prst="rect">
            <a:avLst/>
          </a:prstGeom>
          <a:solidFill>
            <a:schemeClr val="accent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a:p>
        </p:txBody>
      </p:sp>
      <p:cxnSp>
        <p:nvCxnSpPr>
          <p:cNvPr id="10" name="直線矢印コネクタ 9">
            <a:extLst>
              <a:ext uri="{FF2B5EF4-FFF2-40B4-BE49-F238E27FC236}">
                <a16:creationId xmlns:a16="http://schemas.microsoft.com/office/drawing/2014/main" id="{F4D65A12-159E-88D2-AE62-0CC63676101A}"/>
              </a:ext>
            </a:extLst>
          </p:cNvPr>
          <p:cNvCxnSpPr>
            <a:cxnSpLocks/>
          </p:cNvCxnSpPr>
          <p:nvPr/>
        </p:nvCxnSpPr>
        <p:spPr>
          <a:xfrm>
            <a:off x="5652655" y="3579252"/>
            <a:ext cx="1006765" cy="707886"/>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D34D9944-7341-B46A-8696-E5F30BAC982B}"/>
              </a:ext>
            </a:extLst>
          </p:cNvPr>
          <p:cNvSpPr txBox="1"/>
          <p:nvPr/>
        </p:nvSpPr>
        <p:spPr>
          <a:xfrm>
            <a:off x="461819" y="3400998"/>
            <a:ext cx="2789382" cy="1200329"/>
          </a:xfrm>
          <a:prstGeom prst="rect">
            <a:avLst/>
          </a:prstGeom>
          <a:noFill/>
        </p:spPr>
        <p:txBody>
          <a:bodyPr wrap="square" rtlCol="0">
            <a:spAutoFit/>
          </a:bodyPr>
          <a:lstStyle/>
          <a:p>
            <a:r>
              <a:rPr kumimoji="1" lang="en-US" altLang="ja-JP" dirty="0" err="1"/>
              <a:t>Vd</a:t>
            </a:r>
            <a:r>
              <a:rPr kumimoji="1" lang="en-US" altLang="ja-JP" dirty="0"/>
              <a:t> &gt; Vs </a:t>
            </a:r>
            <a:r>
              <a:rPr kumimoji="1" lang="ja-JP" altLang="en-US" dirty="0"/>
              <a:t>のため</a:t>
            </a:r>
            <a:endParaRPr kumimoji="1" lang="en-US" altLang="ja-JP" dirty="0"/>
          </a:p>
          <a:p>
            <a:r>
              <a:rPr kumimoji="1" lang="ja-JP" altLang="en-US" dirty="0"/>
              <a:t>ドレイン側の空乏層は</a:t>
            </a:r>
            <a:br>
              <a:rPr kumimoji="1" lang="en-US" altLang="ja-JP" dirty="0"/>
            </a:br>
            <a:r>
              <a:rPr kumimoji="1" lang="ja-JP" altLang="en-US" dirty="0"/>
              <a:t>ソース側の空乏層より</a:t>
            </a:r>
            <a:endParaRPr kumimoji="1" lang="en-US" altLang="ja-JP" dirty="0"/>
          </a:p>
          <a:p>
            <a:r>
              <a:rPr kumimoji="1" lang="ja-JP" altLang="en-US" dirty="0"/>
              <a:t>大きい</a:t>
            </a:r>
          </a:p>
        </p:txBody>
      </p:sp>
      <p:sp>
        <p:nvSpPr>
          <p:cNvPr id="31" name="テキスト ボックス 30">
            <a:extLst>
              <a:ext uri="{FF2B5EF4-FFF2-40B4-BE49-F238E27FC236}">
                <a16:creationId xmlns:a16="http://schemas.microsoft.com/office/drawing/2014/main" id="{3BD2C2CA-0F5A-96E5-7212-97D144EE1231}"/>
              </a:ext>
            </a:extLst>
          </p:cNvPr>
          <p:cNvSpPr txBox="1"/>
          <p:nvPr/>
        </p:nvSpPr>
        <p:spPr>
          <a:xfrm>
            <a:off x="2877127" y="1320565"/>
            <a:ext cx="6123708" cy="646331"/>
          </a:xfrm>
          <a:prstGeom prst="rect">
            <a:avLst/>
          </a:prstGeom>
          <a:noFill/>
        </p:spPr>
        <p:txBody>
          <a:bodyPr wrap="square">
            <a:spAutoFit/>
          </a:bodyPr>
          <a:lstStyle/>
          <a:p>
            <a:r>
              <a:rPr kumimoji="1" lang="en-US" altLang="ja-JP" dirty="0" err="1"/>
              <a:t>Vgs</a:t>
            </a:r>
            <a:r>
              <a:rPr kumimoji="1" lang="en-US" altLang="ja-JP" dirty="0"/>
              <a:t> &gt; 0 </a:t>
            </a:r>
            <a:r>
              <a:rPr kumimoji="1" lang="ja-JP" altLang="en-US" dirty="0"/>
              <a:t>で基板上の正孔がゲートに移動</a:t>
            </a:r>
            <a:endParaRPr kumimoji="1" lang="en-US" altLang="ja-JP" dirty="0"/>
          </a:p>
          <a:p>
            <a:r>
              <a:rPr kumimoji="1" lang="ja-JP" altLang="en-US" dirty="0"/>
              <a:t>→</a:t>
            </a:r>
            <a:r>
              <a:rPr kumimoji="1" lang="ja-JP" altLang="en-US" dirty="0">
                <a:solidFill>
                  <a:schemeClr val="accent1"/>
                </a:solidFill>
              </a:rPr>
              <a:t>空乏層</a:t>
            </a:r>
            <a:r>
              <a:rPr kumimoji="1" lang="ja-JP" altLang="en-US" dirty="0"/>
              <a:t>の形成</a:t>
            </a:r>
            <a:endParaRPr kumimoji="1" lang="en-US" altLang="ja-JP" dirty="0"/>
          </a:p>
        </p:txBody>
      </p:sp>
      <p:sp>
        <p:nvSpPr>
          <p:cNvPr id="5" name="正方形/長方形 4">
            <a:extLst>
              <a:ext uri="{FF2B5EF4-FFF2-40B4-BE49-F238E27FC236}">
                <a16:creationId xmlns:a16="http://schemas.microsoft.com/office/drawing/2014/main" id="{6BF9FD43-143A-43BD-090D-DF163AE313E7}"/>
              </a:ext>
            </a:extLst>
          </p:cNvPr>
          <p:cNvSpPr/>
          <p:nvPr/>
        </p:nvSpPr>
        <p:spPr>
          <a:xfrm>
            <a:off x="4371703" y="2752436"/>
            <a:ext cx="3386840"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EB291A0-24B7-F0BF-1194-EAE49F5502F4}"/>
              </a:ext>
            </a:extLst>
          </p:cNvPr>
          <p:cNvSpPr txBox="1"/>
          <p:nvPr/>
        </p:nvSpPr>
        <p:spPr>
          <a:xfrm>
            <a:off x="5298211" y="1564661"/>
            <a:ext cx="2243277" cy="707886"/>
          </a:xfrm>
          <a:prstGeom prst="rect">
            <a:avLst/>
          </a:prstGeom>
          <a:noFill/>
        </p:spPr>
        <p:txBody>
          <a:bodyPr wrap="square" rtlCol="0">
            <a:spAutoFit/>
          </a:bodyPr>
          <a:lstStyle/>
          <a:p>
            <a:pPr algn="ctr"/>
            <a:r>
              <a:rPr kumimoji="1" lang="en-US" altLang="ja-JP" sz="4000" dirty="0"/>
              <a:t>G &gt; 0V</a:t>
            </a:r>
            <a:endParaRPr kumimoji="1" lang="ja-JP" altLang="en-US" sz="4000" dirty="0"/>
          </a:p>
        </p:txBody>
      </p:sp>
      <p:sp>
        <p:nvSpPr>
          <p:cNvPr id="9" name="テキスト ボックス 8">
            <a:extLst>
              <a:ext uri="{FF2B5EF4-FFF2-40B4-BE49-F238E27FC236}">
                <a16:creationId xmlns:a16="http://schemas.microsoft.com/office/drawing/2014/main" id="{31F8847D-A534-3CD3-AEAA-EE45E10625D8}"/>
              </a:ext>
            </a:extLst>
          </p:cNvPr>
          <p:cNvSpPr txBox="1"/>
          <p:nvPr/>
        </p:nvSpPr>
        <p:spPr>
          <a:xfrm>
            <a:off x="9397999" y="2091896"/>
            <a:ext cx="2378365" cy="707886"/>
          </a:xfrm>
          <a:prstGeom prst="rect">
            <a:avLst/>
          </a:prstGeom>
          <a:noFill/>
        </p:spPr>
        <p:txBody>
          <a:bodyPr wrap="square" rtlCol="0">
            <a:spAutoFit/>
          </a:bodyPr>
          <a:lstStyle/>
          <a:p>
            <a:r>
              <a:rPr kumimoji="1" lang="en-US" altLang="ja-JP" sz="4000" dirty="0"/>
              <a:t>S = 0V</a:t>
            </a:r>
            <a:endParaRPr kumimoji="1" lang="ja-JP" altLang="en-US" sz="4000" dirty="0"/>
          </a:p>
        </p:txBody>
      </p:sp>
      <p:sp>
        <p:nvSpPr>
          <p:cNvPr id="25" name="テキスト ボックス 24">
            <a:extLst>
              <a:ext uri="{FF2B5EF4-FFF2-40B4-BE49-F238E27FC236}">
                <a16:creationId xmlns:a16="http://schemas.microsoft.com/office/drawing/2014/main" id="{BC0501E8-AD91-13C7-891F-0EA0CD6FD077}"/>
              </a:ext>
            </a:extLst>
          </p:cNvPr>
          <p:cNvSpPr txBox="1"/>
          <p:nvPr/>
        </p:nvSpPr>
        <p:spPr>
          <a:xfrm>
            <a:off x="6216071" y="5354204"/>
            <a:ext cx="2253674" cy="707886"/>
          </a:xfrm>
          <a:prstGeom prst="rect">
            <a:avLst/>
          </a:prstGeom>
          <a:noFill/>
        </p:spPr>
        <p:txBody>
          <a:bodyPr wrap="square" rtlCol="0">
            <a:spAutoFit/>
          </a:bodyPr>
          <a:lstStyle/>
          <a:p>
            <a:r>
              <a:rPr kumimoji="1" lang="en-US" altLang="ja-JP" sz="4000" dirty="0"/>
              <a:t>B = 0V</a:t>
            </a:r>
            <a:endParaRPr kumimoji="1" lang="ja-JP" altLang="en-US" sz="4000" dirty="0"/>
          </a:p>
        </p:txBody>
      </p:sp>
    </p:spTree>
    <p:extLst>
      <p:ext uri="{BB962C8B-B14F-4D97-AF65-F5344CB8AC3E}">
        <p14:creationId xmlns:p14="http://schemas.microsoft.com/office/powerpoint/2010/main" val="284812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BCB9B-AFE3-F20F-F30F-A2CAC75342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83CEDA-E5C4-2091-6AC3-33B6B955081E}"/>
              </a:ext>
            </a:extLst>
          </p:cNvPr>
          <p:cNvSpPr>
            <a:spLocks noGrp="1"/>
          </p:cNvSpPr>
          <p:nvPr>
            <p:ph type="title"/>
          </p:nvPr>
        </p:nvSpPr>
        <p:spPr/>
        <p:txBody>
          <a:bodyPr/>
          <a:lstStyle/>
          <a:p>
            <a:r>
              <a:rPr kumimoji="1" lang="en-US" altLang="ja-JP" dirty="0"/>
              <a:t>NMOS </a:t>
            </a:r>
            <a:r>
              <a:rPr kumimoji="1" lang="ja-JP" altLang="en-US" dirty="0"/>
              <a:t>簡単な模式図</a:t>
            </a:r>
          </a:p>
        </p:txBody>
      </p:sp>
      <p:sp>
        <p:nvSpPr>
          <p:cNvPr id="4" name="日付プレースホルダー 3">
            <a:extLst>
              <a:ext uri="{FF2B5EF4-FFF2-40B4-BE49-F238E27FC236}">
                <a16:creationId xmlns:a16="http://schemas.microsoft.com/office/drawing/2014/main" id="{39C34F16-84F5-CCF1-D6B7-1C71CA8AF11E}"/>
              </a:ext>
            </a:extLst>
          </p:cNvPr>
          <p:cNvSpPr>
            <a:spLocks noGrp="1"/>
          </p:cNvSpPr>
          <p:nvPr>
            <p:ph type="dt" sz="half" idx="10"/>
          </p:nvPr>
        </p:nvSpPr>
        <p:spPr/>
        <p:txBody>
          <a:bodyPr/>
          <a:lstStyle/>
          <a:p>
            <a:fld id="{C8D55FC4-4FBB-4061-B0B6-96F0050D7C51}"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4201C9DE-5318-F7B3-3C3F-202C7789E0C3}"/>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18</a:t>
            </a:fld>
            <a:endParaRPr kumimoji="1" lang="ja-JP" altLang="en-US" dirty="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6D190943-D454-2319-2FF2-6A1A8CD5205C}"/>
              </a:ext>
            </a:extLst>
          </p:cNvPr>
          <p:cNvSpPr/>
          <p:nvPr/>
        </p:nvSpPr>
        <p:spPr>
          <a:xfrm>
            <a:off x="3385127" y="3260436"/>
            <a:ext cx="5421745" cy="1902691"/>
          </a:xfrm>
          <a:prstGeom prst="rect">
            <a:avLst/>
          </a:prstGeom>
          <a:solidFill>
            <a:srgbClr val="FF7C8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02A3E37D-C5F4-7BF1-B63D-A9834E9CC933}"/>
              </a:ext>
            </a:extLst>
          </p:cNvPr>
          <p:cNvSpPr/>
          <p:nvPr/>
        </p:nvSpPr>
        <p:spPr>
          <a:xfrm>
            <a:off x="4650508" y="2752436"/>
            <a:ext cx="2890982"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フリーフォーム: 図形 12">
            <a:extLst>
              <a:ext uri="{FF2B5EF4-FFF2-40B4-BE49-F238E27FC236}">
                <a16:creationId xmlns:a16="http://schemas.microsoft.com/office/drawing/2014/main" id="{CA7A5BBB-B898-EC28-6D22-8478431BA0AD}"/>
              </a:ext>
            </a:extLst>
          </p:cNvPr>
          <p:cNvSpPr/>
          <p:nvPr/>
        </p:nvSpPr>
        <p:spPr>
          <a:xfrm>
            <a:off x="2540000" y="2567709"/>
            <a:ext cx="1357745" cy="674255"/>
          </a:xfrm>
          <a:custGeom>
            <a:avLst/>
            <a:gdLst>
              <a:gd name="connsiteX0" fmla="*/ 1357745 w 1357745"/>
              <a:gd name="connsiteY0" fmla="*/ 674255 h 674255"/>
              <a:gd name="connsiteX1" fmla="*/ 1320800 w 1357745"/>
              <a:gd name="connsiteY1" fmla="*/ 535709 h 674255"/>
              <a:gd name="connsiteX2" fmla="*/ 1209964 w 1357745"/>
              <a:gd name="connsiteY2" fmla="*/ 350982 h 674255"/>
              <a:gd name="connsiteX3" fmla="*/ 942109 w 1357745"/>
              <a:gd name="connsiteY3" fmla="*/ 147782 h 674255"/>
              <a:gd name="connsiteX4" fmla="*/ 785091 w 1357745"/>
              <a:gd name="connsiteY4" fmla="*/ 73891 h 674255"/>
              <a:gd name="connsiteX5" fmla="*/ 535709 w 1357745"/>
              <a:gd name="connsiteY5" fmla="*/ 18473 h 674255"/>
              <a:gd name="connsiteX6" fmla="*/ 267855 w 1357745"/>
              <a:gd name="connsiteY6" fmla="*/ 0 h 674255"/>
              <a:gd name="connsiteX7" fmla="*/ 0 w 1357745"/>
              <a:gd name="connsiteY7" fmla="*/ 18473 h 6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7745" h="674255">
                <a:moveTo>
                  <a:pt x="1357745" y="674255"/>
                </a:moveTo>
                <a:cubicBezTo>
                  <a:pt x="1347678" y="623920"/>
                  <a:pt x="1341814" y="587076"/>
                  <a:pt x="1320800" y="535709"/>
                </a:cubicBezTo>
                <a:cubicBezTo>
                  <a:pt x="1294534" y="471504"/>
                  <a:pt x="1258174" y="402636"/>
                  <a:pt x="1209964" y="350982"/>
                </a:cubicBezTo>
                <a:cubicBezTo>
                  <a:pt x="1155139" y="292240"/>
                  <a:pt x="971254" y="163974"/>
                  <a:pt x="942109" y="147782"/>
                </a:cubicBezTo>
                <a:cubicBezTo>
                  <a:pt x="872613" y="109173"/>
                  <a:pt x="858267" y="95844"/>
                  <a:pt x="785091" y="73891"/>
                </a:cubicBezTo>
                <a:cubicBezTo>
                  <a:pt x="736467" y="59304"/>
                  <a:pt x="578155" y="23296"/>
                  <a:pt x="535709" y="18473"/>
                </a:cubicBezTo>
                <a:cubicBezTo>
                  <a:pt x="446785" y="8368"/>
                  <a:pt x="267855" y="0"/>
                  <a:pt x="267855" y="0"/>
                </a:cubicBezTo>
                <a:lnTo>
                  <a:pt x="0" y="18473"/>
                </a:ln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フリーフォーム: 図形 14">
            <a:extLst>
              <a:ext uri="{FF2B5EF4-FFF2-40B4-BE49-F238E27FC236}">
                <a16:creationId xmlns:a16="http://schemas.microsoft.com/office/drawing/2014/main" id="{A858602F-F80E-BA30-C78A-E69CF0763F8C}"/>
              </a:ext>
            </a:extLst>
          </p:cNvPr>
          <p:cNvSpPr/>
          <p:nvPr/>
        </p:nvSpPr>
        <p:spPr>
          <a:xfrm>
            <a:off x="8229600" y="2445839"/>
            <a:ext cx="1237673" cy="814597"/>
          </a:xfrm>
          <a:custGeom>
            <a:avLst/>
            <a:gdLst>
              <a:gd name="connsiteX0" fmla="*/ 0 w 1237673"/>
              <a:gd name="connsiteY0" fmla="*/ 814597 h 814597"/>
              <a:gd name="connsiteX1" fmla="*/ 18473 w 1237673"/>
              <a:gd name="connsiteY1" fmla="*/ 676052 h 814597"/>
              <a:gd name="connsiteX2" fmla="*/ 73891 w 1237673"/>
              <a:gd name="connsiteY2" fmla="*/ 519034 h 814597"/>
              <a:gd name="connsiteX3" fmla="*/ 120073 w 1237673"/>
              <a:gd name="connsiteY3" fmla="*/ 445143 h 814597"/>
              <a:gd name="connsiteX4" fmla="*/ 295564 w 1237673"/>
              <a:gd name="connsiteY4" fmla="*/ 251179 h 814597"/>
              <a:gd name="connsiteX5" fmla="*/ 711200 w 1237673"/>
              <a:gd name="connsiteY5" fmla="*/ 66452 h 814597"/>
              <a:gd name="connsiteX6" fmla="*/ 1006764 w 1237673"/>
              <a:gd name="connsiteY6" fmla="*/ 1797 h 814597"/>
              <a:gd name="connsiteX7" fmla="*/ 1237673 w 1237673"/>
              <a:gd name="connsiteY7" fmla="*/ 1797 h 81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673" h="814597">
                <a:moveTo>
                  <a:pt x="0" y="814597"/>
                </a:moveTo>
                <a:cubicBezTo>
                  <a:pt x="6158" y="768415"/>
                  <a:pt x="8971" y="721663"/>
                  <a:pt x="18473" y="676052"/>
                </a:cubicBezTo>
                <a:cubicBezTo>
                  <a:pt x="21303" y="662467"/>
                  <a:pt x="65825" y="535167"/>
                  <a:pt x="73891" y="519034"/>
                </a:cubicBezTo>
                <a:cubicBezTo>
                  <a:pt x="86880" y="493055"/>
                  <a:pt x="103962" y="469310"/>
                  <a:pt x="120073" y="445143"/>
                </a:cubicBezTo>
                <a:cubicBezTo>
                  <a:pt x="169818" y="370526"/>
                  <a:pt x="215237" y="299749"/>
                  <a:pt x="295564" y="251179"/>
                </a:cubicBezTo>
                <a:cubicBezTo>
                  <a:pt x="396694" y="190031"/>
                  <a:pt x="579769" y="106280"/>
                  <a:pt x="711200" y="66452"/>
                </a:cubicBezTo>
                <a:cubicBezTo>
                  <a:pt x="783076" y="44671"/>
                  <a:pt x="922490" y="6233"/>
                  <a:pt x="1006764" y="1797"/>
                </a:cubicBezTo>
                <a:cubicBezTo>
                  <a:pt x="1083627" y="-2248"/>
                  <a:pt x="1160703" y="1797"/>
                  <a:pt x="1237673" y="1797"/>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6" name="フリーフォーム: 図形 15">
            <a:extLst>
              <a:ext uri="{FF2B5EF4-FFF2-40B4-BE49-F238E27FC236}">
                <a16:creationId xmlns:a16="http://schemas.microsoft.com/office/drawing/2014/main" id="{E97792E7-5D76-7FA4-8F49-93ED7270B8CE}"/>
              </a:ext>
            </a:extLst>
          </p:cNvPr>
          <p:cNvSpPr/>
          <p:nvPr/>
        </p:nvSpPr>
        <p:spPr>
          <a:xfrm>
            <a:off x="6096000" y="2198255"/>
            <a:ext cx="92364" cy="591127"/>
          </a:xfrm>
          <a:custGeom>
            <a:avLst/>
            <a:gdLst>
              <a:gd name="connsiteX0" fmla="*/ 0 w 92364"/>
              <a:gd name="connsiteY0" fmla="*/ 591127 h 591127"/>
              <a:gd name="connsiteX1" fmla="*/ 64655 w 92364"/>
              <a:gd name="connsiteY1" fmla="*/ 46181 h 591127"/>
              <a:gd name="connsiteX2" fmla="*/ 92364 w 92364"/>
              <a:gd name="connsiteY2" fmla="*/ 0 h 591127"/>
            </a:gdLst>
            <a:ahLst/>
            <a:cxnLst>
              <a:cxn ang="0">
                <a:pos x="connsiteX0" y="connsiteY0"/>
              </a:cxn>
              <a:cxn ang="0">
                <a:pos x="connsiteX1" y="connsiteY1"/>
              </a:cxn>
              <a:cxn ang="0">
                <a:pos x="connsiteX2" y="connsiteY2"/>
              </a:cxn>
            </a:cxnLst>
            <a:rect l="l" t="t" r="r" b="b"/>
            <a:pathLst>
              <a:path w="92364" h="591127">
                <a:moveTo>
                  <a:pt x="0" y="591127"/>
                </a:moveTo>
                <a:cubicBezTo>
                  <a:pt x="2026" y="552628"/>
                  <a:pt x="2649" y="139193"/>
                  <a:pt x="64655" y="46181"/>
                </a:cubicBezTo>
                <a:cubicBezTo>
                  <a:pt x="86946" y="12744"/>
                  <a:pt x="78162" y="28400"/>
                  <a:pt x="92364" y="0"/>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2CE229C7-1666-58D5-08C5-1D6853464BE8}"/>
              </a:ext>
            </a:extLst>
          </p:cNvPr>
          <p:cNvSpPr/>
          <p:nvPr/>
        </p:nvSpPr>
        <p:spPr>
          <a:xfrm>
            <a:off x="6068291" y="4904509"/>
            <a:ext cx="258618" cy="803638"/>
          </a:xfrm>
          <a:custGeom>
            <a:avLst/>
            <a:gdLst>
              <a:gd name="connsiteX0" fmla="*/ 18473 w 258618"/>
              <a:gd name="connsiteY0" fmla="*/ 0 h 803638"/>
              <a:gd name="connsiteX1" fmla="*/ 9236 w 258618"/>
              <a:gd name="connsiteY1" fmla="*/ 193964 h 803638"/>
              <a:gd name="connsiteX2" fmla="*/ 0 w 258618"/>
              <a:gd name="connsiteY2" fmla="*/ 286327 h 803638"/>
              <a:gd name="connsiteX3" fmla="*/ 18473 w 258618"/>
              <a:gd name="connsiteY3" fmla="*/ 554182 h 803638"/>
              <a:gd name="connsiteX4" fmla="*/ 46182 w 258618"/>
              <a:gd name="connsiteY4" fmla="*/ 646546 h 803638"/>
              <a:gd name="connsiteX5" fmla="*/ 157018 w 258618"/>
              <a:gd name="connsiteY5" fmla="*/ 766618 h 803638"/>
              <a:gd name="connsiteX6" fmla="*/ 193964 w 258618"/>
              <a:gd name="connsiteY6" fmla="*/ 785091 h 803638"/>
              <a:gd name="connsiteX7" fmla="*/ 258618 w 258618"/>
              <a:gd name="connsiteY7" fmla="*/ 803564 h 8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18" h="803638">
                <a:moveTo>
                  <a:pt x="18473" y="0"/>
                </a:moveTo>
                <a:cubicBezTo>
                  <a:pt x="15394" y="64655"/>
                  <a:pt x="13403" y="129370"/>
                  <a:pt x="9236" y="193964"/>
                </a:cubicBezTo>
                <a:cubicBezTo>
                  <a:pt x="7244" y="224841"/>
                  <a:pt x="0" y="255386"/>
                  <a:pt x="0" y="286327"/>
                </a:cubicBezTo>
                <a:cubicBezTo>
                  <a:pt x="0" y="422698"/>
                  <a:pt x="238" y="453891"/>
                  <a:pt x="18473" y="554182"/>
                </a:cubicBezTo>
                <a:cubicBezTo>
                  <a:pt x="23647" y="582641"/>
                  <a:pt x="29602" y="621676"/>
                  <a:pt x="46182" y="646546"/>
                </a:cubicBezTo>
                <a:cubicBezTo>
                  <a:pt x="80770" y="698427"/>
                  <a:pt x="107631" y="735751"/>
                  <a:pt x="157018" y="766618"/>
                </a:cubicBezTo>
                <a:cubicBezTo>
                  <a:pt x="168694" y="773916"/>
                  <a:pt x="181382" y="779499"/>
                  <a:pt x="193964" y="785091"/>
                </a:cubicBezTo>
                <a:cubicBezTo>
                  <a:pt x="240673" y="805851"/>
                  <a:pt x="225493" y="803564"/>
                  <a:pt x="258618" y="803564"/>
                </a:cubicBez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A3DFAD9C-D8A6-383E-1C4B-81F85C8A5EB9}"/>
              </a:ext>
            </a:extLst>
          </p:cNvPr>
          <p:cNvSpPr txBox="1"/>
          <p:nvPr/>
        </p:nvSpPr>
        <p:spPr>
          <a:xfrm>
            <a:off x="1824181" y="2213766"/>
            <a:ext cx="683491" cy="707886"/>
          </a:xfrm>
          <a:prstGeom prst="rect">
            <a:avLst/>
          </a:prstGeom>
          <a:noFill/>
        </p:spPr>
        <p:txBody>
          <a:bodyPr wrap="square" rtlCol="0">
            <a:spAutoFit/>
          </a:bodyPr>
          <a:lstStyle/>
          <a:p>
            <a:pPr algn="ctr"/>
            <a:r>
              <a:rPr kumimoji="1" lang="en-US" altLang="ja-JP" sz="4000" dirty="0"/>
              <a:t>D</a:t>
            </a:r>
            <a:endParaRPr kumimoji="1" lang="ja-JP" altLang="en-US" sz="4000" dirty="0"/>
          </a:p>
        </p:txBody>
      </p:sp>
      <p:sp>
        <p:nvSpPr>
          <p:cNvPr id="20" name="テキスト ボックス 19">
            <a:extLst>
              <a:ext uri="{FF2B5EF4-FFF2-40B4-BE49-F238E27FC236}">
                <a16:creationId xmlns:a16="http://schemas.microsoft.com/office/drawing/2014/main" id="{AAA0A5BD-28E9-EB65-CE04-CDF521EE3B1C}"/>
              </a:ext>
            </a:extLst>
          </p:cNvPr>
          <p:cNvSpPr txBox="1"/>
          <p:nvPr/>
        </p:nvSpPr>
        <p:spPr>
          <a:xfrm>
            <a:off x="5298211" y="1564661"/>
            <a:ext cx="2243277" cy="707886"/>
          </a:xfrm>
          <a:prstGeom prst="rect">
            <a:avLst/>
          </a:prstGeom>
          <a:noFill/>
        </p:spPr>
        <p:txBody>
          <a:bodyPr wrap="square" rtlCol="0">
            <a:spAutoFit/>
          </a:bodyPr>
          <a:lstStyle/>
          <a:p>
            <a:pPr algn="ctr"/>
            <a:r>
              <a:rPr kumimoji="1" lang="en-US" altLang="ja-JP" sz="4000" dirty="0"/>
              <a:t>G &gt;&gt; 0V</a:t>
            </a:r>
            <a:endParaRPr kumimoji="1" lang="ja-JP" altLang="en-US" sz="4000" dirty="0"/>
          </a:p>
        </p:txBody>
      </p:sp>
      <p:sp>
        <p:nvSpPr>
          <p:cNvPr id="21" name="テキスト ボックス 20">
            <a:extLst>
              <a:ext uri="{FF2B5EF4-FFF2-40B4-BE49-F238E27FC236}">
                <a16:creationId xmlns:a16="http://schemas.microsoft.com/office/drawing/2014/main" id="{29D699EE-617A-46B2-5752-D087DF78F1FA}"/>
              </a:ext>
            </a:extLst>
          </p:cNvPr>
          <p:cNvSpPr txBox="1"/>
          <p:nvPr/>
        </p:nvSpPr>
        <p:spPr>
          <a:xfrm>
            <a:off x="9397999" y="2091896"/>
            <a:ext cx="2378365" cy="707886"/>
          </a:xfrm>
          <a:prstGeom prst="rect">
            <a:avLst/>
          </a:prstGeom>
          <a:noFill/>
        </p:spPr>
        <p:txBody>
          <a:bodyPr wrap="square" rtlCol="0">
            <a:spAutoFit/>
          </a:bodyPr>
          <a:lstStyle/>
          <a:p>
            <a:r>
              <a:rPr kumimoji="1" lang="en-US" altLang="ja-JP" sz="4000" dirty="0"/>
              <a:t>S = 0V</a:t>
            </a:r>
            <a:endParaRPr kumimoji="1" lang="ja-JP" altLang="en-US" sz="4000" dirty="0"/>
          </a:p>
        </p:txBody>
      </p:sp>
      <p:sp>
        <p:nvSpPr>
          <p:cNvPr id="25" name="四角形: 角を丸くする 24">
            <a:extLst>
              <a:ext uri="{FF2B5EF4-FFF2-40B4-BE49-F238E27FC236}">
                <a16:creationId xmlns:a16="http://schemas.microsoft.com/office/drawing/2014/main" id="{AFF4DE93-E0EF-5509-F5A4-71BA5D812BA6}"/>
              </a:ext>
            </a:extLst>
          </p:cNvPr>
          <p:cNvSpPr/>
          <p:nvPr/>
        </p:nvSpPr>
        <p:spPr>
          <a:xfrm>
            <a:off x="7160483" y="3262783"/>
            <a:ext cx="1623298" cy="761174"/>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6" name="テキスト ボックス 25">
            <a:extLst>
              <a:ext uri="{FF2B5EF4-FFF2-40B4-BE49-F238E27FC236}">
                <a16:creationId xmlns:a16="http://schemas.microsoft.com/office/drawing/2014/main" id="{94BC92DB-F6B4-087D-8496-CC2119050A76}"/>
              </a:ext>
            </a:extLst>
          </p:cNvPr>
          <p:cNvSpPr txBox="1"/>
          <p:nvPr/>
        </p:nvSpPr>
        <p:spPr>
          <a:xfrm>
            <a:off x="6216071" y="5354204"/>
            <a:ext cx="2253674" cy="707886"/>
          </a:xfrm>
          <a:prstGeom prst="rect">
            <a:avLst/>
          </a:prstGeom>
          <a:noFill/>
        </p:spPr>
        <p:txBody>
          <a:bodyPr wrap="square" rtlCol="0">
            <a:spAutoFit/>
          </a:bodyPr>
          <a:lstStyle/>
          <a:p>
            <a:r>
              <a:rPr kumimoji="1" lang="en-US" altLang="ja-JP" sz="4000" dirty="0"/>
              <a:t>B = 0V</a:t>
            </a:r>
            <a:endParaRPr kumimoji="1" lang="ja-JP" altLang="en-US" sz="4000" dirty="0"/>
          </a:p>
        </p:txBody>
      </p:sp>
      <p:sp>
        <p:nvSpPr>
          <p:cNvPr id="27" name="テキスト ボックス 26">
            <a:extLst>
              <a:ext uri="{FF2B5EF4-FFF2-40B4-BE49-F238E27FC236}">
                <a16:creationId xmlns:a16="http://schemas.microsoft.com/office/drawing/2014/main" id="{14C7D4CA-203D-9315-BD94-A7A3847DB044}"/>
              </a:ext>
            </a:extLst>
          </p:cNvPr>
          <p:cNvSpPr txBox="1"/>
          <p:nvPr/>
        </p:nvSpPr>
        <p:spPr>
          <a:xfrm>
            <a:off x="7758543" y="4399823"/>
            <a:ext cx="803563" cy="707886"/>
          </a:xfrm>
          <a:prstGeom prst="rect">
            <a:avLst/>
          </a:prstGeom>
          <a:noFill/>
        </p:spPr>
        <p:txBody>
          <a:bodyPr wrap="square" rtlCol="0">
            <a:spAutoFit/>
          </a:bodyPr>
          <a:lstStyle/>
          <a:p>
            <a:pPr algn="ctr"/>
            <a:r>
              <a:rPr kumimoji="1" lang="en-US" altLang="ja-JP" sz="4000" dirty="0">
                <a:solidFill>
                  <a:schemeClr val="bg1"/>
                </a:solidFill>
              </a:rPr>
              <a:t>p</a:t>
            </a:r>
            <a:endParaRPr kumimoji="1" lang="ja-JP" altLang="en-US" sz="4000" dirty="0">
              <a:solidFill>
                <a:schemeClr val="bg1"/>
              </a:solidFill>
            </a:endParaRPr>
          </a:p>
        </p:txBody>
      </p:sp>
      <p:sp>
        <p:nvSpPr>
          <p:cNvPr id="29" name="テキスト ボックス 28">
            <a:extLst>
              <a:ext uri="{FF2B5EF4-FFF2-40B4-BE49-F238E27FC236}">
                <a16:creationId xmlns:a16="http://schemas.microsoft.com/office/drawing/2014/main" id="{A754202A-8031-84A8-48A0-AAB3D321E2AB}"/>
              </a:ext>
            </a:extLst>
          </p:cNvPr>
          <p:cNvSpPr txBox="1"/>
          <p:nvPr/>
        </p:nvSpPr>
        <p:spPr>
          <a:xfrm>
            <a:off x="7958295" y="5233743"/>
            <a:ext cx="4233705" cy="923330"/>
          </a:xfrm>
          <a:prstGeom prst="rect">
            <a:avLst/>
          </a:prstGeom>
          <a:noFill/>
        </p:spPr>
        <p:txBody>
          <a:bodyPr wrap="square" rtlCol="0">
            <a:spAutoFit/>
          </a:bodyPr>
          <a:lstStyle/>
          <a:p>
            <a:pPr algn="ctr"/>
            <a:endParaRPr kumimoji="1" lang="en-US" altLang="ja-JP" dirty="0">
              <a:solidFill>
                <a:schemeClr val="accent1"/>
              </a:solidFill>
            </a:endParaRPr>
          </a:p>
          <a:p>
            <a:pPr algn="ctr"/>
            <a:r>
              <a:rPr kumimoji="1" lang="ja-JP" altLang="en-US" sz="3600" dirty="0">
                <a:solidFill>
                  <a:schemeClr val="accent1"/>
                </a:solidFill>
              </a:rPr>
              <a:t>電流が流れる</a:t>
            </a:r>
            <a:endParaRPr kumimoji="1" lang="ja-JP" altLang="en-US" sz="3600" dirty="0"/>
          </a:p>
        </p:txBody>
      </p:sp>
      <p:sp>
        <p:nvSpPr>
          <p:cNvPr id="3" name="正方形/長方形 2">
            <a:extLst>
              <a:ext uri="{FF2B5EF4-FFF2-40B4-BE49-F238E27FC236}">
                <a16:creationId xmlns:a16="http://schemas.microsoft.com/office/drawing/2014/main" id="{B8A0958B-B082-51E3-1843-020163B6FFA9}"/>
              </a:ext>
            </a:extLst>
          </p:cNvPr>
          <p:cNvSpPr/>
          <p:nvPr/>
        </p:nvSpPr>
        <p:spPr>
          <a:xfrm>
            <a:off x="5358258" y="3269834"/>
            <a:ext cx="1932700" cy="583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C07BC835-5055-8EBB-0825-2D6CB0ECD3F0}"/>
              </a:ext>
            </a:extLst>
          </p:cNvPr>
          <p:cNvSpPr/>
          <p:nvPr/>
        </p:nvSpPr>
        <p:spPr>
          <a:xfrm rot="21012582">
            <a:off x="5292697" y="3647787"/>
            <a:ext cx="1904648" cy="5273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6CA67CF-0823-76D6-E0DA-9A17CDF1F3F9}"/>
              </a:ext>
            </a:extLst>
          </p:cNvPr>
          <p:cNvSpPr txBox="1"/>
          <p:nvPr/>
        </p:nvSpPr>
        <p:spPr>
          <a:xfrm>
            <a:off x="461819" y="3400998"/>
            <a:ext cx="2789382" cy="923330"/>
          </a:xfrm>
          <a:prstGeom prst="rect">
            <a:avLst/>
          </a:prstGeom>
          <a:noFill/>
        </p:spPr>
        <p:txBody>
          <a:bodyPr wrap="square" rtlCol="0">
            <a:spAutoFit/>
          </a:bodyPr>
          <a:lstStyle/>
          <a:p>
            <a:r>
              <a:rPr kumimoji="1" lang="ja-JP" altLang="en-US" dirty="0"/>
              <a:t>反転層は空乏層が</a:t>
            </a:r>
            <a:endParaRPr kumimoji="1" lang="en-US" altLang="ja-JP" dirty="0"/>
          </a:p>
          <a:p>
            <a:r>
              <a:rPr kumimoji="1" lang="ja-JP" altLang="en-US" dirty="0"/>
              <a:t>薄いと形成されやすく、</a:t>
            </a:r>
            <a:endParaRPr kumimoji="1" lang="en-US" altLang="ja-JP" dirty="0"/>
          </a:p>
          <a:p>
            <a:r>
              <a:rPr kumimoji="1" lang="ja-JP" altLang="en-US" dirty="0"/>
              <a:t>厚いと形成されにくい</a:t>
            </a:r>
          </a:p>
        </p:txBody>
      </p:sp>
      <p:sp>
        <p:nvSpPr>
          <p:cNvPr id="31" name="テキスト ボックス 30">
            <a:extLst>
              <a:ext uri="{FF2B5EF4-FFF2-40B4-BE49-F238E27FC236}">
                <a16:creationId xmlns:a16="http://schemas.microsoft.com/office/drawing/2014/main" id="{9552966F-556C-D2B1-A2AC-D41D9288B831}"/>
              </a:ext>
            </a:extLst>
          </p:cNvPr>
          <p:cNvSpPr txBox="1"/>
          <p:nvPr/>
        </p:nvSpPr>
        <p:spPr>
          <a:xfrm>
            <a:off x="1762430" y="1338359"/>
            <a:ext cx="6123708" cy="646331"/>
          </a:xfrm>
          <a:prstGeom prst="rect">
            <a:avLst/>
          </a:prstGeom>
          <a:noFill/>
        </p:spPr>
        <p:txBody>
          <a:bodyPr wrap="square">
            <a:spAutoFit/>
          </a:bodyPr>
          <a:lstStyle/>
          <a:p>
            <a:r>
              <a:rPr kumimoji="1" lang="en-US" altLang="ja-JP" dirty="0" err="1"/>
              <a:t>Vgs</a:t>
            </a:r>
            <a:r>
              <a:rPr kumimoji="1" lang="en-US" altLang="ja-JP" dirty="0"/>
              <a:t> &gt;&gt; 0 </a:t>
            </a:r>
            <a:r>
              <a:rPr kumimoji="1" lang="ja-JP" altLang="en-US" dirty="0"/>
              <a:t>で伝導電子が多数キャリアとなる</a:t>
            </a:r>
            <a:endParaRPr kumimoji="1" lang="en-US" altLang="ja-JP" dirty="0"/>
          </a:p>
          <a:p>
            <a:r>
              <a:rPr kumimoji="1" lang="ja-JP" altLang="en-US" dirty="0"/>
              <a:t>→</a:t>
            </a:r>
            <a:r>
              <a:rPr kumimoji="1" lang="ja-JP" altLang="en-US" dirty="0">
                <a:solidFill>
                  <a:schemeClr val="accent1"/>
                </a:solidFill>
              </a:rPr>
              <a:t>反転層（チャネル）</a:t>
            </a:r>
            <a:r>
              <a:rPr kumimoji="1" lang="ja-JP" altLang="en-US" dirty="0"/>
              <a:t>の形成 </a:t>
            </a:r>
            <a:r>
              <a:rPr kumimoji="1" lang="en-US" altLang="ja-JP" dirty="0"/>
              <a:t>(Vth)</a:t>
            </a:r>
          </a:p>
        </p:txBody>
      </p:sp>
      <p:sp>
        <p:nvSpPr>
          <p:cNvPr id="10" name="四角形: 角を丸くする 9">
            <a:extLst>
              <a:ext uri="{FF2B5EF4-FFF2-40B4-BE49-F238E27FC236}">
                <a16:creationId xmlns:a16="http://schemas.microsoft.com/office/drawing/2014/main" id="{F7FE900C-3EFD-02BC-74E3-08F95E353DEE}"/>
              </a:ext>
            </a:extLst>
          </p:cNvPr>
          <p:cNvSpPr/>
          <p:nvPr/>
        </p:nvSpPr>
        <p:spPr>
          <a:xfrm>
            <a:off x="3385126" y="3267487"/>
            <a:ext cx="2144447" cy="1074240"/>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0" name="四角形: 角を丸くする 29">
            <a:extLst>
              <a:ext uri="{FF2B5EF4-FFF2-40B4-BE49-F238E27FC236}">
                <a16:creationId xmlns:a16="http://schemas.microsoft.com/office/drawing/2014/main" id="{2E7F1C9B-278B-E759-02AC-048FF39B1FEF}"/>
              </a:ext>
            </a:extLst>
          </p:cNvPr>
          <p:cNvSpPr/>
          <p:nvPr/>
        </p:nvSpPr>
        <p:spPr>
          <a:xfrm>
            <a:off x="7235942" y="3258433"/>
            <a:ext cx="1550848" cy="184026"/>
          </a:xfrm>
          <a:prstGeom prst="roundRect">
            <a:avLst/>
          </a:prstGeom>
          <a:solidFill>
            <a:srgbClr val="00206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3" name="四角形: 角を丸くする 32">
            <a:extLst>
              <a:ext uri="{FF2B5EF4-FFF2-40B4-BE49-F238E27FC236}">
                <a16:creationId xmlns:a16="http://schemas.microsoft.com/office/drawing/2014/main" id="{895FA01C-095A-A384-2469-70254F668D31}"/>
              </a:ext>
            </a:extLst>
          </p:cNvPr>
          <p:cNvSpPr/>
          <p:nvPr/>
        </p:nvSpPr>
        <p:spPr>
          <a:xfrm>
            <a:off x="7541489" y="3257615"/>
            <a:ext cx="1242292"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34" name="四角形: 角を丸くする 33">
            <a:extLst>
              <a:ext uri="{FF2B5EF4-FFF2-40B4-BE49-F238E27FC236}">
                <a16:creationId xmlns:a16="http://schemas.microsoft.com/office/drawing/2014/main" id="{165D67DC-3F68-BE0C-FF76-5291408B3996}"/>
              </a:ext>
            </a:extLst>
          </p:cNvPr>
          <p:cNvSpPr/>
          <p:nvPr/>
        </p:nvSpPr>
        <p:spPr>
          <a:xfrm>
            <a:off x="3888212" y="3262778"/>
            <a:ext cx="1550848" cy="87668"/>
          </a:xfrm>
          <a:prstGeom prst="roundRect">
            <a:avLst>
              <a:gd name="adj" fmla="val 0"/>
            </a:avLst>
          </a:prstGeom>
          <a:solidFill>
            <a:srgbClr val="00206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5" name="四角形: 角を丸くする 34">
            <a:extLst>
              <a:ext uri="{FF2B5EF4-FFF2-40B4-BE49-F238E27FC236}">
                <a16:creationId xmlns:a16="http://schemas.microsoft.com/office/drawing/2014/main" id="{81EA126F-4542-9E17-8C49-601CC0E7B4AF}"/>
              </a:ext>
            </a:extLst>
          </p:cNvPr>
          <p:cNvSpPr/>
          <p:nvPr/>
        </p:nvSpPr>
        <p:spPr>
          <a:xfrm>
            <a:off x="3385127" y="3260436"/>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36" name="二等辺三角形 35">
            <a:extLst>
              <a:ext uri="{FF2B5EF4-FFF2-40B4-BE49-F238E27FC236}">
                <a16:creationId xmlns:a16="http://schemas.microsoft.com/office/drawing/2014/main" id="{F1B49686-DA38-4918-1F96-F1EE31FF887B}"/>
              </a:ext>
            </a:extLst>
          </p:cNvPr>
          <p:cNvSpPr/>
          <p:nvPr/>
        </p:nvSpPr>
        <p:spPr>
          <a:xfrm rot="10800000">
            <a:off x="3728209" y="3262776"/>
            <a:ext cx="3562747" cy="179257"/>
          </a:xfrm>
          <a:prstGeom prst="triangle">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C00F034A-9C1B-595B-8BF7-7F9973D86E41}"/>
              </a:ext>
            </a:extLst>
          </p:cNvPr>
          <p:cNvSpPr/>
          <p:nvPr/>
        </p:nvSpPr>
        <p:spPr>
          <a:xfrm>
            <a:off x="4371703" y="2752436"/>
            <a:ext cx="3386840"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60972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4F97D-B112-38D5-BE50-DBB8171633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38010C-A0F9-8B43-AD41-50CD5A0E006B}"/>
              </a:ext>
            </a:extLst>
          </p:cNvPr>
          <p:cNvSpPr>
            <a:spLocks noGrp="1"/>
          </p:cNvSpPr>
          <p:nvPr>
            <p:ph type="title"/>
          </p:nvPr>
        </p:nvSpPr>
        <p:spPr/>
        <p:txBody>
          <a:bodyPr/>
          <a:lstStyle/>
          <a:p>
            <a:r>
              <a:rPr kumimoji="1" lang="en-US" altLang="ja-JP" dirty="0"/>
              <a:t>NMOS </a:t>
            </a:r>
            <a:r>
              <a:rPr kumimoji="1" lang="ja-JP" altLang="en-US" dirty="0"/>
              <a:t>簡単な模式図</a:t>
            </a:r>
          </a:p>
        </p:txBody>
      </p:sp>
      <p:sp>
        <p:nvSpPr>
          <p:cNvPr id="4" name="日付プレースホルダー 3">
            <a:extLst>
              <a:ext uri="{FF2B5EF4-FFF2-40B4-BE49-F238E27FC236}">
                <a16:creationId xmlns:a16="http://schemas.microsoft.com/office/drawing/2014/main" id="{397656D1-7B80-4520-0008-94F966382978}"/>
              </a:ext>
            </a:extLst>
          </p:cNvPr>
          <p:cNvSpPr>
            <a:spLocks noGrp="1"/>
          </p:cNvSpPr>
          <p:nvPr>
            <p:ph type="dt" sz="half" idx="10"/>
          </p:nvPr>
        </p:nvSpPr>
        <p:spPr/>
        <p:txBody>
          <a:bodyPr/>
          <a:lstStyle/>
          <a:p>
            <a:fld id="{C8D55FC4-4FBB-4061-B0B6-96F0050D7C51}"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2A5C2D6C-A208-72EA-37AF-1B2488D46E83}"/>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19</a:t>
            </a:fld>
            <a:endParaRPr kumimoji="1" lang="ja-JP" altLang="en-US" dirty="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32906A66-2FB4-09E9-E6B4-CA1F8A918C1B}"/>
              </a:ext>
            </a:extLst>
          </p:cNvPr>
          <p:cNvSpPr/>
          <p:nvPr/>
        </p:nvSpPr>
        <p:spPr>
          <a:xfrm>
            <a:off x="3385127" y="3260436"/>
            <a:ext cx="5421745" cy="1902691"/>
          </a:xfrm>
          <a:prstGeom prst="rect">
            <a:avLst/>
          </a:prstGeom>
          <a:solidFill>
            <a:srgbClr val="FF7C8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9ABBEF24-AD12-71FD-E5F0-E7DBDB74F3EB}"/>
              </a:ext>
            </a:extLst>
          </p:cNvPr>
          <p:cNvSpPr/>
          <p:nvPr/>
        </p:nvSpPr>
        <p:spPr>
          <a:xfrm>
            <a:off x="4650508" y="2752436"/>
            <a:ext cx="2890982"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フリーフォーム: 図形 12">
            <a:extLst>
              <a:ext uri="{FF2B5EF4-FFF2-40B4-BE49-F238E27FC236}">
                <a16:creationId xmlns:a16="http://schemas.microsoft.com/office/drawing/2014/main" id="{CA11E10E-D4F7-30B8-68F7-45A913CA0C6E}"/>
              </a:ext>
            </a:extLst>
          </p:cNvPr>
          <p:cNvSpPr/>
          <p:nvPr/>
        </p:nvSpPr>
        <p:spPr>
          <a:xfrm>
            <a:off x="2540000" y="2567709"/>
            <a:ext cx="1357745" cy="674255"/>
          </a:xfrm>
          <a:custGeom>
            <a:avLst/>
            <a:gdLst>
              <a:gd name="connsiteX0" fmla="*/ 1357745 w 1357745"/>
              <a:gd name="connsiteY0" fmla="*/ 674255 h 674255"/>
              <a:gd name="connsiteX1" fmla="*/ 1320800 w 1357745"/>
              <a:gd name="connsiteY1" fmla="*/ 535709 h 674255"/>
              <a:gd name="connsiteX2" fmla="*/ 1209964 w 1357745"/>
              <a:gd name="connsiteY2" fmla="*/ 350982 h 674255"/>
              <a:gd name="connsiteX3" fmla="*/ 942109 w 1357745"/>
              <a:gd name="connsiteY3" fmla="*/ 147782 h 674255"/>
              <a:gd name="connsiteX4" fmla="*/ 785091 w 1357745"/>
              <a:gd name="connsiteY4" fmla="*/ 73891 h 674255"/>
              <a:gd name="connsiteX5" fmla="*/ 535709 w 1357745"/>
              <a:gd name="connsiteY5" fmla="*/ 18473 h 674255"/>
              <a:gd name="connsiteX6" fmla="*/ 267855 w 1357745"/>
              <a:gd name="connsiteY6" fmla="*/ 0 h 674255"/>
              <a:gd name="connsiteX7" fmla="*/ 0 w 1357745"/>
              <a:gd name="connsiteY7" fmla="*/ 18473 h 6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7745" h="674255">
                <a:moveTo>
                  <a:pt x="1357745" y="674255"/>
                </a:moveTo>
                <a:cubicBezTo>
                  <a:pt x="1347678" y="623920"/>
                  <a:pt x="1341814" y="587076"/>
                  <a:pt x="1320800" y="535709"/>
                </a:cubicBezTo>
                <a:cubicBezTo>
                  <a:pt x="1294534" y="471504"/>
                  <a:pt x="1258174" y="402636"/>
                  <a:pt x="1209964" y="350982"/>
                </a:cubicBezTo>
                <a:cubicBezTo>
                  <a:pt x="1155139" y="292240"/>
                  <a:pt x="971254" y="163974"/>
                  <a:pt x="942109" y="147782"/>
                </a:cubicBezTo>
                <a:cubicBezTo>
                  <a:pt x="872613" y="109173"/>
                  <a:pt x="858267" y="95844"/>
                  <a:pt x="785091" y="73891"/>
                </a:cubicBezTo>
                <a:cubicBezTo>
                  <a:pt x="736467" y="59304"/>
                  <a:pt x="578155" y="23296"/>
                  <a:pt x="535709" y="18473"/>
                </a:cubicBezTo>
                <a:cubicBezTo>
                  <a:pt x="446785" y="8368"/>
                  <a:pt x="267855" y="0"/>
                  <a:pt x="267855" y="0"/>
                </a:cubicBezTo>
                <a:lnTo>
                  <a:pt x="0" y="18473"/>
                </a:ln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5" name="フリーフォーム: 図形 14">
            <a:extLst>
              <a:ext uri="{FF2B5EF4-FFF2-40B4-BE49-F238E27FC236}">
                <a16:creationId xmlns:a16="http://schemas.microsoft.com/office/drawing/2014/main" id="{90D6734B-956C-6AC3-72AF-CE82DE20801B}"/>
              </a:ext>
            </a:extLst>
          </p:cNvPr>
          <p:cNvSpPr/>
          <p:nvPr/>
        </p:nvSpPr>
        <p:spPr>
          <a:xfrm>
            <a:off x="8229600" y="2445839"/>
            <a:ext cx="1237673" cy="814597"/>
          </a:xfrm>
          <a:custGeom>
            <a:avLst/>
            <a:gdLst>
              <a:gd name="connsiteX0" fmla="*/ 0 w 1237673"/>
              <a:gd name="connsiteY0" fmla="*/ 814597 h 814597"/>
              <a:gd name="connsiteX1" fmla="*/ 18473 w 1237673"/>
              <a:gd name="connsiteY1" fmla="*/ 676052 h 814597"/>
              <a:gd name="connsiteX2" fmla="*/ 73891 w 1237673"/>
              <a:gd name="connsiteY2" fmla="*/ 519034 h 814597"/>
              <a:gd name="connsiteX3" fmla="*/ 120073 w 1237673"/>
              <a:gd name="connsiteY3" fmla="*/ 445143 h 814597"/>
              <a:gd name="connsiteX4" fmla="*/ 295564 w 1237673"/>
              <a:gd name="connsiteY4" fmla="*/ 251179 h 814597"/>
              <a:gd name="connsiteX5" fmla="*/ 711200 w 1237673"/>
              <a:gd name="connsiteY5" fmla="*/ 66452 h 814597"/>
              <a:gd name="connsiteX6" fmla="*/ 1006764 w 1237673"/>
              <a:gd name="connsiteY6" fmla="*/ 1797 h 814597"/>
              <a:gd name="connsiteX7" fmla="*/ 1237673 w 1237673"/>
              <a:gd name="connsiteY7" fmla="*/ 1797 h 81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7673" h="814597">
                <a:moveTo>
                  <a:pt x="0" y="814597"/>
                </a:moveTo>
                <a:cubicBezTo>
                  <a:pt x="6158" y="768415"/>
                  <a:pt x="8971" y="721663"/>
                  <a:pt x="18473" y="676052"/>
                </a:cubicBezTo>
                <a:cubicBezTo>
                  <a:pt x="21303" y="662467"/>
                  <a:pt x="65825" y="535167"/>
                  <a:pt x="73891" y="519034"/>
                </a:cubicBezTo>
                <a:cubicBezTo>
                  <a:pt x="86880" y="493055"/>
                  <a:pt x="103962" y="469310"/>
                  <a:pt x="120073" y="445143"/>
                </a:cubicBezTo>
                <a:cubicBezTo>
                  <a:pt x="169818" y="370526"/>
                  <a:pt x="215237" y="299749"/>
                  <a:pt x="295564" y="251179"/>
                </a:cubicBezTo>
                <a:cubicBezTo>
                  <a:pt x="396694" y="190031"/>
                  <a:pt x="579769" y="106280"/>
                  <a:pt x="711200" y="66452"/>
                </a:cubicBezTo>
                <a:cubicBezTo>
                  <a:pt x="783076" y="44671"/>
                  <a:pt x="922490" y="6233"/>
                  <a:pt x="1006764" y="1797"/>
                </a:cubicBezTo>
                <a:cubicBezTo>
                  <a:pt x="1083627" y="-2248"/>
                  <a:pt x="1160703" y="1797"/>
                  <a:pt x="1237673" y="1797"/>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6" name="フリーフォーム: 図形 15">
            <a:extLst>
              <a:ext uri="{FF2B5EF4-FFF2-40B4-BE49-F238E27FC236}">
                <a16:creationId xmlns:a16="http://schemas.microsoft.com/office/drawing/2014/main" id="{A5DA0C00-9C0C-EF09-4895-6D96F2765B43}"/>
              </a:ext>
            </a:extLst>
          </p:cNvPr>
          <p:cNvSpPr/>
          <p:nvPr/>
        </p:nvSpPr>
        <p:spPr>
          <a:xfrm>
            <a:off x="6096000" y="2198255"/>
            <a:ext cx="92364" cy="591127"/>
          </a:xfrm>
          <a:custGeom>
            <a:avLst/>
            <a:gdLst>
              <a:gd name="connsiteX0" fmla="*/ 0 w 92364"/>
              <a:gd name="connsiteY0" fmla="*/ 591127 h 591127"/>
              <a:gd name="connsiteX1" fmla="*/ 64655 w 92364"/>
              <a:gd name="connsiteY1" fmla="*/ 46181 h 591127"/>
              <a:gd name="connsiteX2" fmla="*/ 92364 w 92364"/>
              <a:gd name="connsiteY2" fmla="*/ 0 h 591127"/>
            </a:gdLst>
            <a:ahLst/>
            <a:cxnLst>
              <a:cxn ang="0">
                <a:pos x="connsiteX0" y="connsiteY0"/>
              </a:cxn>
              <a:cxn ang="0">
                <a:pos x="connsiteX1" y="connsiteY1"/>
              </a:cxn>
              <a:cxn ang="0">
                <a:pos x="connsiteX2" y="connsiteY2"/>
              </a:cxn>
            </a:cxnLst>
            <a:rect l="l" t="t" r="r" b="b"/>
            <a:pathLst>
              <a:path w="92364" h="591127">
                <a:moveTo>
                  <a:pt x="0" y="591127"/>
                </a:moveTo>
                <a:cubicBezTo>
                  <a:pt x="2026" y="552628"/>
                  <a:pt x="2649" y="139193"/>
                  <a:pt x="64655" y="46181"/>
                </a:cubicBezTo>
                <a:cubicBezTo>
                  <a:pt x="86946" y="12744"/>
                  <a:pt x="78162" y="28400"/>
                  <a:pt x="92364" y="0"/>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A8D4AE92-1873-1E3A-3022-8B97631B2553}"/>
              </a:ext>
            </a:extLst>
          </p:cNvPr>
          <p:cNvSpPr/>
          <p:nvPr/>
        </p:nvSpPr>
        <p:spPr>
          <a:xfrm>
            <a:off x="6068291" y="4904509"/>
            <a:ext cx="258618" cy="803638"/>
          </a:xfrm>
          <a:custGeom>
            <a:avLst/>
            <a:gdLst>
              <a:gd name="connsiteX0" fmla="*/ 18473 w 258618"/>
              <a:gd name="connsiteY0" fmla="*/ 0 h 803638"/>
              <a:gd name="connsiteX1" fmla="*/ 9236 w 258618"/>
              <a:gd name="connsiteY1" fmla="*/ 193964 h 803638"/>
              <a:gd name="connsiteX2" fmla="*/ 0 w 258618"/>
              <a:gd name="connsiteY2" fmla="*/ 286327 h 803638"/>
              <a:gd name="connsiteX3" fmla="*/ 18473 w 258618"/>
              <a:gd name="connsiteY3" fmla="*/ 554182 h 803638"/>
              <a:gd name="connsiteX4" fmla="*/ 46182 w 258618"/>
              <a:gd name="connsiteY4" fmla="*/ 646546 h 803638"/>
              <a:gd name="connsiteX5" fmla="*/ 157018 w 258618"/>
              <a:gd name="connsiteY5" fmla="*/ 766618 h 803638"/>
              <a:gd name="connsiteX6" fmla="*/ 193964 w 258618"/>
              <a:gd name="connsiteY6" fmla="*/ 785091 h 803638"/>
              <a:gd name="connsiteX7" fmla="*/ 258618 w 258618"/>
              <a:gd name="connsiteY7" fmla="*/ 803564 h 8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18" h="803638">
                <a:moveTo>
                  <a:pt x="18473" y="0"/>
                </a:moveTo>
                <a:cubicBezTo>
                  <a:pt x="15394" y="64655"/>
                  <a:pt x="13403" y="129370"/>
                  <a:pt x="9236" y="193964"/>
                </a:cubicBezTo>
                <a:cubicBezTo>
                  <a:pt x="7244" y="224841"/>
                  <a:pt x="0" y="255386"/>
                  <a:pt x="0" y="286327"/>
                </a:cubicBezTo>
                <a:cubicBezTo>
                  <a:pt x="0" y="422698"/>
                  <a:pt x="238" y="453891"/>
                  <a:pt x="18473" y="554182"/>
                </a:cubicBezTo>
                <a:cubicBezTo>
                  <a:pt x="23647" y="582641"/>
                  <a:pt x="29602" y="621676"/>
                  <a:pt x="46182" y="646546"/>
                </a:cubicBezTo>
                <a:cubicBezTo>
                  <a:pt x="80770" y="698427"/>
                  <a:pt x="107631" y="735751"/>
                  <a:pt x="157018" y="766618"/>
                </a:cubicBezTo>
                <a:cubicBezTo>
                  <a:pt x="168694" y="773916"/>
                  <a:pt x="181382" y="779499"/>
                  <a:pt x="193964" y="785091"/>
                </a:cubicBezTo>
                <a:cubicBezTo>
                  <a:pt x="240673" y="805851"/>
                  <a:pt x="225493" y="803564"/>
                  <a:pt x="258618" y="803564"/>
                </a:cubicBezTo>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1A0A58C1-73A3-6C26-90F8-CE9323842171}"/>
              </a:ext>
            </a:extLst>
          </p:cNvPr>
          <p:cNvSpPr txBox="1"/>
          <p:nvPr/>
        </p:nvSpPr>
        <p:spPr>
          <a:xfrm>
            <a:off x="1824181" y="2213766"/>
            <a:ext cx="683491" cy="707886"/>
          </a:xfrm>
          <a:prstGeom prst="rect">
            <a:avLst/>
          </a:prstGeom>
          <a:noFill/>
        </p:spPr>
        <p:txBody>
          <a:bodyPr wrap="square" rtlCol="0">
            <a:spAutoFit/>
          </a:bodyPr>
          <a:lstStyle/>
          <a:p>
            <a:pPr algn="ctr"/>
            <a:r>
              <a:rPr kumimoji="1" lang="en-US" altLang="ja-JP" sz="4000" dirty="0"/>
              <a:t>D</a:t>
            </a:r>
            <a:endParaRPr kumimoji="1" lang="ja-JP" altLang="en-US" sz="4000" dirty="0"/>
          </a:p>
        </p:txBody>
      </p:sp>
      <p:sp>
        <p:nvSpPr>
          <p:cNvPr id="20" name="テキスト ボックス 19">
            <a:extLst>
              <a:ext uri="{FF2B5EF4-FFF2-40B4-BE49-F238E27FC236}">
                <a16:creationId xmlns:a16="http://schemas.microsoft.com/office/drawing/2014/main" id="{8E3879CA-71C5-5803-51B9-69ACEF4374D3}"/>
              </a:ext>
            </a:extLst>
          </p:cNvPr>
          <p:cNvSpPr txBox="1"/>
          <p:nvPr/>
        </p:nvSpPr>
        <p:spPr>
          <a:xfrm>
            <a:off x="5298211" y="1564661"/>
            <a:ext cx="2243277" cy="707886"/>
          </a:xfrm>
          <a:prstGeom prst="rect">
            <a:avLst/>
          </a:prstGeom>
          <a:noFill/>
        </p:spPr>
        <p:txBody>
          <a:bodyPr wrap="square" rtlCol="0">
            <a:spAutoFit/>
          </a:bodyPr>
          <a:lstStyle/>
          <a:p>
            <a:pPr algn="ctr"/>
            <a:r>
              <a:rPr kumimoji="1" lang="en-US" altLang="ja-JP" sz="4000" dirty="0"/>
              <a:t>G &gt;&gt; 0V</a:t>
            </a:r>
            <a:endParaRPr kumimoji="1" lang="ja-JP" altLang="en-US" sz="4000" dirty="0"/>
          </a:p>
        </p:txBody>
      </p:sp>
      <p:sp>
        <p:nvSpPr>
          <p:cNvPr id="21" name="テキスト ボックス 20">
            <a:extLst>
              <a:ext uri="{FF2B5EF4-FFF2-40B4-BE49-F238E27FC236}">
                <a16:creationId xmlns:a16="http://schemas.microsoft.com/office/drawing/2014/main" id="{66E94353-9C11-EF39-4EE5-F561FD57E1A7}"/>
              </a:ext>
            </a:extLst>
          </p:cNvPr>
          <p:cNvSpPr txBox="1"/>
          <p:nvPr/>
        </p:nvSpPr>
        <p:spPr>
          <a:xfrm>
            <a:off x="9397999" y="2091896"/>
            <a:ext cx="2378365" cy="707886"/>
          </a:xfrm>
          <a:prstGeom prst="rect">
            <a:avLst/>
          </a:prstGeom>
          <a:noFill/>
        </p:spPr>
        <p:txBody>
          <a:bodyPr wrap="square" rtlCol="0">
            <a:spAutoFit/>
          </a:bodyPr>
          <a:lstStyle/>
          <a:p>
            <a:r>
              <a:rPr kumimoji="1" lang="en-US" altLang="ja-JP" sz="4000" dirty="0"/>
              <a:t>S = 0V</a:t>
            </a:r>
            <a:endParaRPr kumimoji="1" lang="ja-JP" altLang="en-US" sz="4000" dirty="0"/>
          </a:p>
        </p:txBody>
      </p:sp>
      <p:sp>
        <p:nvSpPr>
          <p:cNvPr id="25" name="四角形: 角を丸くする 24">
            <a:extLst>
              <a:ext uri="{FF2B5EF4-FFF2-40B4-BE49-F238E27FC236}">
                <a16:creationId xmlns:a16="http://schemas.microsoft.com/office/drawing/2014/main" id="{C4B4F9D7-9604-CC64-11C7-099F9D9E6CFD}"/>
              </a:ext>
            </a:extLst>
          </p:cNvPr>
          <p:cNvSpPr/>
          <p:nvPr/>
        </p:nvSpPr>
        <p:spPr>
          <a:xfrm>
            <a:off x="7160483" y="3262783"/>
            <a:ext cx="1623298" cy="761174"/>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26" name="テキスト ボックス 25">
            <a:extLst>
              <a:ext uri="{FF2B5EF4-FFF2-40B4-BE49-F238E27FC236}">
                <a16:creationId xmlns:a16="http://schemas.microsoft.com/office/drawing/2014/main" id="{C1D910E3-6ECF-7D21-3B43-0FD869D911A6}"/>
              </a:ext>
            </a:extLst>
          </p:cNvPr>
          <p:cNvSpPr txBox="1"/>
          <p:nvPr/>
        </p:nvSpPr>
        <p:spPr>
          <a:xfrm>
            <a:off x="6216071" y="5354204"/>
            <a:ext cx="2253674" cy="707886"/>
          </a:xfrm>
          <a:prstGeom prst="rect">
            <a:avLst/>
          </a:prstGeom>
          <a:noFill/>
        </p:spPr>
        <p:txBody>
          <a:bodyPr wrap="square" rtlCol="0">
            <a:spAutoFit/>
          </a:bodyPr>
          <a:lstStyle/>
          <a:p>
            <a:r>
              <a:rPr kumimoji="1" lang="en-US" altLang="ja-JP" sz="4000" dirty="0"/>
              <a:t>B = 0V</a:t>
            </a:r>
            <a:endParaRPr kumimoji="1" lang="ja-JP" altLang="en-US" sz="4000" dirty="0"/>
          </a:p>
        </p:txBody>
      </p:sp>
      <p:sp>
        <p:nvSpPr>
          <p:cNvPr id="27" name="テキスト ボックス 26">
            <a:extLst>
              <a:ext uri="{FF2B5EF4-FFF2-40B4-BE49-F238E27FC236}">
                <a16:creationId xmlns:a16="http://schemas.microsoft.com/office/drawing/2014/main" id="{19A9526F-1CF8-B56E-55DF-AC0A10CE9638}"/>
              </a:ext>
            </a:extLst>
          </p:cNvPr>
          <p:cNvSpPr txBox="1"/>
          <p:nvPr/>
        </p:nvSpPr>
        <p:spPr>
          <a:xfrm>
            <a:off x="7758543" y="4399823"/>
            <a:ext cx="803563" cy="707886"/>
          </a:xfrm>
          <a:prstGeom prst="rect">
            <a:avLst/>
          </a:prstGeom>
          <a:noFill/>
        </p:spPr>
        <p:txBody>
          <a:bodyPr wrap="square" rtlCol="0">
            <a:spAutoFit/>
          </a:bodyPr>
          <a:lstStyle/>
          <a:p>
            <a:pPr algn="ctr"/>
            <a:r>
              <a:rPr kumimoji="1" lang="en-US" altLang="ja-JP" sz="4000" dirty="0">
                <a:solidFill>
                  <a:schemeClr val="bg1"/>
                </a:solidFill>
              </a:rPr>
              <a:t>p</a:t>
            </a:r>
            <a:endParaRPr kumimoji="1" lang="ja-JP" altLang="en-US" sz="4000" dirty="0">
              <a:solidFill>
                <a:schemeClr val="bg1"/>
              </a:solidFill>
            </a:endParaRPr>
          </a:p>
        </p:txBody>
      </p:sp>
      <p:sp>
        <p:nvSpPr>
          <p:cNvPr id="29" name="テキスト ボックス 28">
            <a:extLst>
              <a:ext uri="{FF2B5EF4-FFF2-40B4-BE49-F238E27FC236}">
                <a16:creationId xmlns:a16="http://schemas.microsoft.com/office/drawing/2014/main" id="{5ABBD640-A50B-7FC1-6015-8C98160B9BD1}"/>
              </a:ext>
            </a:extLst>
          </p:cNvPr>
          <p:cNvSpPr txBox="1"/>
          <p:nvPr/>
        </p:nvSpPr>
        <p:spPr>
          <a:xfrm>
            <a:off x="7958295" y="5233743"/>
            <a:ext cx="4233705" cy="923330"/>
          </a:xfrm>
          <a:prstGeom prst="rect">
            <a:avLst/>
          </a:prstGeom>
          <a:noFill/>
        </p:spPr>
        <p:txBody>
          <a:bodyPr wrap="square" rtlCol="0">
            <a:spAutoFit/>
          </a:bodyPr>
          <a:lstStyle/>
          <a:p>
            <a:pPr algn="ctr"/>
            <a:endParaRPr kumimoji="1" lang="en-US" altLang="ja-JP" dirty="0">
              <a:solidFill>
                <a:schemeClr val="accent1"/>
              </a:solidFill>
            </a:endParaRPr>
          </a:p>
          <a:p>
            <a:pPr algn="ctr"/>
            <a:r>
              <a:rPr kumimoji="1" lang="ja-JP" altLang="en-US" sz="3600" dirty="0">
                <a:solidFill>
                  <a:schemeClr val="accent1"/>
                </a:solidFill>
              </a:rPr>
              <a:t>電流が流れる</a:t>
            </a:r>
            <a:endParaRPr kumimoji="1" lang="ja-JP" altLang="en-US" sz="3600" dirty="0"/>
          </a:p>
        </p:txBody>
      </p:sp>
      <p:sp>
        <p:nvSpPr>
          <p:cNvPr id="3" name="正方形/長方形 2">
            <a:extLst>
              <a:ext uri="{FF2B5EF4-FFF2-40B4-BE49-F238E27FC236}">
                <a16:creationId xmlns:a16="http://schemas.microsoft.com/office/drawing/2014/main" id="{10319A28-FF8A-9C5A-E01D-4412322DF2BD}"/>
              </a:ext>
            </a:extLst>
          </p:cNvPr>
          <p:cNvSpPr/>
          <p:nvPr/>
        </p:nvSpPr>
        <p:spPr>
          <a:xfrm>
            <a:off x="5358258" y="3269834"/>
            <a:ext cx="1932700" cy="583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8F8993E4-27B0-A748-39D1-E0CF2E820E1B}"/>
              </a:ext>
            </a:extLst>
          </p:cNvPr>
          <p:cNvSpPr/>
          <p:nvPr/>
        </p:nvSpPr>
        <p:spPr>
          <a:xfrm rot="21012582">
            <a:off x="5292697" y="3647787"/>
            <a:ext cx="1904648" cy="5273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4CB2280F-7CF2-475C-8079-62237F758DEF}"/>
              </a:ext>
            </a:extLst>
          </p:cNvPr>
          <p:cNvSpPr txBox="1"/>
          <p:nvPr/>
        </p:nvSpPr>
        <p:spPr>
          <a:xfrm>
            <a:off x="461819" y="3400998"/>
            <a:ext cx="2789382" cy="923330"/>
          </a:xfrm>
          <a:prstGeom prst="rect">
            <a:avLst/>
          </a:prstGeom>
          <a:noFill/>
        </p:spPr>
        <p:txBody>
          <a:bodyPr wrap="square" rtlCol="0">
            <a:spAutoFit/>
          </a:bodyPr>
          <a:lstStyle/>
          <a:p>
            <a:r>
              <a:rPr kumimoji="1" lang="ja-JP" altLang="en-US" dirty="0"/>
              <a:t>反転層は空乏層が</a:t>
            </a:r>
            <a:endParaRPr kumimoji="1" lang="en-US" altLang="ja-JP" dirty="0"/>
          </a:p>
          <a:p>
            <a:r>
              <a:rPr kumimoji="1" lang="ja-JP" altLang="en-US" dirty="0"/>
              <a:t>薄いと形成されやすく、</a:t>
            </a:r>
            <a:endParaRPr kumimoji="1" lang="en-US" altLang="ja-JP" dirty="0"/>
          </a:p>
          <a:p>
            <a:r>
              <a:rPr kumimoji="1" lang="ja-JP" altLang="en-US" dirty="0"/>
              <a:t>厚いと形成されにくい</a:t>
            </a:r>
          </a:p>
        </p:txBody>
      </p:sp>
      <p:sp>
        <p:nvSpPr>
          <p:cNvPr id="10" name="四角形: 角を丸くする 9">
            <a:extLst>
              <a:ext uri="{FF2B5EF4-FFF2-40B4-BE49-F238E27FC236}">
                <a16:creationId xmlns:a16="http://schemas.microsoft.com/office/drawing/2014/main" id="{2210BC26-9BC7-9899-2A1D-A412922545C3}"/>
              </a:ext>
            </a:extLst>
          </p:cNvPr>
          <p:cNvSpPr/>
          <p:nvPr/>
        </p:nvSpPr>
        <p:spPr>
          <a:xfrm>
            <a:off x="3385124" y="3267487"/>
            <a:ext cx="2144449" cy="1074240"/>
          </a:xfrm>
          <a:prstGeom prst="roundRect">
            <a:avLst/>
          </a:prstGeom>
          <a:solidFill>
            <a:schemeClr val="accent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0" name="四角形: 角を丸くする 29">
            <a:extLst>
              <a:ext uri="{FF2B5EF4-FFF2-40B4-BE49-F238E27FC236}">
                <a16:creationId xmlns:a16="http://schemas.microsoft.com/office/drawing/2014/main" id="{15FC2559-1E34-968C-FADE-A6629518FF8D}"/>
              </a:ext>
            </a:extLst>
          </p:cNvPr>
          <p:cNvSpPr/>
          <p:nvPr/>
        </p:nvSpPr>
        <p:spPr>
          <a:xfrm>
            <a:off x="7235942" y="3262777"/>
            <a:ext cx="1326164" cy="179258"/>
          </a:xfrm>
          <a:prstGeom prst="roundRect">
            <a:avLst/>
          </a:prstGeom>
          <a:solidFill>
            <a:srgbClr val="FF000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3" name="四角形: 角を丸くする 32">
            <a:extLst>
              <a:ext uri="{FF2B5EF4-FFF2-40B4-BE49-F238E27FC236}">
                <a16:creationId xmlns:a16="http://schemas.microsoft.com/office/drawing/2014/main" id="{B1275C2E-D6A4-BC83-A6EE-9D446D495A0C}"/>
              </a:ext>
            </a:extLst>
          </p:cNvPr>
          <p:cNvSpPr/>
          <p:nvPr/>
        </p:nvSpPr>
        <p:spPr>
          <a:xfrm>
            <a:off x="7541489" y="3257615"/>
            <a:ext cx="1242292"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34" name="四角形: 角を丸くする 33">
            <a:extLst>
              <a:ext uri="{FF2B5EF4-FFF2-40B4-BE49-F238E27FC236}">
                <a16:creationId xmlns:a16="http://schemas.microsoft.com/office/drawing/2014/main" id="{B8F9FEE5-83F1-1AD4-A964-0D9BB0EE10E4}"/>
              </a:ext>
            </a:extLst>
          </p:cNvPr>
          <p:cNvSpPr/>
          <p:nvPr/>
        </p:nvSpPr>
        <p:spPr>
          <a:xfrm>
            <a:off x="3888212" y="3262778"/>
            <a:ext cx="1550848" cy="87668"/>
          </a:xfrm>
          <a:prstGeom prst="roundRect">
            <a:avLst>
              <a:gd name="adj" fmla="val 0"/>
            </a:avLst>
          </a:prstGeom>
          <a:solidFill>
            <a:srgbClr val="FF000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3200" dirty="0">
              <a:solidFill>
                <a:schemeClr val="bg1"/>
              </a:solidFill>
            </a:endParaRPr>
          </a:p>
        </p:txBody>
      </p:sp>
      <p:sp>
        <p:nvSpPr>
          <p:cNvPr id="36" name="二等辺三角形 35">
            <a:extLst>
              <a:ext uri="{FF2B5EF4-FFF2-40B4-BE49-F238E27FC236}">
                <a16:creationId xmlns:a16="http://schemas.microsoft.com/office/drawing/2014/main" id="{1DAF7FFD-8DA3-55BA-180F-43D6D41CA6E8}"/>
              </a:ext>
            </a:extLst>
          </p:cNvPr>
          <p:cNvSpPr/>
          <p:nvPr/>
        </p:nvSpPr>
        <p:spPr>
          <a:xfrm rot="10800000">
            <a:off x="3728209" y="3262776"/>
            <a:ext cx="3562747" cy="179257"/>
          </a:xfrm>
          <a:prstGeom prst="triangle">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四角形: 角を丸くする 34">
            <a:extLst>
              <a:ext uri="{FF2B5EF4-FFF2-40B4-BE49-F238E27FC236}">
                <a16:creationId xmlns:a16="http://schemas.microsoft.com/office/drawing/2014/main" id="{18EA53D5-B1DB-3765-13FB-30C79DD17D9F}"/>
              </a:ext>
            </a:extLst>
          </p:cNvPr>
          <p:cNvSpPr/>
          <p:nvPr/>
        </p:nvSpPr>
        <p:spPr>
          <a:xfrm>
            <a:off x="3385127" y="3260436"/>
            <a:ext cx="1237673" cy="600364"/>
          </a:xfrm>
          <a:prstGeom prst="roundRect">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3200" dirty="0">
                <a:solidFill>
                  <a:schemeClr val="bg1"/>
                </a:solidFill>
              </a:rPr>
              <a:t>n+</a:t>
            </a:r>
            <a:endParaRPr kumimoji="1" lang="ja-JP" altLang="en-US" sz="3200" dirty="0">
              <a:solidFill>
                <a:schemeClr val="bg1"/>
              </a:solidFill>
            </a:endParaRPr>
          </a:p>
        </p:txBody>
      </p:sp>
      <p:sp>
        <p:nvSpPr>
          <p:cNvPr id="5" name="正方形/長方形 4">
            <a:extLst>
              <a:ext uri="{FF2B5EF4-FFF2-40B4-BE49-F238E27FC236}">
                <a16:creationId xmlns:a16="http://schemas.microsoft.com/office/drawing/2014/main" id="{F8A6E350-2FE5-0AC9-A38C-FABC5CEEE0BF}"/>
              </a:ext>
            </a:extLst>
          </p:cNvPr>
          <p:cNvSpPr/>
          <p:nvPr/>
        </p:nvSpPr>
        <p:spPr>
          <a:xfrm>
            <a:off x="4371703" y="2752436"/>
            <a:ext cx="3386840" cy="2863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9" name="直線矢印コネクタ 8">
            <a:extLst>
              <a:ext uri="{FF2B5EF4-FFF2-40B4-BE49-F238E27FC236}">
                <a16:creationId xmlns:a16="http://schemas.microsoft.com/office/drawing/2014/main" id="{73293783-3B3C-0131-45A4-0DE543431AE4}"/>
              </a:ext>
            </a:extLst>
          </p:cNvPr>
          <p:cNvCxnSpPr/>
          <p:nvPr/>
        </p:nvCxnSpPr>
        <p:spPr>
          <a:xfrm>
            <a:off x="4636654" y="3479888"/>
            <a:ext cx="2890980" cy="13034"/>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742A7EFE-7B36-CCB0-8D37-A5831B6A1264}"/>
              </a:ext>
            </a:extLst>
          </p:cNvPr>
          <p:cNvSpPr txBox="1"/>
          <p:nvPr/>
        </p:nvSpPr>
        <p:spPr>
          <a:xfrm>
            <a:off x="5141457" y="3458704"/>
            <a:ext cx="1898755" cy="369332"/>
          </a:xfrm>
          <a:prstGeom prst="rect">
            <a:avLst/>
          </a:prstGeom>
          <a:noFill/>
        </p:spPr>
        <p:txBody>
          <a:bodyPr wrap="square" rtlCol="0">
            <a:spAutoFit/>
          </a:bodyPr>
          <a:lstStyle/>
          <a:p>
            <a:pPr algn="ctr"/>
            <a:r>
              <a:rPr kumimoji="1" lang="ja-JP" altLang="en-US" b="1" dirty="0">
                <a:solidFill>
                  <a:srgbClr val="FF0000"/>
                </a:solidFill>
              </a:rPr>
              <a:t>実効チャネル長</a:t>
            </a:r>
          </a:p>
        </p:txBody>
      </p:sp>
      <p:cxnSp>
        <p:nvCxnSpPr>
          <p:cNvPr id="23" name="直線コネクタ 22">
            <a:extLst>
              <a:ext uri="{FF2B5EF4-FFF2-40B4-BE49-F238E27FC236}">
                <a16:creationId xmlns:a16="http://schemas.microsoft.com/office/drawing/2014/main" id="{8E5543D7-D5AB-5FA9-327A-AA07DE45C1F8}"/>
              </a:ext>
            </a:extLst>
          </p:cNvPr>
          <p:cNvCxnSpPr/>
          <p:nvPr/>
        </p:nvCxnSpPr>
        <p:spPr>
          <a:xfrm>
            <a:off x="4371703" y="3038764"/>
            <a:ext cx="0" cy="2124363"/>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28" name="直線コネクタ 27">
            <a:extLst>
              <a:ext uri="{FF2B5EF4-FFF2-40B4-BE49-F238E27FC236}">
                <a16:creationId xmlns:a16="http://schemas.microsoft.com/office/drawing/2014/main" id="{B0A306D7-A659-379A-7B06-D03FBCE7A61A}"/>
              </a:ext>
            </a:extLst>
          </p:cNvPr>
          <p:cNvCxnSpPr/>
          <p:nvPr/>
        </p:nvCxnSpPr>
        <p:spPr>
          <a:xfrm>
            <a:off x="7748353" y="3038764"/>
            <a:ext cx="0" cy="2124363"/>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32" name="テキスト ボックス 31">
            <a:extLst>
              <a:ext uri="{FF2B5EF4-FFF2-40B4-BE49-F238E27FC236}">
                <a16:creationId xmlns:a16="http://schemas.microsoft.com/office/drawing/2014/main" id="{79D8A2C4-8A57-A3EB-7E6F-D2F56E4D431C}"/>
              </a:ext>
            </a:extLst>
          </p:cNvPr>
          <p:cNvSpPr txBox="1"/>
          <p:nvPr/>
        </p:nvSpPr>
        <p:spPr>
          <a:xfrm>
            <a:off x="5118913" y="4462188"/>
            <a:ext cx="1898755" cy="369332"/>
          </a:xfrm>
          <a:prstGeom prst="rect">
            <a:avLst/>
          </a:prstGeom>
          <a:noFill/>
        </p:spPr>
        <p:txBody>
          <a:bodyPr wrap="square" rtlCol="0">
            <a:spAutoFit/>
          </a:bodyPr>
          <a:lstStyle/>
          <a:p>
            <a:pPr algn="ctr"/>
            <a:r>
              <a:rPr kumimoji="1" lang="ja-JP" altLang="en-US" b="1" dirty="0"/>
              <a:t>チャネル長</a:t>
            </a:r>
          </a:p>
        </p:txBody>
      </p:sp>
      <p:cxnSp>
        <p:nvCxnSpPr>
          <p:cNvPr id="37" name="直線矢印コネクタ 36">
            <a:extLst>
              <a:ext uri="{FF2B5EF4-FFF2-40B4-BE49-F238E27FC236}">
                <a16:creationId xmlns:a16="http://schemas.microsoft.com/office/drawing/2014/main" id="{25B1FFB7-DC57-968F-7863-FAFE5F48495B}"/>
              </a:ext>
            </a:extLst>
          </p:cNvPr>
          <p:cNvCxnSpPr>
            <a:cxnSpLocks/>
          </p:cNvCxnSpPr>
          <p:nvPr/>
        </p:nvCxnSpPr>
        <p:spPr>
          <a:xfrm>
            <a:off x="4371703" y="4462188"/>
            <a:ext cx="337665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A4934E83-5B37-A844-3EAF-089BE46B9681}"/>
              </a:ext>
            </a:extLst>
          </p:cNvPr>
          <p:cNvSpPr txBox="1"/>
          <p:nvPr/>
        </p:nvSpPr>
        <p:spPr>
          <a:xfrm>
            <a:off x="1762430" y="1338359"/>
            <a:ext cx="6123708" cy="646331"/>
          </a:xfrm>
          <a:prstGeom prst="rect">
            <a:avLst/>
          </a:prstGeom>
          <a:noFill/>
        </p:spPr>
        <p:txBody>
          <a:bodyPr wrap="square">
            <a:spAutoFit/>
          </a:bodyPr>
          <a:lstStyle/>
          <a:p>
            <a:r>
              <a:rPr kumimoji="1" lang="en-US" altLang="ja-JP" dirty="0" err="1"/>
              <a:t>Vgs</a:t>
            </a:r>
            <a:r>
              <a:rPr kumimoji="1" lang="en-US" altLang="ja-JP" dirty="0"/>
              <a:t> &gt;&gt; 0 </a:t>
            </a:r>
            <a:r>
              <a:rPr kumimoji="1" lang="ja-JP" altLang="en-US" dirty="0"/>
              <a:t>で伝導電子が多数キャリアとなる</a:t>
            </a:r>
            <a:endParaRPr kumimoji="1" lang="en-US" altLang="ja-JP" dirty="0"/>
          </a:p>
          <a:p>
            <a:r>
              <a:rPr kumimoji="1" lang="ja-JP" altLang="en-US" dirty="0"/>
              <a:t>→</a:t>
            </a:r>
            <a:r>
              <a:rPr kumimoji="1" lang="ja-JP" altLang="en-US" dirty="0">
                <a:solidFill>
                  <a:schemeClr val="accent1"/>
                </a:solidFill>
              </a:rPr>
              <a:t>反転層（チャネル）</a:t>
            </a:r>
            <a:r>
              <a:rPr kumimoji="1" lang="ja-JP" altLang="en-US" dirty="0"/>
              <a:t>の形成 </a:t>
            </a:r>
            <a:r>
              <a:rPr kumimoji="1" lang="en-US" altLang="ja-JP" dirty="0"/>
              <a:t>(Vth)</a:t>
            </a:r>
          </a:p>
        </p:txBody>
      </p:sp>
    </p:spTree>
    <p:extLst>
      <p:ext uri="{BB962C8B-B14F-4D97-AF65-F5344CB8AC3E}">
        <p14:creationId xmlns:p14="http://schemas.microsoft.com/office/powerpoint/2010/main" val="1416076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8324AB-109E-62BC-B44A-BB3D1C1C6849}"/>
              </a:ext>
            </a:extLst>
          </p:cNvPr>
          <p:cNvSpPr>
            <a:spLocks noGrp="1"/>
          </p:cNvSpPr>
          <p:nvPr>
            <p:ph type="title"/>
          </p:nvPr>
        </p:nvSpPr>
        <p:spPr/>
        <p:txBody>
          <a:bodyPr/>
          <a:lstStyle/>
          <a:p>
            <a:r>
              <a:rPr kumimoji="1" lang="en-US" altLang="ja-JP" dirty="0"/>
              <a:t>PMOS, NMOS</a:t>
            </a:r>
            <a:r>
              <a:rPr lang="ja-JP" altLang="en-US" dirty="0"/>
              <a:t>とは</a:t>
            </a:r>
            <a:endParaRPr kumimoji="1" lang="ja-JP" altLang="en-US" dirty="0"/>
          </a:p>
        </p:txBody>
      </p:sp>
      <p:sp>
        <p:nvSpPr>
          <p:cNvPr id="3" name="日付プレースホルダー 2">
            <a:extLst>
              <a:ext uri="{FF2B5EF4-FFF2-40B4-BE49-F238E27FC236}">
                <a16:creationId xmlns:a16="http://schemas.microsoft.com/office/drawing/2014/main" id="{B17F9F4B-05EE-D638-141D-2E805C70F100}"/>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7F3AEA3-2538-A296-7414-59B5F2FB1914}"/>
              </a:ext>
            </a:extLst>
          </p:cNvPr>
          <p:cNvSpPr>
            <a:spLocks noGrp="1"/>
          </p:cNvSpPr>
          <p:nvPr>
            <p:ph type="sldNum" sz="quarter" idx="12"/>
          </p:nvPr>
        </p:nvSpPr>
        <p:spPr/>
        <p:txBody>
          <a:bodyPr/>
          <a:lstStyle/>
          <a:p>
            <a:pPr rtl="0"/>
            <a:fld id="{9860EDB8-5305-433F-BE41-D7A86D811DB3}" type="slidenum">
              <a:rPr lang="en-US" altLang="ja-JP" noProof="0" smtClean="0"/>
              <a:pPr rtl="0"/>
              <a:t>20</a:t>
            </a:fld>
            <a:endParaRPr lang="ja-JP" altLang="en-US" noProof="0"/>
          </a:p>
        </p:txBody>
      </p:sp>
      <p:sp>
        <p:nvSpPr>
          <p:cNvPr id="5" name="コンテンツ プレースホルダー 4">
            <a:extLst>
              <a:ext uri="{FF2B5EF4-FFF2-40B4-BE49-F238E27FC236}">
                <a16:creationId xmlns:a16="http://schemas.microsoft.com/office/drawing/2014/main" id="{4A26C06E-4AC0-2A1C-73DE-56C4A126F44D}"/>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ja-JP" altLang="en-US" sz="2000" dirty="0"/>
              <a:t>右図の等価回路は「</a:t>
            </a:r>
            <a:r>
              <a:rPr lang="en-US" altLang="ja-JP" sz="2000" dirty="0"/>
              <a:t>MOSFET</a:t>
            </a:r>
            <a:r>
              <a:rPr lang="ja-JP" altLang="en-US" sz="2000" dirty="0"/>
              <a:t>を敢えて</a:t>
            </a:r>
            <a:r>
              <a:rPr lang="en-US" altLang="ja-JP" sz="2000" dirty="0"/>
              <a:t>RLC</a:t>
            </a:r>
            <a:r>
              <a:rPr lang="ja-JP" altLang="en-US" sz="2000" dirty="0"/>
              <a:t>で表すならこうだろう」というもの</a:t>
            </a:r>
            <a:endParaRPr lang="en-US" altLang="ja-JP" sz="2000" dirty="0"/>
          </a:p>
          <a:p>
            <a:pPr marL="626364" lvl="1" indent="-342900"/>
            <a:r>
              <a:rPr lang="ja-JP" altLang="en-US" sz="2000" dirty="0"/>
              <a:t>ドレイン・ソース間は「電流源」を置くのが正しいと思われるが、</a:t>
            </a:r>
            <a:br>
              <a:rPr lang="en-US" altLang="ja-JP" sz="2000" dirty="0"/>
            </a:br>
            <a:r>
              <a:rPr lang="ja-JP" altLang="en-US" sz="2000" dirty="0"/>
              <a:t>初心者にはあまり馴染みがないので可変抵抗とした</a:t>
            </a:r>
            <a:endParaRPr lang="en-US" altLang="ja-JP" sz="2000" dirty="0"/>
          </a:p>
          <a:p>
            <a:pPr marL="626364" lvl="1" indent="-342900"/>
            <a:r>
              <a:rPr lang="en-US" altLang="ja-JP" sz="2000" dirty="0"/>
              <a:t>MOSFET</a:t>
            </a:r>
            <a:r>
              <a:rPr lang="ja-JP" altLang="en-US" sz="2000" dirty="0"/>
              <a:t>の重要な特性は　</a:t>
            </a:r>
            <a:r>
              <a:rPr lang="ja-JP" altLang="en-US" sz="2000" dirty="0">
                <a:solidFill>
                  <a:srgbClr val="FF0000"/>
                </a:solidFill>
              </a:rPr>
              <a:t>トランスコンダクタンス</a:t>
            </a:r>
            <a:r>
              <a:rPr lang="ja-JP" altLang="en-US" sz="2000" dirty="0"/>
              <a:t>とよばれるもの</a:t>
            </a:r>
            <a:endParaRPr lang="en-US" altLang="ja-JP" sz="2000" b="1" i="1" dirty="0">
              <a:solidFill>
                <a:srgbClr val="FF0000"/>
              </a:solidFill>
              <a:latin typeface="Cambria Math" panose="02040503050406030204" pitchFamily="18" charset="0"/>
            </a:endParaRPr>
          </a:p>
          <a:p>
            <a:pPr marL="626364" lvl="1" indent="-342900"/>
            <a:r>
              <a:rPr lang="ja-JP" altLang="en-US" sz="2000" dirty="0"/>
              <a:t>また特定のドレインソース間電圧領域において、電流源として動作する</a:t>
            </a:r>
            <a:br>
              <a:rPr lang="en-US" altLang="ja-JP" sz="2000" dirty="0"/>
            </a:br>
            <a:r>
              <a:rPr lang="ja-JP" altLang="en-US" sz="2000" dirty="0">
                <a:solidFill>
                  <a:srgbClr val="FF0000"/>
                </a:solidFill>
              </a:rPr>
              <a:t>飽和</a:t>
            </a:r>
            <a:r>
              <a:rPr lang="en-US" altLang="ja-JP" sz="2000" dirty="0">
                <a:solidFill>
                  <a:srgbClr val="FF0000"/>
                </a:solidFill>
              </a:rPr>
              <a:t>(saturation)</a:t>
            </a:r>
            <a:r>
              <a:rPr lang="ja-JP" altLang="en-US" sz="2000" dirty="0"/>
              <a:t>とよばれる特性も非常に重要。</a:t>
            </a:r>
            <a:endParaRPr lang="en-US" altLang="ja-JP" sz="2000" dirty="0"/>
          </a:p>
          <a:p>
            <a:pPr marL="626364" lvl="1" indent="-342900"/>
            <a:r>
              <a:rPr lang="ja-JP" altLang="en-US" sz="2000" dirty="0"/>
              <a:t>ゲート容量は</a:t>
            </a:r>
            <a:r>
              <a:rPr lang="ja-JP" altLang="en-US" sz="2000" dirty="0">
                <a:solidFill>
                  <a:srgbClr val="FF0000"/>
                </a:solidFill>
              </a:rPr>
              <a:t>ゲート・ドレイン間とゲート・ボディ間にも存在する</a:t>
            </a:r>
            <a:r>
              <a:rPr lang="ja-JP" altLang="en-US" sz="2000" dirty="0"/>
              <a:t>が、</a:t>
            </a:r>
            <a:br>
              <a:rPr lang="en-US" altLang="ja-JP" sz="2000" dirty="0"/>
            </a:br>
            <a:r>
              <a:rPr lang="ja-JP" altLang="en-US" sz="2000" dirty="0"/>
              <a:t>単純に見映えの問題でゲートソース間のみの記載とした</a:t>
            </a:r>
            <a:endParaRPr lang="en-US" altLang="ja-JP" sz="2000" dirty="0"/>
          </a:p>
        </p:txBody>
      </p:sp>
      <p:pic>
        <p:nvPicPr>
          <p:cNvPr id="7" name="図 6">
            <a:extLst>
              <a:ext uri="{FF2B5EF4-FFF2-40B4-BE49-F238E27FC236}">
                <a16:creationId xmlns:a16="http://schemas.microsoft.com/office/drawing/2014/main" id="{59BF4A9D-93B7-7D75-094E-BDBBBFD3A005}"/>
              </a:ext>
            </a:extLst>
          </p:cNvPr>
          <p:cNvPicPr>
            <a:picLocks noChangeAspect="1"/>
          </p:cNvPicPr>
          <p:nvPr/>
        </p:nvPicPr>
        <p:blipFill>
          <a:blip r:embed="rId2"/>
          <a:stretch>
            <a:fillRect/>
          </a:stretch>
        </p:blipFill>
        <p:spPr>
          <a:xfrm>
            <a:off x="8981315" y="1874617"/>
            <a:ext cx="2228571" cy="3152381"/>
          </a:xfrm>
          <a:prstGeom prst="rect">
            <a:avLst/>
          </a:prstGeom>
        </p:spPr>
      </p:pic>
    </p:spTree>
    <p:extLst>
      <p:ext uri="{BB962C8B-B14F-4D97-AF65-F5344CB8AC3E}">
        <p14:creationId xmlns:p14="http://schemas.microsoft.com/office/powerpoint/2010/main" val="124879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3F23B7-7412-EEE8-EF23-C981CAB69F8E}"/>
              </a:ext>
            </a:extLst>
          </p:cNvPr>
          <p:cNvSpPr>
            <a:spLocks noGrp="1"/>
          </p:cNvSpPr>
          <p:nvPr>
            <p:ph type="title"/>
          </p:nvPr>
        </p:nvSpPr>
        <p:spPr/>
        <p:txBody>
          <a:bodyPr/>
          <a:lstStyle/>
          <a:p>
            <a:r>
              <a:rPr lang="ja-JP" altLang="en-US" dirty="0"/>
              <a:t>可変抵抗 </a:t>
            </a:r>
            <a:r>
              <a:rPr lang="en-US" altLang="ja-JP" dirty="0"/>
              <a:t>vs NMOS</a:t>
            </a:r>
            <a:endParaRPr kumimoji="1" lang="ja-JP" altLang="en-US" dirty="0"/>
          </a:p>
        </p:txBody>
      </p:sp>
      <p:sp>
        <p:nvSpPr>
          <p:cNvPr id="3" name="日付プレースホルダー 2">
            <a:extLst>
              <a:ext uri="{FF2B5EF4-FFF2-40B4-BE49-F238E27FC236}">
                <a16:creationId xmlns:a16="http://schemas.microsoft.com/office/drawing/2014/main" id="{5F634804-0821-5406-0FE3-62E2A79397FB}"/>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B893F47C-24F6-9DF9-BDC8-A9180C64DDFC}"/>
              </a:ext>
            </a:extLst>
          </p:cNvPr>
          <p:cNvSpPr>
            <a:spLocks noGrp="1"/>
          </p:cNvSpPr>
          <p:nvPr>
            <p:ph type="sldNum" sz="quarter" idx="12"/>
          </p:nvPr>
        </p:nvSpPr>
        <p:spPr/>
        <p:txBody>
          <a:bodyPr/>
          <a:lstStyle/>
          <a:p>
            <a:pPr rtl="0"/>
            <a:fld id="{9860EDB8-5305-433F-BE41-D7A86D811DB3}" type="slidenum">
              <a:rPr lang="en-US" altLang="ja-JP" noProof="0" smtClean="0"/>
              <a:pPr rtl="0"/>
              <a:t>21</a:t>
            </a:fld>
            <a:endParaRPr lang="ja-JP" altLang="en-US" noProof="0"/>
          </a:p>
        </p:txBody>
      </p:sp>
      <p:pic>
        <p:nvPicPr>
          <p:cNvPr id="8" name="図 7">
            <a:extLst>
              <a:ext uri="{FF2B5EF4-FFF2-40B4-BE49-F238E27FC236}">
                <a16:creationId xmlns:a16="http://schemas.microsoft.com/office/drawing/2014/main" id="{7085A0CD-E5AA-2C90-DF0B-8108C28050DB}"/>
              </a:ext>
            </a:extLst>
          </p:cNvPr>
          <p:cNvPicPr>
            <a:picLocks noChangeAspect="1"/>
          </p:cNvPicPr>
          <p:nvPr/>
        </p:nvPicPr>
        <p:blipFill>
          <a:blip r:embed="rId2"/>
          <a:stretch>
            <a:fillRect/>
          </a:stretch>
        </p:blipFill>
        <p:spPr>
          <a:xfrm>
            <a:off x="3987980" y="1579251"/>
            <a:ext cx="3740406" cy="3267481"/>
          </a:xfrm>
          <a:prstGeom prst="rect">
            <a:avLst/>
          </a:prstGeom>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6EB62A5-B461-3646-647E-4C565B3BCD59}"/>
                  </a:ext>
                </a:extLst>
              </p:cNvPr>
              <p:cNvSpPr txBox="1"/>
              <p:nvPr/>
            </p:nvSpPr>
            <p:spPr>
              <a:xfrm rot="5400000">
                <a:off x="2169575" y="3028324"/>
                <a:ext cx="3267478" cy="369332"/>
              </a:xfrm>
              <a:prstGeom prst="rect">
                <a:avLst/>
              </a:prstGeom>
              <a:noFill/>
            </p:spPr>
            <p:txBody>
              <a:bodyPr wrap="square" rtlCol="0">
                <a:spAutoFit/>
              </a:bodyP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𝑅</m:t>
                        </m:r>
                      </m:e>
                      <m:sub>
                        <m:r>
                          <a:rPr kumimoji="1" lang="en-US" altLang="ja-JP" b="0" i="1" smtClean="0">
                            <a:latin typeface="Cambria Math" panose="02040503050406030204" pitchFamily="18" charset="0"/>
                          </a:rPr>
                          <m:t>𝐷𝑆</m:t>
                        </m:r>
                      </m:sub>
                    </m:sSub>
                  </m:oMath>
                </a14:m>
                <a:r>
                  <a:rPr kumimoji="1" lang="ja-JP" altLang="en-US" dirty="0"/>
                  <a:t>（</a:t>
                </a:r>
                <a:r>
                  <a:rPr kumimoji="1" lang="en-US" altLang="ja-JP" b="1" dirty="0">
                    <a:solidFill>
                      <a:srgbClr val="FF0000"/>
                    </a:solidFill>
                  </a:rPr>
                  <a:t>GΩ</a:t>
                </a:r>
                <a:r>
                  <a:rPr kumimoji="1" lang="ja-JP" altLang="en-US" dirty="0"/>
                  <a:t>）</a:t>
                </a:r>
              </a:p>
            </p:txBody>
          </p:sp>
        </mc:Choice>
        <mc:Fallback xmlns="">
          <p:sp>
            <p:nvSpPr>
              <p:cNvPr id="9" name="テキスト ボックス 8">
                <a:extLst>
                  <a:ext uri="{FF2B5EF4-FFF2-40B4-BE49-F238E27FC236}">
                    <a16:creationId xmlns:a16="http://schemas.microsoft.com/office/drawing/2014/main" id="{E6EB62A5-B461-3646-647E-4C565B3BCD59}"/>
                  </a:ext>
                </a:extLst>
              </p:cNvPr>
              <p:cNvSpPr txBox="1">
                <a:spLocks noRot="1" noChangeAspect="1" noMove="1" noResize="1" noEditPoints="1" noAdjustHandles="1" noChangeArrowheads="1" noChangeShapeType="1" noTextEdit="1"/>
              </p:cNvSpPr>
              <p:nvPr/>
            </p:nvSpPr>
            <p:spPr>
              <a:xfrm rot="5400000">
                <a:off x="2169575" y="3028324"/>
                <a:ext cx="3267478" cy="369332"/>
              </a:xfrm>
              <a:prstGeom prst="rect">
                <a:avLst/>
              </a:prstGeom>
              <a:blipFill>
                <a:blip r:embed="rId4"/>
                <a:stretch>
                  <a:fillRect l="-28333" r="-13333"/>
                </a:stretch>
              </a:blipFill>
            </p:spPr>
            <p:txBody>
              <a:bodyPr/>
              <a:lstStyle/>
              <a:p>
                <a:r>
                  <a:rPr lang="ja-JP" altLang="en-US">
                    <a:noFill/>
                  </a:rPr>
                  <a:t> </a:t>
                </a:r>
              </a:p>
            </p:txBody>
          </p:sp>
        </mc:Fallback>
      </mc:AlternateContent>
      <p:pic>
        <p:nvPicPr>
          <p:cNvPr id="11" name="図 10">
            <a:extLst>
              <a:ext uri="{FF2B5EF4-FFF2-40B4-BE49-F238E27FC236}">
                <a16:creationId xmlns:a16="http://schemas.microsoft.com/office/drawing/2014/main" id="{37034658-9AE2-6FCF-C53E-42C37A554BD3}"/>
              </a:ext>
            </a:extLst>
          </p:cNvPr>
          <p:cNvPicPr>
            <a:picLocks noChangeAspect="1"/>
          </p:cNvPicPr>
          <p:nvPr/>
        </p:nvPicPr>
        <p:blipFill>
          <a:blip r:embed="rId5"/>
          <a:stretch>
            <a:fillRect/>
          </a:stretch>
        </p:blipFill>
        <p:spPr>
          <a:xfrm>
            <a:off x="8288775" y="1579251"/>
            <a:ext cx="3742361" cy="3267478"/>
          </a:xfrm>
          <a:prstGeom prst="rect">
            <a:avLst/>
          </a:prstGeom>
        </p:spPr>
      </p:pic>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3C9C1D29-80AE-9A0A-C82F-D1A27C15F7BE}"/>
                  </a:ext>
                </a:extLst>
              </p:cNvPr>
              <p:cNvSpPr txBox="1"/>
              <p:nvPr/>
            </p:nvSpPr>
            <p:spPr>
              <a:xfrm rot="5400000">
                <a:off x="6470370" y="3028324"/>
                <a:ext cx="3267478" cy="369332"/>
              </a:xfrm>
              <a:prstGeom prst="rect">
                <a:avLst/>
              </a:prstGeom>
              <a:noFill/>
            </p:spPr>
            <p:txBody>
              <a:bodyPr wrap="square" rtlCol="0">
                <a:spAutoFit/>
              </a:bodyPr>
              <a:lstStyle/>
              <a:p>
                <a:pPr algn="ctr"/>
                <a14:m>
                  <m:oMath xmlns:m="http://schemas.openxmlformats.org/officeDocument/2006/math">
                    <m:sSub>
                      <m:sSubPr>
                        <m:ctrlPr>
                          <a:rPr kumimoji="1" lang="en-US" altLang="ja-JP" i="1" dirty="0" smtClean="0">
                            <a:latin typeface="Cambria Math" panose="02040503050406030204" pitchFamily="18" charset="0"/>
                          </a:rPr>
                        </m:ctrlPr>
                      </m:sSubPr>
                      <m:e>
                        <m:r>
                          <a:rPr kumimoji="1" lang="en-US" altLang="ja-JP" i="1" dirty="0" smtClean="0">
                            <a:latin typeface="Cambria Math" panose="02040503050406030204" pitchFamily="18" charset="0"/>
                          </a:rPr>
                          <m:t>𝐼</m:t>
                        </m:r>
                      </m:e>
                      <m:sub>
                        <m:r>
                          <a:rPr kumimoji="1" lang="en-US" altLang="ja-JP" b="0" i="1" dirty="0" smtClean="0">
                            <a:latin typeface="Cambria Math" panose="02040503050406030204" pitchFamily="18" charset="0"/>
                          </a:rPr>
                          <m:t>𝐷𝑆</m:t>
                        </m:r>
                      </m:sub>
                    </m:sSub>
                  </m:oMath>
                </a14:m>
                <a:r>
                  <a:rPr kumimoji="1" lang="ja-JP" altLang="en-US" dirty="0"/>
                  <a:t>（</a:t>
                </a:r>
                <a:r>
                  <a:rPr kumimoji="1" lang="en-US" altLang="ja-JP" dirty="0" err="1"/>
                  <a:t>μA</a:t>
                </a:r>
                <a:r>
                  <a:rPr kumimoji="1" lang="ja-JP" altLang="en-US" dirty="0"/>
                  <a:t>）</a:t>
                </a:r>
              </a:p>
            </p:txBody>
          </p:sp>
        </mc:Choice>
        <mc:Fallback xmlns="">
          <p:sp>
            <p:nvSpPr>
              <p:cNvPr id="12" name="テキスト ボックス 11">
                <a:extLst>
                  <a:ext uri="{FF2B5EF4-FFF2-40B4-BE49-F238E27FC236}">
                    <a16:creationId xmlns:a16="http://schemas.microsoft.com/office/drawing/2014/main" id="{3C9C1D29-80AE-9A0A-C82F-D1A27C15F7BE}"/>
                  </a:ext>
                </a:extLst>
              </p:cNvPr>
              <p:cNvSpPr txBox="1">
                <a:spLocks noRot="1" noChangeAspect="1" noMove="1" noResize="1" noEditPoints="1" noAdjustHandles="1" noChangeArrowheads="1" noChangeShapeType="1" noTextEdit="1"/>
              </p:cNvSpPr>
              <p:nvPr/>
            </p:nvSpPr>
            <p:spPr>
              <a:xfrm rot="5400000">
                <a:off x="6470370" y="3028324"/>
                <a:ext cx="3267478" cy="369332"/>
              </a:xfrm>
              <a:prstGeom prst="rect">
                <a:avLst/>
              </a:prstGeom>
              <a:blipFill>
                <a:blip r:embed="rId6"/>
                <a:stretch>
                  <a:fillRect l="-26230" r="-114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B7BD52B-226B-3740-7411-77212E9019B8}"/>
                  </a:ext>
                </a:extLst>
              </p:cNvPr>
              <p:cNvSpPr txBox="1"/>
              <p:nvPr/>
            </p:nvSpPr>
            <p:spPr>
              <a:xfrm>
                <a:off x="4464948" y="4846729"/>
                <a:ext cx="3263438" cy="369332"/>
              </a:xfrm>
              <a:prstGeom prst="rect">
                <a:avLst/>
              </a:prstGeom>
              <a:noFill/>
            </p:spPr>
            <p:txBody>
              <a:bodyPr wrap="square" rtlCol="0">
                <a:spAutoFit/>
              </a:bodyP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a:rPr kumimoji="1" lang="en-US" altLang="ja-JP" b="0" i="1" smtClean="0">
                            <a:latin typeface="Cambria Math" panose="02040503050406030204" pitchFamily="18" charset="0"/>
                          </a:rPr>
                          <m:t>𝐺𝑆</m:t>
                        </m:r>
                      </m:sub>
                    </m:sSub>
                  </m:oMath>
                </a14:m>
                <a:r>
                  <a:rPr kumimoji="1" lang="ja-JP" altLang="en-US" dirty="0"/>
                  <a:t>（</a:t>
                </a:r>
                <a:r>
                  <a:rPr kumimoji="1" lang="en-US" altLang="ja-JP" dirty="0"/>
                  <a:t>V</a:t>
                </a:r>
                <a:r>
                  <a:rPr kumimoji="1" lang="ja-JP" altLang="en-US" dirty="0"/>
                  <a:t>）</a:t>
                </a:r>
              </a:p>
            </p:txBody>
          </p:sp>
        </mc:Choice>
        <mc:Fallback xmlns="">
          <p:sp>
            <p:nvSpPr>
              <p:cNvPr id="13" name="テキスト ボックス 12">
                <a:extLst>
                  <a:ext uri="{FF2B5EF4-FFF2-40B4-BE49-F238E27FC236}">
                    <a16:creationId xmlns:a16="http://schemas.microsoft.com/office/drawing/2014/main" id="{FB7BD52B-226B-3740-7411-77212E9019B8}"/>
                  </a:ext>
                </a:extLst>
              </p:cNvPr>
              <p:cNvSpPr txBox="1">
                <a:spLocks noRot="1" noChangeAspect="1" noMove="1" noResize="1" noEditPoints="1" noAdjustHandles="1" noChangeArrowheads="1" noChangeShapeType="1" noTextEdit="1"/>
              </p:cNvSpPr>
              <p:nvPr/>
            </p:nvSpPr>
            <p:spPr>
              <a:xfrm>
                <a:off x="4464948" y="4846729"/>
                <a:ext cx="3263438" cy="369332"/>
              </a:xfrm>
              <a:prstGeom prst="rect">
                <a:avLst/>
              </a:prstGeom>
              <a:blipFill>
                <a:blip r:embed="rId7"/>
                <a:stretch>
                  <a:fillRect t="-11475"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7117B19F-15E9-4026-CF25-172415362214}"/>
                  </a:ext>
                </a:extLst>
              </p:cNvPr>
              <p:cNvSpPr txBox="1"/>
              <p:nvPr/>
            </p:nvSpPr>
            <p:spPr>
              <a:xfrm>
                <a:off x="8767697" y="4846729"/>
                <a:ext cx="3263438" cy="369332"/>
              </a:xfrm>
              <a:prstGeom prst="rect">
                <a:avLst/>
              </a:prstGeom>
              <a:noFill/>
            </p:spPr>
            <p:txBody>
              <a:bodyPr wrap="square" rtlCol="0">
                <a:spAutoFit/>
              </a:bodyP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a:rPr kumimoji="1" lang="en-US" altLang="ja-JP" b="0" i="1" smtClean="0">
                            <a:latin typeface="Cambria Math" panose="02040503050406030204" pitchFamily="18" charset="0"/>
                          </a:rPr>
                          <m:t>𝐺𝑆</m:t>
                        </m:r>
                      </m:sub>
                    </m:sSub>
                  </m:oMath>
                </a14:m>
                <a:r>
                  <a:rPr kumimoji="1" lang="ja-JP" altLang="en-US" dirty="0"/>
                  <a:t>（</a:t>
                </a:r>
                <a:r>
                  <a:rPr kumimoji="1" lang="en-US" altLang="ja-JP" dirty="0"/>
                  <a:t>V</a:t>
                </a:r>
                <a:r>
                  <a:rPr kumimoji="1" lang="ja-JP" altLang="en-US" dirty="0"/>
                  <a:t>）</a:t>
                </a:r>
              </a:p>
            </p:txBody>
          </p:sp>
        </mc:Choice>
        <mc:Fallback xmlns="">
          <p:sp>
            <p:nvSpPr>
              <p:cNvPr id="14" name="テキスト ボックス 13">
                <a:extLst>
                  <a:ext uri="{FF2B5EF4-FFF2-40B4-BE49-F238E27FC236}">
                    <a16:creationId xmlns:a16="http://schemas.microsoft.com/office/drawing/2014/main" id="{7117B19F-15E9-4026-CF25-172415362214}"/>
                  </a:ext>
                </a:extLst>
              </p:cNvPr>
              <p:cNvSpPr txBox="1">
                <a:spLocks noRot="1" noChangeAspect="1" noMove="1" noResize="1" noEditPoints="1" noAdjustHandles="1" noChangeArrowheads="1" noChangeShapeType="1" noTextEdit="1"/>
              </p:cNvSpPr>
              <p:nvPr/>
            </p:nvSpPr>
            <p:spPr>
              <a:xfrm>
                <a:off x="8767697" y="4846729"/>
                <a:ext cx="3263438" cy="369332"/>
              </a:xfrm>
              <a:prstGeom prst="rect">
                <a:avLst/>
              </a:prstGeom>
              <a:blipFill>
                <a:blip r:embed="rId8"/>
                <a:stretch>
                  <a:fillRect t="-11475" b="-26230"/>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22E51E8C-A147-EB3C-14F8-D0FAB3FC7EB8}"/>
              </a:ext>
            </a:extLst>
          </p:cNvPr>
          <p:cNvCxnSpPr/>
          <p:nvPr/>
        </p:nvCxnSpPr>
        <p:spPr>
          <a:xfrm>
            <a:off x="5225143" y="4345577"/>
            <a:ext cx="2072640" cy="0"/>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D0988019-AB91-EAE2-3932-07311AC81B9D}"/>
              </a:ext>
            </a:extLst>
          </p:cNvPr>
          <p:cNvSpPr txBox="1"/>
          <p:nvPr/>
        </p:nvSpPr>
        <p:spPr>
          <a:xfrm>
            <a:off x="4985657" y="3055542"/>
            <a:ext cx="2551611" cy="1200329"/>
          </a:xfrm>
          <a:prstGeom prst="rect">
            <a:avLst/>
          </a:prstGeom>
          <a:noFill/>
        </p:spPr>
        <p:txBody>
          <a:bodyPr wrap="square" rtlCol="0">
            <a:spAutoFit/>
          </a:bodyPr>
          <a:lstStyle/>
          <a:p>
            <a:r>
              <a:rPr kumimoji="1" lang="ja-JP" altLang="en-US" dirty="0">
                <a:solidFill>
                  <a:srgbClr val="FFFF00"/>
                </a:solidFill>
              </a:rPr>
              <a:t>縦軸が</a:t>
            </a:r>
            <a:r>
              <a:rPr kumimoji="1" lang="en-US" altLang="ja-JP" dirty="0">
                <a:solidFill>
                  <a:srgbClr val="FFFF00"/>
                </a:solidFill>
              </a:rPr>
              <a:t>Ω</a:t>
            </a:r>
            <a:r>
              <a:rPr kumimoji="1" lang="ja-JP" altLang="en-US" dirty="0">
                <a:solidFill>
                  <a:srgbClr val="FFFF00"/>
                </a:solidFill>
              </a:rPr>
              <a:t>だと見づらい</a:t>
            </a:r>
            <a:endParaRPr kumimoji="1" lang="en-US" altLang="ja-JP" dirty="0">
              <a:solidFill>
                <a:srgbClr val="FFFF00"/>
              </a:solidFill>
            </a:endParaRPr>
          </a:p>
          <a:p>
            <a:endParaRPr kumimoji="1" lang="en-US" altLang="ja-JP" dirty="0">
              <a:solidFill>
                <a:srgbClr val="FFFF00"/>
              </a:solidFill>
            </a:endParaRPr>
          </a:p>
          <a:p>
            <a:r>
              <a:rPr kumimoji="1" lang="ja-JP" altLang="en-US" dirty="0">
                <a:solidFill>
                  <a:srgbClr val="FFFF00"/>
                </a:solidFill>
              </a:rPr>
              <a:t>エンジニアはこの区間に興味がある</a:t>
            </a:r>
          </a:p>
        </p:txBody>
      </p:sp>
      <p:pic>
        <p:nvPicPr>
          <p:cNvPr id="6" name="図 5">
            <a:extLst>
              <a:ext uri="{FF2B5EF4-FFF2-40B4-BE49-F238E27FC236}">
                <a16:creationId xmlns:a16="http://schemas.microsoft.com/office/drawing/2014/main" id="{62FC4DAB-8EF2-E090-BA63-90EB26547447}"/>
              </a:ext>
            </a:extLst>
          </p:cNvPr>
          <p:cNvPicPr>
            <a:picLocks noChangeAspect="1"/>
          </p:cNvPicPr>
          <p:nvPr/>
        </p:nvPicPr>
        <p:blipFill>
          <a:blip r:embed="rId9"/>
          <a:stretch>
            <a:fillRect/>
          </a:stretch>
        </p:blipFill>
        <p:spPr>
          <a:xfrm>
            <a:off x="5261" y="1579251"/>
            <a:ext cx="3552512" cy="3267477"/>
          </a:xfrm>
          <a:prstGeom prst="rect">
            <a:avLst/>
          </a:prstGeom>
        </p:spPr>
      </p:pic>
    </p:spTree>
    <p:extLst>
      <p:ext uri="{BB962C8B-B14F-4D97-AF65-F5344CB8AC3E}">
        <p14:creationId xmlns:p14="http://schemas.microsoft.com/office/powerpoint/2010/main" val="2495223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3F23B7-7412-EEE8-EF23-C981CAB69F8E}"/>
              </a:ext>
            </a:extLst>
          </p:cNvPr>
          <p:cNvSpPr>
            <a:spLocks noGrp="1"/>
          </p:cNvSpPr>
          <p:nvPr>
            <p:ph type="title"/>
          </p:nvPr>
        </p:nvSpPr>
        <p:spPr/>
        <p:txBody>
          <a:bodyPr/>
          <a:lstStyle/>
          <a:p>
            <a:r>
              <a:rPr kumimoji="1" lang="en-US" altLang="ja-JP" dirty="0"/>
              <a:t>NMOS</a:t>
            </a:r>
            <a:r>
              <a:rPr kumimoji="1" lang="ja-JP" altLang="en-US" dirty="0"/>
              <a:t>の特性</a:t>
            </a:r>
          </a:p>
        </p:txBody>
      </p:sp>
      <p:sp>
        <p:nvSpPr>
          <p:cNvPr id="3" name="日付プレースホルダー 2">
            <a:extLst>
              <a:ext uri="{FF2B5EF4-FFF2-40B4-BE49-F238E27FC236}">
                <a16:creationId xmlns:a16="http://schemas.microsoft.com/office/drawing/2014/main" id="{5F634804-0821-5406-0FE3-62E2A79397FB}"/>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B893F47C-24F6-9DF9-BDC8-A9180C64DDFC}"/>
              </a:ext>
            </a:extLst>
          </p:cNvPr>
          <p:cNvSpPr>
            <a:spLocks noGrp="1"/>
          </p:cNvSpPr>
          <p:nvPr>
            <p:ph type="sldNum" sz="quarter" idx="12"/>
          </p:nvPr>
        </p:nvSpPr>
        <p:spPr/>
        <p:txBody>
          <a:bodyPr/>
          <a:lstStyle/>
          <a:p>
            <a:pPr rtl="0"/>
            <a:fld id="{9860EDB8-5305-433F-BE41-D7A86D811DB3}" type="slidenum">
              <a:rPr lang="en-US" altLang="ja-JP" noProof="0" smtClean="0"/>
              <a:pPr rtl="0"/>
              <a:t>22</a:t>
            </a:fld>
            <a:endParaRPr lang="ja-JP" altLang="en-US" noProof="0"/>
          </a:p>
        </p:txBody>
      </p:sp>
      <p:pic>
        <p:nvPicPr>
          <p:cNvPr id="11" name="図 10">
            <a:extLst>
              <a:ext uri="{FF2B5EF4-FFF2-40B4-BE49-F238E27FC236}">
                <a16:creationId xmlns:a16="http://schemas.microsoft.com/office/drawing/2014/main" id="{37034658-9AE2-6FCF-C53E-42C37A554BD3}"/>
              </a:ext>
            </a:extLst>
          </p:cNvPr>
          <p:cNvPicPr>
            <a:picLocks noChangeAspect="1"/>
          </p:cNvPicPr>
          <p:nvPr/>
        </p:nvPicPr>
        <p:blipFill>
          <a:blip r:embed="rId2"/>
          <a:stretch>
            <a:fillRect/>
          </a:stretch>
        </p:blipFill>
        <p:spPr>
          <a:xfrm>
            <a:off x="1461255" y="1579251"/>
            <a:ext cx="3742361" cy="3267478"/>
          </a:xfrm>
          <a:prstGeom prst="rect">
            <a:avLst/>
          </a:prstGeom>
        </p:spPr>
      </p:pic>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3C9C1D29-80AE-9A0A-C82F-D1A27C15F7BE}"/>
                  </a:ext>
                </a:extLst>
              </p:cNvPr>
              <p:cNvSpPr txBox="1"/>
              <p:nvPr/>
            </p:nvSpPr>
            <p:spPr>
              <a:xfrm rot="5400000">
                <a:off x="-357150" y="3028324"/>
                <a:ext cx="3267478" cy="369332"/>
              </a:xfrm>
              <a:prstGeom prst="rect">
                <a:avLst/>
              </a:prstGeom>
              <a:noFill/>
            </p:spPr>
            <p:txBody>
              <a:bodyPr wrap="square" rtlCol="0">
                <a:spAutoFit/>
              </a:bodyPr>
              <a:lstStyle/>
              <a:p>
                <a:pPr algn="ctr"/>
                <a14:m>
                  <m:oMath xmlns:m="http://schemas.openxmlformats.org/officeDocument/2006/math">
                    <m:sSub>
                      <m:sSubPr>
                        <m:ctrlPr>
                          <a:rPr kumimoji="1" lang="en-US" altLang="ja-JP" i="1" dirty="0" smtClean="0">
                            <a:latin typeface="Cambria Math" panose="02040503050406030204" pitchFamily="18" charset="0"/>
                          </a:rPr>
                        </m:ctrlPr>
                      </m:sSubPr>
                      <m:e>
                        <m:r>
                          <a:rPr kumimoji="1" lang="en-US" altLang="ja-JP" i="1" dirty="0" smtClean="0">
                            <a:latin typeface="Cambria Math" panose="02040503050406030204" pitchFamily="18" charset="0"/>
                          </a:rPr>
                          <m:t>𝐼</m:t>
                        </m:r>
                      </m:e>
                      <m:sub>
                        <m:r>
                          <a:rPr kumimoji="1" lang="en-US" altLang="ja-JP" b="0" i="1" dirty="0" smtClean="0">
                            <a:latin typeface="Cambria Math" panose="02040503050406030204" pitchFamily="18" charset="0"/>
                          </a:rPr>
                          <m:t>𝐷𝑆</m:t>
                        </m:r>
                      </m:sub>
                    </m:sSub>
                  </m:oMath>
                </a14:m>
                <a:r>
                  <a:rPr kumimoji="1" lang="ja-JP" altLang="en-US" dirty="0"/>
                  <a:t>（</a:t>
                </a:r>
                <a:r>
                  <a:rPr kumimoji="1" lang="en-US" altLang="ja-JP" dirty="0" err="1"/>
                  <a:t>μA</a:t>
                </a:r>
                <a:r>
                  <a:rPr kumimoji="1" lang="ja-JP" altLang="en-US" dirty="0"/>
                  <a:t>）</a:t>
                </a:r>
              </a:p>
            </p:txBody>
          </p:sp>
        </mc:Choice>
        <mc:Fallback xmlns="">
          <p:sp>
            <p:nvSpPr>
              <p:cNvPr id="12" name="テキスト ボックス 11">
                <a:extLst>
                  <a:ext uri="{FF2B5EF4-FFF2-40B4-BE49-F238E27FC236}">
                    <a16:creationId xmlns:a16="http://schemas.microsoft.com/office/drawing/2014/main" id="{3C9C1D29-80AE-9A0A-C82F-D1A27C15F7BE}"/>
                  </a:ext>
                </a:extLst>
              </p:cNvPr>
              <p:cNvSpPr txBox="1">
                <a:spLocks noRot="1" noChangeAspect="1" noMove="1" noResize="1" noEditPoints="1" noAdjustHandles="1" noChangeArrowheads="1" noChangeShapeType="1" noTextEdit="1"/>
              </p:cNvSpPr>
              <p:nvPr/>
            </p:nvSpPr>
            <p:spPr>
              <a:xfrm rot="5400000">
                <a:off x="-357150" y="3028324"/>
                <a:ext cx="3267478" cy="369332"/>
              </a:xfrm>
              <a:prstGeom prst="rect">
                <a:avLst/>
              </a:prstGeom>
              <a:blipFill>
                <a:blip r:embed="rId3"/>
                <a:stretch>
                  <a:fillRect l="-26230" r="-11475"/>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5D514270-BA8B-4D3A-D5DA-4329835C30A5}"/>
              </a:ext>
            </a:extLst>
          </p:cNvPr>
          <p:cNvCxnSpPr/>
          <p:nvPr/>
        </p:nvCxnSpPr>
        <p:spPr>
          <a:xfrm>
            <a:off x="2917372" y="3718560"/>
            <a:ext cx="0" cy="74022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9795BF1D-7E0D-AEFD-C9CD-ECDAAC2730E6}"/>
                  </a:ext>
                </a:extLst>
              </p:cNvPr>
              <p:cNvSpPr txBox="1"/>
              <p:nvPr/>
            </p:nvSpPr>
            <p:spPr>
              <a:xfrm>
                <a:off x="2634343" y="3244334"/>
                <a:ext cx="566057" cy="369332"/>
              </a:xfrm>
              <a:prstGeom prst="rect">
                <a:avLst/>
              </a:prstGeom>
              <a:noFill/>
            </p:spPr>
            <p:txBody>
              <a:bodyPr wrap="square" rtlCol="0">
                <a:spAutoFit/>
              </a:bodyPr>
              <a:lstStyle/>
              <a:p>
                <a:pPr/>
                <a14:m>
                  <m:oMathPara xmlns:m="http://schemas.openxmlformats.org/officeDocument/2006/math">
                    <m:oMath>
                      <m:sSub>
                        <m:sSubPr>
                          <m:ctrlPr>
                            <a:rPr kumimoji="1" lang="en-US" altLang="ja-JP" b="0" i="1" smtClean="0">
                              <a:solidFill>
                                <a:srgbClr val="FFFF00"/>
                              </a:solidFill>
                              <a:latin typeface="Cambria Math" panose="02040503050406030204" pitchFamily="18" charset="0"/>
                            </a:rPr>
                          </m:ctrlPr>
                        </m:sSubPr>
                        <m:e>
                          <m:r>
                            <a:rPr kumimoji="1" lang="en-US" altLang="ja-JP" b="0" i="1" smtClean="0">
                              <a:solidFill>
                                <a:srgbClr val="FFFF00"/>
                              </a:solidFill>
                              <a:latin typeface="Cambria Math" panose="02040503050406030204" pitchFamily="18" charset="0"/>
                            </a:rPr>
                            <m:t>𝑉</m:t>
                          </m:r>
                        </m:e>
                        <m:sub>
                          <m:r>
                            <a:rPr kumimoji="1" lang="en-US" altLang="ja-JP" b="0" i="1" smtClean="0">
                              <a:solidFill>
                                <a:srgbClr val="FFFF00"/>
                              </a:solidFill>
                              <a:latin typeface="Cambria Math" panose="02040503050406030204" pitchFamily="18" charset="0"/>
                            </a:rPr>
                            <m:t>𝑡ℎ</m:t>
                          </m:r>
                        </m:sub>
                      </m:sSub>
                    </m:oMath>
                  </m:oMathPara>
                </a14:m>
                <a:endParaRPr kumimoji="1" lang="ja-JP" altLang="en-US" dirty="0">
                  <a:solidFill>
                    <a:srgbClr val="FFFF00"/>
                  </a:solidFill>
                </a:endParaRPr>
              </a:p>
            </p:txBody>
          </p:sp>
        </mc:Choice>
        <mc:Fallback xmlns="">
          <p:sp>
            <p:nvSpPr>
              <p:cNvPr id="10" name="テキスト ボックス 9">
                <a:extLst>
                  <a:ext uri="{FF2B5EF4-FFF2-40B4-BE49-F238E27FC236}">
                    <a16:creationId xmlns:a16="http://schemas.microsoft.com/office/drawing/2014/main" id="{9795BF1D-7E0D-AEFD-C9CD-ECDAAC2730E6}"/>
                  </a:ext>
                </a:extLst>
              </p:cNvPr>
              <p:cNvSpPr txBox="1">
                <a:spLocks noRot="1" noChangeAspect="1" noMove="1" noResize="1" noEditPoints="1" noAdjustHandles="1" noChangeArrowheads="1" noChangeShapeType="1" noTextEdit="1"/>
              </p:cNvSpPr>
              <p:nvPr/>
            </p:nvSpPr>
            <p:spPr>
              <a:xfrm>
                <a:off x="2634343" y="3244334"/>
                <a:ext cx="566057" cy="369332"/>
              </a:xfrm>
              <a:prstGeom prst="rect">
                <a:avLst/>
              </a:prstGeom>
              <a:blipFill>
                <a:blip r:embed="rId4"/>
                <a:stretch>
                  <a:fillRect b="-3279"/>
                </a:stretch>
              </a:blipFill>
            </p:spPr>
            <p:txBody>
              <a:bodyPr/>
              <a:lstStyle/>
              <a:p>
                <a:r>
                  <a:rPr lang="ja-JP" altLang="en-US">
                    <a:noFill/>
                  </a:rPr>
                  <a:t> </a:t>
                </a:r>
              </a:p>
            </p:txBody>
          </p:sp>
        </mc:Fallback>
      </mc:AlternateContent>
      <p:sp>
        <p:nvSpPr>
          <p:cNvPr id="13" name="二等辺三角形 12">
            <a:extLst>
              <a:ext uri="{FF2B5EF4-FFF2-40B4-BE49-F238E27FC236}">
                <a16:creationId xmlns:a16="http://schemas.microsoft.com/office/drawing/2014/main" id="{CED64547-EBB8-64C2-63E4-FFD4CEFACD70}"/>
              </a:ext>
            </a:extLst>
          </p:cNvPr>
          <p:cNvSpPr/>
          <p:nvPr/>
        </p:nvSpPr>
        <p:spPr>
          <a:xfrm>
            <a:off x="3927567" y="2390112"/>
            <a:ext cx="738318" cy="1223554"/>
          </a:xfrm>
          <a:prstGeom prst="triangle">
            <a:avLst>
              <a:gd name="adj" fmla="val 100000"/>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1774ED82-D8A2-C36F-4529-0B8DB441FC78}"/>
                  </a:ext>
                </a:extLst>
              </p:cNvPr>
              <p:cNvSpPr txBox="1"/>
              <p:nvPr/>
            </p:nvSpPr>
            <p:spPr>
              <a:xfrm>
                <a:off x="4023363" y="3635837"/>
                <a:ext cx="642522" cy="369332"/>
              </a:xfrm>
              <a:prstGeom prst="rect">
                <a:avLst/>
              </a:prstGeom>
              <a:noFill/>
            </p:spPr>
            <p:txBody>
              <a:bodyPr wrap="square" rtlCol="0">
                <a:spAutoFit/>
              </a:bodyPr>
              <a:lstStyle/>
              <a:p>
                <a:pPr/>
                <a14:m>
                  <m:oMathPara xmlns:m="http://schemas.openxmlformats.org/officeDocument/2006/math">
                    <m:oMathParaPr>
                      <m:jc m:val="center"/>
                    </m:oMathParaPr>
                    <m:oMath>
                      <m:r>
                        <m:rPr>
                          <m:sty m:val="p"/>
                        </m:rPr>
                        <a:rPr kumimoji="1" lang="en-US" altLang="ja-JP" i="1" dirty="0">
                          <a:solidFill>
                            <a:srgbClr val="FFFF00"/>
                          </a:solidFill>
                          <a:latin typeface="Cambria Math" panose="02040503050406030204" pitchFamily="18" charset="0"/>
                        </a:rPr>
                        <m:t>Δ</m:t>
                      </m:r>
                      <m:sSub>
                        <m:sSubPr>
                          <m:ctrlPr>
                            <a:rPr kumimoji="1" lang="en-US" altLang="ja-JP" i="1" dirty="0" smtClean="0">
                              <a:solidFill>
                                <a:srgbClr val="FFFF00"/>
                              </a:solidFill>
                              <a:latin typeface="Cambria Math" panose="02040503050406030204" pitchFamily="18" charset="0"/>
                            </a:rPr>
                          </m:ctrlPr>
                        </m:sSubPr>
                        <m:e>
                          <m:r>
                            <a:rPr kumimoji="1" lang="en-US" altLang="ja-JP" i="1" dirty="0" smtClean="0">
                              <a:solidFill>
                                <a:srgbClr val="FFFF00"/>
                              </a:solidFill>
                              <a:latin typeface="Cambria Math" panose="02040503050406030204" pitchFamily="18" charset="0"/>
                            </a:rPr>
                            <m:t>𝑉</m:t>
                          </m:r>
                        </m:e>
                        <m:sub>
                          <m:r>
                            <a:rPr kumimoji="1" lang="en-US" altLang="ja-JP" b="0" i="1" dirty="0" smtClean="0">
                              <a:solidFill>
                                <a:srgbClr val="FFFF00"/>
                              </a:solidFill>
                              <a:latin typeface="Cambria Math" panose="02040503050406030204" pitchFamily="18" charset="0"/>
                            </a:rPr>
                            <m:t>𝐺𝑆</m:t>
                          </m:r>
                        </m:sub>
                      </m:sSub>
                    </m:oMath>
                  </m:oMathPara>
                </a14:m>
                <a:endParaRPr kumimoji="1" lang="ja-JP" altLang="en-US" dirty="0">
                  <a:solidFill>
                    <a:srgbClr val="FFFF00"/>
                  </a:solidFill>
                </a:endParaRPr>
              </a:p>
            </p:txBody>
          </p:sp>
        </mc:Choice>
        <mc:Fallback xmlns="">
          <p:sp>
            <p:nvSpPr>
              <p:cNvPr id="14" name="テキスト ボックス 13">
                <a:extLst>
                  <a:ext uri="{FF2B5EF4-FFF2-40B4-BE49-F238E27FC236}">
                    <a16:creationId xmlns:a16="http://schemas.microsoft.com/office/drawing/2014/main" id="{1774ED82-D8A2-C36F-4529-0B8DB441FC78}"/>
                  </a:ext>
                </a:extLst>
              </p:cNvPr>
              <p:cNvSpPr txBox="1">
                <a:spLocks noRot="1" noChangeAspect="1" noMove="1" noResize="1" noEditPoints="1" noAdjustHandles="1" noChangeArrowheads="1" noChangeShapeType="1" noTextEdit="1"/>
              </p:cNvSpPr>
              <p:nvPr/>
            </p:nvSpPr>
            <p:spPr>
              <a:xfrm>
                <a:off x="4023363" y="3635837"/>
                <a:ext cx="642522" cy="369332"/>
              </a:xfrm>
              <a:prstGeom prst="rect">
                <a:avLst/>
              </a:prstGeom>
              <a:blipFill>
                <a:blip r:embed="rId5"/>
                <a:stretch>
                  <a:fillRect b="-163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48FCC22D-8176-2FCD-EB20-6E4E67DE4A82}"/>
                  </a:ext>
                </a:extLst>
              </p:cNvPr>
              <p:cNvSpPr txBox="1"/>
              <p:nvPr/>
            </p:nvSpPr>
            <p:spPr>
              <a:xfrm>
                <a:off x="4613490" y="2908120"/>
                <a:ext cx="642522" cy="369332"/>
              </a:xfrm>
              <a:prstGeom prst="rect">
                <a:avLst/>
              </a:prstGeom>
              <a:noFill/>
            </p:spPr>
            <p:txBody>
              <a:bodyPr wrap="square" rtlCol="0">
                <a:spAutoFit/>
              </a:bodyPr>
              <a:lstStyle/>
              <a:p>
                <a:pPr/>
                <a14:m>
                  <m:oMathPara xmlns:m="http://schemas.openxmlformats.org/officeDocument/2006/math">
                    <m:oMathParaPr>
                      <m:jc m:val="center"/>
                    </m:oMathParaPr>
                    <m:oMath>
                      <m:r>
                        <m:rPr>
                          <m:sty m:val="p"/>
                        </m:rPr>
                        <a:rPr kumimoji="1" lang="en-US" altLang="ja-JP" i="1" dirty="0">
                          <a:solidFill>
                            <a:srgbClr val="FFFF00"/>
                          </a:solidFill>
                          <a:latin typeface="Cambria Math" panose="02040503050406030204" pitchFamily="18" charset="0"/>
                        </a:rPr>
                        <m:t>Δ</m:t>
                      </m:r>
                      <m:sSub>
                        <m:sSubPr>
                          <m:ctrlPr>
                            <a:rPr kumimoji="1" lang="en-US" altLang="ja-JP" b="0" i="1" dirty="0" smtClean="0">
                              <a:solidFill>
                                <a:srgbClr val="FFFF00"/>
                              </a:solidFill>
                              <a:latin typeface="Cambria Math" panose="02040503050406030204" pitchFamily="18" charset="0"/>
                            </a:rPr>
                          </m:ctrlPr>
                        </m:sSubPr>
                        <m:e>
                          <m:r>
                            <a:rPr kumimoji="1" lang="en-US" altLang="ja-JP" b="0" i="1" dirty="0" smtClean="0">
                              <a:solidFill>
                                <a:srgbClr val="FFFF00"/>
                              </a:solidFill>
                              <a:latin typeface="Cambria Math" panose="02040503050406030204" pitchFamily="18" charset="0"/>
                            </a:rPr>
                            <m:t>𝐼</m:t>
                          </m:r>
                        </m:e>
                        <m:sub>
                          <m:r>
                            <a:rPr kumimoji="1" lang="en-US" altLang="ja-JP" b="0" i="1" dirty="0" smtClean="0">
                              <a:solidFill>
                                <a:srgbClr val="FFFF00"/>
                              </a:solidFill>
                              <a:latin typeface="Cambria Math" panose="02040503050406030204" pitchFamily="18" charset="0"/>
                            </a:rPr>
                            <m:t>𝐷𝑆</m:t>
                          </m:r>
                        </m:sub>
                      </m:sSub>
                    </m:oMath>
                  </m:oMathPara>
                </a14:m>
                <a:endParaRPr kumimoji="1" lang="ja-JP" altLang="en-US" dirty="0">
                  <a:solidFill>
                    <a:srgbClr val="FFFF00"/>
                  </a:solidFill>
                </a:endParaRPr>
              </a:p>
            </p:txBody>
          </p:sp>
        </mc:Choice>
        <mc:Fallback xmlns="">
          <p:sp>
            <p:nvSpPr>
              <p:cNvPr id="15" name="テキスト ボックス 14">
                <a:extLst>
                  <a:ext uri="{FF2B5EF4-FFF2-40B4-BE49-F238E27FC236}">
                    <a16:creationId xmlns:a16="http://schemas.microsoft.com/office/drawing/2014/main" id="{48FCC22D-8176-2FCD-EB20-6E4E67DE4A82}"/>
                  </a:ext>
                </a:extLst>
              </p:cNvPr>
              <p:cNvSpPr txBox="1">
                <a:spLocks noRot="1" noChangeAspect="1" noMove="1" noResize="1" noEditPoints="1" noAdjustHandles="1" noChangeArrowheads="1" noChangeShapeType="1" noTextEdit="1"/>
              </p:cNvSpPr>
              <p:nvPr/>
            </p:nvSpPr>
            <p:spPr>
              <a:xfrm>
                <a:off x="4613490" y="2908120"/>
                <a:ext cx="642522" cy="369332"/>
              </a:xfrm>
              <a:prstGeom prst="rect">
                <a:avLst/>
              </a:prstGeom>
              <a:blipFill>
                <a:blip r:embed="rId6"/>
                <a:stretch>
                  <a:fillRect b="-163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6D258FA-D626-8ACD-67BC-53674A296E90}"/>
                  </a:ext>
                </a:extLst>
              </p:cNvPr>
              <p:cNvSpPr txBox="1"/>
              <p:nvPr/>
            </p:nvSpPr>
            <p:spPr>
              <a:xfrm>
                <a:off x="3654204" y="2708605"/>
                <a:ext cx="642522" cy="369332"/>
              </a:xfrm>
              <a:prstGeom prst="rect">
                <a:avLst/>
              </a:prstGeom>
              <a:noFill/>
            </p:spPr>
            <p:txBody>
              <a:bodyPr wrap="square" rtlCol="0">
                <a:spAutoFit/>
              </a:bodyPr>
              <a:lstStyle/>
              <a:p>
                <a:pPr/>
                <a14:m>
                  <m:oMathPara xmlns:m="http://schemas.openxmlformats.org/officeDocument/2006/math">
                    <m:oMathParaPr>
                      <m:jc m:val="center"/>
                    </m:oMathParaPr>
                    <m:oMath>
                      <m:sSub>
                        <m:sSubPr>
                          <m:ctrlPr>
                            <a:rPr kumimoji="1" lang="en-US" altLang="ja-JP" b="0" i="1" dirty="0" smtClean="0">
                              <a:solidFill>
                                <a:srgbClr val="FFFF00"/>
                              </a:solidFill>
                              <a:latin typeface="Cambria Math" panose="02040503050406030204" pitchFamily="18" charset="0"/>
                            </a:rPr>
                          </m:ctrlPr>
                        </m:sSubPr>
                        <m:e>
                          <m:r>
                            <a:rPr kumimoji="1" lang="en-US" altLang="ja-JP" b="0" i="1" dirty="0" smtClean="0">
                              <a:solidFill>
                                <a:srgbClr val="FFFF00"/>
                              </a:solidFill>
                              <a:latin typeface="Cambria Math" panose="02040503050406030204" pitchFamily="18" charset="0"/>
                            </a:rPr>
                            <m:t>𝑔</m:t>
                          </m:r>
                        </m:e>
                        <m:sub>
                          <m:r>
                            <a:rPr kumimoji="1" lang="en-US" altLang="ja-JP" b="0" i="1" dirty="0" smtClean="0">
                              <a:solidFill>
                                <a:srgbClr val="FFFF00"/>
                              </a:solidFill>
                              <a:latin typeface="Cambria Math" panose="02040503050406030204" pitchFamily="18" charset="0"/>
                            </a:rPr>
                            <m:t>𝑚</m:t>
                          </m:r>
                        </m:sub>
                      </m:sSub>
                    </m:oMath>
                  </m:oMathPara>
                </a14:m>
                <a:endParaRPr kumimoji="1" lang="ja-JP" altLang="en-US" dirty="0">
                  <a:solidFill>
                    <a:srgbClr val="FFFF00"/>
                  </a:solidFill>
                </a:endParaRPr>
              </a:p>
            </p:txBody>
          </p:sp>
        </mc:Choice>
        <mc:Fallback xmlns="">
          <p:sp>
            <p:nvSpPr>
              <p:cNvPr id="16" name="テキスト ボックス 15">
                <a:extLst>
                  <a:ext uri="{FF2B5EF4-FFF2-40B4-BE49-F238E27FC236}">
                    <a16:creationId xmlns:a16="http://schemas.microsoft.com/office/drawing/2014/main" id="{A6D258FA-D626-8ACD-67BC-53674A296E90}"/>
                  </a:ext>
                </a:extLst>
              </p:cNvPr>
              <p:cNvSpPr txBox="1">
                <a:spLocks noRot="1" noChangeAspect="1" noMove="1" noResize="1" noEditPoints="1" noAdjustHandles="1" noChangeArrowheads="1" noChangeShapeType="1" noTextEdit="1"/>
              </p:cNvSpPr>
              <p:nvPr/>
            </p:nvSpPr>
            <p:spPr>
              <a:xfrm>
                <a:off x="3654204" y="2708605"/>
                <a:ext cx="642522" cy="369332"/>
              </a:xfrm>
              <a:prstGeom prst="rect">
                <a:avLst/>
              </a:prstGeom>
              <a:blipFill>
                <a:blip r:embed="rId7"/>
                <a:stretch>
                  <a:fillRect b="-98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99020F2D-D27E-B319-CAF4-99AB70C8255F}"/>
                  </a:ext>
                </a:extLst>
              </p:cNvPr>
              <p:cNvSpPr txBox="1"/>
              <p:nvPr/>
            </p:nvSpPr>
            <p:spPr>
              <a:xfrm>
                <a:off x="1942014" y="4841256"/>
                <a:ext cx="3261601" cy="369332"/>
              </a:xfrm>
              <a:prstGeom prst="rect">
                <a:avLst/>
              </a:prstGeom>
              <a:noFill/>
            </p:spPr>
            <p:txBody>
              <a:bodyPr wrap="square" rtlCol="0">
                <a:spAutoFit/>
              </a:bodyP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a:rPr kumimoji="1" lang="en-US" altLang="ja-JP" b="0" i="1" smtClean="0">
                            <a:latin typeface="Cambria Math" panose="02040503050406030204" pitchFamily="18" charset="0"/>
                          </a:rPr>
                          <m:t>𝐺𝑆</m:t>
                        </m:r>
                      </m:sub>
                    </m:sSub>
                  </m:oMath>
                </a14:m>
                <a:r>
                  <a:rPr kumimoji="1" lang="ja-JP" altLang="en-US" dirty="0"/>
                  <a:t>（</a:t>
                </a:r>
                <a:r>
                  <a:rPr kumimoji="1" lang="en-US" altLang="ja-JP" dirty="0"/>
                  <a:t>V</a:t>
                </a:r>
                <a:r>
                  <a:rPr kumimoji="1" lang="ja-JP" altLang="en-US" dirty="0"/>
                  <a:t>）</a:t>
                </a:r>
              </a:p>
            </p:txBody>
          </p:sp>
        </mc:Choice>
        <mc:Fallback xmlns="">
          <p:sp>
            <p:nvSpPr>
              <p:cNvPr id="17" name="テキスト ボックス 16">
                <a:extLst>
                  <a:ext uri="{FF2B5EF4-FFF2-40B4-BE49-F238E27FC236}">
                    <a16:creationId xmlns:a16="http://schemas.microsoft.com/office/drawing/2014/main" id="{99020F2D-D27E-B319-CAF4-99AB70C8255F}"/>
                  </a:ext>
                </a:extLst>
              </p:cNvPr>
              <p:cNvSpPr txBox="1">
                <a:spLocks noRot="1" noChangeAspect="1" noMove="1" noResize="1" noEditPoints="1" noAdjustHandles="1" noChangeArrowheads="1" noChangeShapeType="1" noTextEdit="1"/>
              </p:cNvSpPr>
              <p:nvPr/>
            </p:nvSpPr>
            <p:spPr>
              <a:xfrm>
                <a:off x="1942014" y="4841256"/>
                <a:ext cx="3261601" cy="369332"/>
              </a:xfrm>
              <a:prstGeom prst="rect">
                <a:avLst/>
              </a:prstGeom>
              <a:blipFill>
                <a:blip r:embed="rId8"/>
                <a:stretch>
                  <a:fillRect t="-11475"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9BF24E90-10F0-9098-2625-3B5F988CEE06}"/>
                  </a:ext>
                </a:extLst>
              </p:cNvPr>
              <p:cNvSpPr txBox="1"/>
              <p:nvPr/>
            </p:nvSpPr>
            <p:spPr>
              <a:xfrm>
                <a:off x="4423522" y="1684566"/>
                <a:ext cx="642522" cy="369332"/>
              </a:xfrm>
              <a:prstGeom prst="rect">
                <a:avLst/>
              </a:prstGeom>
              <a:noFill/>
            </p:spPr>
            <p:txBody>
              <a:bodyPr wrap="square" rtlCol="0">
                <a:spAutoFit/>
              </a:bodyPr>
              <a:lstStyle/>
              <a:p>
                <a:pPr/>
                <a14:m>
                  <m:oMathPara xmlns:m="http://schemas.openxmlformats.org/officeDocument/2006/math">
                    <m:oMathParaPr>
                      <m:jc m:val="center"/>
                    </m:oMathParaPr>
                    <m:oMath>
                      <m:sSub>
                        <m:sSubPr>
                          <m:ctrlPr>
                            <a:rPr kumimoji="1" lang="en-US" altLang="ja-JP" b="0" i="1" dirty="0" smtClean="0">
                              <a:solidFill>
                                <a:srgbClr val="FFFF00"/>
                              </a:solidFill>
                              <a:latin typeface="Cambria Math" panose="02040503050406030204" pitchFamily="18" charset="0"/>
                            </a:rPr>
                          </m:ctrlPr>
                        </m:sSubPr>
                        <m:e>
                          <m:r>
                            <a:rPr kumimoji="1" lang="en-US" altLang="ja-JP" b="0" i="1" dirty="0" smtClean="0">
                              <a:solidFill>
                                <a:srgbClr val="FFFF00"/>
                              </a:solidFill>
                              <a:latin typeface="Cambria Math" panose="02040503050406030204" pitchFamily="18" charset="0"/>
                            </a:rPr>
                            <m:t>𝑅</m:t>
                          </m:r>
                        </m:e>
                        <m:sub>
                          <m:r>
                            <a:rPr kumimoji="1" lang="en-US" altLang="ja-JP" b="0" i="1" dirty="0" smtClean="0">
                              <a:solidFill>
                                <a:srgbClr val="FFFF00"/>
                              </a:solidFill>
                              <a:latin typeface="Cambria Math" panose="02040503050406030204" pitchFamily="18" charset="0"/>
                            </a:rPr>
                            <m:t>𝑜𝑛</m:t>
                          </m:r>
                        </m:sub>
                      </m:sSub>
                    </m:oMath>
                  </m:oMathPara>
                </a14:m>
                <a:endParaRPr kumimoji="1" lang="ja-JP" altLang="en-US" dirty="0">
                  <a:solidFill>
                    <a:srgbClr val="FFFF00"/>
                  </a:solidFill>
                </a:endParaRPr>
              </a:p>
            </p:txBody>
          </p:sp>
        </mc:Choice>
        <mc:Fallback xmlns="">
          <p:sp>
            <p:nvSpPr>
              <p:cNvPr id="18" name="テキスト ボックス 17">
                <a:extLst>
                  <a:ext uri="{FF2B5EF4-FFF2-40B4-BE49-F238E27FC236}">
                    <a16:creationId xmlns:a16="http://schemas.microsoft.com/office/drawing/2014/main" id="{9BF24E90-10F0-9098-2625-3B5F988CEE06}"/>
                  </a:ext>
                </a:extLst>
              </p:cNvPr>
              <p:cNvSpPr txBox="1">
                <a:spLocks noRot="1" noChangeAspect="1" noMove="1" noResize="1" noEditPoints="1" noAdjustHandles="1" noChangeArrowheads="1" noChangeShapeType="1" noTextEdit="1"/>
              </p:cNvSpPr>
              <p:nvPr/>
            </p:nvSpPr>
            <p:spPr>
              <a:xfrm>
                <a:off x="4423522" y="1684566"/>
                <a:ext cx="642522" cy="369332"/>
              </a:xfrm>
              <a:prstGeom prst="rect">
                <a:avLst/>
              </a:prstGeom>
              <a:blipFill>
                <a:blip r:embed="rId9"/>
                <a:stretch>
                  <a:fillRect/>
                </a:stretch>
              </a:blipFill>
            </p:spPr>
            <p:txBody>
              <a:bodyPr/>
              <a:lstStyle/>
              <a:p>
                <a:r>
                  <a:rPr lang="ja-JP" altLang="en-US">
                    <a:noFill/>
                  </a:rPr>
                  <a:t> </a:t>
                </a:r>
              </a:p>
            </p:txBody>
          </p:sp>
        </mc:Fallback>
      </mc:AlternateContent>
      <p:sp>
        <p:nvSpPr>
          <p:cNvPr id="19" name="楕円 18">
            <a:extLst>
              <a:ext uri="{FF2B5EF4-FFF2-40B4-BE49-F238E27FC236}">
                <a16:creationId xmlns:a16="http://schemas.microsoft.com/office/drawing/2014/main" id="{533FD2D7-6319-D744-19EF-2E8E0EC6D30C}"/>
              </a:ext>
            </a:extLst>
          </p:cNvPr>
          <p:cNvSpPr/>
          <p:nvPr/>
        </p:nvSpPr>
        <p:spPr>
          <a:xfrm>
            <a:off x="4666952" y="2086795"/>
            <a:ext cx="155662" cy="15566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0" name="コンテンツ プレースホルダー 4">
                <a:extLst>
                  <a:ext uri="{FF2B5EF4-FFF2-40B4-BE49-F238E27FC236}">
                    <a16:creationId xmlns:a16="http://schemas.microsoft.com/office/drawing/2014/main" id="{33B437AD-3790-6632-6B36-2A8FC8F977E2}"/>
                  </a:ext>
                </a:extLst>
              </p:cNvPr>
              <p:cNvSpPr>
                <a:spLocks noGrp="1"/>
              </p:cNvSpPr>
              <p:nvPr>
                <p:ph sz="quarter" idx="13"/>
              </p:nvPr>
            </p:nvSpPr>
            <p:spPr>
              <a:xfrm>
                <a:off x="5476978" y="1463040"/>
                <a:ext cx="6178065" cy="4601748"/>
              </a:xfrm>
            </p:spPr>
            <p:txBody>
              <a:bodyPr>
                <a:normAutofit/>
              </a:bodyPr>
              <a:lstStyle/>
              <a:p>
                <a:pPr marL="342900" indent="-342900">
                  <a:buFont typeface="Arial" panose="020B0604020202020204" pitchFamily="34" charset="0"/>
                  <a:buChar char="•"/>
                </a:pP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𝑉</m:t>
                        </m:r>
                      </m:e>
                      <m:sub>
                        <m:r>
                          <a:rPr lang="en-US" altLang="ja-JP" sz="2000" b="0" i="1" smtClean="0">
                            <a:latin typeface="Cambria Math" panose="02040503050406030204" pitchFamily="18" charset="0"/>
                          </a:rPr>
                          <m:t>𝑡ℎ</m:t>
                        </m:r>
                      </m:sub>
                    </m:sSub>
                  </m:oMath>
                </a14:m>
                <a:r>
                  <a:rPr kumimoji="1" lang="en-US" altLang="ja-JP" sz="2000" dirty="0"/>
                  <a:t> </a:t>
                </a:r>
                <a:r>
                  <a:rPr kumimoji="1" lang="ja-JP" altLang="en-US" sz="2000" dirty="0"/>
                  <a:t>閾値電圧</a:t>
                </a:r>
                <a:br>
                  <a:rPr kumimoji="1" lang="en-US" altLang="ja-JP" sz="2000" dirty="0"/>
                </a:br>
                <a:r>
                  <a:rPr kumimoji="1" lang="ja-JP" altLang="en-US" sz="2000" dirty="0"/>
                  <a:t>電流が流れ始めるゲートソース間電圧の閾値</a:t>
                </a:r>
                <a:endParaRPr kumimoji="1" lang="en-US" altLang="ja-JP" sz="2000" dirty="0"/>
              </a:p>
              <a:p>
                <a:pPr marL="342900" indent="-342900">
                  <a:buFont typeface="Arial" panose="020B0604020202020204" pitchFamily="34" charset="0"/>
                  <a:buChar char="•"/>
                </a:pP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𝑔</m:t>
                        </m:r>
                      </m:e>
                      <m:sub>
                        <m:r>
                          <a:rPr lang="en-US" altLang="ja-JP" sz="2000" b="0" i="1" smtClean="0">
                            <a:latin typeface="Cambria Math" panose="02040503050406030204" pitchFamily="18" charset="0"/>
                          </a:rPr>
                          <m:t>𝑚</m:t>
                        </m:r>
                      </m:sub>
                    </m:sSub>
                  </m:oMath>
                </a14:m>
                <a:r>
                  <a:rPr kumimoji="1" lang="ja-JP" altLang="en-US" sz="2000" dirty="0"/>
                  <a:t> トランスコンダクタンス</a:t>
                </a:r>
                <a:br>
                  <a:rPr lang="en-US" altLang="ja-JP" sz="2000" dirty="0"/>
                </a:br>
                <a:r>
                  <a:rPr lang="ja-JP" altLang="en-US" sz="2000" dirty="0"/>
                  <a:t>ゲート電圧の変化分 対 ドレインソース間電流の変化分</a:t>
                </a:r>
                <a:endParaRPr lang="en-US" altLang="ja-JP" sz="2000" dirty="0"/>
              </a:p>
              <a:p>
                <a:pPr marL="342900" indent="-342900">
                  <a:buFont typeface="Arial" panose="020B0604020202020204" pitchFamily="34" charset="0"/>
                  <a:buChar char="•"/>
                </a:pPr>
                <a14:m>
                  <m:oMath xmlns:m="http://schemas.openxmlformats.org/officeDocument/2006/math">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𝑜𝑛</m:t>
                        </m:r>
                      </m:sub>
                    </m:sSub>
                  </m:oMath>
                </a14:m>
                <a:r>
                  <a:rPr kumimoji="1" lang="en-US" altLang="ja-JP" sz="2000" dirty="0"/>
                  <a:t> </a:t>
                </a:r>
                <a:r>
                  <a:rPr kumimoji="1" lang="ja-JP" altLang="en-US" sz="2000" dirty="0"/>
                  <a:t>オン抵抗</a:t>
                </a:r>
                <a:br>
                  <a:rPr lang="en-US" altLang="ja-JP" sz="2000" dirty="0"/>
                </a:br>
                <a:r>
                  <a:rPr lang="ja-JP" altLang="en-US" sz="2000" dirty="0"/>
                  <a:t>オン状態で</a:t>
                </a:r>
                <a:r>
                  <a:rPr kumimoji="1" lang="ja-JP" altLang="en-US" sz="2000" dirty="0"/>
                  <a:t>の抵抗値</a:t>
                </a:r>
                <a:endParaRPr kumimoji="1" lang="en-US" altLang="ja-JP" sz="2000" dirty="0"/>
              </a:p>
            </p:txBody>
          </p:sp>
        </mc:Choice>
        <mc:Fallback xmlns="">
          <p:sp>
            <p:nvSpPr>
              <p:cNvPr id="20" name="コンテンツ プレースホルダー 4">
                <a:extLst>
                  <a:ext uri="{FF2B5EF4-FFF2-40B4-BE49-F238E27FC236}">
                    <a16:creationId xmlns:a16="http://schemas.microsoft.com/office/drawing/2014/main" id="{33B437AD-3790-6632-6B36-2A8FC8F977E2}"/>
                  </a:ext>
                </a:extLst>
              </p:cNvPr>
              <p:cNvSpPr>
                <a:spLocks noGrp="1" noRot="1" noChangeAspect="1" noMove="1" noResize="1" noEditPoints="1" noAdjustHandles="1" noChangeArrowheads="1" noChangeShapeType="1" noTextEdit="1"/>
              </p:cNvSpPr>
              <p:nvPr>
                <p:ph sz="quarter" idx="13"/>
              </p:nvPr>
            </p:nvSpPr>
            <p:spPr>
              <a:xfrm>
                <a:off x="5476978" y="1463040"/>
                <a:ext cx="6178065" cy="4601748"/>
              </a:xfrm>
              <a:blipFill>
                <a:blip r:embed="rId10"/>
                <a:stretch>
                  <a:fillRect l="-888" t="-7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32259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2313BE-2F6E-A123-EABC-D726C183919D}"/>
              </a:ext>
            </a:extLst>
          </p:cNvPr>
          <p:cNvSpPr>
            <a:spLocks noGrp="1"/>
          </p:cNvSpPr>
          <p:nvPr>
            <p:ph type="title"/>
          </p:nvPr>
        </p:nvSpPr>
        <p:spPr/>
        <p:txBody>
          <a:bodyPr/>
          <a:lstStyle/>
          <a:p>
            <a:r>
              <a:rPr lang="ja-JP" altLang="en-US" dirty="0"/>
              <a:t>設計する前に</a:t>
            </a:r>
            <a:r>
              <a:rPr lang="en-US" altLang="ja-JP" dirty="0"/>
              <a:t>…</a:t>
            </a:r>
            <a:endParaRPr kumimoji="1" lang="ja-JP" altLang="en-US" dirty="0"/>
          </a:p>
        </p:txBody>
      </p:sp>
      <p:sp>
        <p:nvSpPr>
          <p:cNvPr id="3" name="日付プレースホルダー 2">
            <a:extLst>
              <a:ext uri="{FF2B5EF4-FFF2-40B4-BE49-F238E27FC236}">
                <a16:creationId xmlns:a16="http://schemas.microsoft.com/office/drawing/2014/main" id="{CE6F2859-A6C3-6CF4-EE28-BDE36373123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81892DF-9538-D5C4-F8F1-7AECA804FA85}"/>
              </a:ext>
            </a:extLst>
          </p:cNvPr>
          <p:cNvSpPr>
            <a:spLocks noGrp="1"/>
          </p:cNvSpPr>
          <p:nvPr>
            <p:ph type="sldNum" sz="quarter" idx="12"/>
          </p:nvPr>
        </p:nvSpPr>
        <p:spPr/>
        <p:txBody>
          <a:bodyPr/>
          <a:lstStyle/>
          <a:p>
            <a:pPr rtl="0"/>
            <a:fld id="{9860EDB8-5305-433F-BE41-D7A86D811DB3}" type="slidenum">
              <a:rPr lang="en-US" altLang="ja-JP" noProof="0" smtClean="0"/>
              <a:pPr rtl="0"/>
              <a:t>23</a:t>
            </a:fld>
            <a:endParaRPr lang="ja-JP" altLang="en-US" noProof="0" dirty="0"/>
          </a:p>
        </p:txBody>
      </p:sp>
      <p:sp>
        <p:nvSpPr>
          <p:cNvPr id="5" name="コンテンツ プレースホルダー 4">
            <a:extLst>
              <a:ext uri="{FF2B5EF4-FFF2-40B4-BE49-F238E27FC236}">
                <a16:creationId xmlns:a16="http://schemas.microsoft.com/office/drawing/2014/main" id="{3797C1CD-E546-85D0-C800-40CA183C39CB}"/>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en-US" altLang="ja-JP" sz="2400" dirty="0"/>
              <a:t>CMOS</a:t>
            </a:r>
            <a:r>
              <a:rPr kumimoji="1" lang="ja-JP" altLang="en-US" sz="2400" dirty="0"/>
              <a:t>の特性を知りたい！</a:t>
            </a:r>
            <a:endParaRPr kumimoji="1" lang="en-US" altLang="ja-JP" sz="2400" dirty="0"/>
          </a:p>
          <a:p>
            <a:pPr marL="569214" lvl="1" indent="-285750"/>
            <a:r>
              <a:rPr kumimoji="1" lang="en-US" altLang="ja-JP" sz="2400" dirty="0" err="1"/>
              <a:t>Vgs</a:t>
            </a:r>
            <a:r>
              <a:rPr kumimoji="1" lang="en-US" altLang="ja-JP" sz="2400" dirty="0"/>
              <a:t> – Ids </a:t>
            </a:r>
            <a:r>
              <a:rPr kumimoji="1" lang="ja-JP" altLang="en-US" sz="2400" dirty="0"/>
              <a:t>カーブ</a:t>
            </a:r>
            <a:endParaRPr kumimoji="1" lang="en-US" altLang="ja-JP" sz="2400" dirty="0"/>
          </a:p>
          <a:p>
            <a:pPr marL="569214" lvl="1" indent="-285750"/>
            <a:r>
              <a:rPr lang="ja-JP" altLang="en-US" sz="2400" dirty="0"/>
              <a:t>動作点</a:t>
            </a:r>
            <a:r>
              <a:rPr kumimoji="1" lang="ja-JP" altLang="en-US" sz="2400" dirty="0"/>
              <a:t>解析 </a:t>
            </a:r>
            <a:r>
              <a:rPr kumimoji="1" lang="en-US" altLang="ja-JP" sz="2400" dirty="0"/>
              <a:t>(Operational Point)</a:t>
            </a:r>
          </a:p>
        </p:txBody>
      </p:sp>
      <p:sp>
        <p:nvSpPr>
          <p:cNvPr id="6" name="正方形/長方形 5">
            <a:extLst>
              <a:ext uri="{FF2B5EF4-FFF2-40B4-BE49-F238E27FC236}">
                <a16:creationId xmlns:a16="http://schemas.microsoft.com/office/drawing/2014/main" id="{1C81AD9C-E170-BEFA-B3B0-61D6EB054DDD}"/>
              </a:ext>
            </a:extLst>
          </p:cNvPr>
          <p:cNvSpPr/>
          <p:nvPr/>
        </p:nvSpPr>
        <p:spPr>
          <a:xfrm>
            <a:off x="394753" y="3648850"/>
            <a:ext cx="11402494" cy="230058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dirty="0">
                <a:solidFill>
                  <a:srgbClr val="464646"/>
                </a:solidFill>
              </a:rPr>
              <a:t>これらの詳細は、オペアンプ編にて詳しく解説します。</a:t>
            </a:r>
            <a:r>
              <a:rPr kumimoji="1" lang="en-US" altLang="ja-JP" sz="2800" dirty="0">
                <a:solidFill>
                  <a:srgbClr val="464646"/>
                </a:solidFill>
              </a:rPr>
              <a:t> </a:t>
            </a:r>
            <a:endParaRPr kumimoji="1" lang="ja-JP" altLang="en-US" sz="2800" dirty="0">
              <a:solidFill>
                <a:srgbClr val="464646"/>
              </a:solidFill>
            </a:endParaRPr>
          </a:p>
        </p:txBody>
      </p:sp>
    </p:spTree>
    <p:extLst>
      <p:ext uri="{BB962C8B-B14F-4D97-AF65-F5344CB8AC3E}">
        <p14:creationId xmlns:p14="http://schemas.microsoft.com/office/powerpoint/2010/main" val="2250028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98392-30C2-A7E2-9046-06AF54E2B7F8}"/>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CF06578-92A1-0673-A672-80A67A4EF667}"/>
              </a:ext>
            </a:extLst>
          </p:cNvPr>
          <p:cNvSpPr>
            <a:spLocks noGrp="1"/>
          </p:cNvSpPr>
          <p:nvPr>
            <p:ph type="title"/>
          </p:nvPr>
        </p:nvSpPr>
        <p:spPr/>
        <p:txBody>
          <a:bodyPr/>
          <a:lstStyle/>
          <a:p>
            <a:r>
              <a:rPr lang="ja-JP" altLang="en-US" dirty="0"/>
              <a:t>アナログ半導体の設計フロー</a:t>
            </a:r>
          </a:p>
        </p:txBody>
      </p:sp>
      <p:sp>
        <p:nvSpPr>
          <p:cNvPr id="7" name="テキスト プレースホルダー 6">
            <a:extLst>
              <a:ext uri="{FF2B5EF4-FFF2-40B4-BE49-F238E27FC236}">
                <a16:creationId xmlns:a16="http://schemas.microsoft.com/office/drawing/2014/main" id="{7007551B-D49D-0DBB-0392-0E9D6E4C8D21}"/>
              </a:ext>
            </a:extLst>
          </p:cNvPr>
          <p:cNvSpPr>
            <a:spLocks noGrp="1"/>
          </p:cNvSpPr>
          <p:nvPr>
            <p:ph type="body" sz="quarter" idx="10"/>
          </p:nvPr>
        </p:nvSpPr>
        <p:spPr/>
        <p:txBody>
          <a:bodyPr/>
          <a:lstStyle/>
          <a:p>
            <a:r>
              <a:rPr lang="ja-JP" altLang="en-US" dirty="0"/>
              <a:t>どのような設計をするか、どのような開発ツールを使用するか</a:t>
            </a:r>
          </a:p>
        </p:txBody>
      </p:sp>
      <p:sp>
        <p:nvSpPr>
          <p:cNvPr id="3" name="日付プレースホルダー 2">
            <a:extLst>
              <a:ext uri="{FF2B5EF4-FFF2-40B4-BE49-F238E27FC236}">
                <a16:creationId xmlns:a16="http://schemas.microsoft.com/office/drawing/2014/main" id="{17987A91-1E96-BF41-6662-DC1164AB6F08}"/>
              </a:ext>
            </a:extLst>
          </p:cNvPr>
          <p:cNvSpPr>
            <a:spLocks noGrp="1"/>
          </p:cNvSpPr>
          <p:nvPr>
            <p:ph type="dt" sz="half" idx="2"/>
          </p:nvPr>
        </p:nvSpPr>
        <p:spPr/>
        <p:txBody>
          <a:bodyPr/>
          <a:lstStyle/>
          <a:p>
            <a:pPr rtl="0"/>
            <a:fld id="{ABE7AEFA-7BBF-41DD-B117-EE956940AF0B}"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5368D99-2EBE-8389-EDF0-E1EF35E2E826}"/>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24</a:t>
            </a:fld>
            <a:endParaRPr lang="ja-JP" altLang="en-US" noProof="0"/>
          </a:p>
        </p:txBody>
      </p:sp>
    </p:spTree>
    <p:extLst>
      <p:ext uri="{BB962C8B-B14F-4D97-AF65-F5344CB8AC3E}">
        <p14:creationId xmlns:p14="http://schemas.microsoft.com/office/powerpoint/2010/main" val="617874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863A-C13C-7B8C-2068-B4A4199600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87B121-E5F6-3033-A067-30536ABA9BCD}"/>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8AD2819B-708F-EA31-486A-9C3F759D558E}"/>
              </a:ext>
            </a:extLst>
          </p:cNvPr>
          <p:cNvSpPr>
            <a:spLocks noGrp="1"/>
          </p:cNvSpPr>
          <p:nvPr>
            <p:ph type="dt" sz="half" idx="10"/>
          </p:nvPr>
        </p:nvSpPr>
        <p:spPr/>
        <p:txBody>
          <a:bodyPr/>
          <a:lstStyle/>
          <a:p>
            <a:pPr rtl="0"/>
            <a:fld id="{857A97F9-5ABF-4A58-9961-E227BD9679D7}"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2EB818F-CB74-75C8-4D2B-4EF5CA201DFE}"/>
              </a:ext>
            </a:extLst>
          </p:cNvPr>
          <p:cNvSpPr>
            <a:spLocks noGrp="1"/>
          </p:cNvSpPr>
          <p:nvPr>
            <p:ph type="sldNum" sz="quarter" idx="12"/>
          </p:nvPr>
        </p:nvSpPr>
        <p:spPr/>
        <p:txBody>
          <a:bodyPr/>
          <a:lstStyle/>
          <a:p>
            <a:pPr rtl="0"/>
            <a:fld id="{9860EDB8-5305-433F-BE41-D7A86D811DB3}" type="slidenum">
              <a:rPr lang="en-US" altLang="ja-JP" noProof="0" smtClean="0"/>
              <a:pPr rtl="0"/>
              <a:t>25</a:t>
            </a:fld>
            <a:endParaRPr lang="ja-JP" altLang="en-US" noProof="0"/>
          </a:p>
        </p:txBody>
      </p:sp>
      <p:sp>
        <p:nvSpPr>
          <p:cNvPr id="5" name="コンテンツ プレースホルダー 4">
            <a:extLst>
              <a:ext uri="{FF2B5EF4-FFF2-40B4-BE49-F238E27FC236}">
                <a16:creationId xmlns:a16="http://schemas.microsoft.com/office/drawing/2014/main" id="{05A2000D-9307-5326-DAB4-03DA193E0A74}"/>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a:t>
            </a:r>
            <a:r>
              <a:rPr lang="ja-JP" altLang="en-US" sz="2000" dirty="0"/>
              <a:t>テスト</a:t>
            </a:r>
            <a:r>
              <a:rPr kumimoji="1" lang="ja-JP" altLang="en-US" sz="2000" dirty="0"/>
              <a:t>ベンチ）を描く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 </a:t>
            </a:r>
            <a:r>
              <a:rPr lang="en-US" altLang="ja-JP" sz="2000" dirty="0"/>
              <a:t>(DRC,</a:t>
            </a:r>
            <a:r>
              <a:rPr lang="ja-JP" altLang="en-US" sz="2000" dirty="0"/>
              <a:t> </a:t>
            </a:r>
            <a:r>
              <a:rPr lang="en-US" altLang="ja-JP" sz="2000" dirty="0"/>
              <a:t>LVS)</a:t>
            </a:r>
          </a:p>
          <a:p>
            <a:pPr marL="457200" indent="-457200">
              <a:buFont typeface="+mj-lt"/>
              <a:buAutoNum type="arabicPeriod"/>
            </a:pPr>
            <a:r>
              <a:rPr kumimoji="1" lang="ja-JP" altLang="en-US" sz="2000" dirty="0"/>
              <a:t>レイアウトを基に寄生成分を考慮したシミュレーションをする</a:t>
            </a: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4235256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41B746-796B-82B4-E336-862D4710790C}"/>
              </a:ext>
            </a:extLst>
          </p:cNvPr>
          <p:cNvSpPr>
            <a:spLocks noGrp="1"/>
          </p:cNvSpPr>
          <p:nvPr>
            <p:ph type="title"/>
          </p:nvPr>
        </p:nvSpPr>
        <p:spPr/>
        <p:txBody>
          <a:bodyPr/>
          <a:lstStyle/>
          <a:p>
            <a:r>
              <a:rPr kumimoji="1" lang="ja-JP" altLang="en-US" dirty="0"/>
              <a:t>そもそもアナログ半導体回路設計に必要なものとは？</a:t>
            </a:r>
          </a:p>
        </p:txBody>
      </p:sp>
      <p:sp>
        <p:nvSpPr>
          <p:cNvPr id="4" name="日付プレースホルダー 3">
            <a:extLst>
              <a:ext uri="{FF2B5EF4-FFF2-40B4-BE49-F238E27FC236}">
                <a16:creationId xmlns:a16="http://schemas.microsoft.com/office/drawing/2014/main" id="{7B7AC945-5872-AF90-77BB-5B68FAF79A51}"/>
              </a:ext>
            </a:extLst>
          </p:cNvPr>
          <p:cNvSpPr>
            <a:spLocks noGrp="1"/>
          </p:cNvSpPr>
          <p:nvPr>
            <p:ph type="dt" sz="half" idx="10"/>
          </p:nvPr>
        </p:nvSpPr>
        <p:spPr/>
        <p:txBody>
          <a:bodyPr/>
          <a:lstStyle/>
          <a:p>
            <a:fld id="{B41E2B74-E057-4DA1-8A7D-DB5E07392327}"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B676DA5-833C-2AE6-84B3-0466465ABD14}"/>
              </a:ext>
            </a:extLst>
          </p:cNvPr>
          <p:cNvSpPr>
            <a:spLocks noGrp="1"/>
          </p:cNvSpPr>
          <p:nvPr>
            <p:ph type="sldNum" sz="quarter" idx="12"/>
          </p:nvPr>
        </p:nvSpPr>
        <p:spPr/>
        <p:txBody>
          <a:bodyPr/>
          <a:lstStyle/>
          <a:p>
            <a:fld id="{66E89953-8AEA-4BDF-A508-664B12926AB4}" type="slidenum">
              <a:rPr kumimoji="1" lang="ja-JP" altLang="en-US" smtClean="0"/>
              <a:t>26</a:t>
            </a:fld>
            <a:endParaRPr kumimoji="1" lang="ja-JP" altLang="en-US"/>
          </a:p>
        </p:txBody>
      </p:sp>
      <p:sp>
        <p:nvSpPr>
          <p:cNvPr id="3" name="コンテンツ プレースホルダー 2">
            <a:extLst>
              <a:ext uri="{FF2B5EF4-FFF2-40B4-BE49-F238E27FC236}">
                <a16:creationId xmlns:a16="http://schemas.microsoft.com/office/drawing/2014/main" id="{9EEA883F-B53A-4EBB-1F22-14CD2EB8730E}"/>
              </a:ext>
            </a:extLst>
          </p:cNvPr>
          <p:cNvSpPr>
            <a:spLocks noGrp="1"/>
          </p:cNvSpPr>
          <p:nvPr>
            <p:ph sz="quarter" idx="13"/>
          </p:nvPr>
        </p:nvSpPr>
        <p:spPr>
          <a:xfrm>
            <a:off x="444500" y="1463039"/>
            <a:ext cx="5330952" cy="4964351"/>
          </a:xfrm>
        </p:spPr>
        <p:txBody>
          <a:bodyPr>
            <a:normAutofit/>
          </a:bodyPr>
          <a:lstStyle/>
          <a:p>
            <a:pPr marL="285750" indent="-285750">
              <a:buFont typeface="Arial" panose="020B0604020202020204" pitchFamily="34" charset="0"/>
              <a:buChar char="•"/>
            </a:pPr>
            <a:r>
              <a:rPr kumimoji="1" lang="ja-JP" altLang="en-US" sz="2000" b="1" u="sng" dirty="0"/>
              <a:t>プロセスデザインキット　</a:t>
            </a:r>
            <a:r>
              <a:rPr kumimoji="1" lang="en-US" altLang="ja-JP" sz="2000" b="1" u="sng" dirty="0"/>
              <a:t>PDK</a:t>
            </a:r>
          </a:p>
          <a:p>
            <a:pPr lvl="2"/>
            <a:r>
              <a:rPr lang="ja-JP" altLang="en-US" b="1" dirty="0"/>
              <a:t>シミュレーションモデルライブラリ</a:t>
            </a:r>
            <a:r>
              <a:rPr lang="en-US" altLang="ja-JP" b="1" dirty="0"/>
              <a:t> (SPICE)</a:t>
            </a:r>
          </a:p>
          <a:p>
            <a:pPr lvl="2"/>
            <a:r>
              <a:rPr lang="ja-JP" altLang="en-US" b="1" dirty="0"/>
              <a:t>検証ツール用ルールファイル </a:t>
            </a:r>
            <a:r>
              <a:rPr lang="en-US" altLang="ja-JP" b="1" dirty="0"/>
              <a:t>(DRC, LVS</a:t>
            </a:r>
            <a:r>
              <a:rPr lang="ja-JP" altLang="en-US" b="1" dirty="0"/>
              <a:t>など</a:t>
            </a:r>
            <a:r>
              <a:rPr lang="en-US" altLang="ja-JP" b="1" dirty="0"/>
              <a:t>)</a:t>
            </a:r>
          </a:p>
          <a:p>
            <a:pPr lvl="2"/>
            <a:r>
              <a:rPr lang="ja-JP" altLang="en-US" b="1" dirty="0"/>
              <a:t>スタンダードセルライブラリ</a:t>
            </a:r>
            <a:endParaRPr lang="en-US" altLang="ja-JP" b="1" dirty="0"/>
          </a:p>
          <a:p>
            <a:pPr lvl="3"/>
            <a:r>
              <a:rPr lang="ja-JP" altLang="en-US" b="1" dirty="0"/>
              <a:t>レイアウト </a:t>
            </a:r>
            <a:r>
              <a:rPr lang="en-US" altLang="ja-JP" b="1" dirty="0"/>
              <a:t>(GDS)</a:t>
            </a:r>
          </a:p>
          <a:p>
            <a:pPr lvl="3"/>
            <a:r>
              <a:rPr lang="ja-JP" altLang="en-US" b="1" dirty="0"/>
              <a:t>ネットリスト</a:t>
            </a:r>
            <a:r>
              <a:rPr lang="en-US" altLang="ja-JP" b="1" dirty="0"/>
              <a:t>(SPICE) </a:t>
            </a:r>
            <a:endParaRPr lang="en-US" altLang="ja-JP" dirty="0"/>
          </a:p>
          <a:p>
            <a:pPr lvl="3"/>
            <a:r>
              <a:rPr lang="ja-JP" altLang="en-US" b="1" dirty="0">
                <a:solidFill>
                  <a:schemeClr val="tx1"/>
                </a:solidFill>
              </a:rPr>
              <a:t>自動配置配線ルール</a:t>
            </a:r>
            <a:r>
              <a:rPr lang="en-US" altLang="ja-JP" b="1" dirty="0">
                <a:solidFill>
                  <a:schemeClr val="tx1"/>
                </a:solidFill>
              </a:rPr>
              <a:t>(LEF)</a:t>
            </a:r>
          </a:p>
          <a:p>
            <a:pPr lvl="3"/>
            <a:r>
              <a:rPr lang="en-US" altLang="ja-JP" b="1" dirty="0">
                <a:solidFill>
                  <a:schemeClr val="tx1"/>
                </a:solidFill>
              </a:rPr>
              <a:t>Verilog</a:t>
            </a:r>
            <a:r>
              <a:rPr lang="ja-JP" altLang="en-US" b="1" dirty="0">
                <a:solidFill>
                  <a:schemeClr val="tx1"/>
                </a:solidFill>
              </a:rPr>
              <a:t>シミュレーションライブラリ </a:t>
            </a:r>
            <a:r>
              <a:rPr lang="en-US" altLang="ja-JP" b="1" dirty="0">
                <a:solidFill>
                  <a:schemeClr val="tx1"/>
                </a:solidFill>
              </a:rPr>
              <a:t>(LIB, V)</a:t>
            </a:r>
          </a:p>
          <a:p>
            <a:pPr lvl="2"/>
            <a:r>
              <a:rPr lang="ja-JP" altLang="en-US" b="1" dirty="0"/>
              <a:t>一部指定されたレイアウト </a:t>
            </a:r>
            <a:r>
              <a:rPr lang="en-US" altLang="ja-JP" b="1" dirty="0"/>
              <a:t>(</a:t>
            </a:r>
            <a:r>
              <a:rPr lang="ja-JP" altLang="en-US" b="1" dirty="0"/>
              <a:t>フレームなど</a:t>
            </a:r>
            <a:r>
              <a:rPr lang="en-US" altLang="ja-JP" b="1" dirty="0"/>
              <a:t>)</a:t>
            </a:r>
          </a:p>
        </p:txBody>
      </p:sp>
      <p:sp>
        <p:nvSpPr>
          <p:cNvPr id="7" name="コンテンツ プレースホルダー 6">
            <a:extLst>
              <a:ext uri="{FF2B5EF4-FFF2-40B4-BE49-F238E27FC236}">
                <a16:creationId xmlns:a16="http://schemas.microsoft.com/office/drawing/2014/main" id="{524336EF-9A5E-56AF-C828-49228B798686}"/>
              </a:ext>
            </a:extLst>
          </p:cNvPr>
          <p:cNvSpPr>
            <a:spLocks noGrp="1"/>
          </p:cNvSpPr>
          <p:nvPr>
            <p:ph sz="quarter" idx="14"/>
          </p:nvPr>
        </p:nvSpPr>
        <p:spPr>
          <a:xfrm>
            <a:off x="5164183" y="1463040"/>
            <a:ext cx="6723017" cy="4964350"/>
          </a:xfrm>
        </p:spPr>
        <p:txBody>
          <a:bodyPr>
            <a:normAutofit/>
          </a:bodyPr>
          <a:lstStyle/>
          <a:p>
            <a:pPr marL="285750" indent="-285750">
              <a:buFont typeface="Arial" panose="020B0604020202020204" pitchFamily="34" charset="0"/>
              <a:buChar char="•"/>
            </a:pPr>
            <a:r>
              <a:rPr kumimoji="1" lang="en-US" altLang="ja-JP" sz="2000" u="sng" dirty="0"/>
              <a:t>PDK</a:t>
            </a:r>
            <a:r>
              <a:rPr kumimoji="1" lang="ja-JP" altLang="en-US" sz="2000" u="sng" dirty="0"/>
              <a:t>で指定された</a:t>
            </a:r>
            <a:r>
              <a:rPr kumimoji="1" lang="ja-JP" altLang="en-US" sz="2000" dirty="0"/>
              <a:t>各種ツール　（</a:t>
            </a:r>
            <a:r>
              <a:rPr kumimoji="1" lang="en-US" altLang="ja-JP" sz="2000" dirty="0"/>
              <a:t>EDA</a:t>
            </a:r>
            <a:r>
              <a:rPr kumimoji="1" lang="ja-JP" altLang="en-US" sz="2000" dirty="0"/>
              <a:t>ツール）</a:t>
            </a:r>
            <a:endParaRPr kumimoji="1" lang="en-US" altLang="ja-JP" sz="2000" dirty="0"/>
          </a:p>
          <a:p>
            <a:pPr lvl="2"/>
            <a:r>
              <a:rPr lang="ja-JP" altLang="en-US" b="1" u="sng" dirty="0"/>
              <a:t>回路図エディタ</a:t>
            </a:r>
            <a:r>
              <a:rPr lang="ja-JP" altLang="en-US" b="1" dirty="0"/>
              <a:t> </a:t>
            </a:r>
            <a:r>
              <a:rPr lang="en-US" altLang="ja-JP" dirty="0">
                <a:solidFill>
                  <a:schemeClr val="bg2">
                    <a:lumMod val="75000"/>
                  </a:schemeClr>
                </a:solidFill>
              </a:rPr>
              <a:t>or Verilog</a:t>
            </a:r>
            <a:r>
              <a:rPr lang="ja-JP" altLang="en-US" dirty="0">
                <a:solidFill>
                  <a:schemeClr val="bg2">
                    <a:lumMod val="75000"/>
                  </a:schemeClr>
                </a:solidFill>
              </a:rPr>
              <a:t>コンパイラ</a:t>
            </a:r>
            <a:endParaRPr lang="en-US" altLang="ja-JP" dirty="0">
              <a:solidFill>
                <a:schemeClr val="bg2">
                  <a:lumMod val="75000"/>
                </a:schemeClr>
              </a:solidFill>
            </a:endParaRPr>
          </a:p>
          <a:p>
            <a:pPr lvl="3"/>
            <a:r>
              <a:rPr lang="ja-JP" altLang="en-US" b="1" dirty="0"/>
              <a:t>回路図エディタ </a:t>
            </a:r>
            <a:r>
              <a:rPr lang="en-US" altLang="ja-JP" b="1" dirty="0"/>
              <a:t>: </a:t>
            </a:r>
            <a:r>
              <a:rPr lang="en-US" altLang="ja-JP" b="1" u="sng" dirty="0" err="1"/>
              <a:t>xschem</a:t>
            </a:r>
            <a:r>
              <a:rPr lang="en-US" altLang="ja-JP" b="1" dirty="0"/>
              <a:t>, </a:t>
            </a:r>
            <a:r>
              <a:rPr lang="en-US" altLang="ja-JP" dirty="0"/>
              <a:t>Glade, </a:t>
            </a:r>
            <a:r>
              <a:rPr lang="en-US" altLang="ja-JP" dirty="0" err="1"/>
              <a:t>KiCAD</a:t>
            </a:r>
            <a:endParaRPr lang="en-US" altLang="ja-JP" dirty="0"/>
          </a:p>
          <a:p>
            <a:pPr lvl="2"/>
            <a:r>
              <a:rPr lang="ja-JP" altLang="en-US" b="1" u="sng" dirty="0"/>
              <a:t>レイアウトエディタ</a:t>
            </a:r>
            <a:r>
              <a:rPr lang="ja-JP" altLang="en-US" dirty="0"/>
              <a:t> </a:t>
            </a:r>
            <a:r>
              <a:rPr lang="en-US" altLang="ja-JP" dirty="0">
                <a:solidFill>
                  <a:schemeClr val="bg2">
                    <a:lumMod val="75000"/>
                  </a:schemeClr>
                </a:solidFill>
              </a:rPr>
              <a:t>or </a:t>
            </a:r>
            <a:r>
              <a:rPr lang="ja-JP" altLang="en-US" dirty="0">
                <a:solidFill>
                  <a:schemeClr val="bg2">
                    <a:lumMod val="75000"/>
                  </a:schemeClr>
                </a:solidFill>
              </a:rPr>
              <a:t>自動レイアウトツール</a:t>
            </a:r>
            <a:endParaRPr lang="en-US" altLang="ja-JP" dirty="0">
              <a:solidFill>
                <a:schemeClr val="bg2">
                  <a:lumMod val="75000"/>
                </a:schemeClr>
              </a:solidFill>
            </a:endParaRPr>
          </a:p>
          <a:p>
            <a:pPr lvl="3"/>
            <a:r>
              <a:rPr lang="ja-JP" altLang="en-US" b="1" dirty="0"/>
              <a:t>レイアウトエディタ </a:t>
            </a:r>
            <a:r>
              <a:rPr lang="en-US" altLang="ja-JP" b="1" dirty="0"/>
              <a:t>: </a:t>
            </a:r>
            <a:r>
              <a:rPr lang="en-US" altLang="ja-JP" b="1" u="sng" dirty="0" err="1"/>
              <a:t>klayout</a:t>
            </a:r>
            <a:r>
              <a:rPr lang="en-US" altLang="ja-JP" dirty="0"/>
              <a:t>, Glade, (</a:t>
            </a:r>
            <a:r>
              <a:rPr lang="en-US" altLang="ja-JP" dirty="0" err="1"/>
              <a:t>KiCAD</a:t>
            </a:r>
            <a:r>
              <a:rPr lang="en-US" altLang="ja-JP" dirty="0"/>
              <a:t>)</a:t>
            </a:r>
            <a:endParaRPr lang="en-US" altLang="ja-JP" dirty="0">
              <a:solidFill>
                <a:schemeClr val="bg2">
                  <a:lumMod val="50000"/>
                </a:schemeClr>
              </a:solidFill>
            </a:endParaRPr>
          </a:p>
          <a:p>
            <a:pPr lvl="2"/>
            <a:r>
              <a:rPr lang="en-US" altLang="ja-JP" b="1" u="sng" dirty="0"/>
              <a:t>SPICE</a:t>
            </a:r>
            <a:r>
              <a:rPr lang="ja-JP" altLang="en-US" b="1" u="sng" dirty="0"/>
              <a:t>シミュレータ</a:t>
            </a:r>
            <a:r>
              <a:rPr lang="ja-JP" altLang="en-US" b="1" dirty="0"/>
              <a:t> </a:t>
            </a:r>
            <a:r>
              <a:rPr lang="en-US" altLang="ja-JP" dirty="0">
                <a:solidFill>
                  <a:schemeClr val="bg2">
                    <a:lumMod val="75000"/>
                  </a:schemeClr>
                </a:solidFill>
              </a:rPr>
              <a:t>or Verilog</a:t>
            </a:r>
            <a:r>
              <a:rPr lang="ja-JP" altLang="en-US" dirty="0">
                <a:solidFill>
                  <a:schemeClr val="bg2">
                    <a:lumMod val="75000"/>
                  </a:schemeClr>
                </a:solidFill>
              </a:rPr>
              <a:t>シミュレータ</a:t>
            </a:r>
            <a:endParaRPr lang="en-US" altLang="ja-JP" dirty="0">
              <a:solidFill>
                <a:schemeClr val="bg2">
                  <a:lumMod val="75000"/>
                </a:schemeClr>
              </a:solidFill>
            </a:endParaRPr>
          </a:p>
          <a:p>
            <a:pPr lvl="3"/>
            <a:r>
              <a:rPr lang="en-US" altLang="ja-JP" b="1" dirty="0"/>
              <a:t>SPICE</a:t>
            </a:r>
            <a:r>
              <a:rPr lang="ja-JP" altLang="en-US" b="1" dirty="0"/>
              <a:t>シミュレータ</a:t>
            </a:r>
            <a:r>
              <a:rPr lang="en-US" altLang="ja-JP" b="1" dirty="0"/>
              <a:t> : </a:t>
            </a:r>
            <a:r>
              <a:rPr lang="en-US" altLang="ja-JP" b="1" u="sng" dirty="0" err="1"/>
              <a:t>ngspice</a:t>
            </a:r>
            <a:r>
              <a:rPr lang="en-US" altLang="ja-JP" dirty="0"/>
              <a:t>, </a:t>
            </a:r>
            <a:r>
              <a:rPr lang="en-US" altLang="ja-JP" dirty="0" err="1"/>
              <a:t>LTspice</a:t>
            </a:r>
            <a:endParaRPr lang="en-US" altLang="ja-JP" dirty="0">
              <a:solidFill>
                <a:schemeClr val="bg2">
                  <a:lumMod val="50000"/>
                </a:schemeClr>
              </a:solidFill>
            </a:endParaRPr>
          </a:p>
          <a:p>
            <a:pPr lvl="2"/>
            <a:r>
              <a:rPr kumimoji="1" lang="ja-JP" altLang="en-US" b="1" dirty="0"/>
              <a:t>検証ツール</a:t>
            </a:r>
            <a:endParaRPr kumimoji="1" lang="en-US" altLang="ja-JP" b="1" dirty="0"/>
          </a:p>
          <a:p>
            <a:pPr lvl="3"/>
            <a:r>
              <a:rPr lang="ja-JP" altLang="en-US" b="1" dirty="0"/>
              <a:t>検証ツール</a:t>
            </a:r>
            <a:r>
              <a:rPr kumimoji="1" lang="ja-JP" altLang="en-US" b="1" dirty="0"/>
              <a:t> </a:t>
            </a:r>
            <a:r>
              <a:rPr kumimoji="1" lang="en-US" altLang="ja-JP" b="1" dirty="0"/>
              <a:t>: </a:t>
            </a:r>
            <a:r>
              <a:rPr kumimoji="1" lang="en-US" altLang="ja-JP" b="1" u="sng" dirty="0" err="1"/>
              <a:t>klayout</a:t>
            </a:r>
            <a:endParaRPr kumimoji="1" lang="en-US" altLang="ja-JP" b="1" u="sng" dirty="0"/>
          </a:p>
          <a:p>
            <a:endParaRPr lang="ja-JP" altLang="en-US" dirty="0"/>
          </a:p>
        </p:txBody>
      </p:sp>
    </p:spTree>
    <p:extLst>
      <p:ext uri="{BB962C8B-B14F-4D97-AF65-F5344CB8AC3E}">
        <p14:creationId xmlns:p14="http://schemas.microsoft.com/office/powerpoint/2010/main" val="685705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9C2CA8F1-82CB-CD82-3AE5-FC41E30C0EFA}"/>
              </a:ext>
            </a:extLst>
          </p:cNvPr>
          <p:cNvSpPr>
            <a:spLocks noGrp="1"/>
          </p:cNvSpPr>
          <p:nvPr>
            <p:ph type="title"/>
          </p:nvPr>
        </p:nvSpPr>
        <p:spPr/>
        <p:txBody>
          <a:bodyPr/>
          <a:lstStyle/>
          <a:p>
            <a:r>
              <a:rPr lang="en-US" altLang="ja-JP" dirty="0"/>
              <a:t>PDK</a:t>
            </a:r>
            <a:r>
              <a:rPr lang="ja-JP" altLang="en-US" dirty="0"/>
              <a:t>の場所</a:t>
            </a:r>
          </a:p>
        </p:txBody>
      </p:sp>
      <p:sp>
        <p:nvSpPr>
          <p:cNvPr id="3" name="日付プレースホルダー 2">
            <a:extLst>
              <a:ext uri="{FF2B5EF4-FFF2-40B4-BE49-F238E27FC236}">
                <a16:creationId xmlns:a16="http://schemas.microsoft.com/office/drawing/2014/main" id="{EBD9C427-5275-4BF7-66F6-6A4891241E35}"/>
              </a:ext>
            </a:extLst>
          </p:cNvPr>
          <p:cNvSpPr>
            <a:spLocks noGrp="1"/>
          </p:cNvSpPr>
          <p:nvPr>
            <p:ph type="dt" sz="half" idx="10"/>
          </p:nvPr>
        </p:nvSpPr>
        <p:spPr/>
        <p:txBody>
          <a:bodyPr/>
          <a:lstStyle/>
          <a:p>
            <a:pPr rtl="0"/>
            <a:fld id="{0F1E2E95-C42D-4C36-B7CE-3A9BBBB31134}" type="datetime1">
              <a:rPr lang="ja-JP" altLang="en-US" noProof="0" smtClean="0"/>
              <a:t>2026/10/24</a:t>
            </a:fld>
            <a:endParaRPr lang="ja-JP" altLang="en-US" noProof="0" dirty="0"/>
          </a:p>
        </p:txBody>
      </p:sp>
      <p:sp>
        <p:nvSpPr>
          <p:cNvPr id="4" name="スライド番号プレースホルダー 3">
            <a:extLst>
              <a:ext uri="{FF2B5EF4-FFF2-40B4-BE49-F238E27FC236}">
                <a16:creationId xmlns:a16="http://schemas.microsoft.com/office/drawing/2014/main" id="{33F9AC19-2F45-FF04-B706-FB67677E2D59}"/>
              </a:ext>
            </a:extLst>
          </p:cNvPr>
          <p:cNvSpPr>
            <a:spLocks noGrp="1"/>
          </p:cNvSpPr>
          <p:nvPr>
            <p:ph type="sldNum" sz="quarter" idx="12"/>
          </p:nvPr>
        </p:nvSpPr>
        <p:spPr/>
        <p:txBody>
          <a:bodyPr/>
          <a:lstStyle/>
          <a:p>
            <a:pPr rtl="0"/>
            <a:fld id="{9860EDB8-5305-433F-BE41-D7A86D811DB3}" type="slidenum">
              <a:rPr lang="en-US" altLang="ja-JP" noProof="0" smtClean="0"/>
              <a:pPr rtl="0"/>
              <a:t>27</a:t>
            </a:fld>
            <a:endParaRPr lang="ja-JP" altLang="en-US" noProof="0"/>
          </a:p>
        </p:txBody>
      </p:sp>
      <p:sp>
        <p:nvSpPr>
          <p:cNvPr id="8" name="コンテンツ プレースホルダー 7">
            <a:extLst>
              <a:ext uri="{FF2B5EF4-FFF2-40B4-BE49-F238E27FC236}">
                <a16:creationId xmlns:a16="http://schemas.microsoft.com/office/drawing/2014/main" id="{E818F46E-A0ED-5685-71A3-5EB79B72548D}"/>
              </a:ext>
            </a:extLst>
          </p:cNvPr>
          <p:cNvSpPr>
            <a:spLocks noGrp="1"/>
          </p:cNvSpPr>
          <p:nvPr>
            <p:ph sz="quarter" idx="13"/>
          </p:nvPr>
        </p:nvSpPr>
        <p:spPr>
          <a:xfrm>
            <a:off x="444500" y="1463040"/>
            <a:ext cx="5330952" cy="5033554"/>
          </a:xfrm>
        </p:spPr>
        <p:txBody>
          <a:bodyPr>
            <a:normAutofit/>
          </a:bodyPr>
          <a:lstStyle/>
          <a:p>
            <a:pPr algn="ctr"/>
            <a:r>
              <a:rPr lang="ja-JP" altLang="en-US" dirty="0"/>
              <a:t>公式レポジトリ</a:t>
            </a:r>
            <a:endParaRPr lang="en-US" altLang="ja-JP" dirty="0"/>
          </a:p>
          <a:p>
            <a:pPr marL="285750" indent="-285750">
              <a:buFont typeface="Arial" panose="020B0604020202020204" pitchFamily="34" charset="0"/>
              <a:buChar char="•"/>
            </a:pPr>
            <a:r>
              <a:rPr lang="en-US" altLang="ja-JP" dirty="0"/>
              <a:t>GF180 PDK</a:t>
            </a:r>
            <a:br>
              <a:rPr lang="en-US" altLang="ja-JP" dirty="0"/>
            </a:br>
            <a:r>
              <a:rPr lang="en-US" altLang="ja-JP" dirty="0">
                <a:hlinkClick r:id="rId2"/>
              </a:rPr>
              <a:t>https://github.com/google/gf180mcu-pdk</a:t>
            </a:r>
            <a:endParaRPr lang="en-US" altLang="ja-JP" dirty="0"/>
          </a:p>
          <a:p>
            <a:pPr marL="285750" indent="-285750">
              <a:buFont typeface="Arial" panose="020B0604020202020204" pitchFamily="34" charset="0"/>
              <a:buChar char="•"/>
            </a:pPr>
            <a:endParaRPr lang="en-US" altLang="ja-JP" sz="1200" dirty="0"/>
          </a:p>
          <a:p>
            <a:pPr marL="285750" indent="-285750">
              <a:buFont typeface="Arial" panose="020B0604020202020204" pitchFamily="34" charset="0"/>
              <a:buChar char="•"/>
            </a:pPr>
            <a:endParaRPr lang="en-US" altLang="ja-JP" sz="1200" dirty="0"/>
          </a:p>
          <a:p>
            <a:pPr marL="285750" indent="-285750">
              <a:buFont typeface="Arial" panose="020B0604020202020204" pitchFamily="34" charset="0"/>
              <a:buChar char="•"/>
            </a:pPr>
            <a:endParaRPr lang="en-US" altLang="ja-JP" dirty="0"/>
          </a:p>
        </p:txBody>
      </p:sp>
      <p:sp>
        <p:nvSpPr>
          <p:cNvPr id="9" name="コンテンツ プレースホルダー 8">
            <a:extLst>
              <a:ext uri="{FF2B5EF4-FFF2-40B4-BE49-F238E27FC236}">
                <a16:creationId xmlns:a16="http://schemas.microsoft.com/office/drawing/2014/main" id="{C57978CF-DFF8-71FB-502D-90E9712A8372}"/>
              </a:ext>
            </a:extLst>
          </p:cNvPr>
          <p:cNvSpPr>
            <a:spLocks noGrp="1"/>
          </p:cNvSpPr>
          <p:nvPr>
            <p:ph sz="quarter" idx="14"/>
          </p:nvPr>
        </p:nvSpPr>
        <p:spPr/>
        <p:txBody>
          <a:bodyPr/>
          <a:lstStyle/>
          <a:p>
            <a:pPr algn="ctr"/>
            <a:r>
              <a:rPr lang="en-US" altLang="ja-JP" dirty="0"/>
              <a:t>ISHI-KAI</a:t>
            </a:r>
            <a:r>
              <a:rPr lang="ja-JP" altLang="en-US" dirty="0"/>
              <a:t>オリジナル</a:t>
            </a:r>
            <a:endParaRPr lang="en-US" altLang="ja-JP" dirty="0"/>
          </a:p>
          <a:p>
            <a:pPr marL="285750" indent="-285750">
              <a:buFont typeface="Arial" panose="020B0604020202020204" pitchFamily="34" charset="0"/>
              <a:buChar char="•"/>
            </a:pPr>
            <a:r>
              <a:rPr lang="en-US" altLang="ja-JP" dirty="0"/>
              <a:t>EDA</a:t>
            </a:r>
            <a:r>
              <a:rPr lang="ja-JP" altLang="en-US" dirty="0"/>
              <a:t>ツールセットアップスクリプト</a:t>
            </a:r>
            <a:br>
              <a:rPr lang="en-US" altLang="ja-JP" dirty="0"/>
            </a:br>
            <a:r>
              <a:rPr lang="en-US" altLang="ja-JP" sz="1200" dirty="0">
                <a:hlinkClick r:id="rId3"/>
              </a:rPr>
              <a:t>https://github.com/ishi-kai/OpenEDA-PDK_SetupScript/</a:t>
            </a:r>
            <a:endParaRPr lang="en-US" altLang="ja-JP" sz="1200" dirty="0"/>
          </a:p>
          <a:p>
            <a:pPr marL="569214" lvl="1" indent="-285750"/>
            <a:r>
              <a:rPr lang="en-US" altLang="ja-JP" sz="1200" dirty="0"/>
              <a:t>Mac</a:t>
            </a:r>
            <a:r>
              <a:rPr lang="ja-JP" altLang="en-US" sz="1200" dirty="0"/>
              <a:t>用の</a:t>
            </a:r>
            <a:r>
              <a:rPr lang="en-US" altLang="ja-JP" sz="1200" dirty="0" err="1"/>
              <a:t>Vmware</a:t>
            </a:r>
            <a:r>
              <a:rPr lang="ja-JP" altLang="en-US" sz="1200" dirty="0"/>
              <a:t>イメージや</a:t>
            </a:r>
            <a:r>
              <a:rPr lang="en-US" altLang="ja-JP" sz="1200" dirty="0"/>
              <a:t>WSL</a:t>
            </a:r>
            <a:r>
              <a:rPr lang="ja-JP" altLang="en-US" sz="1200" dirty="0"/>
              <a:t>イメージなどもあります。</a:t>
            </a:r>
            <a:endParaRPr lang="en-US" altLang="ja-JP" sz="1200" dirty="0"/>
          </a:p>
          <a:p>
            <a:endParaRPr lang="en-US" altLang="ja-JP" dirty="0"/>
          </a:p>
          <a:p>
            <a:pPr marL="285750" indent="-285750">
              <a:buFont typeface="Arial" panose="020B0604020202020204" pitchFamily="34" charset="0"/>
              <a:buChar char="•"/>
            </a:pPr>
            <a:endParaRPr lang="en-US" altLang="ja-JP" dirty="0"/>
          </a:p>
        </p:txBody>
      </p:sp>
    </p:spTree>
    <p:extLst>
      <p:ext uri="{BB962C8B-B14F-4D97-AF65-F5344CB8AC3E}">
        <p14:creationId xmlns:p14="http://schemas.microsoft.com/office/powerpoint/2010/main" val="1926772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27EA5-9B57-B3CD-7F7B-0E080BF61D2D}"/>
              </a:ext>
            </a:extLst>
          </p:cNvPr>
          <p:cNvSpPr>
            <a:spLocks noGrp="1"/>
          </p:cNvSpPr>
          <p:nvPr>
            <p:ph type="title"/>
          </p:nvPr>
        </p:nvSpPr>
        <p:spPr/>
        <p:txBody>
          <a:bodyPr/>
          <a:lstStyle/>
          <a:p>
            <a:r>
              <a:rPr lang="ja-JP" altLang="en-US" dirty="0"/>
              <a:t>回路図</a:t>
            </a:r>
            <a:r>
              <a:rPr lang="en-US" altLang="ja-JP" dirty="0"/>
              <a:t>(</a:t>
            </a:r>
            <a:r>
              <a:rPr lang="ja-JP" altLang="en-US" dirty="0"/>
              <a:t>ベンチマーク</a:t>
            </a:r>
            <a:r>
              <a:rPr lang="en-US" altLang="ja-JP" dirty="0"/>
              <a:t>)</a:t>
            </a:r>
            <a:r>
              <a:rPr lang="ja-JP" altLang="en-US" dirty="0"/>
              <a:t>を描いて・・・</a:t>
            </a:r>
            <a:endParaRPr kumimoji="1" lang="ja-JP" altLang="en-US" dirty="0"/>
          </a:p>
        </p:txBody>
      </p:sp>
      <p:sp>
        <p:nvSpPr>
          <p:cNvPr id="4" name="日付プレースホルダー 3">
            <a:extLst>
              <a:ext uri="{FF2B5EF4-FFF2-40B4-BE49-F238E27FC236}">
                <a16:creationId xmlns:a16="http://schemas.microsoft.com/office/drawing/2014/main" id="{ECB53391-4B6E-D365-DB7C-EF2C4DBA5E0B}"/>
              </a:ext>
            </a:extLst>
          </p:cNvPr>
          <p:cNvSpPr>
            <a:spLocks noGrp="1"/>
          </p:cNvSpPr>
          <p:nvPr>
            <p:ph type="dt" sz="half" idx="10"/>
          </p:nvPr>
        </p:nvSpPr>
        <p:spPr/>
        <p:txBody>
          <a:bodyPr/>
          <a:lstStyle/>
          <a:p>
            <a:fld id="{1403E321-B738-4C1A-A0F9-2985BB288796}"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BC2E7C8-E547-5082-2CCC-B75168157417}"/>
              </a:ext>
            </a:extLst>
          </p:cNvPr>
          <p:cNvSpPr>
            <a:spLocks noGrp="1"/>
          </p:cNvSpPr>
          <p:nvPr>
            <p:ph type="sldNum" sz="quarter" idx="12"/>
          </p:nvPr>
        </p:nvSpPr>
        <p:spPr/>
        <p:txBody>
          <a:bodyPr/>
          <a:lstStyle/>
          <a:p>
            <a:fld id="{66E89953-8AEA-4BDF-A508-664B12926AB4}" type="slidenum">
              <a:rPr kumimoji="1" lang="ja-JP" altLang="en-US" smtClean="0"/>
              <a:t>28</a:t>
            </a:fld>
            <a:endParaRPr kumimoji="1" lang="ja-JP" altLang="en-US"/>
          </a:p>
        </p:txBody>
      </p:sp>
      <p:pic>
        <p:nvPicPr>
          <p:cNvPr id="9" name="コンテンツ プレースホルダー 7">
            <a:extLst>
              <a:ext uri="{FF2B5EF4-FFF2-40B4-BE49-F238E27FC236}">
                <a16:creationId xmlns:a16="http://schemas.microsoft.com/office/drawing/2014/main" id="{6A3DDC5B-32E3-FD0D-6F50-45F91BF0D8D2}"/>
              </a:ext>
            </a:extLst>
          </p:cNvPr>
          <p:cNvPicPr>
            <a:picLocks noChangeAspect="1"/>
          </p:cNvPicPr>
          <p:nvPr/>
        </p:nvPicPr>
        <p:blipFill>
          <a:blip r:embed="rId2"/>
          <a:stretch>
            <a:fillRect/>
          </a:stretch>
        </p:blipFill>
        <p:spPr>
          <a:xfrm>
            <a:off x="1097162" y="1255713"/>
            <a:ext cx="9997676" cy="5302250"/>
          </a:xfrm>
          <a:prstGeom prst="rect">
            <a:avLst/>
          </a:prstGeom>
        </p:spPr>
      </p:pic>
      <p:sp>
        <p:nvSpPr>
          <p:cNvPr id="12" name="正方形/長方形 11">
            <a:extLst>
              <a:ext uri="{FF2B5EF4-FFF2-40B4-BE49-F238E27FC236}">
                <a16:creationId xmlns:a16="http://schemas.microsoft.com/office/drawing/2014/main" id="{09DD8F98-D042-8F33-E641-FEEBF9A67A1C}"/>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1759321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15997D-B4CC-D5BD-C581-44F7B770B8A0}"/>
              </a:ext>
            </a:extLst>
          </p:cNvPr>
          <p:cNvSpPr>
            <a:spLocks noGrp="1"/>
          </p:cNvSpPr>
          <p:nvPr>
            <p:ph type="title"/>
          </p:nvPr>
        </p:nvSpPr>
        <p:spPr/>
        <p:txBody>
          <a:bodyPr/>
          <a:lstStyle/>
          <a:p>
            <a:r>
              <a:rPr kumimoji="1" lang="ja-JP" altLang="en-US" dirty="0"/>
              <a:t>論理検証をして・・・</a:t>
            </a:r>
          </a:p>
        </p:txBody>
      </p:sp>
      <p:pic>
        <p:nvPicPr>
          <p:cNvPr id="8" name="コンテンツ プレースホルダー 7">
            <a:extLst>
              <a:ext uri="{FF2B5EF4-FFF2-40B4-BE49-F238E27FC236}">
                <a16:creationId xmlns:a16="http://schemas.microsoft.com/office/drawing/2014/main" id="{D264E77E-7C67-4DDE-F729-23F51D45C216}"/>
              </a:ext>
            </a:extLst>
          </p:cNvPr>
          <p:cNvPicPr>
            <a:picLocks noGrp="1" noChangeAspect="1"/>
          </p:cNvPicPr>
          <p:nvPr>
            <p:ph idx="1"/>
          </p:nvPr>
        </p:nvPicPr>
        <p:blipFill>
          <a:blip r:embed="rId2"/>
          <a:stretch>
            <a:fillRect/>
          </a:stretch>
        </p:blipFill>
        <p:spPr>
          <a:xfrm>
            <a:off x="1472511" y="1255713"/>
            <a:ext cx="9246977" cy="5302250"/>
          </a:xfrm>
        </p:spPr>
      </p:pic>
      <p:sp>
        <p:nvSpPr>
          <p:cNvPr id="4" name="日付プレースホルダー 3">
            <a:extLst>
              <a:ext uri="{FF2B5EF4-FFF2-40B4-BE49-F238E27FC236}">
                <a16:creationId xmlns:a16="http://schemas.microsoft.com/office/drawing/2014/main" id="{D0296670-C081-AD53-F8D5-82F74AE5AE41}"/>
              </a:ext>
            </a:extLst>
          </p:cNvPr>
          <p:cNvSpPr>
            <a:spLocks noGrp="1"/>
          </p:cNvSpPr>
          <p:nvPr>
            <p:ph type="dt" sz="half" idx="10"/>
          </p:nvPr>
        </p:nvSpPr>
        <p:spPr/>
        <p:txBody>
          <a:bodyPr/>
          <a:lstStyle/>
          <a:p>
            <a:fld id="{D2DC3350-547B-46CB-BE70-F25645668445}"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2FD3295E-0E64-36F0-CBBE-73FE2812AF3F}"/>
              </a:ext>
            </a:extLst>
          </p:cNvPr>
          <p:cNvSpPr>
            <a:spLocks noGrp="1"/>
          </p:cNvSpPr>
          <p:nvPr>
            <p:ph type="sldNum" sz="quarter" idx="12"/>
          </p:nvPr>
        </p:nvSpPr>
        <p:spPr/>
        <p:txBody>
          <a:bodyPr/>
          <a:lstStyle/>
          <a:p>
            <a:fld id="{66E89953-8AEA-4BDF-A508-664B12926AB4}" type="slidenum">
              <a:rPr kumimoji="1" lang="ja-JP" altLang="en-US" smtClean="0"/>
              <a:t>29</a:t>
            </a:fld>
            <a:endParaRPr kumimoji="1" lang="ja-JP" altLang="en-US"/>
          </a:p>
        </p:txBody>
      </p:sp>
      <p:sp>
        <p:nvSpPr>
          <p:cNvPr id="10" name="正方形/長方形 9">
            <a:extLst>
              <a:ext uri="{FF2B5EF4-FFF2-40B4-BE49-F238E27FC236}">
                <a16:creationId xmlns:a16="http://schemas.microsoft.com/office/drawing/2014/main" id="{691BFD14-840D-D154-F5E4-8A248EA05F0D}"/>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910092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5DB7496E-0EB4-15A7-1C29-ED3F8BD4BED7}"/>
              </a:ext>
            </a:extLst>
          </p:cNvPr>
          <p:cNvSpPr>
            <a:spLocks noGrp="1"/>
          </p:cNvSpPr>
          <p:nvPr>
            <p:ph type="title"/>
          </p:nvPr>
        </p:nvSpPr>
        <p:spPr/>
        <p:txBody>
          <a:bodyPr/>
          <a:lstStyle/>
          <a:p>
            <a:r>
              <a:rPr lang="ja-JP" altLang="en-US" dirty="0"/>
              <a:t>レイアウトを描いて・・・</a:t>
            </a:r>
          </a:p>
        </p:txBody>
      </p:sp>
      <p:sp>
        <p:nvSpPr>
          <p:cNvPr id="4" name="日付プレースホルダー 3">
            <a:extLst>
              <a:ext uri="{FF2B5EF4-FFF2-40B4-BE49-F238E27FC236}">
                <a16:creationId xmlns:a16="http://schemas.microsoft.com/office/drawing/2014/main" id="{FA3016D9-5C38-9964-820D-FF4D13A6B973}"/>
              </a:ext>
            </a:extLst>
          </p:cNvPr>
          <p:cNvSpPr>
            <a:spLocks noGrp="1"/>
          </p:cNvSpPr>
          <p:nvPr>
            <p:ph type="dt" sz="half" idx="10"/>
          </p:nvPr>
        </p:nvSpPr>
        <p:spPr/>
        <p:txBody>
          <a:bodyPr/>
          <a:lstStyle/>
          <a:p>
            <a:fld id="{047831A0-2876-42E7-8E9F-15AFEEEF1CA8}"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CA95FEA2-866D-F6CC-9972-232F6A95DC58}"/>
              </a:ext>
            </a:extLst>
          </p:cNvPr>
          <p:cNvSpPr>
            <a:spLocks noGrp="1"/>
          </p:cNvSpPr>
          <p:nvPr>
            <p:ph type="sldNum" sz="quarter" idx="12"/>
          </p:nvPr>
        </p:nvSpPr>
        <p:spPr/>
        <p:txBody>
          <a:bodyPr/>
          <a:lstStyle/>
          <a:p>
            <a:fld id="{66E89953-8AEA-4BDF-A508-664B12926AB4}" type="slidenum">
              <a:rPr kumimoji="1" lang="ja-JP" altLang="en-US" smtClean="0"/>
              <a:t>30</a:t>
            </a:fld>
            <a:endParaRPr kumimoji="1" lang="ja-JP" altLang="en-US"/>
          </a:p>
        </p:txBody>
      </p:sp>
      <p:pic>
        <p:nvPicPr>
          <p:cNvPr id="12" name="図 11">
            <a:extLst>
              <a:ext uri="{FF2B5EF4-FFF2-40B4-BE49-F238E27FC236}">
                <a16:creationId xmlns:a16="http://schemas.microsoft.com/office/drawing/2014/main" id="{B3941703-7419-6DA6-AF30-F159D1E8934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24604" y="1227959"/>
            <a:ext cx="9342792" cy="5255319"/>
          </a:xfrm>
          <a:prstGeom prst="rect">
            <a:avLst/>
          </a:prstGeom>
        </p:spPr>
      </p:pic>
      <p:sp>
        <p:nvSpPr>
          <p:cNvPr id="8" name="正方形/長方形 7">
            <a:extLst>
              <a:ext uri="{FF2B5EF4-FFF2-40B4-BE49-F238E27FC236}">
                <a16:creationId xmlns:a16="http://schemas.microsoft.com/office/drawing/2014/main" id="{5DD492B6-EE43-8FE6-D943-47470E3C3B5A}"/>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752313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ADE712-00A3-7317-CDA5-CA35A868ED36}"/>
              </a:ext>
            </a:extLst>
          </p:cNvPr>
          <p:cNvSpPr>
            <a:spLocks noGrp="1"/>
          </p:cNvSpPr>
          <p:nvPr>
            <p:ph type="title"/>
          </p:nvPr>
        </p:nvSpPr>
        <p:spPr/>
        <p:txBody>
          <a:bodyPr/>
          <a:lstStyle/>
          <a:p>
            <a:r>
              <a:rPr lang="ja-JP" altLang="en-US" dirty="0"/>
              <a:t>レイアウトを検証して・・・</a:t>
            </a:r>
            <a:endParaRPr kumimoji="1" lang="ja-JP" altLang="en-US" dirty="0"/>
          </a:p>
        </p:txBody>
      </p:sp>
      <p:sp>
        <p:nvSpPr>
          <p:cNvPr id="4" name="日付プレースホルダー 3">
            <a:extLst>
              <a:ext uri="{FF2B5EF4-FFF2-40B4-BE49-F238E27FC236}">
                <a16:creationId xmlns:a16="http://schemas.microsoft.com/office/drawing/2014/main" id="{4FA54FD1-EBAA-9C04-8E16-835441FF49C3}"/>
              </a:ext>
            </a:extLst>
          </p:cNvPr>
          <p:cNvSpPr>
            <a:spLocks noGrp="1"/>
          </p:cNvSpPr>
          <p:nvPr>
            <p:ph type="dt" sz="half" idx="10"/>
          </p:nvPr>
        </p:nvSpPr>
        <p:spPr/>
        <p:txBody>
          <a:bodyPr/>
          <a:lstStyle/>
          <a:p>
            <a:fld id="{86659663-C8F8-471C-9DA9-8D69BCE5123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5AFF6A8C-F554-4472-6502-8BCC91FFD155}"/>
              </a:ext>
            </a:extLst>
          </p:cNvPr>
          <p:cNvSpPr>
            <a:spLocks noGrp="1"/>
          </p:cNvSpPr>
          <p:nvPr>
            <p:ph type="sldNum" sz="quarter" idx="12"/>
          </p:nvPr>
        </p:nvSpPr>
        <p:spPr/>
        <p:txBody>
          <a:bodyPr/>
          <a:lstStyle/>
          <a:p>
            <a:fld id="{66E89953-8AEA-4BDF-A508-664B12926AB4}" type="slidenum">
              <a:rPr kumimoji="1" lang="ja-JP" altLang="en-US" smtClean="0"/>
              <a:t>31</a:t>
            </a:fld>
            <a:endParaRPr kumimoji="1" lang="ja-JP" altLang="en-US"/>
          </a:p>
        </p:txBody>
      </p:sp>
      <p:pic>
        <p:nvPicPr>
          <p:cNvPr id="8" name="コンテンツ プレースホルダー 7">
            <a:extLst>
              <a:ext uri="{FF2B5EF4-FFF2-40B4-BE49-F238E27FC236}">
                <a16:creationId xmlns:a16="http://schemas.microsoft.com/office/drawing/2014/main" id="{AEB551AB-C0FB-A571-E45B-39714FA40AD3}"/>
              </a:ext>
            </a:extLst>
          </p:cNvPr>
          <p:cNvPicPr>
            <a:picLocks noGrp="1" noChangeAspect="1"/>
          </p:cNvPicPr>
          <p:nvPr>
            <p:ph sz="quarter" idx="13"/>
          </p:nvPr>
        </p:nvPicPr>
        <p:blipFill>
          <a:blip r:embed="rId2"/>
          <a:stretch>
            <a:fillRect/>
          </a:stretch>
        </p:blipFill>
        <p:spPr>
          <a:xfrm>
            <a:off x="0" y="2212840"/>
            <a:ext cx="6129133" cy="3744900"/>
          </a:xfrm>
          <a:prstGeom prst="rect">
            <a:avLst/>
          </a:prstGeom>
        </p:spPr>
      </p:pic>
      <p:pic>
        <p:nvPicPr>
          <p:cNvPr id="10" name="コンテンツ プレースホルダー 9">
            <a:extLst>
              <a:ext uri="{FF2B5EF4-FFF2-40B4-BE49-F238E27FC236}">
                <a16:creationId xmlns:a16="http://schemas.microsoft.com/office/drawing/2014/main" id="{2B072C07-0B1E-78AD-CA98-BC0FCC7DE3F2}"/>
              </a:ext>
            </a:extLst>
          </p:cNvPr>
          <p:cNvPicPr>
            <a:picLocks noGrp="1" noChangeAspect="1"/>
          </p:cNvPicPr>
          <p:nvPr>
            <p:ph sz="quarter" idx="14"/>
          </p:nvPr>
        </p:nvPicPr>
        <p:blipFill>
          <a:blip r:embed="rId3"/>
          <a:stretch>
            <a:fillRect/>
          </a:stretch>
        </p:blipFill>
        <p:spPr>
          <a:xfrm>
            <a:off x="6197707" y="2212840"/>
            <a:ext cx="5994293" cy="3744900"/>
          </a:xfrm>
          <a:prstGeom prst="rect">
            <a:avLst/>
          </a:prstGeom>
        </p:spPr>
      </p:pic>
      <p:sp>
        <p:nvSpPr>
          <p:cNvPr id="11" name="正方形/長方形 10">
            <a:extLst>
              <a:ext uri="{FF2B5EF4-FFF2-40B4-BE49-F238E27FC236}">
                <a16:creationId xmlns:a16="http://schemas.microsoft.com/office/drawing/2014/main" id="{6BBA9BA2-B063-09A6-4A9A-EA21529177AD}"/>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
        <p:nvSpPr>
          <p:cNvPr id="12" name="テキスト ボックス 11">
            <a:extLst>
              <a:ext uri="{FF2B5EF4-FFF2-40B4-BE49-F238E27FC236}">
                <a16:creationId xmlns:a16="http://schemas.microsoft.com/office/drawing/2014/main" id="{85A36BA3-8BB1-3B8D-DC00-99D83A0D12D5}"/>
              </a:ext>
            </a:extLst>
          </p:cNvPr>
          <p:cNvSpPr txBox="1"/>
          <p:nvPr/>
        </p:nvSpPr>
        <p:spPr>
          <a:xfrm>
            <a:off x="0" y="1689620"/>
            <a:ext cx="6129133" cy="523220"/>
          </a:xfrm>
          <a:prstGeom prst="rect">
            <a:avLst/>
          </a:prstGeom>
          <a:noFill/>
        </p:spPr>
        <p:txBody>
          <a:bodyPr wrap="square" rtlCol="0">
            <a:spAutoFit/>
          </a:bodyPr>
          <a:lstStyle/>
          <a:p>
            <a:pPr algn="ctr"/>
            <a:r>
              <a:rPr kumimoji="1" lang="en-US" altLang="ja-JP" sz="2800" b="1" dirty="0"/>
              <a:t>DRC</a:t>
            </a:r>
            <a:endParaRPr kumimoji="1" lang="ja-JP" altLang="en-US" sz="2800" b="1" dirty="0"/>
          </a:p>
        </p:txBody>
      </p:sp>
      <p:sp>
        <p:nvSpPr>
          <p:cNvPr id="13" name="テキスト ボックス 12">
            <a:extLst>
              <a:ext uri="{FF2B5EF4-FFF2-40B4-BE49-F238E27FC236}">
                <a16:creationId xmlns:a16="http://schemas.microsoft.com/office/drawing/2014/main" id="{459B0CC0-6E64-6131-84A4-645A7EEA5B80}"/>
              </a:ext>
            </a:extLst>
          </p:cNvPr>
          <p:cNvSpPr txBox="1"/>
          <p:nvPr/>
        </p:nvSpPr>
        <p:spPr>
          <a:xfrm>
            <a:off x="6197707" y="1687777"/>
            <a:ext cx="5994294" cy="523220"/>
          </a:xfrm>
          <a:prstGeom prst="rect">
            <a:avLst/>
          </a:prstGeom>
          <a:noFill/>
        </p:spPr>
        <p:txBody>
          <a:bodyPr wrap="square" rtlCol="0">
            <a:spAutoFit/>
          </a:bodyPr>
          <a:lstStyle/>
          <a:p>
            <a:pPr algn="ctr"/>
            <a:r>
              <a:rPr kumimoji="1" lang="en-US" altLang="ja-JP" sz="2800" b="1" dirty="0"/>
              <a:t>LVS</a:t>
            </a:r>
            <a:endParaRPr kumimoji="1" lang="ja-JP" altLang="en-US" sz="2800" b="1" dirty="0"/>
          </a:p>
        </p:txBody>
      </p:sp>
    </p:spTree>
    <p:extLst>
      <p:ext uri="{BB962C8B-B14F-4D97-AF65-F5344CB8AC3E}">
        <p14:creationId xmlns:p14="http://schemas.microsoft.com/office/powerpoint/2010/main" val="210891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kumimoji="1" lang="ja-JP" altLang="en-US" dirty="0"/>
              <a:t>寄生成分を抽出して・・・</a:t>
            </a:r>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DC066C20-5453-4AB2-BAEE-C64266E771F8}"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32</a:t>
            </a:fld>
            <a:endParaRPr kumimoji="1" lang="ja-JP" altLang="en-US"/>
          </a:p>
        </p:txBody>
      </p:sp>
      <p:pic>
        <p:nvPicPr>
          <p:cNvPr id="14" name="図 13">
            <a:extLst>
              <a:ext uri="{FF2B5EF4-FFF2-40B4-BE49-F238E27FC236}">
                <a16:creationId xmlns:a16="http://schemas.microsoft.com/office/drawing/2014/main" id="{08A04ABE-4F52-C8B8-C8EC-B39F99104A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43429" y="1363868"/>
            <a:ext cx="7505141" cy="5078821"/>
          </a:xfrm>
          <a:prstGeom prst="rect">
            <a:avLst/>
          </a:prstGeom>
        </p:spPr>
      </p:pic>
      <p:sp>
        <p:nvSpPr>
          <p:cNvPr id="8" name="正方形/長方形 7">
            <a:extLst>
              <a:ext uri="{FF2B5EF4-FFF2-40B4-BE49-F238E27FC236}">
                <a16:creationId xmlns:a16="http://schemas.microsoft.com/office/drawing/2014/main" id="{37831B1E-16B1-C03D-3CCD-9076D52CD26E}"/>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741200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1D2E20-8B12-8033-E498-B100ABAB5B52}"/>
              </a:ext>
            </a:extLst>
          </p:cNvPr>
          <p:cNvSpPr>
            <a:spLocks noGrp="1"/>
          </p:cNvSpPr>
          <p:nvPr>
            <p:ph type="title"/>
          </p:nvPr>
        </p:nvSpPr>
        <p:spPr/>
        <p:txBody>
          <a:bodyPr/>
          <a:lstStyle/>
          <a:p>
            <a:r>
              <a:rPr lang="ja-JP" altLang="en-US" dirty="0"/>
              <a:t>ベンチマークを作成して</a:t>
            </a:r>
            <a:r>
              <a:rPr lang="en-US" altLang="ja-JP" dirty="0"/>
              <a:t>…</a:t>
            </a:r>
            <a:endParaRPr kumimoji="1" lang="ja-JP" altLang="en-US" dirty="0"/>
          </a:p>
        </p:txBody>
      </p:sp>
      <p:sp>
        <p:nvSpPr>
          <p:cNvPr id="4" name="日付プレースホルダー 3">
            <a:extLst>
              <a:ext uri="{FF2B5EF4-FFF2-40B4-BE49-F238E27FC236}">
                <a16:creationId xmlns:a16="http://schemas.microsoft.com/office/drawing/2014/main" id="{84530ADF-0D8F-1B28-641F-972A53C59A51}"/>
              </a:ext>
            </a:extLst>
          </p:cNvPr>
          <p:cNvSpPr>
            <a:spLocks noGrp="1"/>
          </p:cNvSpPr>
          <p:nvPr>
            <p:ph type="dt" sz="half" idx="10"/>
          </p:nvPr>
        </p:nvSpPr>
        <p:spPr/>
        <p:txBody>
          <a:bodyPr/>
          <a:lstStyle/>
          <a:p>
            <a:fld id="{4DA62C7A-EBD4-49C3-AB8A-4A93A7F91C19}"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05996489-2EF8-C9F6-1967-E3AF451DE4A0}"/>
              </a:ext>
            </a:extLst>
          </p:cNvPr>
          <p:cNvSpPr>
            <a:spLocks noGrp="1"/>
          </p:cNvSpPr>
          <p:nvPr>
            <p:ph type="sldNum" sz="quarter" idx="12"/>
          </p:nvPr>
        </p:nvSpPr>
        <p:spPr/>
        <p:txBody>
          <a:bodyPr/>
          <a:lstStyle/>
          <a:p>
            <a:fld id="{66E89953-8AEA-4BDF-A508-664B12926AB4}" type="slidenum">
              <a:rPr kumimoji="1" lang="ja-JP" altLang="en-US" smtClean="0"/>
              <a:t>33</a:t>
            </a:fld>
            <a:endParaRPr kumimoji="1" lang="ja-JP" altLang="en-US"/>
          </a:p>
        </p:txBody>
      </p:sp>
      <p:pic>
        <p:nvPicPr>
          <p:cNvPr id="10" name="コンテンツ プレースホルダー 9">
            <a:extLst>
              <a:ext uri="{FF2B5EF4-FFF2-40B4-BE49-F238E27FC236}">
                <a16:creationId xmlns:a16="http://schemas.microsoft.com/office/drawing/2014/main" id="{BBA38026-3698-0A48-2DE1-792E0C7A6BDB}"/>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a:stretch/>
        </p:blipFill>
        <p:spPr>
          <a:xfrm>
            <a:off x="1624012" y="1263142"/>
            <a:ext cx="8943975" cy="5302250"/>
          </a:xfrm>
        </p:spPr>
      </p:pic>
      <p:sp>
        <p:nvSpPr>
          <p:cNvPr id="8" name="正方形/長方形 7">
            <a:extLst>
              <a:ext uri="{FF2B5EF4-FFF2-40B4-BE49-F238E27FC236}">
                <a16:creationId xmlns:a16="http://schemas.microsoft.com/office/drawing/2014/main" id="{63379015-F53F-4295-7F08-D1FD88BEBDF2}"/>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236050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9B7647-3D47-E75C-BDAC-14B78EA4CF00}"/>
              </a:ext>
            </a:extLst>
          </p:cNvPr>
          <p:cNvSpPr>
            <a:spLocks noGrp="1"/>
          </p:cNvSpPr>
          <p:nvPr>
            <p:ph type="title"/>
          </p:nvPr>
        </p:nvSpPr>
        <p:spPr/>
        <p:txBody>
          <a:bodyPr/>
          <a:lstStyle/>
          <a:p>
            <a:r>
              <a:rPr lang="ja-JP" altLang="en-US" dirty="0"/>
              <a:t>ポストレイアウトシミュレーションをする</a:t>
            </a:r>
            <a:endParaRPr kumimoji="1" lang="ja-JP" altLang="en-US" dirty="0"/>
          </a:p>
        </p:txBody>
      </p:sp>
      <p:sp>
        <p:nvSpPr>
          <p:cNvPr id="4" name="日付プレースホルダー 3">
            <a:extLst>
              <a:ext uri="{FF2B5EF4-FFF2-40B4-BE49-F238E27FC236}">
                <a16:creationId xmlns:a16="http://schemas.microsoft.com/office/drawing/2014/main" id="{B92B5458-7656-D29A-B947-DA3AA3945987}"/>
              </a:ext>
            </a:extLst>
          </p:cNvPr>
          <p:cNvSpPr>
            <a:spLocks noGrp="1"/>
          </p:cNvSpPr>
          <p:nvPr>
            <p:ph type="dt" sz="half" idx="10"/>
          </p:nvPr>
        </p:nvSpPr>
        <p:spPr/>
        <p:txBody>
          <a:bodyPr/>
          <a:lstStyle/>
          <a:p>
            <a:fld id="{A1DC6EC1-A645-4BF9-9F81-C3F09186FE62}"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DE36AD06-00CC-5D83-C799-B9C94457EEB2}"/>
              </a:ext>
            </a:extLst>
          </p:cNvPr>
          <p:cNvSpPr>
            <a:spLocks noGrp="1"/>
          </p:cNvSpPr>
          <p:nvPr>
            <p:ph type="sldNum" sz="quarter" idx="12"/>
          </p:nvPr>
        </p:nvSpPr>
        <p:spPr/>
        <p:txBody>
          <a:bodyPr/>
          <a:lstStyle/>
          <a:p>
            <a:fld id="{66E89953-8AEA-4BDF-A508-664B12926AB4}" type="slidenum">
              <a:rPr kumimoji="1" lang="ja-JP" altLang="en-US" smtClean="0"/>
              <a:t>34</a:t>
            </a:fld>
            <a:endParaRPr kumimoji="1" lang="ja-JP" altLang="en-US"/>
          </a:p>
        </p:txBody>
      </p:sp>
      <p:pic>
        <p:nvPicPr>
          <p:cNvPr id="12" name="コンテンツ プレースホルダー 11" descr="グリーン, 窓, 座る, 光 が含まれている画像&#10;&#10;自動的に生成された説明">
            <a:extLst>
              <a:ext uri="{FF2B5EF4-FFF2-40B4-BE49-F238E27FC236}">
                <a16:creationId xmlns:a16="http://schemas.microsoft.com/office/drawing/2014/main" id="{301EA84D-0035-2B37-8E13-A954025D41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71729"/>
            <a:ext cx="10515600" cy="5070218"/>
          </a:xfrm>
        </p:spPr>
      </p:pic>
      <p:cxnSp>
        <p:nvCxnSpPr>
          <p:cNvPr id="14" name="直線矢印コネクタ 13">
            <a:extLst>
              <a:ext uri="{FF2B5EF4-FFF2-40B4-BE49-F238E27FC236}">
                <a16:creationId xmlns:a16="http://schemas.microsoft.com/office/drawing/2014/main" id="{E27E909A-8870-E8EB-6F2D-8B8BBD2F9D02}"/>
              </a:ext>
            </a:extLst>
          </p:cNvPr>
          <p:cNvCxnSpPr>
            <a:cxnSpLocks/>
          </p:cNvCxnSpPr>
          <p:nvPr/>
        </p:nvCxnSpPr>
        <p:spPr>
          <a:xfrm>
            <a:off x="3871502" y="3996813"/>
            <a:ext cx="5701320" cy="0"/>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A572DB46-E919-9116-C959-62BF8D2CA116}"/>
              </a:ext>
            </a:extLst>
          </p:cNvPr>
          <p:cNvCxnSpPr>
            <a:cxnSpLocks/>
          </p:cNvCxnSpPr>
          <p:nvPr/>
        </p:nvCxnSpPr>
        <p:spPr>
          <a:xfrm>
            <a:off x="9594894" y="3996813"/>
            <a:ext cx="560477" cy="0"/>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5989DF3F-0162-87A7-6B25-535431C98839}"/>
              </a:ext>
            </a:extLst>
          </p:cNvPr>
          <p:cNvSpPr txBox="1"/>
          <p:nvPr/>
        </p:nvSpPr>
        <p:spPr>
          <a:xfrm>
            <a:off x="3871502" y="3229973"/>
            <a:ext cx="5723392" cy="769441"/>
          </a:xfrm>
          <a:prstGeom prst="rect">
            <a:avLst/>
          </a:prstGeom>
          <a:noFill/>
        </p:spPr>
        <p:txBody>
          <a:bodyPr wrap="square" rtlCol="0">
            <a:spAutoFit/>
          </a:bodyPr>
          <a:lstStyle/>
          <a:p>
            <a:pPr algn="ctr"/>
            <a:r>
              <a:rPr kumimoji="1" lang="en-US" altLang="ja-JP" sz="4400" b="1" dirty="0">
                <a:solidFill>
                  <a:schemeClr val="accent6"/>
                </a:solidFill>
              </a:rPr>
              <a:t>149.9ps</a:t>
            </a:r>
            <a:endParaRPr kumimoji="1" lang="ja-JP" altLang="en-US" dirty="0">
              <a:solidFill>
                <a:schemeClr val="accent6"/>
              </a:solidFill>
            </a:endParaRPr>
          </a:p>
        </p:txBody>
      </p:sp>
      <p:sp>
        <p:nvSpPr>
          <p:cNvPr id="22" name="テキスト ボックス 21">
            <a:extLst>
              <a:ext uri="{FF2B5EF4-FFF2-40B4-BE49-F238E27FC236}">
                <a16:creationId xmlns:a16="http://schemas.microsoft.com/office/drawing/2014/main" id="{F56156D8-A16A-BC4C-F9DF-E48B4302778D}"/>
              </a:ext>
            </a:extLst>
          </p:cNvPr>
          <p:cNvSpPr txBox="1"/>
          <p:nvPr/>
        </p:nvSpPr>
        <p:spPr>
          <a:xfrm>
            <a:off x="8751289" y="3229973"/>
            <a:ext cx="2247687" cy="769441"/>
          </a:xfrm>
          <a:prstGeom prst="rect">
            <a:avLst/>
          </a:prstGeom>
          <a:noFill/>
        </p:spPr>
        <p:txBody>
          <a:bodyPr wrap="square" rtlCol="0">
            <a:spAutoFit/>
          </a:bodyPr>
          <a:lstStyle/>
          <a:p>
            <a:pPr algn="ctr"/>
            <a:r>
              <a:rPr kumimoji="1" lang="en-US" altLang="ja-JP" sz="4400" b="1" dirty="0">
                <a:solidFill>
                  <a:schemeClr val="accent6"/>
                </a:solidFill>
              </a:rPr>
              <a:t>15.0ps</a:t>
            </a:r>
            <a:endParaRPr kumimoji="1" lang="ja-JP" altLang="en-US" dirty="0">
              <a:solidFill>
                <a:schemeClr val="accent6"/>
              </a:solidFill>
            </a:endParaRPr>
          </a:p>
        </p:txBody>
      </p:sp>
      <p:cxnSp>
        <p:nvCxnSpPr>
          <p:cNvPr id="23" name="直線矢印コネクタ 22">
            <a:extLst>
              <a:ext uri="{FF2B5EF4-FFF2-40B4-BE49-F238E27FC236}">
                <a16:creationId xmlns:a16="http://schemas.microsoft.com/office/drawing/2014/main" id="{AD2824C7-A4B8-4471-50AE-8D121231C546}"/>
              </a:ext>
            </a:extLst>
          </p:cNvPr>
          <p:cNvCxnSpPr>
            <a:cxnSpLocks/>
          </p:cNvCxnSpPr>
          <p:nvPr/>
        </p:nvCxnSpPr>
        <p:spPr>
          <a:xfrm>
            <a:off x="3871502" y="4116556"/>
            <a:ext cx="6283869" cy="0"/>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62B99BC4-79E0-301A-C89E-CC5CF2307A3A}"/>
              </a:ext>
            </a:extLst>
          </p:cNvPr>
          <p:cNvSpPr txBox="1"/>
          <p:nvPr/>
        </p:nvSpPr>
        <p:spPr>
          <a:xfrm>
            <a:off x="3871502" y="4245241"/>
            <a:ext cx="6283869" cy="769441"/>
          </a:xfrm>
          <a:prstGeom prst="rect">
            <a:avLst/>
          </a:prstGeom>
          <a:noFill/>
        </p:spPr>
        <p:txBody>
          <a:bodyPr wrap="square" rtlCol="0">
            <a:spAutoFit/>
          </a:bodyPr>
          <a:lstStyle/>
          <a:p>
            <a:pPr algn="ctr"/>
            <a:r>
              <a:rPr kumimoji="1" lang="en-US" altLang="ja-JP" sz="4400" b="1" dirty="0">
                <a:solidFill>
                  <a:schemeClr val="accent6"/>
                </a:solidFill>
              </a:rPr>
              <a:t>164.9ps</a:t>
            </a:r>
            <a:endParaRPr kumimoji="1" lang="ja-JP" altLang="en-US" dirty="0">
              <a:solidFill>
                <a:schemeClr val="accent6"/>
              </a:solidFill>
            </a:endParaRPr>
          </a:p>
        </p:txBody>
      </p:sp>
      <p:sp>
        <p:nvSpPr>
          <p:cNvPr id="26" name="テキスト ボックス 25">
            <a:extLst>
              <a:ext uri="{FF2B5EF4-FFF2-40B4-BE49-F238E27FC236}">
                <a16:creationId xmlns:a16="http://schemas.microsoft.com/office/drawing/2014/main" id="{1A651CBB-3331-D8BD-DFA1-13B4F2AC1A17}"/>
              </a:ext>
            </a:extLst>
          </p:cNvPr>
          <p:cNvSpPr txBox="1"/>
          <p:nvPr/>
        </p:nvSpPr>
        <p:spPr>
          <a:xfrm>
            <a:off x="3871503" y="5014682"/>
            <a:ext cx="6283868" cy="523220"/>
          </a:xfrm>
          <a:prstGeom prst="rect">
            <a:avLst/>
          </a:prstGeom>
          <a:noFill/>
        </p:spPr>
        <p:txBody>
          <a:bodyPr wrap="square" rtlCol="0">
            <a:spAutoFit/>
          </a:bodyPr>
          <a:lstStyle/>
          <a:p>
            <a:pPr algn="ctr"/>
            <a:r>
              <a:rPr kumimoji="1" lang="ja-JP" altLang="en-US" sz="2800" dirty="0">
                <a:solidFill>
                  <a:schemeClr val="accent6"/>
                </a:solidFill>
              </a:rPr>
              <a:t>寄生容量によって応答性が悪化</a:t>
            </a:r>
            <a:endParaRPr kumimoji="1" lang="en-US" altLang="ja-JP" sz="2800" dirty="0">
              <a:solidFill>
                <a:schemeClr val="accent6"/>
              </a:solidFill>
            </a:endParaRPr>
          </a:p>
        </p:txBody>
      </p:sp>
      <p:sp>
        <p:nvSpPr>
          <p:cNvPr id="27" name="テキスト ボックス 26">
            <a:extLst>
              <a:ext uri="{FF2B5EF4-FFF2-40B4-BE49-F238E27FC236}">
                <a16:creationId xmlns:a16="http://schemas.microsoft.com/office/drawing/2014/main" id="{8F411A72-C82C-9703-162C-C4F96C43D4EB}"/>
              </a:ext>
            </a:extLst>
          </p:cNvPr>
          <p:cNvSpPr txBox="1"/>
          <p:nvPr/>
        </p:nvSpPr>
        <p:spPr>
          <a:xfrm>
            <a:off x="9873343" y="2287140"/>
            <a:ext cx="1175657" cy="523220"/>
          </a:xfrm>
          <a:prstGeom prst="rect">
            <a:avLst/>
          </a:prstGeom>
          <a:noFill/>
        </p:spPr>
        <p:txBody>
          <a:bodyPr wrap="square" rtlCol="0">
            <a:spAutoFit/>
          </a:bodyPr>
          <a:lstStyle/>
          <a:p>
            <a:pPr algn="ctr"/>
            <a:r>
              <a:rPr kumimoji="1" lang="en-US" altLang="ja-JP" sz="2800" b="1" dirty="0">
                <a:solidFill>
                  <a:srgbClr val="00B050"/>
                </a:solidFill>
              </a:rPr>
              <a:t>After</a:t>
            </a:r>
            <a:endParaRPr kumimoji="1" lang="ja-JP" altLang="en-US" sz="2800" b="1" dirty="0">
              <a:solidFill>
                <a:srgbClr val="00B050"/>
              </a:solidFill>
            </a:endParaRPr>
          </a:p>
        </p:txBody>
      </p:sp>
      <p:sp>
        <p:nvSpPr>
          <p:cNvPr id="28" name="テキスト ボックス 27">
            <a:extLst>
              <a:ext uri="{FF2B5EF4-FFF2-40B4-BE49-F238E27FC236}">
                <a16:creationId xmlns:a16="http://schemas.microsoft.com/office/drawing/2014/main" id="{2979B10A-BB3E-A4DD-14EB-4888F3353032}"/>
              </a:ext>
            </a:extLst>
          </p:cNvPr>
          <p:cNvSpPr txBox="1"/>
          <p:nvPr/>
        </p:nvSpPr>
        <p:spPr>
          <a:xfrm>
            <a:off x="7924800" y="2286219"/>
            <a:ext cx="1414317" cy="523220"/>
          </a:xfrm>
          <a:prstGeom prst="rect">
            <a:avLst/>
          </a:prstGeom>
          <a:noFill/>
        </p:spPr>
        <p:txBody>
          <a:bodyPr wrap="square" rtlCol="0">
            <a:spAutoFit/>
          </a:bodyPr>
          <a:lstStyle/>
          <a:p>
            <a:pPr algn="ctr"/>
            <a:r>
              <a:rPr kumimoji="1" lang="en-US" altLang="ja-JP" sz="2800" b="1" dirty="0">
                <a:solidFill>
                  <a:srgbClr val="CC3300"/>
                </a:solidFill>
              </a:rPr>
              <a:t>Before</a:t>
            </a:r>
            <a:endParaRPr kumimoji="1" lang="ja-JP" altLang="en-US" sz="2800" b="1" dirty="0">
              <a:solidFill>
                <a:srgbClr val="CC3300"/>
              </a:solidFill>
            </a:endParaRPr>
          </a:p>
        </p:txBody>
      </p:sp>
      <p:sp>
        <p:nvSpPr>
          <p:cNvPr id="9" name="正方形/長方形 8">
            <a:extLst>
              <a:ext uri="{FF2B5EF4-FFF2-40B4-BE49-F238E27FC236}">
                <a16:creationId xmlns:a16="http://schemas.microsoft.com/office/drawing/2014/main" id="{23F284A0-9448-493B-7D44-9729FD67019E}"/>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394408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図 23">
            <a:extLst>
              <a:ext uri="{FF2B5EF4-FFF2-40B4-BE49-F238E27FC236}">
                <a16:creationId xmlns:a16="http://schemas.microsoft.com/office/drawing/2014/main" id="{99DF68AE-055A-8342-DB65-89AB5350C496}"/>
              </a:ext>
            </a:extLst>
          </p:cNvPr>
          <p:cNvPicPr>
            <a:picLocks noChangeAspect="1"/>
          </p:cNvPicPr>
          <p:nvPr/>
        </p:nvPicPr>
        <p:blipFill>
          <a:blip r:embed="rId2"/>
          <a:stretch>
            <a:fillRect/>
          </a:stretch>
        </p:blipFill>
        <p:spPr>
          <a:xfrm>
            <a:off x="1184366" y="4636053"/>
            <a:ext cx="3782507" cy="1791338"/>
          </a:xfrm>
          <a:prstGeom prst="rect">
            <a:avLst/>
          </a:prstGeom>
        </p:spPr>
      </p:pic>
      <p:sp>
        <p:nvSpPr>
          <p:cNvPr id="2" name="タイトル 1">
            <a:extLst>
              <a:ext uri="{FF2B5EF4-FFF2-40B4-BE49-F238E27FC236}">
                <a16:creationId xmlns:a16="http://schemas.microsoft.com/office/drawing/2014/main" id="{C133EBCD-8617-5969-FCF4-4FD1C887B8D4}"/>
              </a:ext>
            </a:extLst>
          </p:cNvPr>
          <p:cNvSpPr>
            <a:spLocks noGrp="1"/>
          </p:cNvSpPr>
          <p:nvPr>
            <p:ph type="title"/>
          </p:nvPr>
        </p:nvSpPr>
        <p:spPr/>
        <p:txBody>
          <a:bodyPr/>
          <a:lstStyle/>
          <a:p>
            <a:r>
              <a:rPr lang="ja-JP" altLang="en-US" dirty="0"/>
              <a:t>全て完成したら指定のフレームに回路を載せる</a:t>
            </a:r>
            <a:endParaRPr kumimoji="1" lang="ja-JP" altLang="en-US" dirty="0"/>
          </a:p>
        </p:txBody>
      </p:sp>
      <p:sp>
        <p:nvSpPr>
          <p:cNvPr id="4" name="日付プレースホルダー 3">
            <a:extLst>
              <a:ext uri="{FF2B5EF4-FFF2-40B4-BE49-F238E27FC236}">
                <a16:creationId xmlns:a16="http://schemas.microsoft.com/office/drawing/2014/main" id="{5D6D2822-9AAA-163B-EDCC-0266EE684835}"/>
              </a:ext>
            </a:extLst>
          </p:cNvPr>
          <p:cNvSpPr>
            <a:spLocks noGrp="1"/>
          </p:cNvSpPr>
          <p:nvPr>
            <p:ph type="dt" sz="half" idx="10"/>
          </p:nvPr>
        </p:nvSpPr>
        <p:spPr/>
        <p:txBody>
          <a:bodyPr/>
          <a:lstStyle/>
          <a:p>
            <a:fld id="{04AA7EC1-6358-4204-83DF-6CBFDCE8D8B3}"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6823D79D-451C-21BC-48AB-4687DF67AF6C}"/>
              </a:ext>
            </a:extLst>
          </p:cNvPr>
          <p:cNvSpPr>
            <a:spLocks noGrp="1"/>
          </p:cNvSpPr>
          <p:nvPr>
            <p:ph type="sldNum" sz="quarter" idx="12"/>
          </p:nvPr>
        </p:nvSpPr>
        <p:spPr/>
        <p:txBody>
          <a:bodyPr/>
          <a:lstStyle/>
          <a:p>
            <a:fld id="{66E89953-8AEA-4BDF-A508-664B12926AB4}" type="slidenum">
              <a:rPr kumimoji="1" lang="ja-JP" altLang="en-US" smtClean="0"/>
              <a:t>35</a:t>
            </a:fld>
            <a:endParaRPr kumimoji="1" lang="ja-JP" altLang="en-US"/>
          </a:p>
        </p:txBody>
      </p:sp>
      <p:sp>
        <p:nvSpPr>
          <p:cNvPr id="10" name="コンテンツ プレースホルダー 9">
            <a:extLst>
              <a:ext uri="{FF2B5EF4-FFF2-40B4-BE49-F238E27FC236}">
                <a16:creationId xmlns:a16="http://schemas.microsoft.com/office/drawing/2014/main" id="{2E94E32B-0A41-E39A-5B3A-02244C12B4BA}"/>
              </a:ext>
            </a:extLst>
          </p:cNvPr>
          <p:cNvSpPr>
            <a:spLocks noGrp="1"/>
          </p:cNvSpPr>
          <p:nvPr>
            <p:ph sz="quarter" idx="13"/>
          </p:nvPr>
        </p:nvSpPr>
        <p:spPr/>
        <p:txBody>
          <a:bodyPr/>
          <a:lstStyle/>
          <a:p>
            <a:r>
              <a:rPr lang="ja-JP" altLang="en-US" dirty="0"/>
              <a:t>例</a:t>
            </a:r>
            <a:r>
              <a:rPr lang="en-US" altLang="ja-JP" dirty="0"/>
              <a:t>: Caravel harness (SKY130)</a:t>
            </a:r>
          </a:p>
          <a:p>
            <a:pPr lvl="1"/>
            <a:r>
              <a:rPr lang="en-US" altLang="ja-JP" dirty="0"/>
              <a:t>2.92 mm × 3.52mm user’s area</a:t>
            </a:r>
          </a:p>
          <a:p>
            <a:pPr lvl="1"/>
            <a:r>
              <a:rPr lang="en-US" altLang="ja-JP" dirty="0"/>
              <a:t>38 IO ports</a:t>
            </a:r>
          </a:p>
          <a:p>
            <a:pPr lvl="1"/>
            <a:r>
              <a:rPr lang="en-US" altLang="ja-JP" dirty="0"/>
              <a:t>4 Power ports</a:t>
            </a:r>
          </a:p>
          <a:p>
            <a:pPr lvl="1"/>
            <a:r>
              <a:rPr lang="en-US" altLang="ja-JP" dirty="0"/>
              <a:t>128 Logic analyzer probes</a:t>
            </a:r>
          </a:p>
          <a:p>
            <a:pPr lvl="1"/>
            <a:endParaRPr lang="en-US" altLang="ja-JP" dirty="0"/>
          </a:p>
          <a:p>
            <a:pPr lvl="1"/>
            <a:endParaRPr lang="en-US" altLang="ja-JP" dirty="0"/>
          </a:p>
        </p:txBody>
      </p:sp>
      <p:pic>
        <p:nvPicPr>
          <p:cNvPr id="14" name="図 13" descr="グラフ&#10;&#10;低い精度で自動的に生成された説明">
            <a:extLst>
              <a:ext uri="{FF2B5EF4-FFF2-40B4-BE49-F238E27FC236}">
                <a16:creationId xmlns:a16="http://schemas.microsoft.com/office/drawing/2014/main" id="{999FAD3B-D364-7CC4-E8B0-09CF259005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2213" y="1377982"/>
            <a:ext cx="5477169" cy="3786202"/>
          </a:xfrm>
          <a:prstGeom prst="rect">
            <a:avLst/>
          </a:prstGeom>
        </p:spPr>
      </p:pic>
      <p:pic>
        <p:nvPicPr>
          <p:cNvPr id="16" name="図 15">
            <a:extLst>
              <a:ext uri="{FF2B5EF4-FFF2-40B4-BE49-F238E27FC236}">
                <a16:creationId xmlns:a16="http://schemas.microsoft.com/office/drawing/2014/main" id="{8A58E824-34EC-BDE5-0B3F-23F84BC8C226}"/>
              </a:ext>
            </a:extLst>
          </p:cNvPr>
          <p:cNvPicPr>
            <a:picLocks noChangeAspect="1"/>
          </p:cNvPicPr>
          <p:nvPr/>
        </p:nvPicPr>
        <p:blipFill>
          <a:blip r:embed="rId4"/>
          <a:stretch>
            <a:fillRect/>
          </a:stretch>
        </p:blipFill>
        <p:spPr>
          <a:xfrm>
            <a:off x="9022454" y="3618297"/>
            <a:ext cx="1679610" cy="1238032"/>
          </a:xfrm>
          <a:prstGeom prst="rect">
            <a:avLst/>
          </a:prstGeom>
        </p:spPr>
      </p:pic>
      <p:cxnSp>
        <p:nvCxnSpPr>
          <p:cNvPr id="18" name="直線矢印コネクタ 17">
            <a:extLst>
              <a:ext uri="{FF2B5EF4-FFF2-40B4-BE49-F238E27FC236}">
                <a16:creationId xmlns:a16="http://schemas.microsoft.com/office/drawing/2014/main" id="{DEA54B39-C97E-C8A0-945A-A1760343CDDE}"/>
              </a:ext>
            </a:extLst>
          </p:cNvPr>
          <p:cNvCxnSpPr>
            <a:cxnSpLocks/>
          </p:cNvCxnSpPr>
          <p:nvPr/>
        </p:nvCxnSpPr>
        <p:spPr>
          <a:xfrm flipV="1">
            <a:off x="9988731" y="2134091"/>
            <a:ext cx="949235" cy="1366755"/>
          </a:xfrm>
          <a:prstGeom prst="straightConnector1">
            <a:avLst/>
          </a:prstGeom>
          <a:ln w="3810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3" name="正方形/長方形 2">
            <a:extLst>
              <a:ext uri="{FF2B5EF4-FFF2-40B4-BE49-F238E27FC236}">
                <a16:creationId xmlns:a16="http://schemas.microsoft.com/office/drawing/2014/main" id="{C5B9D1C9-AF8F-A11F-4238-296259B98FEB}"/>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rPr>
              <a:t>SKY130</a:t>
            </a:r>
            <a:endParaRPr kumimoji="1" lang="ja-JP" altLang="en-US" sz="1400" b="1" i="0" u="none" strike="noStrike" kern="0" cap="none" spc="0" normalizeH="0" baseline="0" noProof="0" dirty="0">
              <a:ln>
                <a:noFill/>
              </a:ln>
              <a:solidFill>
                <a:srgbClr val="92D050"/>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188994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88C840-6ACD-9216-FEED-E394A08DA8A8}"/>
              </a:ext>
            </a:extLst>
          </p:cNvPr>
          <p:cNvSpPr>
            <a:spLocks noGrp="1"/>
          </p:cNvSpPr>
          <p:nvPr>
            <p:ph type="title"/>
          </p:nvPr>
        </p:nvSpPr>
        <p:spPr>
          <a:xfrm>
            <a:off x="444500" y="245411"/>
            <a:ext cx="11210544" cy="557784"/>
          </a:xfrm>
        </p:spPr>
        <p:txBody>
          <a:bodyPr>
            <a:normAutofit fontScale="90000"/>
          </a:bodyPr>
          <a:lstStyle/>
          <a:p>
            <a:r>
              <a:rPr lang="ja-JP" altLang="en-US"/>
              <a:t>九州大学大学院システム情報科学府附属価値創造型半導体人材育成センター主催</a:t>
            </a:r>
            <a:r>
              <a:rPr lang="en-US" altLang="ja-JP" dirty="0"/>
              <a:t>2025</a:t>
            </a:r>
            <a:r>
              <a:rPr lang="ja-JP" altLang="en-US"/>
              <a:t>年度実習シリーズで採用</a:t>
            </a:r>
            <a:endParaRPr kumimoji="1" lang="ja-JP" altLang="en-US"/>
          </a:p>
        </p:txBody>
      </p:sp>
      <p:sp>
        <p:nvSpPr>
          <p:cNvPr id="3" name="日付プレースホルダー 2">
            <a:extLst>
              <a:ext uri="{FF2B5EF4-FFF2-40B4-BE49-F238E27FC236}">
                <a16:creationId xmlns:a16="http://schemas.microsoft.com/office/drawing/2014/main" id="{B1BD04E9-4D33-B18B-4432-2C81CF5F9321}"/>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13345B3D-4275-2355-86E9-E09C652EAE80}"/>
              </a:ext>
            </a:extLst>
          </p:cNvPr>
          <p:cNvSpPr>
            <a:spLocks noGrp="1"/>
          </p:cNvSpPr>
          <p:nvPr>
            <p:ph type="sldNum" sz="quarter" idx="12"/>
          </p:nvPr>
        </p:nvSpPr>
        <p:spPr/>
        <p:txBody>
          <a:bodyPr/>
          <a:lstStyle/>
          <a:p>
            <a:pPr rtl="0"/>
            <a:fld id="{9860EDB8-5305-433F-BE41-D7A86D811DB3}" type="slidenum">
              <a:rPr lang="en-US" altLang="ja-JP" noProof="0" smtClean="0"/>
              <a:pPr rtl="0"/>
              <a:t>36</a:t>
            </a:fld>
            <a:endParaRPr lang="ja-JP" altLang="en-US" noProof="0"/>
          </a:p>
        </p:txBody>
      </p:sp>
      <p:pic>
        <p:nvPicPr>
          <p:cNvPr id="1026" name="Picture 2" descr="kyushuUniv2025_inverter_02">
            <a:extLst>
              <a:ext uri="{FF2B5EF4-FFF2-40B4-BE49-F238E27FC236}">
                <a16:creationId xmlns:a16="http://schemas.microsoft.com/office/drawing/2014/main" id="{626EABB8-A20E-9E64-D9A2-B280A0E96E75}"/>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270490" y="1134319"/>
            <a:ext cx="7327184" cy="5431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905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F9FF96-C6E7-0674-FDB5-ADFA80BA5287}"/>
              </a:ext>
            </a:extLst>
          </p:cNvPr>
          <p:cNvSpPr>
            <a:spLocks noGrp="1"/>
          </p:cNvSpPr>
          <p:nvPr>
            <p:ph type="title"/>
          </p:nvPr>
        </p:nvSpPr>
        <p:spPr/>
        <p:txBody>
          <a:bodyPr/>
          <a:lstStyle/>
          <a:p>
            <a:r>
              <a:rPr kumimoji="1" lang="ja-JP" altLang="en-US" dirty="0"/>
              <a:t>書籍紹介コーナー</a:t>
            </a:r>
          </a:p>
        </p:txBody>
      </p:sp>
      <p:sp>
        <p:nvSpPr>
          <p:cNvPr id="3" name="日付プレースホルダー 2">
            <a:extLst>
              <a:ext uri="{FF2B5EF4-FFF2-40B4-BE49-F238E27FC236}">
                <a16:creationId xmlns:a16="http://schemas.microsoft.com/office/drawing/2014/main" id="{143EBABA-23D7-A4D7-F385-B8B3D790820B}"/>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CFCF5353-FC1E-D04A-AAD9-EDB93BAE3476}"/>
              </a:ext>
            </a:extLst>
          </p:cNvPr>
          <p:cNvSpPr>
            <a:spLocks noGrp="1"/>
          </p:cNvSpPr>
          <p:nvPr>
            <p:ph type="sldNum" sz="quarter" idx="12"/>
          </p:nvPr>
        </p:nvSpPr>
        <p:spPr/>
        <p:txBody>
          <a:bodyPr/>
          <a:lstStyle/>
          <a:p>
            <a:pPr rtl="0"/>
            <a:fld id="{9860EDB8-5305-433F-BE41-D7A86D811DB3}" type="slidenum">
              <a:rPr lang="en-US" altLang="ja-JP" noProof="0" smtClean="0"/>
              <a:pPr rtl="0"/>
              <a:t>37</a:t>
            </a:fld>
            <a:endParaRPr lang="ja-JP" altLang="en-US" noProof="0"/>
          </a:p>
        </p:txBody>
      </p:sp>
      <p:sp>
        <p:nvSpPr>
          <p:cNvPr id="5" name="コンテンツ プレースホルダー 4">
            <a:extLst>
              <a:ext uri="{FF2B5EF4-FFF2-40B4-BE49-F238E27FC236}">
                <a16:creationId xmlns:a16="http://schemas.microsoft.com/office/drawing/2014/main" id="{0F93D9CC-9173-DFB1-83E0-69E632715833}"/>
              </a:ext>
            </a:extLst>
          </p:cNvPr>
          <p:cNvSpPr>
            <a:spLocks noGrp="1"/>
          </p:cNvSpPr>
          <p:nvPr>
            <p:ph sz="quarter" idx="13"/>
          </p:nvPr>
        </p:nvSpPr>
        <p:spPr>
          <a:xfrm>
            <a:off x="444501" y="1463040"/>
            <a:ext cx="7605218" cy="5102352"/>
          </a:xfrm>
        </p:spPr>
        <p:txBody>
          <a:bodyPr>
            <a:normAutofit/>
          </a:bodyPr>
          <a:lstStyle/>
          <a:p>
            <a:pPr marL="285750" indent="-285750">
              <a:buFont typeface="Arial" panose="020B0604020202020204" pitchFamily="34" charset="0"/>
              <a:buChar char="•"/>
            </a:pPr>
            <a:r>
              <a:rPr lang="ja-JP" altLang="en-US" dirty="0"/>
              <a:t>タイトル：</a:t>
            </a:r>
            <a:r>
              <a:rPr lang="en" altLang="ja-JP" dirty="0"/>
              <a:t>Open Source Silicon Magazine vol.1</a:t>
            </a:r>
            <a:r>
              <a:rPr lang="ja-JP" altLang="en-US" dirty="0"/>
              <a:t>　</a:t>
            </a:r>
            <a:endParaRPr lang="en-US" altLang="ja-JP" dirty="0"/>
          </a:p>
          <a:p>
            <a:pPr marL="971550" lvl="2" indent="-285750"/>
            <a:r>
              <a:rPr lang="ja-JP" altLang="en-US" dirty="0"/>
              <a:t>サブタイトル：はじめての</a:t>
            </a:r>
            <a:r>
              <a:rPr lang="en" altLang="ja-JP" dirty="0"/>
              <a:t>IC </a:t>
            </a:r>
            <a:r>
              <a:rPr lang="ja-JP" altLang="en-US" dirty="0"/>
              <a:t>設計～オリジナルのインバータを作ってみよう～</a:t>
            </a:r>
          </a:p>
          <a:p>
            <a:pPr marL="285750" indent="-285750">
              <a:buFont typeface="Arial" panose="020B0604020202020204" pitchFamily="34" charset="0"/>
              <a:buChar char="•"/>
            </a:pPr>
            <a:r>
              <a:rPr lang="ja-JP" altLang="en-US" dirty="0"/>
              <a:t>内容</a:t>
            </a:r>
            <a:endParaRPr lang="en-US" altLang="ja-JP" dirty="0"/>
          </a:p>
          <a:p>
            <a:pPr marL="569214" lvl="1" indent="-285750"/>
            <a:r>
              <a:rPr lang="ja-JP" altLang="en-US" dirty="0"/>
              <a:t>本日の解説から、さらに一歩</a:t>
            </a:r>
            <a:r>
              <a:rPr lang="en-US" altLang="ja-JP" dirty="0"/>
              <a:t>『</a:t>
            </a:r>
            <a:r>
              <a:rPr lang="ja-JP" altLang="en-US" dirty="0"/>
              <a:t>手前</a:t>
            </a:r>
            <a:r>
              <a:rPr lang="en-US" altLang="ja-JP" dirty="0"/>
              <a:t>』</a:t>
            </a:r>
            <a:r>
              <a:rPr lang="ja-JP" altLang="en-US" dirty="0"/>
              <a:t>や端折ってしまっている部分を解説した内容</a:t>
            </a:r>
            <a:endParaRPr lang="en-US" altLang="ja-JP" dirty="0"/>
          </a:p>
          <a:p>
            <a:pPr marL="569214" lvl="1" indent="-285750"/>
            <a:r>
              <a:rPr lang="ja-JP" altLang="en-US" dirty="0"/>
              <a:t>技術書典「第</a:t>
            </a:r>
            <a:r>
              <a:rPr lang="en-US" altLang="ja-JP" dirty="0"/>
              <a:t>10</a:t>
            </a:r>
            <a:r>
              <a:rPr lang="ja-JP" altLang="en-US" dirty="0"/>
              <a:t>回刺され！技術書アワード」のニュースタンダード部門のファイナリストに選出されました！</a:t>
            </a:r>
          </a:p>
          <a:p>
            <a:pPr marL="285750" indent="-285750">
              <a:lnSpc>
                <a:spcPct val="50000"/>
              </a:lnSpc>
              <a:buFont typeface="Arial" panose="020B0604020202020204" pitchFamily="34" charset="0"/>
              <a:buChar char="•"/>
            </a:pPr>
            <a:r>
              <a:rPr lang="ja-JP" altLang="en-US" dirty="0"/>
              <a:t>価格</a:t>
            </a:r>
            <a:endParaRPr lang="en-US" altLang="ja-JP" dirty="0"/>
          </a:p>
          <a:p>
            <a:pPr marL="569214" lvl="1" indent="-285750">
              <a:lnSpc>
                <a:spcPct val="50000"/>
              </a:lnSpc>
            </a:pPr>
            <a:r>
              <a:rPr lang="ja-JP" altLang="en-US" dirty="0"/>
              <a:t>電子セット</a:t>
            </a:r>
            <a:endParaRPr lang="en-US" altLang="ja-JP" dirty="0"/>
          </a:p>
          <a:p>
            <a:pPr marL="971550" lvl="2" indent="-285750">
              <a:lnSpc>
                <a:spcPct val="50000"/>
              </a:lnSpc>
            </a:pPr>
            <a:r>
              <a:rPr lang="ja-JP" altLang="en-US" dirty="0"/>
              <a:t>無料</a:t>
            </a:r>
          </a:p>
        </p:txBody>
      </p:sp>
      <p:pic>
        <p:nvPicPr>
          <p:cNvPr id="1026" name="Picture 2" descr="証拠映像">
            <a:extLst>
              <a:ext uri="{FF2B5EF4-FFF2-40B4-BE49-F238E27FC236}">
                <a16:creationId xmlns:a16="http://schemas.microsoft.com/office/drawing/2014/main" id="{8A170513-24E5-D340-08B4-905749D91B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67" r="8656" b="9952"/>
          <a:stretch>
            <a:fillRect/>
          </a:stretch>
        </p:blipFill>
        <p:spPr bwMode="auto">
          <a:xfrm>
            <a:off x="2743198" y="4096086"/>
            <a:ext cx="5496482" cy="27918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表紙">
            <a:extLst>
              <a:ext uri="{FF2B5EF4-FFF2-40B4-BE49-F238E27FC236}">
                <a16:creationId xmlns:a16="http://schemas.microsoft.com/office/drawing/2014/main" id="{1C1E4D47-7C22-90A0-99F8-7ACC0DF0E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4789" y="1139251"/>
            <a:ext cx="3947211" cy="5708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1204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0E0B7F6-42B8-3175-27F5-9E02F96FED00}"/>
              </a:ext>
            </a:extLst>
          </p:cNvPr>
          <p:cNvSpPr>
            <a:spLocks noGrp="1"/>
          </p:cNvSpPr>
          <p:nvPr>
            <p:ph type="title"/>
          </p:nvPr>
        </p:nvSpPr>
        <p:spPr>
          <a:xfrm>
            <a:off x="448056" y="2551176"/>
            <a:ext cx="10794710" cy="914400"/>
          </a:xfrm>
        </p:spPr>
        <p:txBody>
          <a:bodyPr>
            <a:normAutofit fontScale="90000"/>
          </a:bodyPr>
          <a:lstStyle/>
          <a:p>
            <a:r>
              <a:rPr lang="ja-JP" altLang="en-US" dirty="0"/>
              <a:t>アナログ半導体設計デモンストレーション</a:t>
            </a:r>
          </a:p>
        </p:txBody>
      </p:sp>
      <p:sp>
        <p:nvSpPr>
          <p:cNvPr id="7" name="テキスト プレースホルダー 6">
            <a:extLst>
              <a:ext uri="{FF2B5EF4-FFF2-40B4-BE49-F238E27FC236}">
                <a16:creationId xmlns:a16="http://schemas.microsoft.com/office/drawing/2014/main" id="{D53F6EAB-04DE-CAAE-6FE9-862F355EB956}"/>
              </a:ext>
            </a:extLst>
          </p:cNvPr>
          <p:cNvSpPr>
            <a:spLocks noGrp="1"/>
          </p:cNvSpPr>
          <p:nvPr>
            <p:ph type="body" sz="quarter" idx="10"/>
          </p:nvPr>
        </p:nvSpPr>
        <p:spPr/>
        <p:txBody>
          <a:bodyPr/>
          <a:lstStyle/>
          <a:p>
            <a:r>
              <a:rPr lang="en-US" altLang="ja-JP" dirty="0"/>
              <a:t>CMOS</a:t>
            </a:r>
            <a:r>
              <a:rPr lang="ja-JP" altLang="en-US" dirty="0"/>
              <a:t>インバータ（</a:t>
            </a:r>
            <a:r>
              <a:rPr lang="en-US" altLang="ja-JP" dirty="0"/>
              <a:t>NOT</a:t>
            </a:r>
            <a:r>
              <a:rPr lang="ja-JP" altLang="en-US"/>
              <a:t>論理回路）作成</a:t>
            </a:r>
            <a:endParaRPr lang="ja-JP" altLang="en-US" dirty="0"/>
          </a:p>
        </p:txBody>
      </p:sp>
      <p:sp>
        <p:nvSpPr>
          <p:cNvPr id="3" name="日付プレースホルダー 2">
            <a:extLst>
              <a:ext uri="{FF2B5EF4-FFF2-40B4-BE49-F238E27FC236}">
                <a16:creationId xmlns:a16="http://schemas.microsoft.com/office/drawing/2014/main" id="{0EDFE738-C3AA-132F-F5AA-48CCF9C8128E}"/>
              </a:ext>
            </a:extLst>
          </p:cNvPr>
          <p:cNvSpPr>
            <a:spLocks noGrp="1"/>
          </p:cNvSpPr>
          <p:nvPr>
            <p:ph type="dt" sz="half" idx="2"/>
          </p:nvPr>
        </p:nvSpPr>
        <p:spPr/>
        <p:txBody>
          <a:bodyPr/>
          <a:lstStyle/>
          <a:p>
            <a:pPr rtl="0"/>
            <a:fld id="{039194EF-991C-4955-8789-A9990F09E4BD}"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A82969F3-8E66-016C-E44A-2B9C0E457F64}"/>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38</a:t>
            </a:fld>
            <a:endParaRPr lang="ja-JP" altLang="en-US" noProof="0"/>
          </a:p>
        </p:txBody>
      </p:sp>
    </p:spTree>
    <p:extLst>
      <p:ext uri="{BB962C8B-B14F-4D97-AF65-F5344CB8AC3E}">
        <p14:creationId xmlns:p14="http://schemas.microsoft.com/office/powerpoint/2010/main" val="2806818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91D837-5816-3DBB-1C4F-CE357DC0A67B}"/>
              </a:ext>
            </a:extLst>
          </p:cNvPr>
          <p:cNvSpPr>
            <a:spLocks noGrp="1"/>
          </p:cNvSpPr>
          <p:nvPr>
            <p:ph type="title"/>
          </p:nvPr>
        </p:nvSpPr>
        <p:spPr/>
        <p:txBody>
          <a:bodyPr/>
          <a:lstStyle/>
          <a:p>
            <a:r>
              <a:rPr kumimoji="1" lang="en-US" altLang="ja-JP" dirty="0"/>
              <a:t>CMOS</a:t>
            </a:r>
            <a:r>
              <a:rPr kumimoji="1" lang="ja-JP" altLang="en-US" dirty="0"/>
              <a:t>インバータ（</a:t>
            </a:r>
            <a:r>
              <a:rPr kumimoji="1" lang="en-US" altLang="ja-JP" dirty="0"/>
              <a:t>NOT</a:t>
            </a:r>
            <a:r>
              <a:rPr kumimoji="1" lang="ja-JP" altLang="en-US" dirty="0"/>
              <a:t>論理回路）</a:t>
            </a:r>
          </a:p>
        </p:txBody>
      </p:sp>
      <p:sp>
        <p:nvSpPr>
          <p:cNvPr id="3" name="日付プレースホルダー 2">
            <a:extLst>
              <a:ext uri="{FF2B5EF4-FFF2-40B4-BE49-F238E27FC236}">
                <a16:creationId xmlns:a16="http://schemas.microsoft.com/office/drawing/2014/main" id="{79B2F595-9F10-953E-3C5D-274982AD8174}"/>
              </a:ext>
            </a:extLst>
          </p:cNvPr>
          <p:cNvSpPr>
            <a:spLocks noGrp="1"/>
          </p:cNvSpPr>
          <p:nvPr>
            <p:ph type="dt" sz="half" idx="10"/>
          </p:nvPr>
        </p:nvSpPr>
        <p:spPr/>
        <p:txBody>
          <a:bodyPr/>
          <a:lstStyle/>
          <a:p>
            <a:pPr rtl="0"/>
            <a:fld id="{F285CA99-162B-4CEB-8DE6-4999097D8ADF}"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02967E5-84BA-2928-F270-C268C276D2DE}"/>
              </a:ext>
            </a:extLst>
          </p:cNvPr>
          <p:cNvSpPr>
            <a:spLocks noGrp="1"/>
          </p:cNvSpPr>
          <p:nvPr>
            <p:ph type="sldNum" sz="quarter" idx="12"/>
          </p:nvPr>
        </p:nvSpPr>
        <p:spPr/>
        <p:txBody>
          <a:bodyPr/>
          <a:lstStyle/>
          <a:p>
            <a:pPr rtl="0"/>
            <a:fld id="{9860EDB8-5305-433F-BE41-D7A86D811DB3}" type="slidenum">
              <a:rPr lang="en-US" altLang="ja-JP" noProof="0" smtClean="0"/>
              <a:pPr rtl="0"/>
              <a:t>39</a:t>
            </a:fld>
            <a:endParaRPr lang="ja-JP" altLang="en-US" noProof="0"/>
          </a:p>
        </p:txBody>
      </p:sp>
      <p:graphicFrame>
        <p:nvGraphicFramePr>
          <p:cNvPr id="18" name="コンテンツ プレースホルダー 17">
            <a:extLst>
              <a:ext uri="{FF2B5EF4-FFF2-40B4-BE49-F238E27FC236}">
                <a16:creationId xmlns:a16="http://schemas.microsoft.com/office/drawing/2014/main" id="{DEF3DC0F-FBC6-C185-3636-B328E19F7BA2}"/>
              </a:ext>
            </a:extLst>
          </p:cNvPr>
          <p:cNvGraphicFramePr>
            <a:graphicFrameLocks noGrp="1"/>
          </p:cNvGraphicFramePr>
          <p:nvPr>
            <p:ph sz="quarter" idx="14"/>
          </p:nvPr>
        </p:nvGraphicFramePr>
        <p:xfrm>
          <a:off x="6096000" y="1944536"/>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a:t>L</a:t>
                      </a:r>
                      <a:endParaRPr kumimoji="1" lang="ja-JP" altLang="en-US" sz="2400" dirty="0"/>
                    </a:p>
                  </a:txBody>
                  <a:tcPr/>
                </a:tc>
                <a:tc>
                  <a:txBody>
                    <a:bodyPr/>
                    <a:lstStyle/>
                    <a:p>
                      <a:pPr algn="ctr"/>
                      <a:r>
                        <a:rPr kumimoji="1" lang="en-US" altLang="ja-JP" sz="2400" dirty="0"/>
                        <a:t>H</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a:t>H</a:t>
                      </a:r>
                      <a:endParaRPr kumimoji="1" lang="ja-JP" altLang="en-US" sz="2400" dirty="0"/>
                    </a:p>
                  </a:txBody>
                  <a:tcPr/>
                </a:tc>
                <a:tc>
                  <a:txBody>
                    <a:bodyPr/>
                    <a:lstStyle/>
                    <a:p>
                      <a:pPr algn="ctr"/>
                      <a:r>
                        <a:rPr kumimoji="1" lang="en-US" altLang="ja-JP" sz="2400" dirty="0"/>
                        <a:t>L</a:t>
                      </a:r>
                      <a:endParaRPr kumimoji="1" lang="ja-JP" altLang="en-US" sz="2400" dirty="0"/>
                    </a:p>
                  </a:txBody>
                  <a:tcPr/>
                </a:tc>
                <a:extLst>
                  <a:ext uri="{0D108BD9-81ED-4DB2-BD59-A6C34878D82A}">
                    <a16:rowId xmlns:a16="http://schemas.microsoft.com/office/drawing/2014/main" val="3111800997"/>
                  </a:ext>
                </a:extLst>
              </a:tr>
            </a:tbl>
          </a:graphicData>
        </a:graphic>
      </p:graphicFrame>
      <p:pic>
        <p:nvPicPr>
          <p:cNvPr id="16" name="コンテンツ プレースホルダー 15" descr="図形&#10;&#10;低い精度で自動的に生成された説明">
            <a:extLst>
              <a:ext uri="{FF2B5EF4-FFF2-40B4-BE49-F238E27FC236}">
                <a16:creationId xmlns:a16="http://schemas.microsoft.com/office/drawing/2014/main" id="{361D0B2D-DD94-04E1-02A1-1FB10605CB44}"/>
              </a:ext>
            </a:extLst>
          </p:cNvPr>
          <p:cNvPicPr>
            <a:picLocks noGrp="1" noChangeAspect="1"/>
          </p:cNvPicPr>
          <p:nvPr>
            <p:ph sz="quarter" idx="13"/>
          </p:nvPr>
        </p:nvPicPr>
        <p:blipFill>
          <a:blip r:embed="rId2"/>
          <a:stretch>
            <a:fillRect/>
          </a:stretch>
        </p:blipFill>
        <p:spPr>
          <a:xfrm>
            <a:off x="823912" y="1477962"/>
            <a:ext cx="4572000" cy="4572000"/>
          </a:xfrm>
        </p:spPr>
      </p:pic>
      <p:graphicFrame>
        <p:nvGraphicFramePr>
          <p:cNvPr id="19" name="コンテンツ プレースホルダー 17">
            <a:extLst>
              <a:ext uri="{FF2B5EF4-FFF2-40B4-BE49-F238E27FC236}">
                <a16:creationId xmlns:a16="http://schemas.microsoft.com/office/drawing/2014/main" id="{A1FF29DB-E03B-B335-1911-92D0C5623956}"/>
              </a:ext>
            </a:extLst>
          </p:cNvPr>
          <p:cNvGraphicFramePr>
            <a:graphicFrameLocks/>
          </p:cNvGraphicFramePr>
          <p:nvPr/>
        </p:nvGraphicFramePr>
        <p:xfrm>
          <a:off x="6096000" y="4185920"/>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err="1"/>
                        <a:t>Vss</a:t>
                      </a:r>
                      <a:endParaRPr kumimoji="1" lang="ja-JP" altLang="en-US" sz="2400" dirty="0"/>
                    </a:p>
                  </a:txBody>
                  <a:tcPr/>
                </a:tc>
                <a:tc>
                  <a:txBody>
                    <a:bodyPr/>
                    <a:lstStyle/>
                    <a:p>
                      <a:pPr algn="ctr"/>
                      <a:r>
                        <a:rPr kumimoji="1" lang="en-US" altLang="ja-JP" sz="2400" dirty="0" err="1"/>
                        <a:t>Vdd</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err="1"/>
                        <a:t>Vdd</a:t>
                      </a:r>
                      <a:endParaRPr kumimoji="1" lang="ja-JP" altLang="en-US" sz="2400" dirty="0"/>
                    </a:p>
                  </a:txBody>
                  <a:tcPr/>
                </a:tc>
                <a:tc>
                  <a:txBody>
                    <a:bodyPr/>
                    <a:lstStyle/>
                    <a:p>
                      <a:pPr algn="ctr"/>
                      <a:r>
                        <a:rPr kumimoji="1" lang="en-US" altLang="ja-JP" sz="2400" dirty="0" err="1"/>
                        <a:t>Vss</a:t>
                      </a:r>
                      <a:endParaRPr kumimoji="1" lang="ja-JP" altLang="en-US" sz="2400" dirty="0"/>
                    </a:p>
                  </a:txBody>
                  <a:tcPr/>
                </a:tc>
                <a:extLst>
                  <a:ext uri="{0D108BD9-81ED-4DB2-BD59-A6C34878D82A}">
                    <a16:rowId xmlns:a16="http://schemas.microsoft.com/office/drawing/2014/main" val="3111800997"/>
                  </a:ext>
                </a:extLst>
              </a:tr>
            </a:tbl>
          </a:graphicData>
        </a:graphic>
      </p:graphicFrame>
      <p:sp>
        <p:nvSpPr>
          <p:cNvPr id="20" name="矢印: 下 19">
            <a:extLst>
              <a:ext uri="{FF2B5EF4-FFF2-40B4-BE49-F238E27FC236}">
                <a16:creationId xmlns:a16="http://schemas.microsoft.com/office/drawing/2014/main" id="{3640FA1A-68A4-48A4-54F8-E8CB09D20817}"/>
              </a:ext>
            </a:extLst>
          </p:cNvPr>
          <p:cNvSpPr/>
          <p:nvPr/>
        </p:nvSpPr>
        <p:spPr>
          <a:xfrm>
            <a:off x="8429897" y="3429000"/>
            <a:ext cx="670560" cy="5943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44382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7DB7185A-B6D3-437D-AD3B-3081FC695539}"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40</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b="1" dirty="0">
                <a:solidFill>
                  <a:schemeClr val="accent2"/>
                </a:solidFill>
              </a:rPr>
              <a:t>回路図を描く</a:t>
            </a:r>
            <a:endParaRPr kumimoji="1" lang="en-US" altLang="ja-JP" sz="2000" b="1" dirty="0">
              <a:solidFill>
                <a:schemeClr val="accent2"/>
              </a:solidFill>
            </a:endParaRPr>
          </a:p>
          <a:p>
            <a:pPr marL="457200" indent="-457200">
              <a:buFont typeface="+mj-lt"/>
              <a:buAutoNum type="arabicPeriod"/>
            </a:pPr>
            <a:r>
              <a:rPr lang="ja-JP" altLang="en-US" sz="2000" dirty="0">
                <a:solidFill>
                  <a:schemeClr val="tx1"/>
                </a:solidFill>
              </a:rPr>
              <a:t>シミュレーションをする</a:t>
            </a:r>
            <a:endParaRPr lang="en-US" altLang="ja-JP" sz="2000" dirty="0">
              <a:solidFill>
                <a:schemeClr val="tx1"/>
              </a:solidFill>
            </a:endParaRPr>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1610147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184482-D2D1-F0F5-3895-326A55F0D871}"/>
              </a:ext>
            </a:extLst>
          </p:cNvPr>
          <p:cNvSpPr>
            <a:spLocks noGrp="1"/>
          </p:cNvSpPr>
          <p:nvPr>
            <p:ph type="title"/>
          </p:nvPr>
        </p:nvSpPr>
        <p:spPr/>
        <p:txBody>
          <a:bodyPr/>
          <a:lstStyle/>
          <a:p>
            <a:r>
              <a:rPr lang="ja-JP" altLang="en-US" dirty="0"/>
              <a:t>論理</a:t>
            </a:r>
            <a:r>
              <a:rPr kumimoji="1" lang="ja-JP" altLang="en-US" dirty="0"/>
              <a:t>検証</a:t>
            </a:r>
          </a:p>
        </p:txBody>
      </p:sp>
      <p:sp>
        <p:nvSpPr>
          <p:cNvPr id="3" name="日付プレースホルダー 2">
            <a:extLst>
              <a:ext uri="{FF2B5EF4-FFF2-40B4-BE49-F238E27FC236}">
                <a16:creationId xmlns:a16="http://schemas.microsoft.com/office/drawing/2014/main" id="{A0788910-31AB-E409-A190-AB71BEBC6CB1}"/>
              </a:ext>
            </a:extLst>
          </p:cNvPr>
          <p:cNvSpPr>
            <a:spLocks noGrp="1"/>
          </p:cNvSpPr>
          <p:nvPr>
            <p:ph type="dt" sz="half" idx="10"/>
          </p:nvPr>
        </p:nvSpPr>
        <p:spPr/>
        <p:txBody>
          <a:bodyPr/>
          <a:lstStyle/>
          <a:p>
            <a:pPr rtl="0"/>
            <a:fld id="{B1D2FC67-9E3D-43D5-9A71-11FCFE93F4D1}"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1A8DE036-8E67-45BE-889A-271BF1D71F2E}"/>
              </a:ext>
            </a:extLst>
          </p:cNvPr>
          <p:cNvSpPr>
            <a:spLocks noGrp="1"/>
          </p:cNvSpPr>
          <p:nvPr>
            <p:ph type="sldNum" sz="quarter" idx="12"/>
          </p:nvPr>
        </p:nvSpPr>
        <p:spPr/>
        <p:txBody>
          <a:bodyPr/>
          <a:lstStyle/>
          <a:p>
            <a:pPr rtl="0"/>
            <a:fld id="{9860EDB8-5305-433F-BE41-D7A86D811DB3}" type="slidenum">
              <a:rPr lang="en-US" altLang="ja-JP" noProof="0" smtClean="0"/>
              <a:pPr rtl="0"/>
              <a:t>41</a:t>
            </a:fld>
            <a:endParaRPr lang="ja-JP" altLang="en-US" noProof="0"/>
          </a:p>
        </p:txBody>
      </p:sp>
      <p:sp>
        <p:nvSpPr>
          <p:cNvPr id="5" name="コンテンツ プレースホルダー 4">
            <a:extLst>
              <a:ext uri="{FF2B5EF4-FFF2-40B4-BE49-F238E27FC236}">
                <a16:creationId xmlns:a16="http://schemas.microsoft.com/office/drawing/2014/main" id="{65A6EE27-1862-39BC-6E58-E8AE811C394E}"/>
              </a:ext>
            </a:extLst>
          </p:cNvPr>
          <p:cNvSpPr>
            <a:spLocks noGrp="1"/>
          </p:cNvSpPr>
          <p:nvPr>
            <p:ph sz="quarter" idx="13"/>
          </p:nvPr>
        </p:nvSpPr>
        <p:spPr>
          <a:xfrm>
            <a:off x="444500" y="1464882"/>
            <a:ext cx="11210543" cy="5100510"/>
          </a:xfrm>
        </p:spPr>
        <p:txBody>
          <a:bodyPr>
            <a:normAutofit/>
          </a:bodyPr>
          <a:lstStyle/>
          <a:p>
            <a:pPr marL="285750" indent="-285750">
              <a:buFont typeface="Arial" panose="020B0604020202020204" pitchFamily="34" charset="0"/>
              <a:buChar char="•"/>
            </a:pPr>
            <a:r>
              <a:rPr kumimoji="1" lang="ja-JP" altLang="en-US" sz="2400" dirty="0"/>
              <a:t>インバータでは入力に対して反転した出力が確認できれば良い</a:t>
            </a:r>
            <a:endParaRPr kumimoji="1" lang="en-US" altLang="ja-JP" sz="2400" dirty="0"/>
          </a:p>
          <a:p>
            <a:pPr marL="569214" lvl="1" indent="-285750"/>
            <a:r>
              <a:rPr kumimoji="1" lang="ja-JP" altLang="en-US" sz="2400" dirty="0"/>
              <a:t>入力 </a:t>
            </a:r>
            <a:r>
              <a:rPr kumimoji="1" lang="en-US" altLang="ja-JP" sz="2400" dirty="0"/>
              <a:t>0 V </a:t>
            </a:r>
            <a:r>
              <a:rPr kumimoji="1" lang="ja-JP" altLang="en-US" sz="2400" dirty="0"/>
              <a:t>→ 出力 </a:t>
            </a:r>
            <a:r>
              <a:rPr kumimoji="1" lang="en-US" altLang="ja-JP" sz="2400" dirty="0" err="1"/>
              <a:t>Vdd</a:t>
            </a:r>
            <a:r>
              <a:rPr kumimoji="1" lang="en-US" altLang="ja-JP" sz="2400" dirty="0"/>
              <a:t> V, </a:t>
            </a:r>
            <a:r>
              <a:rPr kumimoji="1" lang="ja-JP" altLang="en-US" sz="2400" dirty="0"/>
              <a:t>入力 </a:t>
            </a:r>
            <a:r>
              <a:rPr kumimoji="1" lang="en-US" altLang="ja-JP" sz="2400" dirty="0" err="1"/>
              <a:t>Vdd</a:t>
            </a:r>
            <a:r>
              <a:rPr kumimoji="1" lang="en-US" altLang="ja-JP" sz="2400" dirty="0"/>
              <a:t> V </a:t>
            </a:r>
            <a:r>
              <a:rPr kumimoji="1" lang="ja-JP" altLang="en-US" sz="2400" dirty="0"/>
              <a:t>→ 出力 </a:t>
            </a:r>
            <a:r>
              <a:rPr kumimoji="1" lang="en-US" altLang="ja-JP" sz="2400" dirty="0"/>
              <a:t>0 V</a:t>
            </a:r>
            <a:endParaRPr kumimoji="1" lang="ja-JP" altLang="en-US" sz="2400" dirty="0"/>
          </a:p>
          <a:p>
            <a:pPr marL="569214" lvl="1" indent="-285750"/>
            <a:r>
              <a:rPr kumimoji="1" lang="en-US" altLang="ja-JP" sz="2400" dirty="0"/>
              <a:t>DC</a:t>
            </a:r>
            <a:r>
              <a:rPr kumimoji="1" lang="ja-JP" altLang="en-US" sz="2400" dirty="0"/>
              <a:t>解析で</a:t>
            </a:r>
            <a:r>
              <a:rPr kumimoji="1" lang="en-US" altLang="ja-JP" sz="2400" dirty="0"/>
              <a:t>CMOS</a:t>
            </a:r>
            <a:r>
              <a:rPr kumimoji="1" lang="ja-JP" altLang="en-US" sz="2400" dirty="0"/>
              <a:t>インバータの動作を見てみる</a:t>
            </a:r>
            <a:endParaRPr kumimoji="1" lang="en-US" altLang="ja-JP" sz="2400" dirty="0"/>
          </a:p>
          <a:p>
            <a:pPr marL="285750" indent="-285750">
              <a:buFont typeface="Arial" panose="020B0604020202020204" pitchFamily="34" charset="0"/>
              <a:buChar char="•"/>
            </a:pPr>
            <a:endParaRPr lang="en-US" altLang="ja-JP" sz="2400" dirty="0"/>
          </a:p>
          <a:p>
            <a:pPr marL="285750" indent="-285750">
              <a:buFont typeface="Arial" panose="020B0604020202020204" pitchFamily="34" charset="0"/>
              <a:buChar char="•"/>
            </a:pPr>
            <a:r>
              <a:rPr lang="en-US" altLang="ja-JP" sz="2400" dirty="0"/>
              <a:t>DC</a:t>
            </a:r>
            <a:r>
              <a:rPr lang="ja-JP" altLang="en-US" sz="2400" dirty="0"/>
              <a:t>解析</a:t>
            </a:r>
            <a:r>
              <a:rPr lang="en-US" altLang="ja-JP" sz="2400" dirty="0"/>
              <a:t>	</a:t>
            </a:r>
            <a:r>
              <a:rPr lang="ja-JP" altLang="en-US" sz="2400" dirty="0"/>
              <a:t>電圧を変動させたときの定常応答</a:t>
            </a:r>
            <a:endParaRPr lang="en-US" altLang="ja-JP" sz="2400" dirty="0"/>
          </a:p>
          <a:p>
            <a:pPr marL="285750" indent="-285750">
              <a:buFont typeface="Arial" panose="020B0604020202020204" pitchFamily="34" charset="0"/>
              <a:buChar char="•"/>
            </a:pPr>
            <a:r>
              <a:rPr kumimoji="1" lang="en-US" altLang="ja-JP" sz="2400" dirty="0" err="1"/>
              <a:t>tran</a:t>
            </a:r>
            <a:r>
              <a:rPr kumimoji="1" lang="ja-JP" altLang="en-US" sz="2400" dirty="0"/>
              <a:t>解析</a:t>
            </a:r>
            <a:r>
              <a:rPr kumimoji="1" lang="en-US" altLang="ja-JP" sz="2400" dirty="0"/>
              <a:t>	</a:t>
            </a:r>
            <a:r>
              <a:rPr kumimoji="1" lang="ja-JP" altLang="en-US" sz="2400" dirty="0"/>
              <a:t>時間を変動させたときの過渡応答</a:t>
            </a:r>
            <a:endParaRPr kumimoji="1" lang="en-US" altLang="ja-JP" sz="2400" dirty="0"/>
          </a:p>
          <a:p>
            <a:pPr marL="285750" indent="-285750">
              <a:buFont typeface="Arial" panose="020B0604020202020204" pitchFamily="34" charset="0"/>
              <a:buChar char="•"/>
            </a:pPr>
            <a:r>
              <a:rPr lang="en-US" altLang="ja-JP" sz="2400" dirty="0"/>
              <a:t>AC</a:t>
            </a:r>
            <a:r>
              <a:rPr lang="ja-JP" altLang="en-US" sz="2400" dirty="0"/>
              <a:t>解析</a:t>
            </a:r>
            <a:r>
              <a:rPr lang="en-US" altLang="ja-JP" sz="2400" dirty="0"/>
              <a:t>	</a:t>
            </a:r>
            <a:r>
              <a:rPr lang="ja-JP" altLang="en-US" sz="2400" dirty="0"/>
              <a:t>周波数を変動させたときの定常応答</a:t>
            </a:r>
            <a:endParaRPr kumimoji="1" lang="ja-JP" altLang="en-US" sz="2400" dirty="0"/>
          </a:p>
          <a:p>
            <a:endParaRPr kumimoji="1" lang="ja-JP" altLang="en-US" dirty="0"/>
          </a:p>
        </p:txBody>
      </p:sp>
    </p:spTree>
    <p:extLst>
      <p:ext uri="{BB962C8B-B14F-4D97-AF65-F5344CB8AC3E}">
        <p14:creationId xmlns:p14="http://schemas.microsoft.com/office/powerpoint/2010/main" val="2820340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lang="en-US" altLang="ja-JP" dirty="0"/>
              <a:t>CMOS</a:t>
            </a:r>
            <a:r>
              <a:rPr lang="ja-JP" altLang="en-US" dirty="0"/>
              <a:t>インバーター回路の</a:t>
            </a:r>
            <a:r>
              <a:rPr kumimoji="1" lang="ja-JP" altLang="en-US" dirty="0"/>
              <a:t>例</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42</a:t>
            </a:fld>
            <a:endParaRPr lang="ja-JP" altLang="en-US" noProof="0"/>
          </a:p>
        </p:txBody>
      </p:sp>
      <p:pic>
        <p:nvPicPr>
          <p:cNvPr id="13" name="コンテンツ プレースホルダー 12">
            <a:extLst>
              <a:ext uri="{FF2B5EF4-FFF2-40B4-BE49-F238E27FC236}">
                <a16:creationId xmlns:a16="http://schemas.microsoft.com/office/drawing/2014/main" id="{4492FECF-2FF8-73C9-341A-5615911BA4B9}"/>
              </a:ext>
            </a:extLst>
          </p:cNvPr>
          <p:cNvPicPr>
            <a:picLocks noGrp="1" noChangeAspect="1"/>
          </p:cNvPicPr>
          <p:nvPr>
            <p:ph sz="quarter" idx="13"/>
          </p:nvPr>
        </p:nvPicPr>
        <p:blipFill>
          <a:blip r:embed="rId2"/>
          <a:stretch>
            <a:fillRect/>
          </a:stretch>
        </p:blipFill>
        <p:spPr>
          <a:xfrm>
            <a:off x="1730872" y="1463675"/>
            <a:ext cx="8638181" cy="4600575"/>
          </a:xfrm>
          <a:prstGeom prst="rect">
            <a:avLst/>
          </a:prstGeom>
        </p:spPr>
      </p:pic>
    </p:spTree>
    <p:extLst>
      <p:ext uri="{BB962C8B-B14F-4D97-AF65-F5344CB8AC3E}">
        <p14:creationId xmlns:p14="http://schemas.microsoft.com/office/powerpoint/2010/main" val="2943828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38B18E-C951-636B-6DED-230D3210B096}"/>
              </a:ext>
            </a:extLst>
          </p:cNvPr>
          <p:cNvSpPr>
            <a:spLocks noGrp="1"/>
          </p:cNvSpPr>
          <p:nvPr>
            <p:ph type="title"/>
          </p:nvPr>
        </p:nvSpPr>
        <p:spPr/>
        <p:txBody>
          <a:bodyPr/>
          <a:lstStyle/>
          <a:p>
            <a:r>
              <a:rPr kumimoji="1" lang="ja-JP" altLang="en-US" dirty="0"/>
              <a:t>作業用ディレクトリを作成する</a:t>
            </a:r>
          </a:p>
        </p:txBody>
      </p:sp>
      <p:sp>
        <p:nvSpPr>
          <p:cNvPr id="3" name="日付プレースホルダー 2">
            <a:extLst>
              <a:ext uri="{FF2B5EF4-FFF2-40B4-BE49-F238E27FC236}">
                <a16:creationId xmlns:a16="http://schemas.microsoft.com/office/drawing/2014/main" id="{3F12199D-79D5-B03D-5D4C-AF99E36C775B}"/>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39214723-1B84-00AB-8623-248317208EA7}"/>
              </a:ext>
            </a:extLst>
          </p:cNvPr>
          <p:cNvSpPr>
            <a:spLocks noGrp="1"/>
          </p:cNvSpPr>
          <p:nvPr>
            <p:ph type="sldNum" sz="quarter" idx="12"/>
          </p:nvPr>
        </p:nvSpPr>
        <p:spPr/>
        <p:txBody>
          <a:bodyPr/>
          <a:lstStyle/>
          <a:p>
            <a:pPr rtl="0"/>
            <a:fld id="{9860EDB8-5305-433F-BE41-D7A86D811DB3}" type="slidenum">
              <a:rPr lang="en-US" altLang="ja-JP" noProof="0" smtClean="0"/>
              <a:pPr rtl="0"/>
              <a:t>43</a:t>
            </a:fld>
            <a:endParaRPr lang="ja-JP" altLang="en-US" noProof="0"/>
          </a:p>
        </p:txBody>
      </p:sp>
      <p:sp>
        <p:nvSpPr>
          <p:cNvPr id="5" name="コンテンツ プレースホルダー 4">
            <a:extLst>
              <a:ext uri="{FF2B5EF4-FFF2-40B4-BE49-F238E27FC236}">
                <a16:creationId xmlns:a16="http://schemas.microsoft.com/office/drawing/2014/main" id="{EBF411B1-5EAE-4330-B61C-1117AEA5006A}"/>
              </a:ext>
            </a:extLst>
          </p:cNvPr>
          <p:cNvSpPr>
            <a:spLocks noGrp="1"/>
          </p:cNvSpPr>
          <p:nvPr>
            <p:ph sz="quarter" idx="13"/>
          </p:nvPr>
        </p:nvSpPr>
        <p:spPr>
          <a:xfrm>
            <a:off x="444500" y="1463040"/>
            <a:ext cx="6062261" cy="4601748"/>
          </a:xfrm>
        </p:spPr>
        <p:txBody>
          <a:bodyPr/>
          <a:lstStyle/>
          <a:p>
            <a:pPr marL="285750" indent="-285750">
              <a:buFont typeface="Arial" panose="020B0604020202020204" pitchFamily="34" charset="0"/>
              <a:buChar char="•"/>
            </a:pPr>
            <a:r>
              <a:rPr lang="ja-JP" altLang="en-US" dirty="0"/>
              <a:t>本日の作業用ディレクトリを作成し、</a:t>
            </a:r>
            <a:r>
              <a:rPr lang="en-US" altLang="ja-JP" dirty="0" err="1"/>
              <a:t>xschem</a:t>
            </a:r>
            <a:r>
              <a:rPr lang="ja-JP" altLang="en-US" dirty="0"/>
              <a:t>を起動します。</a:t>
            </a:r>
            <a:r>
              <a:rPr lang="en-US" altLang="ja-JP" dirty="0"/>
              <a:t>WSL</a:t>
            </a:r>
            <a:r>
              <a:rPr lang="ja-JP" altLang="en-US" dirty="0"/>
              <a:t>上で下記コマンドを実行してください。</a:t>
            </a:r>
            <a:endParaRPr lang="en-US" altLang="ja-JP" dirty="0"/>
          </a:p>
          <a:p>
            <a:pPr marL="569214" lvl="1" indent="-285750"/>
            <a:r>
              <a:rPr lang="en-US" altLang="ja-JP" dirty="0" err="1"/>
              <a:t>m</a:t>
            </a:r>
            <a:r>
              <a:rPr kumimoji="1" lang="en-US" altLang="ja-JP" dirty="0" err="1"/>
              <a:t>kdir</a:t>
            </a:r>
            <a:r>
              <a:rPr kumimoji="1" lang="en-US" altLang="ja-JP" dirty="0"/>
              <a:t> ~/inverter/</a:t>
            </a:r>
          </a:p>
          <a:p>
            <a:pPr marL="569214" lvl="1" indent="-285750"/>
            <a:r>
              <a:rPr lang="en-US" altLang="ja-JP" dirty="0"/>
              <a:t>cd ~/inverter/</a:t>
            </a:r>
          </a:p>
          <a:p>
            <a:pPr marL="569214" lvl="1" indent="-285750"/>
            <a:r>
              <a:rPr lang="en-US" altLang="ja-JP" dirty="0" err="1"/>
              <a:t>x</a:t>
            </a:r>
            <a:r>
              <a:rPr kumimoji="1" lang="en-US" altLang="ja-JP" dirty="0" err="1"/>
              <a:t>schem</a:t>
            </a:r>
            <a:r>
              <a:rPr kumimoji="1" lang="en-US" altLang="ja-JP" dirty="0"/>
              <a:t> &amp;</a:t>
            </a:r>
          </a:p>
          <a:p>
            <a:pPr marL="569214" lvl="1" indent="-285750"/>
            <a:endParaRPr lang="en-US" altLang="ja-JP" dirty="0"/>
          </a:p>
          <a:p>
            <a:pPr marL="285750" indent="-285750">
              <a:buFont typeface="Arial" panose="020B0604020202020204" pitchFamily="34" charset="0"/>
              <a:buChar char="•"/>
            </a:pPr>
            <a:r>
              <a:rPr kumimoji="1" lang="ja-JP" altLang="en-US" dirty="0"/>
              <a:t>作成したファイルへのアクセス方法</a:t>
            </a:r>
            <a:endParaRPr kumimoji="1" lang="en-US" altLang="ja-JP" dirty="0"/>
          </a:p>
          <a:p>
            <a:pPr marL="569214" lvl="1" indent="-285750"/>
            <a:r>
              <a:rPr lang="en-US" altLang="ja-JP" dirty="0"/>
              <a:t>Windows</a:t>
            </a:r>
            <a:r>
              <a:rPr lang="ja-JP" altLang="en-US" dirty="0"/>
              <a:t>上のエクスプローラーからアクセス可能です。</a:t>
            </a:r>
            <a:endParaRPr lang="en-US" altLang="ja-JP" dirty="0"/>
          </a:p>
          <a:p>
            <a:pPr marL="569214" lvl="1" indent="-285750"/>
            <a:endParaRPr kumimoji="1" lang="en-US" altLang="ja-JP" dirty="0"/>
          </a:p>
          <a:p>
            <a:pPr marL="285750" indent="-285750"/>
            <a:endParaRPr kumimoji="1" lang="ja-JP" altLang="en-US" dirty="0"/>
          </a:p>
        </p:txBody>
      </p:sp>
      <p:pic>
        <p:nvPicPr>
          <p:cNvPr id="7" name="図 6">
            <a:extLst>
              <a:ext uri="{FF2B5EF4-FFF2-40B4-BE49-F238E27FC236}">
                <a16:creationId xmlns:a16="http://schemas.microsoft.com/office/drawing/2014/main" id="{C39EE819-26CB-D2C3-229C-AA8942CCCDCA}"/>
              </a:ext>
            </a:extLst>
          </p:cNvPr>
          <p:cNvPicPr>
            <a:picLocks noChangeAspect="1"/>
          </p:cNvPicPr>
          <p:nvPr/>
        </p:nvPicPr>
        <p:blipFill>
          <a:blip r:embed="rId2"/>
          <a:stretch>
            <a:fillRect/>
          </a:stretch>
        </p:blipFill>
        <p:spPr>
          <a:xfrm>
            <a:off x="6763739" y="107687"/>
            <a:ext cx="5428261" cy="6457705"/>
          </a:xfrm>
          <a:prstGeom prst="rect">
            <a:avLst/>
          </a:prstGeom>
        </p:spPr>
      </p:pic>
      <p:sp>
        <p:nvSpPr>
          <p:cNvPr id="9" name="楕円 8">
            <a:extLst>
              <a:ext uri="{FF2B5EF4-FFF2-40B4-BE49-F238E27FC236}">
                <a16:creationId xmlns:a16="http://schemas.microsoft.com/office/drawing/2014/main" id="{F727CB60-0451-F15F-3172-ABAA12F2EF24}"/>
              </a:ext>
            </a:extLst>
          </p:cNvPr>
          <p:cNvSpPr/>
          <p:nvPr/>
        </p:nvSpPr>
        <p:spPr>
          <a:xfrm>
            <a:off x="6785334" y="957569"/>
            <a:ext cx="859522" cy="39637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DEB77FF1-105B-346F-4610-513A96C8BA7B}"/>
              </a:ext>
            </a:extLst>
          </p:cNvPr>
          <p:cNvSpPr/>
          <p:nvPr/>
        </p:nvSpPr>
        <p:spPr>
          <a:xfrm>
            <a:off x="8629076" y="1435276"/>
            <a:ext cx="3514059" cy="960813"/>
          </a:xfrm>
          <a:prstGeom prst="wedgeRoundRectCallout">
            <a:avLst>
              <a:gd name="adj1" fmla="val -56681"/>
              <a:gd name="adj2" fmla="val 12403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耐圧の違いで何種類かあるので</a:t>
            </a:r>
            <a:endParaRPr kumimoji="1" lang="en-US" altLang="ja-JP" dirty="0"/>
          </a:p>
          <a:p>
            <a:pPr algn="ctr"/>
            <a:r>
              <a:rPr kumimoji="1" lang="ja-JP" altLang="en-US" dirty="0"/>
              <a:t>指定されたものを選択する</a:t>
            </a:r>
            <a:endParaRPr kumimoji="1" lang="en-US" altLang="ja-JP" dirty="0"/>
          </a:p>
        </p:txBody>
      </p:sp>
      <p:sp>
        <p:nvSpPr>
          <p:cNvPr id="13" name="楕円 12">
            <a:extLst>
              <a:ext uri="{FF2B5EF4-FFF2-40B4-BE49-F238E27FC236}">
                <a16:creationId xmlns:a16="http://schemas.microsoft.com/office/drawing/2014/main" id="{B1114E51-A585-4A96-16D2-E07A34F59D54}"/>
              </a:ext>
            </a:extLst>
          </p:cNvPr>
          <p:cNvSpPr/>
          <p:nvPr/>
        </p:nvSpPr>
        <p:spPr>
          <a:xfrm>
            <a:off x="6785334" y="2999562"/>
            <a:ext cx="1628716" cy="39637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吹き出し: 角を丸めた四角形 14">
            <a:extLst>
              <a:ext uri="{FF2B5EF4-FFF2-40B4-BE49-F238E27FC236}">
                <a16:creationId xmlns:a16="http://schemas.microsoft.com/office/drawing/2014/main" id="{D66F99BE-AD19-59EE-63F6-394868C5B1B2}"/>
              </a:ext>
            </a:extLst>
          </p:cNvPr>
          <p:cNvSpPr/>
          <p:nvPr/>
        </p:nvSpPr>
        <p:spPr>
          <a:xfrm>
            <a:off x="8629076" y="1435276"/>
            <a:ext cx="3514059" cy="960813"/>
          </a:xfrm>
          <a:prstGeom prst="wedgeRoundRectCallout">
            <a:avLst>
              <a:gd name="adj1" fmla="val -77230"/>
              <a:gd name="adj2" fmla="val -7202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耐圧の違いで何種類かあるので</a:t>
            </a:r>
            <a:endParaRPr kumimoji="1" lang="en-US" altLang="ja-JP" dirty="0"/>
          </a:p>
          <a:p>
            <a:pPr algn="ctr"/>
            <a:r>
              <a:rPr kumimoji="1" lang="ja-JP" altLang="en-US" dirty="0"/>
              <a:t>指定されたものを選択する</a:t>
            </a:r>
            <a:endParaRPr kumimoji="1" lang="en-US" altLang="ja-JP" dirty="0"/>
          </a:p>
        </p:txBody>
      </p:sp>
    </p:spTree>
    <p:extLst>
      <p:ext uri="{BB962C8B-B14F-4D97-AF65-F5344CB8AC3E}">
        <p14:creationId xmlns:p14="http://schemas.microsoft.com/office/powerpoint/2010/main" val="28944174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FB91D9-9944-FBD6-AA7A-DFC86999C5C2}"/>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の起動画面</a:t>
            </a:r>
            <a:r>
              <a:rPr kumimoji="1" lang="en-US" altLang="ja-JP" dirty="0"/>
              <a:t>(</a:t>
            </a:r>
            <a:r>
              <a:rPr kumimoji="1" lang="ja-JP" altLang="en-US" dirty="0"/>
              <a:t>この画面以外はインストールに失敗しています</a:t>
            </a:r>
            <a:r>
              <a:rPr kumimoji="1" lang="en-US" altLang="ja-JP" dirty="0"/>
              <a:t>)</a:t>
            </a:r>
            <a:endParaRPr kumimoji="1" lang="ja-JP" altLang="en-US" dirty="0"/>
          </a:p>
        </p:txBody>
      </p:sp>
      <p:sp>
        <p:nvSpPr>
          <p:cNvPr id="3" name="日付プレースホルダー 2">
            <a:extLst>
              <a:ext uri="{FF2B5EF4-FFF2-40B4-BE49-F238E27FC236}">
                <a16:creationId xmlns:a16="http://schemas.microsoft.com/office/drawing/2014/main" id="{CAE78156-A1F4-789B-DAB7-108A5C54E15F}"/>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72B8B80-206B-37CC-837C-F8CB24AD61FF}"/>
              </a:ext>
            </a:extLst>
          </p:cNvPr>
          <p:cNvSpPr>
            <a:spLocks noGrp="1"/>
          </p:cNvSpPr>
          <p:nvPr>
            <p:ph type="sldNum" sz="quarter" idx="12"/>
          </p:nvPr>
        </p:nvSpPr>
        <p:spPr/>
        <p:txBody>
          <a:bodyPr/>
          <a:lstStyle/>
          <a:p>
            <a:pPr rtl="0"/>
            <a:fld id="{9860EDB8-5305-433F-BE41-D7A86D811DB3}" type="slidenum">
              <a:rPr lang="en-US" altLang="ja-JP" noProof="0" smtClean="0"/>
              <a:pPr rtl="0"/>
              <a:t>44</a:t>
            </a:fld>
            <a:endParaRPr lang="ja-JP" altLang="en-US" noProof="0"/>
          </a:p>
        </p:txBody>
      </p:sp>
      <p:pic>
        <p:nvPicPr>
          <p:cNvPr id="7" name="コンテンツ プレースホルダー 6">
            <a:extLst>
              <a:ext uri="{FF2B5EF4-FFF2-40B4-BE49-F238E27FC236}">
                <a16:creationId xmlns:a16="http://schemas.microsoft.com/office/drawing/2014/main" id="{62E948BF-F598-CFA3-1B0B-135F56D79EC3}"/>
              </a:ext>
            </a:extLst>
          </p:cNvPr>
          <p:cNvPicPr>
            <a:picLocks noGrp="1" noChangeAspect="1"/>
          </p:cNvPicPr>
          <p:nvPr>
            <p:ph sz="quarter" idx="13"/>
          </p:nvPr>
        </p:nvPicPr>
        <p:blipFill>
          <a:blip r:embed="rId2"/>
          <a:stretch>
            <a:fillRect/>
          </a:stretch>
        </p:blipFill>
        <p:spPr>
          <a:xfrm>
            <a:off x="1735096" y="1463675"/>
            <a:ext cx="8629733" cy="4600575"/>
          </a:xfrm>
          <a:prstGeom prst="rect">
            <a:avLst/>
          </a:prstGeom>
        </p:spPr>
      </p:pic>
    </p:spTree>
    <p:extLst>
      <p:ext uri="{BB962C8B-B14F-4D97-AF65-F5344CB8AC3E}">
        <p14:creationId xmlns:p14="http://schemas.microsoft.com/office/powerpoint/2010/main" val="5086814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コンテンツ プレースホルダー 10">
            <a:extLst>
              <a:ext uri="{FF2B5EF4-FFF2-40B4-BE49-F238E27FC236}">
                <a16:creationId xmlns:a16="http://schemas.microsoft.com/office/drawing/2014/main" id="{0DC2602C-3650-0DF3-1BA9-8C4B45209B8C}"/>
              </a:ext>
            </a:extLst>
          </p:cNvPr>
          <p:cNvPicPr>
            <a:picLocks noGrp="1" noChangeAspect="1"/>
          </p:cNvPicPr>
          <p:nvPr>
            <p:ph sz="quarter" idx="13"/>
          </p:nvPr>
        </p:nvPicPr>
        <p:blipFill>
          <a:blip r:embed="rId2"/>
          <a:stretch>
            <a:fillRect/>
          </a:stretch>
        </p:blipFill>
        <p:spPr>
          <a:xfrm>
            <a:off x="1562223" y="1312266"/>
            <a:ext cx="9870360" cy="5184639"/>
          </a:xfrm>
          <a:prstGeom prst="rect">
            <a:avLst/>
          </a:prstGeom>
        </p:spPr>
      </p:pic>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使い方：新規回路図と</a:t>
            </a:r>
            <a:r>
              <a:rPr kumimoji="1" lang="en-US" altLang="ja-JP" dirty="0"/>
              <a:t>MODULE</a:t>
            </a:r>
            <a:r>
              <a:rPr kumimoji="1" lang="ja-JP" altLang="en-US" dirty="0"/>
              <a:t>ウィンドウ</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45</a:t>
            </a:fld>
            <a:endParaRPr lang="ja-JP" altLang="en-US" noProof="0"/>
          </a:p>
        </p:txBody>
      </p:sp>
      <p:sp>
        <p:nvSpPr>
          <p:cNvPr id="9" name="楕円 8">
            <a:extLst>
              <a:ext uri="{FF2B5EF4-FFF2-40B4-BE49-F238E27FC236}">
                <a16:creationId xmlns:a16="http://schemas.microsoft.com/office/drawing/2014/main" id="{EDD010F0-B493-9349-1649-3BBEF49228C6}"/>
              </a:ext>
            </a:extLst>
          </p:cNvPr>
          <p:cNvSpPr/>
          <p:nvPr/>
        </p:nvSpPr>
        <p:spPr>
          <a:xfrm>
            <a:off x="2499359" y="1627840"/>
            <a:ext cx="677793"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1C65D5E-A666-C29D-581C-49DF3E79DFD7}"/>
              </a:ext>
            </a:extLst>
          </p:cNvPr>
          <p:cNvSpPr/>
          <p:nvPr/>
        </p:nvSpPr>
        <p:spPr>
          <a:xfrm>
            <a:off x="3685032" y="1475440"/>
            <a:ext cx="487680" cy="4572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吹き出し: 角を丸めた四角形 4">
            <a:extLst>
              <a:ext uri="{FF2B5EF4-FFF2-40B4-BE49-F238E27FC236}">
                <a16:creationId xmlns:a16="http://schemas.microsoft.com/office/drawing/2014/main" id="{AFAA354C-6C03-4F4F-6B36-128FFC495D03}"/>
              </a:ext>
            </a:extLst>
          </p:cNvPr>
          <p:cNvSpPr/>
          <p:nvPr/>
        </p:nvSpPr>
        <p:spPr>
          <a:xfrm>
            <a:off x="219616" y="2875775"/>
            <a:ext cx="3188955" cy="960813"/>
          </a:xfrm>
          <a:prstGeom prst="wedgeRoundRectCallout">
            <a:avLst>
              <a:gd name="adj1" fmla="val 38527"/>
              <a:gd name="adj2" fmla="val -15826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a:t>
            </a:r>
            <a:r>
              <a:rPr kumimoji="1" lang="ja-JP" altLang="en-US" dirty="0"/>
              <a:t>タブをクリックすると</a:t>
            </a:r>
            <a:endParaRPr kumimoji="1" lang="en-US" altLang="ja-JP" dirty="0"/>
          </a:p>
          <a:p>
            <a:pPr algn="ctr"/>
            <a:r>
              <a:rPr kumimoji="1" lang="en-US" altLang="ja-JP" dirty="0" err="1"/>
              <a:t>untitled.sch</a:t>
            </a:r>
            <a:r>
              <a:rPr kumimoji="1" lang="ja-JP" altLang="en-US" dirty="0"/>
              <a:t>という</a:t>
            </a:r>
            <a:endParaRPr kumimoji="1" lang="en-US" altLang="ja-JP" dirty="0"/>
          </a:p>
          <a:p>
            <a:pPr algn="ctr"/>
            <a:r>
              <a:rPr kumimoji="1" lang="ja-JP" altLang="en-US" dirty="0"/>
              <a:t>新規ファイルが新規</a:t>
            </a:r>
            <a:endParaRPr kumimoji="1" lang="en-US" altLang="ja-JP" dirty="0"/>
          </a:p>
        </p:txBody>
      </p:sp>
      <p:sp>
        <p:nvSpPr>
          <p:cNvPr id="6" name="吹き出し: 角を丸めた四角形 5">
            <a:extLst>
              <a:ext uri="{FF2B5EF4-FFF2-40B4-BE49-F238E27FC236}">
                <a16:creationId xmlns:a16="http://schemas.microsoft.com/office/drawing/2014/main" id="{321B7E91-D6CF-47CC-935F-5DCCEE8C32F8}"/>
              </a:ext>
            </a:extLst>
          </p:cNvPr>
          <p:cNvSpPr/>
          <p:nvPr/>
        </p:nvSpPr>
        <p:spPr>
          <a:xfrm>
            <a:off x="5193044" y="2335673"/>
            <a:ext cx="3188955" cy="960813"/>
          </a:xfrm>
          <a:prstGeom prst="wedgeRoundRectCallout">
            <a:avLst>
              <a:gd name="adj1" fmla="val -89591"/>
              <a:gd name="adj2" fmla="val -11654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AND</a:t>
            </a:r>
            <a:r>
              <a:rPr kumimoji="1" lang="ja-JP" altLang="en-US" dirty="0"/>
              <a:t>記号をクリックすると</a:t>
            </a:r>
            <a:endParaRPr kumimoji="1" lang="en-US" altLang="ja-JP" dirty="0"/>
          </a:p>
          <a:p>
            <a:pPr algn="ctr"/>
            <a:r>
              <a:rPr kumimoji="1" lang="en-US" altLang="ja-JP" dirty="0"/>
              <a:t>MODLUE</a:t>
            </a:r>
            <a:r>
              <a:rPr kumimoji="1" lang="ja-JP" altLang="en-US" dirty="0"/>
              <a:t>ウィンドウが開く</a:t>
            </a:r>
            <a:endParaRPr kumimoji="1" lang="en-US" altLang="ja-JP" dirty="0"/>
          </a:p>
        </p:txBody>
      </p:sp>
    </p:spTree>
    <p:extLst>
      <p:ext uri="{BB962C8B-B14F-4D97-AF65-F5344CB8AC3E}">
        <p14:creationId xmlns:p14="http://schemas.microsoft.com/office/powerpoint/2010/main" val="14322006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CE5BAD-CF48-3820-865F-9361CAAFF016}"/>
              </a:ext>
            </a:extLst>
          </p:cNvPr>
          <p:cNvSpPr>
            <a:spLocks noGrp="1"/>
          </p:cNvSpPr>
          <p:nvPr>
            <p:ph type="title"/>
          </p:nvPr>
        </p:nvSpPr>
        <p:spPr/>
        <p:txBody>
          <a:bodyPr/>
          <a:lstStyle/>
          <a:p>
            <a:r>
              <a:rPr kumimoji="1" lang="ja-JP" altLang="en-US" dirty="0"/>
              <a:t>ファイルを保存する</a:t>
            </a:r>
          </a:p>
        </p:txBody>
      </p:sp>
      <p:sp>
        <p:nvSpPr>
          <p:cNvPr id="3" name="日付プレースホルダー 2">
            <a:extLst>
              <a:ext uri="{FF2B5EF4-FFF2-40B4-BE49-F238E27FC236}">
                <a16:creationId xmlns:a16="http://schemas.microsoft.com/office/drawing/2014/main" id="{CACDBB09-4536-9B7A-FA56-73C3C01A5031}"/>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7520B94-64A9-711B-8108-314448446CDE}"/>
              </a:ext>
            </a:extLst>
          </p:cNvPr>
          <p:cNvSpPr>
            <a:spLocks noGrp="1"/>
          </p:cNvSpPr>
          <p:nvPr>
            <p:ph type="sldNum" sz="quarter" idx="12"/>
          </p:nvPr>
        </p:nvSpPr>
        <p:spPr/>
        <p:txBody>
          <a:bodyPr/>
          <a:lstStyle/>
          <a:p>
            <a:pPr rtl="0"/>
            <a:fld id="{9860EDB8-5305-433F-BE41-D7A86D811DB3}" type="slidenum">
              <a:rPr lang="en-US" altLang="ja-JP" noProof="0" smtClean="0"/>
              <a:pPr rtl="0"/>
              <a:t>46</a:t>
            </a:fld>
            <a:endParaRPr lang="ja-JP" altLang="en-US" noProof="0"/>
          </a:p>
        </p:txBody>
      </p:sp>
      <p:sp>
        <p:nvSpPr>
          <p:cNvPr id="5" name="コンテンツ プレースホルダー 4">
            <a:extLst>
              <a:ext uri="{FF2B5EF4-FFF2-40B4-BE49-F238E27FC236}">
                <a16:creationId xmlns:a16="http://schemas.microsoft.com/office/drawing/2014/main" id="{D046BBE3-1631-03FD-A588-7BAE0E9517EE}"/>
              </a:ext>
            </a:extLst>
          </p:cNvPr>
          <p:cNvSpPr>
            <a:spLocks noGrp="1"/>
          </p:cNvSpPr>
          <p:nvPr>
            <p:ph sz="quarter" idx="13"/>
          </p:nvPr>
        </p:nvSpPr>
        <p:spPr/>
        <p:txBody>
          <a:bodyPr/>
          <a:lstStyle/>
          <a:p>
            <a:pPr marL="342900" indent="-342900">
              <a:buFont typeface="+mj-lt"/>
              <a:buAutoNum type="arabicPeriod"/>
            </a:pPr>
            <a:r>
              <a:rPr lang="en-US" altLang="ja-JP" dirty="0"/>
              <a:t>File -&gt; Save As </a:t>
            </a:r>
            <a:r>
              <a:rPr lang="ja-JP" altLang="en-US" dirty="0"/>
              <a:t>を選択する</a:t>
            </a:r>
            <a:endParaRPr lang="en-US" altLang="ja-JP" dirty="0"/>
          </a:p>
          <a:p>
            <a:pPr marL="626364" lvl="1" indent="-342900">
              <a:buFont typeface="+mj-lt"/>
              <a:buAutoNum type="arabicPeriod"/>
            </a:pPr>
            <a:r>
              <a:rPr lang="en-US" altLang="ja-JP" dirty="0"/>
              <a:t>Save</a:t>
            </a:r>
            <a:r>
              <a:rPr lang="ja-JP" altLang="en-US" dirty="0"/>
              <a:t> </a:t>
            </a:r>
            <a:r>
              <a:rPr lang="en-US" altLang="ja-JP" dirty="0"/>
              <a:t>File</a:t>
            </a:r>
            <a:r>
              <a:rPr lang="ja-JP" altLang="en-US" dirty="0"/>
              <a:t>ダイアログが表示される</a:t>
            </a:r>
            <a:endParaRPr lang="en-US" altLang="ja-JP" dirty="0"/>
          </a:p>
          <a:p>
            <a:pPr marL="342900" indent="-342900">
              <a:buFont typeface="+mj-lt"/>
              <a:buAutoNum type="arabicPeriod"/>
            </a:pPr>
            <a:r>
              <a:rPr lang="ja-JP" altLang="en-US" dirty="0"/>
              <a:t>「</a:t>
            </a:r>
            <a:r>
              <a:rPr lang="en-US" altLang="ja-JP" dirty="0"/>
              <a:t>/home/</a:t>
            </a:r>
            <a:r>
              <a:rPr lang="en-US" altLang="ja-JP" dirty="0" err="1"/>
              <a:t>ishi</a:t>
            </a:r>
            <a:r>
              <a:rPr lang="en-US" altLang="ja-JP" dirty="0"/>
              <a:t>-kai/inverter</a:t>
            </a:r>
            <a:r>
              <a:rPr lang="ja-JP" altLang="en-US" dirty="0"/>
              <a:t>」を選択する</a:t>
            </a:r>
            <a:endParaRPr lang="en-US" altLang="ja-JP" dirty="0"/>
          </a:p>
          <a:p>
            <a:pPr marL="342900" indent="-342900">
              <a:buFont typeface="+mj-lt"/>
              <a:buAutoNum type="arabicPeriod"/>
            </a:pPr>
            <a:r>
              <a:rPr lang="ja-JP" altLang="en-US" dirty="0"/>
              <a:t>「</a:t>
            </a:r>
            <a:r>
              <a:rPr lang="en-US" altLang="ja-JP" dirty="0"/>
              <a:t>File:</a:t>
            </a:r>
            <a:r>
              <a:rPr lang="ja-JP" altLang="en-US" dirty="0"/>
              <a:t>」に「</a:t>
            </a:r>
            <a:r>
              <a:rPr lang="en-US" altLang="ja-JP" dirty="0" err="1"/>
              <a:t>i</a:t>
            </a:r>
            <a:r>
              <a:rPr kumimoji="1" lang="en-US" altLang="ja-JP" dirty="0" err="1"/>
              <a:t>nv_dut</a:t>
            </a:r>
            <a:r>
              <a:rPr kumimoji="1" lang="en-US" altLang="ja-JP" dirty="0"/>
              <a:t>_[</a:t>
            </a:r>
            <a:r>
              <a:rPr kumimoji="1" lang="ja-JP" altLang="en-US" dirty="0"/>
              <a:t>配布された</a:t>
            </a:r>
            <a:r>
              <a:rPr kumimoji="1" lang="en-US" altLang="ja-JP" dirty="0"/>
              <a:t>DUT</a:t>
            </a:r>
            <a:r>
              <a:rPr kumimoji="1" lang="ja-JP" altLang="en-US" dirty="0"/>
              <a:t>番号</a:t>
            </a:r>
            <a:r>
              <a:rPr kumimoji="1" lang="en-US" altLang="ja-JP" dirty="0"/>
              <a:t>].sch</a:t>
            </a:r>
            <a:r>
              <a:rPr kumimoji="1" lang="ja-JP" altLang="en-US" dirty="0"/>
              <a:t>」を入力する</a:t>
            </a:r>
            <a:endParaRPr kumimoji="1" lang="en-US" altLang="ja-JP" dirty="0"/>
          </a:p>
          <a:p>
            <a:pPr marL="342900" indent="-342900">
              <a:buFont typeface="+mj-lt"/>
              <a:buAutoNum type="arabicPeriod"/>
            </a:pPr>
            <a:r>
              <a:rPr lang="ja-JP" altLang="en-US" dirty="0"/>
              <a:t>「</a:t>
            </a:r>
            <a:r>
              <a:rPr lang="en-US" altLang="ja-JP" dirty="0"/>
              <a:t>OK</a:t>
            </a:r>
            <a:r>
              <a:rPr lang="ja-JP" altLang="en-US" dirty="0"/>
              <a:t>」をクリックする</a:t>
            </a:r>
            <a:endParaRPr kumimoji="1" lang="ja-JP" altLang="en-US" dirty="0"/>
          </a:p>
        </p:txBody>
      </p:sp>
      <p:pic>
        <p:nvPicPr>
          <p:cNvPr id="7" name="図 6">
            <a:extLst>
              <a:ext uri="{FF2B5EF4-FFF2-40B4-BE49-F238E27FC236}">
                <a16:creationId xmlns:a16="http://schemas.microsoft.com/office/drawing/2014/main" id="{8EF6B563-9116-D690-0EC0-E32F9EEF789B}"/>
              </a:ext>
            </a:extLst>
          </p:cNvPr>
          <p:cNvPicPr>
            <a:picLocks noChangeAspect="1"/>
          </p:cNvPicPr>
          <p:nvPr/>
        </p:nvPicPr>
        <p:blipFill>
          <a:blip r:embed="rId2"/>
          <a:stretch>
            <a:fillRect/>
          </a:stretch>
        </p:blipFill>
        <p:spPr>
          <a:xfrm>
            <a:off x="8082705" y="988393"/>
            <a:ext cx="3903564" cy="4877337"/>
          </a:xfrm>
          <a:prstGeom prst="rect">
            <a:avLst/>
          </a:prstGeom>
        </p:spPr>
      </p:pic>
      <p:pic>
        <p:nvPicPr>
          <p:cNvPr id="9" name="図 8">
            <a:extLst>
              <a:ext uri="{FF2B5EF4-FFF2-40B4-BE49-F238E27FC236}">
                <a16:creationId xmlns:a16="http://schemas.microsoft.com/office/drawing/2014/main" id="{65540193-3FF2-B552-8EF9-120CDEBA4D07}"/>
              </a:ext>
            </a:extLst>
          </p:cNvPr>
          <p:cNvPicPr>
            <a:picLocks noChangeAspect="1"/>
          </p:cNvPicPr>
          <p:nvPr/>
        </p:nvPicPr>
        <p:blipFill>
          <a:blip r:embed="rId3"/>
          <a:stretch>
            <a:fillRect/>
          </a:stretch>
        </p:blipFill>
        <p:spPr>
          <a:xfrm>
            <a:off x="1261048" y="3913362"/>
            <a:ext cx="5545054" cy="2626073"/>
          </a:xfrm>
          <a:prstGeom prst="rect">
            <a:avLst/>
          </a:prstGeom>
        </p:spPr>
      </p:pic>
      <p:sp>
        <p:nvSpPr>
          <p:cNvPr id="11" name="楕円 10">
            <a:extLst>
              <a:ext uri="{FF2B5EF4-FFF2-40B4-BE49-F238E27FC236}">
                <a16:creationId xmlns:a16="http://schemas.microsoft.com/office/drawing/2014/main" id="{57EE8A98-B41D-A1AD-D8B7-96CA6D78934A}"/>
              </a:ext>
            </a:extLst>
          </p:cNvPr>
          <p:cNvSpPr/>
          <p:nvPr/>
        </p:nvSpPr>
        <p:spPr>
          <a:xfrm>
            <a:off x="2519506" y="4286490"/>
            <a:ext cx="1589408" cy="26588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3C4E213B-E132-73AD-CF8B-A69F2D6560D8}"/>
              </a:ext>
            </a:extLst>
          </p:cNvPr>
          <p:cNvSpPr/>
          <p:nvPr/>
        </p:nvSpPr>
        <p:spPr>
          <a:xfrm>
            <a:off x="4245616" y="6294447"/>
            <a:ext cx="1589408" cy="26588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64CFD4A3-5E8F-DE73-990F-E0640637955E}"/>
              </a:ext>
            </a:extLst>
          </p:cNvPr>
          <p:cNvSpPr/>
          <p:nvPr/>
        </p:nvSpPr>
        <p:spPr>
          <a:xfrm>
            <a:off x="6195420" y="6294447"/>
            <a:ext cx="762654" cy="26588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12E5575E-92E1-AB3C-A3F5-8C218D2A8239}"/>
              </a:ext>
            </a:extLst>
          </p:cNvPr>
          <p:cNvSpPr/>
          <p:nvPr/>
        </p:nvSpPr>
        <p:spPr>
          <a:xfrm>
            <a:off x="7992170" y="4233449"/>
            <a:ext cx="762654" cy="26588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97839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gf180mcuD/</a:t>
            </a:r>
            <a:r>
              <a:rPr kumimoji="1" lang="en-US" altLang="ja-JP" dirty="0" err="1"/>
              <a:t>libs.tech</a:t>
            </a:r>
            <a:r>
              <a:rPr kumimoji="1" lang="en-US" altLang="ja-JP" dirty="0"/>
              <a:t>/</a:t>
            </a:r>
            <a:r>
              <a:rPr kumimoji="1" lang="ja-JP" altLang="en-US" dirty="0"/>
              <a:t>の</a:t>
            </a:r>
            <a:r>
              <a:rPr kumimoji="1" lang="en-US" altLang="ja-JP" dirty="0"/>
              <a:t>MODULE</a:t>
            </a:r>
            <a:r>
              <a:rPr kumimoji="1" lang="ja-JP" altLang="en-US" dirty="0"/>
              <a:t>の選択：</a:t>
            </a:r>
            <a:r>
              <a:rPr kumimoji="1" lang="en-US" altLang="ja-JP" dirty="0"/>
              <a:t>P-FET</a:t>
            </a:r>
            <a:endParaRPr kumimoji="1" lang="ja-JP" altLang="en-US" dirty="0"/>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47</a:t>
            </a:fld>
            <a:endParaRPr lang="ja-JP" altLang="en-US" noProof="0"/>
          </a:p>
        </p:txBody>
      </p:sp>
      <p:pic>
        <p:nvPicPr>
          <p:cNvPr id="6" name="図 5">
            <a:extLst>
              <a:ext uri="{FF2B5EF4-FFF2-40B4-BE49-F238E27FC236}">
                <a16:creationId xmlns:a16="http://schemas.microsoft.com/office/drawing/2014/main" id="{D77B2311-DD65-6D2F-8C1F-37922E9D3F5E}"/>
              </a:ext>
            </a:extLst>
          </p:cNvPr>
          <p:cNvPicPr>
            <a:picLocks noChangeAspect="1"/>
          </p:cNvPicPr>
          <p:nvPr/>
        </p:nvPicPr>
        <p:blipFill>
          <a:blip r:embed="rId2"/>
          <a:stretch>
            <a:fillRect/>
          </a:stretch>
        </p:blipFill>
        <p:spPr>
          <a:xfrm>
            <a:off x="396553" y="1184483"/>
            <a:ext cx="6990004" cy="3315065"/>
          </a:xfrm>
          <a:prstGeom prst="rect">
            <a:avLst/>
          </a:prstGeom>
        </p:spPr>
      </p:pic>
      <p:sp>
        <p:nvSpPr>
          <p:cNvPr id="11" name="楕円 10">
            <a:extLst>
              <a:ext uri="{FF2B5EF4-FFF2-40B4-BE49-F238E27FC236}">
                <a16:creationId xmlns:a16="http://schemas.microsoft.com/office/drawing/2014/main" id="{C686B88C-7E7C-0717-D6CB-7B175D8F5378}"/>
              </a:ext>
            </a:extLst>
          </p:cNvPr>
          <p:cNvSpPr/>
          <p:nvPr/>
        </p:nvSpPr>
        <p:spPr>
          <a:xfrm>
            <a:off x="590156" y="1967132"/>
            <a:ext cx="3072387"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81738486-1864-3128-2741-20BB5D4FB65C}"/>
              </a:ext>
            </a:extLst>
          </p:cNvPr>
          <p:cNvSpPr/>
          <p:nvPr/>
        </p:nvSpPr>
        <p:spPr>
          <a:xfrm>
            <a:off x="3771886" y="1858423"/>
            <a:ext cx="824537"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DC7E22C0-87B7-F896-5D2E-D4DFB2F952A3}"/>
              </a:ext>
            </a:extLst>
          </p:cNvPr>
          <p:cNvPicPr>
            <a:picLocks noChangeAspect="1"/>
          </p:cNvPicPr>
          <p:nvPr/>
        </p:nvPicPr>
        <p:blipFill>
          <a:blip r:embed="rId3"/>
          <a:stretch>
            <a:fillRect/>
          </a:stretch>
        </p:blipFill>
        <p:spPr>
          <a:xfrm>
            <a:off x="4302248" y="3125027"/>
            <a:ext cx="6990004" cy="3302364"/>
          </a:xfrm>
          <a:prstGeom prst="rect">
            <a:avLst/>
          </a:prstGeom>
        </p:spPr>
      </p:pic>
      <p:sp>
        <p:nvSpPr>
          <p:cNvPr id="15" name="楕円 14">
            <a:extLst>
              <a:ext uri="{FF2B5EF4-FFF2-40B4-BE49-F238E27FC236}">
                <a16:creationId xmlns:a16="http://schemas.microsoft.com/office/drawing/2014/main" id="{142C0E3A-F6BB-2500-84C2-9A264CEE10BD}"/>
              </a:ext>
            </a:extLst>
          </p:cNvPr>
          <p:cNvSpPr/>
          <p:nvPr/>
        </p:nvSpPr>
        <p:spPr>
          <a:xfrm>
            <a:off x="10510826" y="6131837"/>
            <a:ext cx="824537" cy="362712"/>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DDDB1E7-C3FB-9A6B-30FC-0973CB2D3308}"/>
              </a:ext>
            </a:extLst>
          </p:cNvPr>
          <p:cNvSpPr/>
          <p:nvPr/>
        </p:nvSpPr>
        <p:spPr>
          <a:xfrm>
            <a:off x="7386557" y="3319691"/>
            <a:ext cx="1753519" cy="107178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吹き出し: 角を丸めた四角形 15">
            <a:extLst>
              <a:ext uri="{FF2B5EF4-FFF2-40B4-BE49-F238E27FC236}">
                <a16:creationId xmlns:a16="http://schemas.microsoft.com/office/drawing/2014/main" id="{CA46111F-FF1D-F183-3235-8AEDFBC1A52C}"/>
              </a:ext>
            </a:extLst>
          </p:cNvPr>
          <p:cNvSpPr/>
          <p:nvPr/>
        </p:nvSpPr>
        <p:spPr>
          <a:xfrm>
            <a:off x="8150292" y="1876629"/>
            <a:ext cx="3514059" cy="960813"/>
          </a:xfrm>
          <a:prstGeom prst="wedgeRoundRectCallout">
            <a:avLst>
              <a:gd name="adj1" fmla="val -46518"/>
              <a:gd name="adj2" fmla="val 10279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耐圧の違いで何種類かあるので</a:t>
            </a:r>
            <a:endParaRPr kumimoji="1" lang="en-US" altLang="ja-JP" dirty="0"/>
          </a:p>
          <a:p>
            <a:pPr algn="ctr"/>
            <a:r>
              <a:rPr kumimoji="1" lang="ja-JP" altLang="en-US" dirty="0"/>
              <a:t>指定されたものを選択する</a:t>
            </a:r>
            <a:endParaRPr kumimoji="1" lang="en-US" altLang="ja-JP" dirty="0"/>
          </a:p>
        </p:txBody>
      </p:sp>
    </p:spTree>
    <p:extLst>
      <p:ext uri="{BB962C8B-B14F-4D97-AF65-F5344CB8AC3E}">
        <p14:creationId xmlns:p14="http://schemas.microsoft.com/office/powerpoint/2010/main" val="25636430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normAutofit/>
          </a:bodyPr>
          <a:lstStyle/>
          <a:p>
            <a:r>
              <a:rPr kumimoji="1" lang="en-US" altLang="ja-JP" dirty="0" err="1"/>
              <a:t>xschem</a:t>
            </a:r>
            <a:r>
              <a:rPr kumimoji="1" lang="ja-JP" altLang="en-US" dirty="0"/>
              <a:t>使い方：</a:t>
            </a:r>
            <a:r>
              <a:rPr kumimoji="1" lang="en-US" altLang="ja-JP" dirty="0"/>
              <a:t> MODULE</a:t>
            </a:r>
            <a:r>
              <a:rPr kumimoji="1" lang="ja-JP" altLang="en-US" dirty="0"/>
              <a:t>の配置とプロパティ</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48</a:t>
            </a:fld>
            <a:endParaRPr lang="ja-JP" altLang="en-US" noProof="0"/>
          </a:p>
        </p:txBody>
      </p:sp>
      <p:pic>
        <p:nvPicPr>
          <p:cNvPr id="6" name="図 5">
            <a:extLst>
              <a:ext uri="{FF2B5EF4-FFF2-40B4-BE49-F238E27FC236}">
                <a16:creationId xmlns:a16="http://schemas.microsoft.com/office/drawing/2014/main" id="{D86ACADF-146D-DD20-2948-0BA83DDFA217}"/>
              </a:ext>
            </a:extLst>
          </p:cNvPr>
          <p:cNvPicPr>
            <a:picLocks noChangeAspect="1"/>
          </p:cNvPicPr>
          <p:nvPr/>
        </p:nvPicPr>
        <p:blipFill>
          <a:blip r:embed="rId2"/>
          <a:stretch>
            <a:fillRect/>
          </a:stretch>
        </p:blipFill>
        <p:spPr>
          <a:xfrm>
            <a:off x="0" y="1153894"/>
            <a:ext cx="6625641" cy="3550748"/>
          </a:xfrm>
          <a:prstGeom prst="rect">
            <a:avLst/>
          </a:prstGeom>
        </p:spPr>
      </p:pic>
      <p:pic>
        <p:nvPicPr>
          <p:cNvPr id="8" name="図 7">
            <a:extLst>
              <a:ext uri="{FF2B5EF4-FFF2-40B4-BE49-F238E27FC236}">
                <a16:creationId xmlns:a16="http://schemas.microsoft.com/office/drawing/2014/main" id="{22FE1794-D501-CAF9-7C67-F3B1EA60912A}"/>
              </a:ext>
            </a:extLst>
          </p:cNvPr>
          <p:cNvPicPr>
            <a:picLocks noChangeAspect="1"/>
          </p:cNvPicPr>
          <p:nvPr/>
        </p:nvPicPr>
        <p:blipFill>
          <a:blip r:embed="rId3"/>
          <a:stretch>
            <a:fillRect/>
          </a:stretch>
        </p:blipFill>
        <p:spPr>
          <a:xfrm>
            <a:off x="3088564" y="2201911"/>
            <a:ext cx="6873482" cy="3669087"/>
          </a:xfrm>
          <a:prstGeom prst="rect">
            <a:avLst/>
          </a:prstGeom>
        </p:spPr>
      </p:pic>
      <p:pic>
        <p:nvPicPr>
          <p:cNvPr id="11" name="図 10">
            <a:extLst>
              <a:ext uri="{FF2B5EF4-FFF2-40B4-BE49-F238E27FC236}">
                <a16:creationId xmlns:a16="http://schemas.microsoft.com/office/drawing/2014/main" id="{F7804CF3-D757-B374-4A25-602E03004906}"/>
              </a:ext>
            </a:extLst>
          </p:cNvPr>
          <p:cNvPicPr>
            <a:picLocks noChangeAspect="1"/>
          </p:cNvPicPr>
          <p:nvPr/>
        </p:nvPicPr>
        <p:blipFill>
          <a:blip r:embed="rId4"/>
          <a:stretch>
            <a:fillRect/>
          </a:stretch>
        </p:blipFill>
        <p:spPr>
          <a:xfrm>
            <a:off x="5996580" y="3252538"/>
            <a:ext cx="6195420" cy="3311011"/>
          </a:xfrm>
          <a:prstGeom prst="rect">
            <a:avLst/>
          </a:prstGeom>
        </p:spPr>
      </p:pic>
      <p:sp>
        <p:nvSpPr>
          <p:cNvPr id="7" name="吹き出し: 角を丸めた四角形 6">
            <a:extLst>
              <a:ext uri="{FF2B5EF4-FFF2-40B4-BE49-F238E27FC236}">
                <a16:creationId xmlns:a16="http://schemas.microsoft.com/office/drawing/2014/main" id="{474A1272-224B-BD7D-3B02-78CCF1E5E050}"/>
              </a:ext>
            </a:extLst>
          </p:cNvPr>
          <p:cNvSpPr/>
          <p:nvPr/>
        </p:nvSpPr>
        <p:spPr>
          <a:xfrm>
            <a:off x="8268026" y="2929268"/>
            <a:ext cx="3514059" cy="960813"/>
          </a:xfrm>
          <a:prstGeom prst="wedgeRoundRectCallout">
            <a:avLst>
              <a:gd name="adj1" fmla="val -47411"/>
              <a:gd name="adj2" fmla="val 11627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指定された</a:t>
            </a:r>
            <a:r>
              <a:rPr kumimoji="1" lang="en-US" altLang="ja-JP" dirty="0"/>
              <a:t>L</a:t>
            </a:r>
            <a:r>
              <a:rPr kumimoji="1" lang="ja-JP" altLang="en-US" dirty="0"/>
              <a:t>と</a:t>
            </a:r>
            <a:r>
              <a:rPr kumimoji="1" lang="en-US" altLang="ja-JP" dirty="0"/>
              <a:t>W</a:t>
            </a:r>
            <a:r>
              <a:rPr kumimoji="1" lang="ja-JP" altLang="en-US" dirty="0"/>
              <a:t>に書き換える</a:t>
            </a:r>
            <a:endParaRPr kumimoji="1" lang="en-US" altLang="ja-JP" dirty="0"/>
          </a:p>
        </p:txBody>
      </p:sp>
    </p:spTree>
    <p:extLst>
      <p:ext uri="{BB962C8B-B14F-4D97-AF65-F5344CB8AC3E}">
        <p14:creationId xmlns:p14="http://schemas.microsoft.com/office/powerpoint/2010/main" val="3555397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52A231-62BA-8E05-852B-3A0B1205A42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の選択：</a:t>
            </a:r>
            <a:r>
              <a:rPr lang="en-US" altLang="ja-JP" dirty="0"/>
              <a:t>VDD</a:t>
            </a:r>
            <a:endParaRPr kumimoji="1" lang="ja-JP" altLang="en-US" dirty="0"/>
          </a:p>
        </p:txBody>
      </p:sp>
      <p:sp>
        <p:nvSpPr>
          <p:cNvPr id="3" name="日付プレースホルダー 2">
            <a:extLst>
              <a:ext uri="{FF2B5EF4-FFF2-40B4-BE49-F238E27FC236}">
                <a16:creationId xmlns:a16="http://schemas.microsoft.com/office/drawing/2014/main" id="{7AA6C13C-3A10-E855-B1D8-7AAF6AB5E28C}"/>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084C49D-B5C3-9BC7-2ED5-17A37ADF2C95}"/>
              </a:ext>
            </a:extLst>
          </p:cNvPr>
          <p:cNvSpPr>
            <a:spLocks noGrp="1"/>
          </p:cNvSpPr>
          <p:nvPr>
            <p:ph type="sldNum" sz="quarter" idx="12"/>
          </p:nvPr>
        </p:nvSpPr>
        <p:spPr/>
        <p:txBody>
          <a:bodyPr/>
          <a:lstStyle/>
          <a:p>
            <a:pPr rtl="0"/>
            <a:fld id="{9860EDB8-5305-433F-BE41-D7A86D811DB3}" type="slidenum">
              <a:rPr lang="en-US" altLang="ja-JP" noProof="0" smtClean="0"/>
              <a:pPr rtl="0"/>
              <a:t>49</a:t>
            </a:fld>
            <a:endParaRPr lang="ja-JP" altLang="en-US" noProof="0"/>
          </a:p>
        </p:txBody>
      </p:sp>
      <p:pic>
        <p:nvPicPr>
          <p:cNvPr id="7" name="コンテンツ プレースホルダー 6" descr="グラフィカル ユーザー インターフェイス, テキスト&#10;&#10;自動的に生成された説明">
            <a:extLst>
              <a:ext uri="{FF2B5EF4-FFF2-40B4-BE49-F238E27FC236}">
                <a16:creationId xmlns:a16="http://schemas.microsoft.com/office/drawing/2014/main" id="{990BA6D9-487B-C3F1-4A45-20084AB682C2}"/>
              </a:ext>
            </a:extLst>
          </p:cNvPr>
          <p:cNvPicPr>
            <a:picLocks noGrp="1" noChangeAspect="1"/>
          </p:cNvPicPr>
          <p:nvPr>
            <p:ph sz="quarter" idx="13"/>
          </p:nvPr>
        </p:nvPicPr>
        <p:blipFill rotWithShape="1">
          <a:blip r:embed="rId2"/>
          <a:srcRect l="1880" t="5090" r="55181" b="52998"/>
          <a:stretch/>
        </p:blipFill>
        <p:spPr>
          <a:xfrm>
            <a:off x="474700" y="2036331"/>
            <a:ext cx="5333574" cy="3253815"/>
          </a:xfrm>
        </p:spPr>
      </p:pic>
      <p:pic>
        <p:nvPicPr>
          <p:cNvPr id="11" name="図 10" descr="テキスト&#10;&#10;自動的に生成された説明">
            <a:extLst>
              <a:ext uri="{FF2B5EF4-FFF2-40B4-BE49-F238E27FC236}">
                <a16:creationId xmlns:a16="http://schemas.microsoft.com/office/drawing/2014/main" id="{7D20DB67-4177-FAC0-89F7-30FC012F4464}"/>
              </a:ext>
            </a:extLst>
          </p:cNvPr>
          <p:cNvPicPr>
            <a:picLocks noChangeAspect="1"/>
          </p:cNvPicPr>
          <p:nvPr/>
        </p:nvPicPr>
        <p:blipFill rotWithShape="1">
          <a:blip r:embed="rId3"/>
          <a:srcRect l="1808" t="4889" r="55227" b="53422"/>
          <a:stretch/>
        </p:blipFill>
        <p:spPr>
          <a:xfrm>
            <a:off x="6049772" y="2036331"/>
            <a:ext cx="5365428" cy="3253816"/>
          </a:xfrm>
          <a:prstGeom prst="rect">
            <a:avLst/>
          </a:prstGeom>
        </p:spPr>
      </p:pic>
      <p:sp>
        <p:nvSpPr>
          <p:cNvPr id="5" name="楕円 4">
            <a:extLst>
              <a:ext uri="{FF2B5EF4-FFF2-40B4-BE49-F238E27FC236}">
                <a16:creationId xmlns:a16="http://schemas.microsoft.com/office/drawing/2014/main" id="{471EED61-BE29-97D9-3506-5FE03ECEE1C3}"/>
              </a:ext>
            </a:extLst>
          </p:cNvPr>
          <p:cNvSpPr/>
          <p:nvPr/>
        </p:nvSpPr>
        <p:spPr>
          <a:xfrm>
            <a:off x="524425" y="2150207"/>
            <a:ext cx="2358644"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ECABA711-3C37-7AF1-8BBA-2A002E82D201}"/>
              </a:ext>
            </a:extLst>
          </p:cNvPr>
          <p:cNvSpPr/>
          <p:nvPr/>
        </p:nvSpPr>
        <p:spPr>
          <a:xfrm>
            <a:off x="2749958" y="2455007"/>
            <a:ext cx="838068" cy="22855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09FB5392-DBD7-4941-715C-5BAF9AC8ECE8}"/>
              </a:ext>
            </a:extLst>
          </p:cNvPr>
          <p:cNvSpPr/>
          <p:nvPr/>
        </p:nvSpPr>
        <p:spPr>
          <a:xfrm>
            <a:off x="8616484" y="2468259"/>
            <a:ext cx="838068" cy="22855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吹き出し: 角を丸めた四角形 8">
            <a:extLst>
              <a:ext uri="{FF2B5EF4-FFF2-40B4-BE49-F238E27FC236}">
                <a16:creationId xmlns:a16="http://schemas.microsoft.com/office/drawing/2014/main" id="{3039BF16-733D-3EF6-58E9-165F4CDD46DF}"/>
              </a:ext>
            </a:extLst>
          </p:cNvPr>
          <p:cNvSpPr/>
          <p:nvPr/>
        </p:nvSpPr>
        <p:spPr>
          <a:xfrm>
            <a:off x="3806687" y="5505980"/>
            <a:ext cx="2468880" cy="832104"/>
          </a:xfrm>
          <a:prstGeom prst="wedgeRoundRectCallout">
            <a:avLst>
              <a:gd name="adj1" fmla="val 76124"/>
              <a:gd name="adj2" fmla="val -8151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検索も可能</a:t>
            </a:r>
            <a:endParaRPr kumimoji="1" lang="en-US" altLang="ja-JP" dirty="0"/>
          </a:p>
        </p:txBody>
      </p:sp>
    </p:spTree>
    <p:extLst>
      <p:ext uri="{BB962C8B-B14F-4D97-AF65-F5344CB8AC3E}">
        <p14:creationId xmlns:p14="http://schemas.microsoft.com/office/powerpoint/2010/main" val="8486062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52A231-62BA-8E05-852B-3A0B1205A42F}"/>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の配置とプロパティ：</a:t>
            </a:r>
            <a:r>
              <a:rPr kumimoji="1" lang="en-US" altLang="ja-JP" dirty="0"/>
              <a:t>VDD</a:t>
            </a:r>
            <a:endParaRPr kumimoji="1" lang="ja-JP" altLang="en-US" dirty="0"/>
          </a:p>
        </p:txBody>
      </p:sp>
      <p:sp>
        <p:nvSpPr>
          <p:cNvPr id="3" name="日付プレースホルダー 2">
            <a:extLst>
              <a:ext uri="{FF2B5EF4-FFF2-40B4-BE49-F238E27FC236}">
                <a16:creationId xmlns:a16="http://schemas.microsoft.com/office/drawing/2014/main" id="{7AA6C13C-3A10-E855-B1D8-7AAF6AB5E28C}"/>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084C49D-B5C3-9BC7-2ED5-17A37ADF2C95}"/>
              </a:ext>
            </a:extLst>
          </p:cNvPr>
          <p:cNvSpPr>
            <a:spLocks noGrp="1"/>
          </p:cNvSpPr>
          <p:nvPr>
            <p:ph type="sldNum" sz="quarter" idx="12"/>
          </p:nvPr>
        </p:nvSpPr>
        <p:spPr/>
        <p:txBody>
          <a:bodyPr/>
          <a:lstStyle/>
          <a:p>
            <a:pPr rtl="0"/>
            <a:fld id="{9860EDB8-5305-433F-BE41-D7A86D811DB3}" type="slidenum">
              <a:rPr lang="en-US" altLang="ja-JP" noProof="0" smtClean="0"/>
              <a:pPr rtl="0"/>
              <a:t>50</a:t>
            </a:fld>
            <a:endParaRPr lang="ja-JP" altLang="en-US" noProof="0"/>
          </a:p>
        </p:txBody>
      </p:sp>
      <p:pic>
        <p:nvPicPr>
          <p:cNvPr id="18" name="図 17" descr="テキスト&#10;&#10;自動的に生成された説明">
            <a:extLst>
              <a:ext uri="{FF2B5EF4-FFF2-40B4-BE49-F238E27FC236}">
                <a16:creationId xmlns:a16="http://schemas.microsoft.com/office/drawing/2014/main" id="{2B199052-78BA-A12E-0658-EB49DBB19968}"/>
              </a:ext>
            </a:extLst>
          </p:cNvPr>
          <p:cNvPicPr>
            <a:picLocks noChangeAspect="1"/>
          </p:cNvPicPr>
          <p:nvPr/>
        </p:nvPicPr>
        <p:blipFill rotWithShape="1">
          <a:blip r:embed="rId2"/>
          <a:srcRect t="2730"/>
          <a:stretch/>
        </p:blipFill>
        <p:spPr>
          <a:xfrm>
            <a:off x="362533" y="1323505"/>
            <a:ext cx="7992019" cy="4858634"/>
          </a:xfrm>
          <a:prstGeom prst="rect">
            <a:avLst/>
          </a:prstGeom>
        </p:spPr>
      </p:pic>
      <p:pic>
        <p:nvPicPr>
          <p:cNvPr id="19" name="図 18" descr="グラフィカル ユーザー インターフェイス, テキスト&#10;&#10;自動的に生成された説明">
            <a:extLst>
              <a:ext uri="{FF2B5EF4-FFF2-40B4-BE49-F238E27FC236}">
                <a16:creationId xmlns:a16="http://schemas.microsoft.com/office/drawing/2014/main" id="{BB43D2F7-420F-5584-B58B-BAB6FDD63AD8}"/>
              </a:ext>
            </a:extLst>
          </p:cNvPr>
          <p:cNvPicPr>
            <a:picLocks noChangeAspect="1"/>
          </p:cNvPicPr>
          <p:nvPr/>
        </p:nvPicPr>
        <p:blipFill rotWithShape="1">
          <a:blip r:embed="rId3"/>
          <a:srcRect l="38692" t="19146" r="20970" b="52769"/>
          <a:stretch/>
        </p:blipFill>
        <p:spPr>
          <a:xfrm>
            <a:off x="4435177" y="2188551"/>
            <a:ext cx="4796412" cy="2087218"/>
          </a:xfrm>
          <a:prstGeom prst="rect">
            <a:avLst/>
          </a:prstGeom>
        </p:spPr>
      </p:pic>
      <p:sp>
        <p:nvSpPr>
          <p:cNvPr id="20" name="吹き出し: 角を丸めた四角形 19">
            <a:extLst>
              <a:ext uri="{FF2B5EF4-FFF2-40B4-BE49-F238E27FC236}">
                <a16:creationId xmlns:a16="http://schemas.microsoft.com/office/drawing/2014/main" id="{759FA72B-89EA-DBF4-AB80-185F229AABE6}"/>
              </a:ext>
            </a:extLst>
          </p:cNvPr>
          <p:cNvSpPr/>
          <p:nvPr/>
        </p:nvSpPr>
        <p:spPr>
          <a:xfrm>
            <a:off x="8090452" y="1021335"/>
            <a:ext cx="2468880" cy="832104"/>
          </a:xfrm>
          <a:prstGeom prst="wedgeRoundRectCallout">
            <a:avLst>
              <a:gd name="adj1" fmla="val -166227"/>
              <a:gd name="adj2" fmla="val 17768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ラベル名</a:t>
            </a:r>
            <a:endParaRPr kumimoji="1" lang="en-US" altLang="ja-JP" dirty="0"/>
          </a:p>
        </p:txBody>
      </p:sp>
    </p:spTree>
    <p:extLst>
      <p:ext uri="{BB962C8B-B14F-4D97-AF65-F5344CB8AC3E}">
        <p14:creationId xmlns:p14="http://schemas.microsoft.com/office/powerpoint/2010/main" val="22351487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186960-38F0-772A-07D7-8D215D4B844B}"/>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kumimoji="1" lang="ja-JP" altLang="en-US" dirty="0"/>
              <a:t>標準の</a:t>
            </a:r>
            <a:r>
              <a:rPr kumimoji="1" lang="en-US" altLang="ja-JP" dirty="0"/>
              <a:t>MODULE</a:t>
            </a:r>
            <a:r>
              <a:rPr kumimoji="1" lang="ja-JP" altLang="en-US" dirty="0"/>
              <a:t>の選択：</a:t>
            </a:r>
            <a:r>
              <a:rPr kumimoji="1" lang="en-US" altLang="ja-JP" dirty="0" err="1"/>
              <a:t>ipin</a:t>
            </a:r>
            <a:r>
              <a:rPr kumimoji="1" lang="en-US" altLang="ja-JP" dirty="0"/>
              <a:t>, </a:t>
            </a:r>
            <a:r>
              <a:rPr kumimoji="1" lang="en-US" altLang="ja-JP" dirty="0" err="1"/>
              <a:t>opin</a:t>
            </a:r>
            <a:r>
              <a:rPr kumimoji="1" lang="en-US" altLang="ja-JP" dirty="0"/>
              <a:t>, </a:t>
            </a:r>
            <a:r>
              <a:rPr kumimoji="1" lang="en-US" altLang="ja-JP" dirty="0" err="1"/>
              <a:t>iopin</a:t>
            </a:r>
            <a:endParaRPr kumimoji="1" lang="ja-JP" altLang="en-US" dirty="0"/>
          </a:p>
        </p:txBody>
      </p:sp>
      <p:sp>
        <p:nvSpPr>
          <p:cNvPr id="3" name="日付プレースホルダー 2">
            <a:extLst>
              <a:ext uri="{FF2B5EF4-FFF2-40B4-BE49-F238E27FC236}">
                <a16:creationId xmlns:a16="http://schemas.microsoft.com/office/drawing/2014/main" id="{C0E14126-3AD8-C6E9-439C-71011ABEFC38}"/>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1772B0E4-BA2A-EC0E-E5BA-0F1D9E322E04}"/>
              </a:ext>
            </a:extLst>
          </p:cNvPr>
          <p:cNvSpPr>
            <a:spLocks noGrp="1"/>
          </p:cNvSpPr>
          <p:nvPr>
            <p:ph type="sldNum" sz="quarter" idx="12"/>
          </p:nvPr>
        </p:nvSpPr>
        <p:spPr/>
        <p:txBody>
          <a:bodyPr/>
          <a:lstStyle/>
          <a:p>
            <a:pPr rtl="0"/>
            <a:fld id="{9860EDB8-5305-433F-BE41-D7A86D811DB3}" type="slidenum">
              <a:rPr lang="en-US" altLang="ja-JP" noProof="0" smtClean="0"/>
              <a:pPr rtl="0"/>
              <a:t>51</a:t>
            </a:fld>
            <a:endParaRPr lang="ja-JP" altLang="en-US" noProof="0"/>
          </a:p>
        </p:txBody>
      </p:sp>
      <p:pic>
        <p:nvPicPr>
          <p:cNvPr id="7" name="コンテンツ プレースホルダー 6" descr="グラフィカル ユーザー インターフェイス&#10;&#10;自動的に生成された説明">
            <a:extLst>
              <a:ext uri="{FF2B5EF4-FFF2-40B4-BE49-F238E27FC236}">
                <a16:creationId xmlns:a16="http://schemas.microsoft.com/office/drawing/2014/main" id="{97410141-D7A9-D440-5C7D-BDE6D92DE0E4}"/>
              </a:ext>
            </a:extLst>
          </p:cNvPr>
          <p:cNvPicPr>
            <a:picLocks noGrp="1" noChangeAspect="1"/>
          </p:cNvPicPr>
          <p:nvPr>
            <p:ph sz="quarter" idx="13"/>
          </p:nvPr>
        </p:nvPicPr>
        <p:blipFill rotWithShape="1">
          <a:blip r:embed="rId2"/>
          <a:srcRect t="3299"/>
          <a:stretch/>
        </p:blipFill>
        <p:spPr>
          <a:xfrm>
            <a:off x="1816415" y="1225045"/>
            <a:ext cx="9320286" cy="5632955"/>
          </a:xfrm>
        </p:spPr>
      </p:pic>
      <p:sp>
        <p:nvSpPr>
          <p:cNvPr id="12" name="吹き出し: 角を丸めた四角形 11">
            <a:extLst>
              <a:ext uri="{FF2B5EF4-FFF2-40B4-BE49-F238E27FC236}">
                <a16:creationId xmlns:a16="http://schemas.microsoft.com/office/drawing/2014/main" id="{E5E868AF-1037-1A43-472D-13C72C8160E6}"/>
              </a:ext>
            </a:extLst>
          </p:cNvPr>
          <p:cNvSpPr/>
          <p:nvPr/>
        </p:nvSpPr>
        <p:spPr>
          <a:xfrm>
            <a:off x="725556" y="4800851"/>
            <a:ext cx="2468880" cy="832104"/>
          </a:xfrm>
          <a:prstGeom prst="wedgeRoundRectCallout">
            <a:avLst>
              <a:gd name="adj1" fmla="val 53580"/>
              <a:gd name="adj2" fmla="val -10420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err="1"/>
              <a:t>ipin.sym</a:t>
            </a:r>
            <a:endParaRPr kumimoji="1" lang="en-US" altLang="ja-JP" dirty="0"/>
          </a:p>
        </p:txBody>
      </p:sp>
      <p:pic>
        <p:nvPicPr>
          <p:cNvPr id="14" name="図 13" descr="コンピューターのスクリーンショット&#10;&#10;自動的に生成された説明">
            <a:extLst>
              <a:ext uri="{FF2B5EF4-FFF2-40B4-BE49-F238E27FC236}">
                <a16:creationId xmlns:a16="http://schemas.microsoft.com/office/drawing/2014/main" id="{17698E49-EBB5-9F8B-A928-6EE28EAF9F72}"/>
              </a:ext>
            </a:extLst>
          </p:cNvPr>
          <p:cNvPicPr>
            <a:picLocks noChangeAspect="1"/>
          </p:cNvPicPr>
          <p:nvPr/>
        </p:nvPicPr>
        <p:blipFill rotWithShape="1">
          <a:blip r:embed="rId3"/>
          <a:srcRect l="12198" t="52609" r="48400" b="19276"/>
          <a:stretch/>
        </p:blipFill>
        <p:spPr>
          <a:xfrm>
            <a:off x="4134679" y="4509389"/>
            <a:ext cx="4323521" cy="1928192"/>
          </a:xfrm>
          <a:prstGeom prst="rect">
            <a:avLst/>
          </a:prstGeom>
        </p:spPr>
      </p:pic>
      <p:sp>
        <p:nvSpPr>
          <p:cNvPr id="15" name="吹き出し: 角を丸めた四角形 14">
            <a:extLst>
              <a:ext uri="{FF2B5EF4-FFF2-40B4-BE49-F238E27FC236}">
                <a16:creationId xmlns:a16="http://schemas.microsoft.com/office/drawing/2014/main" id="{D26CEE99-60D2-4450-99B2-A5FE0CF1E8E7}"/>
              </a:ext>
            </a:extLst>
          </p:cNvPr>
          <p:cNvSpPr/>
          <p:nvPr/>
        </p:nvSpPr>
        <p:spPr>
          <a:xfrm>
            <a:off x="6296439" y="3558959"/>
            <a:ext cx="2468880" cy="832104"/>
          </a:xfrm>
          <a:prstGeom prst="wedgeRoundRectCallout">
            <a:avLst>
              <a:gd name="adj1" fmla="val -109866"/>
              <a:gd name="adj2" fmla="val 14782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ラベル名は</a:t>
            </a:r>
            <a:endParaRPr kumimoji="1" lang="en-US" altLang="ja-JP" dirty="0"/>
          </a:p>
          <a:p>
            <a:pPr algn="ctr"/>
            <a:r>
              <a:rPr kumimoji="1" lang="ja-JP" altLang="en-US" dirty="0"/>
              <a:t>ここで変更</a:t>
            </a:r>
            <a:endParaRPr kumimoji="1" lang="en-US" altLang="ja-JP" dirty="0"/>
          </a:p>
        </p:txBody>
      </p:sp>
    </p:spTree>
    <p:extLst>
      <p:ext uri="{BB962C8B-B14F-4D97-AF65-F5344CB8AC3E}">
        <p14:creationId xmlns:p14="http://schemas.microsoft.com/office/powerpoint/2010/main" val="2294290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A365BA-D7F0-0766-41F1-BF8087F276BD}"/>
              </a:ext>
            </a:extLst>
          </p:cNvPr>
          <p:cNvSpPr>
            <a:spLocks noGrp="1"/>
          </p:cNvSpPr>
          <p:nvPr>
            <p:ph type="title"/>
          </p:nvPr>
        </p:nvSpPr>
        <p:spPr/>
        <p:txBody>
          <a:bodyPr/>
          <a:lstStyle/>
          <a:p>
            <a:r>
              <a:rPr kumimoji="1" lang="en-US" altLang="ja-JP" dirty="0" err="1"/>
              <a:t>xschem</a:t>
            </a:r>
            <a:r>
              <a:rPr kumimoji="1" lang="ja-JP" altLang="en-US" dirty="0"/>
              <a:t>使い方：</a:t>
            </a:r>
            <a:r>
              <a:rPr kumimoji="1" lang="en-US" altLang="ja-JP" dirty="0"/>
              <a:t> </a:t>
            </a:r>
            <a:r>
              <a:rPr lang="en-US" altLang="ja-JP" dirty="0"/>
              <a:t>wire</a:t>
            </a:r>
            <a:r>
              <a:rPr lang="ja-JP" altLang="en-US" dirty="0"/>
              <a:t>の引き方</a:t>
            </a:r>
            <a:endParaRPr kumimoji="1" lang="ja-JP" altLang="en-US" dirty="0"/>
          </a:p>
        </p:txBody>
      </p:sp>
      <p:sp>
        <p:nvSpPr>
          <p:cNvPr id="3" name="日付プレースホルダー 2">
            <a:extLst>
              <a:ext uri="{FF2B5EF4-FFF2-40B4-BE49-F238E27FC236}">
                <a16:creationId xmlns:a16="http://schemas.microsoft.com/office/drawing/2014/main" id="{87140A10-FD65-4A66-E1EC-C21F14F3493D}"/>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2B85B46-BA19-5528-D122-ACF2B9D2A046}"/>
              </a:ext>
            </a:extLst>
          </p:cNvPr>
          <p:cNvSpPr>
            <a:spLocks noGrp="1"/>
          </p:cNvSpPr>
          <p:nvPr>
            <p:ph type="sldNum" sz="quarter" idx="12"/>
          </p:nvPr>
        </p:nvSpPr>
        <p:spPr/>
        <p:txBody>
          <a:bodyPr/>
          <a:lstStyle/>
          <a:p>
            <a:pPr rtl="0"/>
            <a:fld id="{9860EDB8-5305-433F-BE41-D7A86D811DB3}" type="slidenum">
              <a:rPr lang="en-US" altLang="ja-JP" noProof="0" smtClean="0"/>
              <a:pPr rtl="0"/>
              <a:t>52</a:t>
            </a:fld>
            <a:endParaRPr lang="ja-JP" altLang="en-US" noProof="0"/>
          </a:p>
        </p:txBody>
      </p:sp>
      <p:pic>
        <p:nvPicPr>
          <p:cNvPr id="7" name="コンテンツ プレースホルダー 6" descr="テキスト&#10;&#10;自動的に生成された説明">
            <a:extLst>
              <a:ext uri="{FF2B5EF4-FFF2-40B4-BE49-F238E27FC236}">
                <a16:creationId xmlns:a16="http://schemas.microsoft.com/office/drawing/2014/main" id="{D3B41FE2-B78A-E0A9-761B-7632E3DA9C52}"/>
              </a:ext>
            </a:extLst>
          </p:cNvPr>
          <p:cNvPicPr>
            <a:picLocks noGrp="1" noChangeAspect="1"/>
          </p:cNvPicPr>
          <p:nvPr>
            <p:ph sz="quarter" idx="13"/>
          </p:nvPr>
        </p:nvPicPr>
        <p:blipFill>
          <a:blip r:embed="rId2"/>
          <a:stretch>
            <a:fillRect/>
          </a:stretch>
        </p:blipFill>
        <p:spPr>
          <a:xfrm>
            <a:off x="1756519" y="1077300"/>
            <a:ext cx="8908168" cy="5567605"/>
          </a:xfrm>
        </p:spPr>
      </p:pic>
      <p:sp>
        <p:nvSpPr>
          <p:cNvPr id="8" name="吹き出し: 角を丸めた四角形 7">
            <a:extLst>
              <a:ext uri="{FF2B5EF4-FFF2-40B4-BE49-F238E27FC236}">
                <a16:creationId xmlns:a16="http://schemas.microsoft.com/office/drawing/2014/main" id="{10E781A2-6827-60D5-BDE1-04FEB5BFB222}"/>
              </a:ext>
            </a:extLst>
          </p:cNvPr>
          <p:cNvSpPr/>
          <p:nvPr/>
        </p:nvSpPr>
        <p:spPr>
          <a:xfrm>
            <a:off x="6584674" y="1223264"/>
            <a:ext cx="3066222" cy="832104"/>
          </a:xfrm>
          <a:prstGeom prst="wedgeRoundRectCallout">
            <a:avLst>
              <a:gd name="adj1" fmla="val -82694"/>
              <a:gd name="adj2" fmla="val 7974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１，マウスでクリックして</a:t>
            </a:r>
            <a:endParaRPr kumimoji="1" lang="en-US" altLang="ja-JP" dirty="0"/>
          </a:p>
          <a:p>
            <a:pPr algn="ctr"/>
            <a:r>
              <a:rPr kumimoji="1" lang="ja-JP" altLang="en-US" dirty="0"/>
              <a:t>「</a:t>
            </a:r>
            <a:r>
              <a:rPr kumimoji="1" lang="en-US" altLang="ja-JP" dirty="0"/>
              <a:t>W</a:t>
            </a:r>
            <a:r>
              <a:rPr kumimoji="1" lang="ja-JP" altLang="en-US" dirty="0"/>
              <a:t>」キーを押す</a:t>
            </a:r>
            <a:endParaRPr kumimoji="1" lang="en-US" altLang="ja-JP" dirty="0"/>
          </a:p>
        </p:txBody>
      </p:sp>
      <p:sp>
        <p:nvSpPr>
          <p:cNvPr id="9" name="吹き出し: 角を丸めた四角形 8">
            <a:extLst>
              <a:ext uri="{FF2B5EF4-FFF2-40B4-BE49-F238E27FC236}">
                <a16:creationId xmlns:a16="http://schemas.microsoft.com/office/drawing/2014/main" id="{6C53C1E1-AFB8-125E-700C-1E95BADED7CD}"/>
              </a:ext>
            </a:extLst>
          </p:cNvPr>
          <p:cNvSpPr/>
          <p:nvPr/>
        </p:nvSpPr>
        <p:spPr>
          <a:xfrm>
            <a:off x="6612006" y="2844654"/>
            <a:ext cx="3066221" cy="832104"/>
          </a:xfrm>
          <a:prstGeom prst="wedgeRoundRectCallout">
            <a:avLst>
              <a:gd name="adj1" fmla="val -83404"/>
              <a:gd name="adj2" fmla="val -1581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２，マウスでクリックする</a:t>
            </a:r>
            <a:endParaRPr kumimoji="1" lang="en-US" altLang="ja-JP" dirty="0"/>
          </a:p>
        </p:txBody>
      </p:sp>
      <p:sp>
        <p:nvSpPr>
          <p:cNvPr id="10" name="正方形/長方形 9">
            <a:extLst>
              <a:ext uri="{FF2B5EF4-FFF2-40B4-BE49-F238E27FC236}">
                <a16:creationId xmlns:a16="http://schemas.microsoft.com/office/drawing/2014/main" id="{72057D15-E4E6-D373-10D6-8F89EBA2C280}"/>
              </a:ext>
            </a:extLst>
          </p:cNvPr>
          <p:cNvSpPr/>
          <p:nvPr/>
        </p:nvSpPr>
        <p:spPr>
          <a:xfrm>
            <a:off x="9278481" y="1967413"/>
            <a:ext cx="2772411" cy="93427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a:t>「</a:t>
            </a:r>
            <a:r>
              <a:rPr kumimoji="1" lang="en-US" altLang="ja-JP" dirty="0"/>
              <a:t>W</a:t>
            </a:r>
            <a:r>
              <a:rPr kumimoji="1" lang="ja-JP" altLang="en-US" dirty="0"/>
              <a:t>」を再度押すと</a:t>
            </a:r>
            <a:r>
              <a:rPr kumimoji="1" lang="en-US" altLang="ja-JP" dirty="0"/>
              <a:t>90</a:t>
            </a:r>
            <a:r>
              <a:rPr kumimoji="1" lang="ja-JP" altLang="en-US" dirty="0"/>
              <a:t>度曲げられる</a:t>
            </a:r>
          </a:p>
        </p:txBody>
      </p:sp>
    </p:spTree>
    <p:extLst>
      <p:ext uri="{BB962C8B-B14F-4D97-AF65-F5344CB8AC3E}">
        <p14:creationId xmlns:p14="http://schemas.microsoft.com/office/powerpoint/2010/main" val="10947128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91D837-5816-3DBB-1C4F-CE357DC0A67B}"/>
              </a:ext>
            </a:extLst>
          </p:cNvPr>
          <p:cNvSpPr>
            <a:spLocks noGrp="1"/>
          </p:cNvSpPr>
          <p:nvPr>
            <p:ph type="title"/>
          </p:nvPr>
        </p:nvSpPr>
        <p:spPr/>
        <p:txBody>
          <a:bodyPr/>
          <a:lstStyle/>
          <a:p>
            <a:r>
              <a:rPr kumimoji="1" lang="ja-JP" altLang="en-US" dirty="0"/>
              <a:t>ハンズオン：</a:t>
            </a:r>
            <a:r>
              <a:rPr kumimoji="1" lang="en-US" altLang="ja-JP" dirty="0"/>
              <a:t>CMOS</a:t>
            </a:r>
            <a:r>
              <a:rPr kumimoji="1" lang="ja-JP" altLang="en-US" dirty="0"/>
              <a:t>インバータを作る</a:t>
            </a:r>
          </a:p>
        </p:txBody>
      </p:sp>
      <p:sp>
        <p:nvSpPr>
          <p:cNvPr id="3" name="日付プレースホルダー 2">
            <a:extLst>
              <a:ext uri="{FF2B5EF4-FFF2-40B4-BE49-F238E27FC236}">
                <a16:creationId xmlns:a16="http://schemas.microsoft.com/office/drawing/2014/main" id="{79B2F595-9F10-953E-3C5D-274982AD8174}"/>
              </a:ext>
            </a:extLst>
          </p:cNvPr>
          <p:cNvSpPr>
            <a:spLocks noGrp="1"/>
          </p:cNvSpPr>
          <p:nvPr>
            <p:ph type="dt" sz="half" idx="10"/>
          </p:nvPr>
        </p:nvSpPr>
        <p:spPr/>
        <p:txBody>
          <a:bodyPr/>
          <a:lstStyle/>
          <a:p>
            <a:pPr rtl="0"/>
            <a:fld id="{F285CA99-162B-4CEB-8DE6-4999097D8ADF}"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02967E5-84BA-2928-F270-C268C276D2DE}"/>
              </a:ext>
            </a:extLst>
          </p:cNvPr>
          <p:cNvSpPr>
            <a:spLocks noGrp="1"/>
          </p:cNvSpPr>
          <p:nvPr>
            <p:ph type="sldNum" sz="quarter" idx="12"/>
          </p:nvPr>
        </p:nvSpPr>
        <p:spPr/>
        <p:txBody>
          <a:bodyPr/>
          <a:lstStyle/>
          <a:p>
            <a:pPr rtl="0"/>
            <a:fld id="{9860EDB8-5305-433F-BE41-D7A86D811DB3}" type="slidenum">
              <a:rPr lang="en-US" altLang="ja-JP" noProof="0" smtClean="0"/>
              <a:pPr rtl="0"/>
              <a:t>53</a:t>
            </a:fld>
            <a:endParaRPr lang="ja-JP" altLang="en-US" noProof="0"/>
          </a:p>
        </p:txBody>
      </p:sp>
      <p:graphicFrame>
        <p:nvGraphicFramePr>
          <p:cNvPr id="18" name="コンテンツ プレースホルダー 17">
            <a:extLst>
              <a:ext uri="{FF2B5EF4-FFF2-40B4-BE49-F238E27FC236}">
                <a16:creationId xmlns:a16="http://schemas.microsoft.com/office/drawing/2014/main" id="{DEF3DC0F-FBC6-C185-3636-B328E19F7BA2}"/>
              </a:ext>
            </a:extLst>
          </p:cNvPr>
          <p:cNvGraphicFramePr>
            <a:graphicFrameLocks noGrp="1"/>
          </p:cNvGraphicFramePr>
          <p:nvPr>
            <p:ph sz="quarter" idx="14"/>
          </p:nvPr>
        </p:nvGraphicFramePr>
        <p:xfrm>
          <a:off x="6096000" y="1944536"/>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a:t>L</a:t>
                      </a:r>
                      <a:endParaRPr kumimoji="1" lang="ja-JP" altLang="en-US" sz="2400" dirty="0"/>
                    </a:p>
                  </a:txBody>
                  <a:tcPr/>
                </a:tc>
                <a:tc>
                  <a:txBody>
                    <a:bodyPr/>
                    <a:lstStyle/>
                    <a:p>
                      <a:pPr algn="ctr"/>
                      <a:r>
                        <a:rPr kumimoji="1" lang="en-US" altLang="ja-JP" sz="2400" dirty="0"/>
                        <a:t>H</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a:t>H</a:t>
                      </a:r>
                      <a:endParaRPr kumimoji="1" lang="ja-JP" altLang="en-US" sz="2400" dirty="0"/>
                    </a:p>
                  </a:txBody>
                  <a:tcPr/>
                </a:tc>
                <a:tc>
                  <a:txBody>
                    <a:bodyPr/>
                    <a:lstStyle/>
                    <a:p>
                      <a:pPr algn="ctr"/>
                      <a:r>
                        <a:rPr kumimoji="1" lang="en-US" altLang="ja-JP" sz="2400" dirty="0"/>
                        <a:t>L</a:t>
                      </a:r>
                      <a:endParaRPr kumimoji="1" lang="ja-JP" altLang="en-US" sz="2400" dirty="0"/>
                    </a:p>
                  </a:txBody>
                  <a:tcPr/>
                </a:tc>
                <a:extLst>
                  <a:ext uri="{0D108BD9-81ED-4DB2-BD59-A6C34878D82A}">
                    <a16:rowId xmlns:a16="http://schemas.microsoft.com/office/drawing/2014/main" val="3111800997"/>
                  </a:ext>
                </a:extLst>
              </a:tr>
            </a:tbl>
          </a:graphicData>
        </a:graphic>
      </p:graphicFrame>
      <p:pic>
        <p:nvPicPr>
          <p:cNvPr id="16" name="コンテンツ プレースホルダー 15" descr="図形&#10;&#10;低い精度で自動的に生成された説明">
            <a:extLst>
              <a:ext uri="{FF2B5EF4-FFF2-40B4-BE49-F238E27FC236}">
                <a16:creationId xmlns:a16="http://schemas.microsoft.com/office/drawing/2014/main" id="{361D0B2D-DD94-04E1-02A1-1FB10605CB44}"/>
              </a:ext>
            </a:extLst>
          </p:cNvPr>
          <p:cNvPicPr>
            <a:picLocks noGrp="1" noChangeAspect="1"/>
          </p:cNvPicPr>
          <p:nvPr>
            <p:ph sz="quarter" idx="13"/>
          </p:nvPr>
        </p:nvPicPr>
        <p:blipFill>
          <a:blip r:embed="rId2"/>
          <a:stretch>
            <a:fillRect/>
          </a:stretch>
        </p:blipFill>
        <p:spPr>
          <a:xfrm>
            <a:off x="823912" y="1477962"/>
            <a:ext cx="4572000" cy="4572000"/>
          </a:xfrm>
        </p:spPr>
      </p:pic>
      <p:graphicFrame>
        <p:nvGraphicFramePr>
          <p:cNvPr id="19" name="コンテンツ プレースホルダー 17">
            <a:extLst>
              <a:ext uri="{FF2B5EF4-FFF2-40B4-BE49-F238E27FC236}">
                <a16:creationId xmlns:a16="http://schemas.microsoft.com/office/drawing/2014/main" id="{A1FF29DB-E03B-B335-1911-92D0C5623956}"/>
              </a:ext>
            </a:extLst>
          </p:cNvPr>
          <p:cNvGraphicFramePr>
            <a:graphicFrameLocks/>
          </p:cNvGraphicFramePr>
          <p:nvPr/>
        </p:nvGraphicFramePr>
        <p:xfrm>
          <a:off x="6096000" y="4185920"/>
          <a:ext cx="5330824" cy="1285240"/>
        </p:xfrm>
        <a:graphic>
          <a:graphicData uri="http://schemas.openxmlformats.org/drawingml/2006/table">
            <a:tbl>
              <a:tblPr firstRow="1" bandRow="1">
                <a:tableStyleId>{5C22544A-7EE6-4342-B048-85BDC9FD1C3A}</a:tableStyleId>
              </a:tblPr>
              <a:tblGrid>
                <a:gridCol w="2665412">
                  <a:extLst>
                    <a:ext uri="{9D8B030D-6E8A-4147-A177-3AD203B41FA5}">
                      <a16:colId xmlns:a16="http://schemas.microsoft.com/office/drawing/2014/main" val="2849878645"/>
                    </a:ext>
                  </a:extLst>
                </a:gridCol>
                <a:gridCol w="2665412">
                  <a:extLst>
                    <a:ext uri="{9D8B030D-6E8A-4147-A177-3AD203B41FA5}">
                      <a16:colId xmlns:a16="http://schemas.microsoft.com/office/drawing/2014/main" val="1102733262"/>
                    </a:ext>
                  </a:extLst>
                </a:gridCol>
              </a:tblGrid>
              <a:tr h="370840">
                <a:tc>
                  <a:txBody>
                    <a:bodyPr/>
                    <a:lstStyle/>
                    <a:p>
                      <a:pPr algn="ctr"/>
                      <a:r>
                        <a:rPr kumimoji="1" lang="ja-JP" altLang="en-US" dirty="0"/>
                        <a:t>入力</a:t>
                      </a:r>
                      <a:r>
                        <a:rPr kumimoji="1" lang="en-US" altLang="ja-JP" dirty="0"/>
                        <a:t>A</a:t>
                      </a:r>
                      <a:endParaRPr kumimoji="1" lang="ja-JP" altLang="en-US" dirty="0"/>
                    </a:p>
                  </a:txBody>
                  <a:tcPr/>
                </a:tc>
                <a:tc>
                  <a:txBody>
                    <a:bodyPr/>
                    <a:lstStyle/>
                    <a:p>
                      <a:pPr algn="ctr"/>
                      <a:r>
                        <a:rPr kumimoji="1" lang="ja-JP" altLang="en-US" dirty="0"/>
                        <a:t>出力</a:t>
                      </a:r>
                      <a:r>
                        <a:rPr kumimoji="1" lang="en-US" altLang="ja-JP" dirty="0"/>
                        <a:t>Q</a:t>
                      </a:r>
                      <a:endParaRPr kumimoji="1" lang="ja-JP" altLang="en-US" dirty="0"/>
                    </a:p>
                  </a:txBody>
                  <a:tcPr/>
                </a:tc>
                <a:extLst>
                  <a:ext uri="{0D108BD9-81ED-4DB2-BD59-A6C34878D82A}">
                    <a16:rowId xmlns:a16="http://schemas.microsoft.com/office/drawing/2014/main" val="1106780173"/>
                  </a:ext>
                </a:extLst>
              </a:tr>
              <a:tr h="370840">
                <a:tc>
                  <a:txBody>
                    <a:bodyPr/>
                    <a:lstStyle/>
                    <a:p>
                      <a:pPr algn="ctr"/>
                      <a:r>
                        <a:rPr kumimoji="1" lang="en-US" altLang="ja-JP" sz="2400" dirty="0" err="1"/>
                        <a:t>Vss</a:t>
                      </a:r>
                      <a:endParaRPr kumimoji="1" lang="ja-JP" altLang="en-US" sz="2400" dirty="0"/>
                    </a:p>
                  </a:txBody>
                  <a:tcPr/>
                </a:tc>
                <a:tc>
                  <a:txBody>
                    <a:bodyPr/>
                    <a:lstStyle/>
                    <a:p>
                      <a:pPr algn="ctr"/>
                      <a:r>
                        <a:rPr kumimoji="1" lang="en-US" altLang="ja-JP" sz="2400" dirty="0" err="1"/>
                        <a:t>Vdd</a:t>
                      </a:r>
                      <a:endParaRPr kumimoji="1" lang="ja-JP" altLang="en-US" sz="2400" dirty="0"/>
                    </a:p>
                  </a:txBody>
                  <a:tcPr/>
                </a:tc>
                <a:extLst>
                  <a:ext uri="{0D108BD9-81ED-4DB2-BD59-A6C34878D82A}">
                    <a16:rowId xmlns:a16="http://schemas.microsoft.com/office/drawing/2014/main" val="2959510970"/>
                  </a:ext>
                </a:extLst>
              </a:tr>
              <a:tr h="370840">
                <a:tc>
                  <a:txBody>
                    <a:bodyPr/>
                    <a:lstStyle/>
                    <a:p>
                      <a:pPr algn="ctr"/>
                      <a:r>
                        <a:rPr kumimoji="1" lang="en-US" altLang="ja-JP" sz="2400" dirty="0" err="1"/>
                        <a:t>Vdd</a:t>
                      </a:r>
                      <a:endParaRPr kumimoji="1" lang="ja-JP" altLang="en-US" sz="2400" dirty="0"/>
                    </a:p>
                  </a:txBody>
                  <a:tcPr/>
                </a:tc>
                <a:tc>
                  <a:txBody>
                    <a:bodyPr/>
                    <a:lstStyle/>
                    <a:p>
                      <a:pPr algn="ctr"/>
                      <a:r>
                        <a:rPr kumimoji="1" lang="en-US" altLang="ja-JP" sz="2400" dirty="0" err="1"/>
                        <a:t>Vss</a:t>
                      </a:r>
                      <a:endParaRPr kumimoji="1" lang="ja-JP" altLang="en-US" sz="2400" dirty="0"/>
                    </a:p>
                  </a:txBody>
                  <a:tcPr/>
                </a:tc>
                <a:extLst>
                  <a:ext uri="{0D108BD9-81ED-4DB2-BD59-A6C34878D82A}">
                    <a16:rowId xmlns:a16="http://schemas.microsoft.com/office/drawing/2014/main" val="3111800997"/>
                  </a:ext>
                </a:extLst>
              </a:tr>
            </a:tbl>
          </a:graphicData>
        </a:graphic>
      </p:graphicFrame>
      <p:sp>
        <p:nvSpPr>
          <p:cNvPr id="20" name="矢印: 下 19">
            <a:extLst>
              <a:ext uri="{FF2B5EF4-FFF2-40B4-BE49-F238E27FC236}">
                <a16:creationId xmlns:a16="http://schemas.microsoft.com/office/drawing/2014/main" id="{3640FA1A-68A4-48A4-54F8-E8CB09D20817}"/>
              </a:ext>
            </a:extLst>
          </p:cNvPr>
          <p:cNvSpPr/>
          <p:nvPr/>
        </p:nvSpPr>
        <p:spPr>
          <a:xfrm>
            <a:off x="8429897" y="3429000"/>
            <a:ext cx="670560" cy="5943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25853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8B9D9-DCF1-D25B-A545-D0CE717D8DCF}"/>
              </a:ext>
            </a:extLst>
          </p:cNvPr>
          <p:cNvSpPr>
            <a:spLocks noGrp="1"/>
          </p:cNvSpPr>
          <p:nvPr>
            <p:ph type="title"/>
          </p:nvPr>
        </p:nvSpPr>
        <p:spPr/>
        <p:txBody>
          <a:bodyPr/>
          <a:lstStyle/>
          <a:p>
            <a:r>
              <a:rPr kumimoji="1" lang="ja-JP" altLang="en-US" dirty="0"/>
              <a:t>ハンズオン：</a:t>
            </a:r>
            <a:r>
              <a:rPr kumimoji="1" lang="en-US" altLang="ja-JP" dirty="0"/>
              <a:t>CMOS</a:t>
            </a:r>
            <a:r>
              <a:rPr kumimoji="1" lang="ja-JP" altLang="en-US" dirty="0"/>
              <a:t>インバータのサンプル</a:t>
            </a:r>
          </a:p>
        </p:txBody>
      </p:sp>
      <p:sp>
        <p:nvSpPr>
          <p:cNvPr id="3" name="日付プレースホルダー 2">
            <a:extLst>
              <a:ext uri="{FF2B5EF4-FFF2-40B4-BE49-F238E27FC236}">
                <a16:creationId xmlns:a16="http://schemas.microsoft.com/office/drawing/2014/main" id="{F72F1585-9387-DCD1-0384-B1B8E40DC6F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86DD827-1B85-83AE-DB96-F533B2C072F1}"/>
              </a:ext>
            </a:extLst>
          </p:cNvPr>
          <p:cNvSpPr>
            <a:spLocks noGrp="1"/>
          </p:cNvSpPr>
          <p:nvPr>
            <p:ph type="sldNum" sz="quarter" idx="12"/>
          </p:nvPr>
        </p:nvSpPr>
        <p:spPr/>
        <p:txBody>
          <a:bodyPr/>
          <a:lstStyle/>
          <a:p>
            <a:pPr rtl="0"/>
            <a:fld id="{9860EDB8-5305-433F-BE41-D7A86D811DB3}" type="slidenum">
              <a:rPr lang="en-US" altLang="ja-JP" noProof="0" smtClean="0"/>
              <a:pPr rtl="0"/>
              <a:t>54</a:t>
            </a:fld>
            <a:endParaRPr lang="ja-JP" altLang="en-US" noProof="0"/>
          </a:p>
        </p:txBody>
      </p:sp>
      <p:pic>
        <p:nvPicPr>
          <p:cNvPr id="13" name="コンテンツ プレースホルダー 12">
            <a:extLst>
              <a:ext uri="{FF2B5EF4-FFF2-40B4-BE49-F238E27FC236}">
                <a16:creationId xmlns:a16="http://schemas.microsoft.com/office/drawing/2014/main" id="{7D6A079C-187F-129C-F625-34726B255B69}"/>
              </a:ext>
            </a:extLst>
          </p:cNvPr>
          <p:cNvPicPr>
            <a:picLocks noGrp="1" noChangeAspect="1"/>
          </p:cNvPicPr>
          <p:nvPr>
            <p:ph sz="quarter" idx="13"/>
          </p:nvPr>
        </p:nvPicPr>
        <p:blipFill>
          <a:blip r:embed="rId2"/>
          <a:stretch>
            <a:fillRect/>
          </a:stretch>
        </p:blipFill>
        <p:spPr>
          <a:xfrm>
            <a:off x="3643870" y="1463675"/>
            <a:ext cx="4812185" cy="4600575"/>
          </a:xfrm>
          <a:prstGeom prst="rect">
            <a:avLst/>
          </a:prstGeom>
        </p:spPr>
      </p:pic>
    </p:spTree>
    <p:extLst>
      <p:ext uri="{BB962C8B-B14F-4D97-AF65-F5344CB8AC3E}">
        <p14:creationId xmlns:p14="http://schemas.microsoft.com/office/powerpoint/2010/main" val="14792512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7DB7185A-B6D3-437D-AD3B-3081FC695539}"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55</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solidFill>
                  <a:schemeClr val="tx1"/>
                </a:solidFill>
              </a:rPr>
              <a:t>回路図を描く</a:t>
            </a:r>
            <a:endParaRPr lang="en-US" altLang="ja-JP" sz="2000" b="1" dirty="0">
              <a:solidFill>
                <a:schemeClr val="accent1">
                  <a:lumMod val="75000"/>
                </a:schemeClr>
              </a:solidFill>
            </a:endParaRPr>
          </a:p>
          <a:p>
            <a:pPr marL="457200" indent="-457200">
              <a:buFont typeface="+mj-lt"/>
              <a:buAutoNum type="arabicPeriod"/>
            </a:pPr>
            <a:r>
              <a:rPr lang="ja-JP" altLang="en-US" sz="2000" b="1" dirty="0">
                <a:solidFill>
                  <a:schemeClr val="accent2"/>
                </a:solidFill>
              </a:rPr>
              <a:t>シミュレーションをする</a:t>
            </a:r>
            <a:endParaRPr lang="en-US" altLang="ja-JP" sz="2000" b="1" dirty="0">
              <a:solidFill>
                <a:schemeClr val="accent1">
                  <a:lumMod val="75000"/>
                </a:schemeClr>
              </a:solidFill>
            </a:endParaRPr>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20834624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kumimoji="1" lang="en-US" altLang="ja-JP" dirty="0" err="1"/>
              <a:t>xschem</a:t>
            </a:r>
            <a:r>
              <a:rPr kumimoji="1" lang="ja-JP" altLang="en-US" dirty="0"/>
              <a:t>：ベンチマーク例</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56</a:t>
            </a:fld>
            <a:endParaRPr lang="ja-JP" altLang="en-US" noProof="0"/>
          </a:p>
        </p:txBody>
      </p:sp>
      <p:pic>
        <p:nvPicPr>
          <p:cNvPr id="13" name="コンテンツ プレースホルダー 12">
            <a:extLst>
              <a:ext uri="{FF2B5EF4-FFF2-40B4-BE49-F238E27FC236}">
                <a16:creationId xmlns:a16="http://schemas.microsoft.com/office/drawing/2014/main" id="{4BF968B9-08F0-9305-DEFC-E678603798D0}"/>
              </a:ext>
            </a:extLst>
          </p:cNvPr>
          <p:cNvPicPr>
            <a:picLocks noGrp="1" noChangeAspect="1"/>
          </p:cNvPicPr>
          <p:nvPr>
            <p:ph sz="quarter" idx="13"/>
          </p:nvPr>
        </p:nvPicPr>
        <p:blipFill>
          <a:blip r:embed="rId2"/>
          <a:stretch>
            <a:fillRect/>
          </a:stretch>
        </p:blipFill>
        <p:spPr>
          <a:xfrm>
            <a:off x="1120220" y="1463675"/>
            <a:ext cx="9859485" cy="4600575"/>
          </a:xfrm>
          <a:prstGeom prst="rect">
            <a:avLst/>
          </a:prstGeom>
        </p:spPr>
      </p:pic>
    </p:spTree>
    <p:extLst>
      <p:ext uri="{BB962C8B-B14F-4D97-AF65-F5344CB8AC3E}">
        <p14:creationId xmlns:p14="http://schemas.microsoft.com/office/powerpoint/2010/main" val="5754728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FDFB4E-58AA-89F7-C2C1-0105B970B8CB}"/>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：ベンチマーク</a:t>
            </a:r>
          </a:p>
        </p:txBody>
      </p:sp>
      <p:sp>
        <p:nvSpPr>
          <p:cNvPr id="3" name="日付プレースホルダー 2">
            <a:extLst>
              <a:ext uri="{FF2B5EF4-FFF2-40B4-BE49-F238E27FC236}">
                <a16:creationId xmlns:a16="http://schemas.microsoft.com/office/drawing/2014/main" id="{48BE3557-A72B-708B-B75D-010A35343F5C}"/>
              </a:ext>
            </a:extLst>
          </p:cNvPr>
          <p:cNvSpPr>
            <a:spLocks noGrp="1"/>
          </p:cNvSpPr>
          <p:nvPr>
            <p:ph type="dt" sz="half" idx="10"/>
          </p:nvPr>
        </p:nvSpPr>
        <p:spPr/>
        <p:txBody>
          <a:bodyPr/>
          <a:lstStyle/>
          <a:p>
            <a:pPr rtl="0"/>
            <a:fld id="{11E31BCD-44A5-4CD4-95BE-4DA1D06C8D7C}"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E84277F-E5AF-03CA-F73E-26F130CAB9C5}"/>
              </a:ext>
            </a:extLst>
          </p:cNvPr>
          <p:cNvSpPr>
            <a:spLocks noGrp="1"/>
          </p:cNvSpPr>
          <p:nvPr>
            <p:ph type="sldNum" sz="quarter" idx="12"/>
          </p:nvPr>
        </p:nvSpPr>
        <p:spPr/>
        <p:txBody>
          <a:bodyPr/>
          <a:lstStyle/>
          <a:p>
            <a:pPr rtl="0"/>
            <a:fld id="{9860EDB8-5305-433F-BE41-D7A86D811DB3}" type="slidenum">
              <a:rPr lang="en-US" altLang="ja-JP" noProof="0" smtClean="0"/>
              <a:pPr rtl="0"/>
              <a:t>57</a:t>
            </a:fld>
            <a:endParaRPr lang="ja-JP" altLang="en-US" noProof="0"/>
          </a:p>
        </p:txBody>
      </p:sp>
      <p:pic>
        <p:nvPicPr>
          <p:cNvPr id="14" name="コンテンツ プレースホルダー 13">
            <a:extLst>
              <a:ext uri="{FF2B5EF4-FFF2-40B4-BE49-F238E27FC236}">
                <a16:creationId xmlns:a16="http://schemas.microsoft.com/office/drawing/2014/main" id="{8F40CFD1-9976-B6C3-7114-9C6729D12C4D}"/>
              </a:ext>
            </a:extLst>
          </p:cNvPr>
          <p:cNvPicPr>
            <a:picLocks noGrp="1" noChangeAspect="1"/>
          </p:cNvPicPr>
          <p:nvPr>
            <p:ph sz="quarter" idx="13"/>
          </p:nvPr>
        </p:nvPicPr>
        <p:blipFill>
          <a:blip r:embed="rId2"/>
          <a:stretch>
            <a:fillRect/>
          </a:stretch>
        </p:blipFill>
        <p:spPr>
          <a:xfrm>
            <a:off x="907097" y="1432279"/>
            <a:ext cx="10637732" cy="4963716"/>
          </a:xfrm>
          <a:prstGeom prst="rect">
            <a:avLst/>
          </a:prstGeom>
        </p:spPr>
      </p:pic>
      <p:sp>
        <p:nvSpPr>
          <p:cNvPr id="6" name="正方形/長方形 5">
            <a:extLst>
              <a:ext uri="{FF2B5EF4-FFF2-40B4-BE49-F238E27FC236}">
                <a16:creationId xmlns:a16="http://schemas.microsoft.com/office/drawing/2014/main" id="{D1E52F32-5586-5A6E-8BD5-C3A78BB88D7A}"/>
              </a:ext>
            </a:extLst>
          </p:cNvPr>
          <p:cNvSpPr/>
          <p:nvPr/>
        </p:nvSpPr>
        <p:spPr>
          <a:xfrm>
            <a:off x="9001993" y="78698"/>
            <a:ext cx="3137452" cy="2539374"/>
          </a:xfrm>
          <a:prstGeom prst="rect">
            <a:avLst/>
          </a:prstGeom>
        </p:spPr>
        <p:style>
          <a:lnRef idx="1">
            <a:schemeClr val="accent4"/>
          </a:lnRef>
          <a:fillRef idx="2">
            <a:schemeClr val="accent4"/>
          </a:fillRef>
          <a:effectRef idx="1">
            <a:schemeClr val="accent4"/>
          </a:effectRef>
          <a:fontRef idx="minor">
            <a:schemeClr val="dk1"/>
          </a:fontRef>
        </p:style>
        <p:txBody>
          <a:bodyPr rtlCol="0" anchor="t"/>
          <a:lstStyle/>
          <a:p>
            <a:pPr marL="285750" indent="-285750">
              <a:buFont typeface="Arial" panose="020B0604020202020204" pitchFamily="34" charset="0"/>
              <a:buChar char="•"/>
            </a:pPr>
            <a:r>
              <a:rPr kumimoji="1" lang="ja-JP" altLang="en-US" dirty="0"/>
              <a:t>キーワード</a:t>
            </a:r>
            <a:endParaRPr kumimoji="1" lang="en-US" altLang="ja-JP" dirty="0"/>
          </a:p>
          <a:p>
            <a:pPr marL="742950" lvl="1" indent="-285750">
              <a:buFont typeface="Arial" panose="020B0604020202020204" pitchFamily="34" charset="0"/>
              <a:buChar char="•"/>
            </a:pPr>
            <a:r>
              <a:rPr kumimoji="1" lang="en-US" altLang="ja-JP" dirty="0" err="1"/>
              <a:t>code.sym</a:t>
            </a:r>
            <a:endParaRPr kumimoji="1" lang="en-US" altLang="ja-JP" dirty="0"/>
          </a:p>
          <a:p>
            <a:pPr marL="742950" lvl="1" indent="-285750">
              <a:buFont typeface="Arial" panose="020B0604020202020204" pitchFamily="34" charset="0"/>
              <a:buChar char="•"/>
            </a:pPr>
            <a:r>
              <a:rPr kumimoji="1" lang="en-US" altLang="ja-JP" dirty="0" err="1"/>
              <a:t>code_shown.sym</a:t>
            </a:r>
            <a:endParaRPr kumimoji="1" lang="en-US" altLang="ja-JP" dirty="0"/>
          </a:p>
          <a:p>
            <a:pPr marL="742950" lvl="1" indent="-285750">
              <a:buFont typeface="Arial" panose="020B0604020202020204" pitchFamily="34" charset="0"/>
              <a:buChar char="•"/>
            </a:pPr>
            <a:r>
              <a:rPr kumimoji="1" lang="en-US" altLang="ja-JP" dirty="0" err="1"/>
              <a:t>vsource.sym</a:t>
            </a:r>
            <a:endParaRPr kumimoji="1" lang="en-US" altLang="ja-JP" dirty="0"/>
          </a:p>
          <a:p>
            <a:pPr marL="742950" lvl="1" indent="-285750">
              <a:buFont typeface="Arial" panose="020B0604020202020204" pitchFamily="34" charset="0"/>
              <a:buChar char="•"/>
            </a:pPr>
            <a:r>
              <a:rPr kumimoji="1" lang="en-US" altLang="ja-JP" dirty="0" err="1"/>
              <a:t>gnd.sym</a:t>
            </a:r>
            <a:endParaRPr kumimoji="1" lang="en-US" altLang="ja-JP" dirty="0"/>
          </a:p>
          <a:p>
            <a:pPr marL="742950" lvl="1" indent="-285750">
              <a:buFont typeface="Arial" panose="020B0604020202020204" pitchFamily="34" charset="0"/>
              <a:buChar char="•"/>
            </a:pPr>
            <a:r>
              <a:rPr kumimoji="1" lang="en-US" altLang="ja-JP" dirty="0" err="1"/>
              <a:t>ammeter.sym</a:t>
            </a:r>
            <a:endParaRPr kumimoji="1" lang="en-US" altLang="ja-JP" dirty="0"/>
          </a:p>
          <a:p>
            <a:pPr marL="742950" lvl="1" indent="-285750">
              <a:buFont typeface="Arial" panose="020B0604020202020204" pitchFamily="34" charset="0"/>
              <a:buChar char="•"/>
            </a:pPr>
            <a:r>
              <a:rPr kumimoji="1" lang="en-US" altLang="ja-JP" dirty="0" err="1"/>
              <a:t>lab_pin.sym</a:t>
            </a:r>
            <a:endParaRPr kumimoji="1" lang="en-US" altLang="ja-JP" dirty="0"/>
          </a:p>
          <a:p>
            <a:pPr marL="742950" lvl="1" indent="-285750">
              <a:buFont typeface="Arial" panose="020B0604020202020204" pitchFamily="34" charset="0"/>
              <a:buChar char="•"/>
            </a:pPr>
            <a:r>
              <a:rPr kumimoji="1" lang="en-US" altLang="ja-JP" dirty="0" err="1"/>
              <a:t>capa.sym</a:t>
            </a:r>
            <a:endParaRPr kumimoji="1" lang="en-US" altLang="ja-JP" dirty="0"/>
          </a:p>
          <a:p>
            <a:pPr marL="742950" lvl="1" indent="-285750">
              <a:buFont typeface="Arial" panose="020B0604020202020204" pitchFamily="34" charset="0"/>
              <a:buChar char="•"/>
            </a:pPr>
            <a:r>
              <a:rPr kumimoji="1" lang="en-US" altLang="ja-JP" dirty="0" err="1"/>
              <a:t>vdd.sym</a:t>
            </a:r>
            <a:endParaRPr kumimoji="1" lang="en-US" altLang="ja-JP" dirty="0"/>
          </a:p>
          <a:p>
            <a:pPr marL="285750" indent="-285750">
              <a:buFont typeface="Arial" panose="020B0604020202020204" pitchFamily="34" charset="0"/>
              <a:buChar char="•"/>
            </a:pPr>
            <a:endParaRPr kumimoji="1" lang="ja-JP" altLang="en-US" dirty="0"/>
          </a:p>
        </p:txBody>
      </p:sp>
    </p:spTree>
    <p:extLst>
      <p:ext uri="{BB962C8B-B14F-4D97-AF65-F5344CB8AC3E}">
        <p14:creationId xmlns:p14="http://schemas.microsoft.com/office/powerpoint/2010/main" val="21710567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6BCDE-D348-E83E-97B4-E2469BF8492E}"/>
              </a:ext>
            </a:extLst>
          </p:cNvPr>
          <p:cNvSpPr>
            <a:spLocks noGrp="1"/>
          </p:cNvSpPr>
          <p:nvPr>
            <p:ph type="title"/>
          </p:nvPr>
        </p:nvSpPr>
        <p:spPr/>
        <p:txBody>
          <a:bodyPr/>
          <a:lstStyle/>
          <a:p>
            <a:r>
              <a:rPr lang="en-US" altLang="ja-JP" dirty="0" err="1"/>
              <a:t>x</a:t>
            </a:r>
            <a:r>
              <a:rPr kumimoji="1" lang="en-US" altLang="ja-JP" dirty="0" err="1"/>
              <a:t>schem</a:t>
            </a:r>
            <a:r>
              <a:rPr kumimoji="1" lang="ja-JP" altLang="en-US" dirty="0"/>
              <a:t>：</a:t>
            </a:r>
            <a:r>
              <a:rPr kumimoji="1" lang="en-US" altLang="ja-JP" dirty="0"/>
              <a:t>GF180_MODELS</a:t>
            </a:r>
            <a:r>
              <a:rPr kumimoji="1" lang="ja-JP" altLang="en-US" dirty="0"/>
              <a:t>を記述する際の注意点</a:t>
            </a:r>
            <a:r>
              <a:rPr kumimoji="1" lang="en-US" altLang="ja-JP" dirty="0"/>
              <a:t>x</a:t>
            </a:r>
            <a:endParaRPr kumimoji="1" lang="ja-JP" altLang="en-US" dirty="0"/>
          </a:p>
        </p:txBody>
      </p:sp>
      <p:sp>
        <p:nvSpPr>
          <p:cNvPr id="3" name="日付プレースホルダー 2">
            <a:extLst>
              <a:ext uri="{FF2B5EF4-FFF2-40B4-BE49-F238E27FC236}">
                <a16:creationId xmlns:a16="http://schemas.microsoft.com/office/drawing/2014/main" id="{A5997105-DF86-88C2-00E5-FF6E7B98F971}"/>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8B12102-6BA0-C1C8-786E-830B9024F3BE}"/>
              </a:ext>
            </a:extLst>
          </p:cNvPr>
          <p:cNvSpPr>
            <a:spLocks noGrp="1"/>
          </p:cNvSpPr>
          <p:nvPr>
            <p:ph type="sldNum" sz="quarter" idx="12"/>
          </p:nvPr>
        </p:nvSpPr>
        <p:spPr/>
        <p:txBody>
          <a:bodyPr/>
          <a:lstStyle/>
          <a:p>
            <a:pPr rtl="0"/>
            <a:fld id="{9860EDB8-5305-433F-BE41-D7A86D811DB3}" type="slidenum">
              <a:rPr lang="en-US" altLang="ja-JP" noProof="0" smtClean="0"/>
              <a:pPr rtl="0"/>
              <a:t>58</a:t>
            </a:fld>
            <a:endParaRPr lang="ja-JP" altLang="en-US" noProof="0"/>
          </a:p>
        </p:txBody>
      </p:sp>
      <p:sp>
        <p:nvSpPr>
          <p:cNvPr id="9" name="コンテンツ プレースホルダー 8">
            <a:extLst>
              <a:ext uri="{FF2B5EF4-FFF2-40B4-BE49-F238E27FC236}">
                <a16:creationId xmlns:a16="http://schemas.microsoft.com/office/drawing/2014/main" id="{E1799E45-49D8-EB1A-887F-B17C251ED470}"/>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altLang="ja-JP" sz="2400" dirty="0" err="1"/>
              <a:t>code.sym</a:t>
            </a:r>
            <a:r>
              <a:rPr lang="ja-JP" altLang="en-US" sz="2400" dirty="0"/>
              <a:t>を使用する際、以下の行を追記する必要がある</a:t>
            </a:r>
            <a:r>
              <a:rPr lang="en-US" altLang="ja-JP" sz="2400" dirty="0"/>
              <a:t>	</a:t>
            </a:r>
          </a:p>
          <a:p>
            <a:pPr marL="626364" lvl="1" indent="-342900"/>
            <a:r>
              <a:rPr lang="en-US" altLang="ja-JP" sz="2400" dirty="0"/>
              <a:t>format=“</a:t>
            </a:r>
            <a:r>
              <a:rPr lang="en-US" altLang="ja-JP" sz="2400" dirty="0" err="1"/>
              <a:t>tcleval</a:t>
            </a:r>
            <a:r>
              <a:rPr lang="en-US" altLang="ja-JP" sz="2400" dirty="0"/>
              <a:t>( @value )”</a:t>
            </a:r>
          </a:p>
          <a:p>
            <a:pPr marL="342900" indent="-342900">
              <a:buFont typeface="Arial" panose="020B0604020202020204" pitchFamily="34" charset="0"/>
              <a:buChar char="•"/>
            </a:pPr>
            <a:r>
              <a:rPr lang="en-US" altLang="ja-JP" sz="2400" dirty="0"/>
              <a:t>include</a:t>
            </a:r>
            <a:r>
              <a:rPr lang="ja-JP" altLang="en-US" sz="2400" dirty="0"/>
              <a:t>は絶対パス（フルパス）である必要がある。相対パスは使えない。</a:t>
            </a:r>
            <a:endParaRPr lang="en-US" altLang="ja-JP" sz="2400" dirty="0"/>
          </a:p>
          <a:p>
            <a:pPr marL="626364" lvl="1" indent="-342900"/>
            <a:r>
              <a:rPr lang="ja-JP" altLang="en-US" sz="2400" dirty="0"/>
              <a:t>「</a:t>
            </a:r>
            <a:r>
              <a:rPr lang="en-US" altLang="ja-JP" sz="2400" dirty="0"/>
              <a:t>$::LIB</a:t>
            </a:r>
            <a:r>
              <a:rPr lang="ja-JP" altLang="en-US" sz="2400" dirty="0"/>
              <a:t>」は特殊パスのため利用可能</a:t>
            </a:r>
          </a:p>
        </p:txBody>
      </p:sp>
      <p:pic>
        <p:nvPicPr>
          <p:cNvPr id="10" name="図 9">
            <a:extLst>
              <a:ext uri="{FF2B5EF4-FFF2-40B4-BE49-F238E27FC236}">
                <a16:creationId xmlns:a16="http://schemas.microsoft.com/office/drawing/2014/main" id="{37D03445-7990-1C11-D140-683A4CD55BA2}"/>
              </a:ext>
            </a:extLst>
          </p:cNvPr>
          <p:cNvPicPr>
            <a:picLocks noChangeAspect="1"/>
          </p:cNvPicPr>
          <p:nvPr/>
        </p:nvPicPr>
        <p:blipFill>
          <a:blip r:embed="rId2"/>
          <a:stretch>
            <a:fillRect/>
          </a:stretch>
        </p:blipFill>
        <p:spPr>
          <a:xfrm>
            <a:off x="3104852" y="3859994"/>
            <a:ext cx="5770669" cy="2705398"/>
          </a:xfrm>
          <a:prstGeom prst="rect">
            <a:avLst/>
          </a:prstGeom>
        </p:spPr>
      </p:pic>
      <p:sp>
        <p:nvSpPr>
          <p:cNvPr id="7" name="楕円 6">
            <a:extLst>
              <a:ext uri="{FF2B5EF4-FFF2-40B4-BE49-F238E27FC236}">
                <a16:creationId xmlns:a16="http://schemas.microsoft.com/office/drawing/2014/main" id="{7A5B89A5-0510-3BC1-0067-F1569E922B46}"/>
              </a:ext>
            </a:extLst>
          </p:cNvPr>
          <p:cNvSpPr/>
          <p:nvPr/>
        </p:nvSpPr>
        <p:spPr>
          <a:xfrm>
            <a:off x="2847892" y="4933785"/>
            <a:ext cx="2540189" cy="19176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C3DAFE99-5E01-6F18-5684-070801C50B5B}"/>
              </a:ext>
            </a:extLst>
          </p:cNvPr>
          <p:cNvSpPr/>
          <p:nvPr/>
        </p:nvSpPr>
        <p:spPr>
          <a:xfrm>
            <a:off x="2847892" y="5255302"/>
            <a:ext cx="4674902" cy="1115842"/>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789710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ADA9FB-37AB-B14D-CA72-4218E973B48E}"/>
              </a:ext>
            </a:extLst>
          </p:cNvPr>
          <p:cNvSpPr>
            <a:spLocks noGrp="1"/>
          </p:cNvSpPr>
          <p:nvPr>
            <p:ph type="title"/>
          </p:nvPr>
        </p:nvSpPr>
        <p:spPr/>
        <p:txBody>
          <a:bodyPr/>
          <a:lstStyle/>
          <a:p>
            <a:r>
              <a:rPr kumimoji="1" lang="en-US" altLang="ja-JP" dirty="0" err="1"/>
              <a:t>ngspice</a:t>
            </a:r>
            <a:r>
              <a:rPr kumimoji="1" lang="en-US" altLang="ja-JP" dirty="0"/>
              <a:t> </a:t>
            </a:r>
            <a:r>
              <a:rPr kumimoji="1" lang="ja-JP" altLang="en-US" dirty="0"/>
              <a:t>：シミュレーションの実行</a:t>
            </a:r>
          </a:p>
        </p:txBody>
      </p:sp>
      <p:sp>
        <p:nvSpPr>
          <p:cNvPr id="3" name="日付プレースホルダー 2">
            <a:extLst>
              <a:ext uri="{FF2B5EF4-FFF2-40B4-BE49-F238E27FC236}">
                <a16:creationId xmlns:a16="http://schemas.microsoft.com/office/drawing/2014/main" id="{0DE11FDC-D541-7D03-E357-F5DB5374DE48}"/>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00B586B-57B5-096C-C44F-B23C5E73570F}"/>
              </a:ext>
            </a:extLst>
          </p:cNvPr>
          <p:cNvSpPr>
            <a:spLocks noGrp="1"/>
          </p:cNvSpPr>
          <p:nvPr>
            <p:ph type="sldNum" sz="quarter" idx="12"/>
          </p:nvPr>
        </p:nvSpPr>
        <p:spPr/>
        <p:txBody>
          <a:bodyPr/>
          <a:lstStyle/>
          <a:p>
            <a:pPr rtl="0"/>
            <a:fld id="{9860EDB8-5305-433F-BE41-D7A86D811DB3}" type="slidenum">
              <a:rPr lang="en-US" altLang="ja-JP" noProof="0" smtClean="0"/>
              <a:pPr rtl="0"/>
              <a:t>59</a:t>
            </a:fld>
            <a:endParaRPr lang="ja-JP" altLang="en-US" noProof="0"/>
          </a:p>
        </p:txBody>
      </p:sp>
      <p:pic>
        <p:nvPicPr>
          <p:cNvPr id="14" name="コンテンツ プレースホルダー 13">
            <a:extLst>
              <a:ext uri="{FF2B5EF4-FFF2-40B4-BE49-F238E27FC236}">
                <a16:creationId xmlns:a16="http://schemas.microsoft.com/office/drawing/2014/main" id="{20114284-5219-3EA1-9AB1-5D10BAB4C352}"/>
              </a:ext>
            </a:extLst>
          </p:cNvPr>
          <p:cNvPicPr>
            <a:picLocks noGrp="1" noChangeAspect="1"/>
          </p:cNvPicPr>
          <p:nvPr>
            <p:ph sz="quarter" idx="13"/>
          </p:nvPr>
        </p:nvPicPr>
        <p:blipFill>
          <a:blip r:embed="rId2"/>
          <a:stretch>
            <a:fillRect/>
          </a:stretch>
        </p:blipFill>
        <p:spPr>
          <a:xfrm>
            <a:off x="1275451" y="1213283"/>
            <a:ext cx="9552143" cy="5102279"/>
          </a:xfrm>
          <a:prstGeom prst="rect">
            <a:avLst/>
          </a:prstGeom>
        </p:spPr>
      </p:pic>
      <p:sp>
        <p:nvSpPr>
          <p:cNvPr id="11" name="楕円 10">
            <a:extLst>
              <a:ext uri="{FF2B5EF4-FFF2-40B4-BE49-F238E27FC236}">
                <a16:creationId xmlns:a16="http://schemas.microsoft.com/office/drawing/2014/main" id="{F0288B9E-7D34-E92F-FB0D-EE6F5F14E529}"/>
              </a:ext>
            </a:extLst>
          </p:cNvPr>
          <p:cNvSpPr/>
          <p:nvPr/>
        </p:nvSpPr>
        <p:spPr>
          <a:xfrm>
            <a:off x="4834800" y="1269469"/>
            <a:ext cx="814055"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EC924BC2-79ED-0DC9-1F58-478C0E6E3D5A}"/>
              </a:ext>
            </a:extLst>
          </p:cNvPr>
          <p:cNvSpPr/>
          <p:nvPr/>
        </p:nvSpPr>
        <p:spPr>
          <a:xfrm>
            <a:off x="6178534" y="205719"/>
            <a:ext cx="2468880" cy="832104"/>
          </a:xfrm>
          <a:prstGeom prst="wedgeRoundRectCallout">
            <a:avLst>
              <a:gd name="adj1" fmla="val -79538"/>
              <a:gd name="adj2" fmla="val 8568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netlist</a:t>
            </a:r>
            <a:r>
              <a:rPr kumimoji="1" lang="ja-JP" altLang="en-US" dirty="0"/>
              <a:t>→</a:t>
            </a:r>
            <a:r>
              <a:rPr kumimoji="1" lang="en-US" altLang="ja-JP" dirty="0"/>
              <a:t>simulate</a:t>
            </a:r>
            <a:r>
              <a:rPr kumimoji="1" lang="ja-JP" altLang="en-US" dirty="0"/>
              <a:t>の</a:t>
            </a:r>
            <a:endParaRPr kumimoji="1" lang="en-US" altLang="ja-JP" dirty="0"/>
          </a:p>
          <a:p>
            <a:pPr algn="ctr"/>
            <a:r>
              <a:rPr kumimoji="1" lang="ja-JP" altLang="en-US" dirty="0"/>
              <a:t>順にクリック</a:t>
            </a:r>
            <a:endParaRPr kumimoji="1" lang="en-US" altLang="ja-JP" dirty="0"/>
          </a:p>
        </p:txBody>
      </p:sp>
    </p:spTree>
    <p:extLst>
      <p:ext uri="{BB962C8B-B14F-4D97-AF65-F5344CB8AC3E}">
        <p14:creationId xmlns:p14="http://schemas.microsoft.com/office/powerpoint/2010/main" val="15749908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EB7356-4700-4617-AAB8-4F3EA93AD28E}"/>
              </a:ext>
            </a:extLst>
          </p:cNvPr>
          <p:cNvSpPr>
            <a:spLocks noGrp="1"/>
          </p:cNvSpPr>
          <p:nvPr>
            <p:ph type="title"/>
          </p:nvPr>
        </p:nvSpPr>
        <p:spPr/>
        <p:txBody>
          <a:bodyPr/>
          <a:lstStyle/>
          <a:p>
            <a:r>
              <a:rPr kumimoji="1" lang="en-US" altLang="ja-JP" dirty="0" err="1"/>
              <a:t>ngspice</a:t>
            </a:r>
            <a:r>
              <a:rPr kumimoji="1" lang="ja-JP" altLang="en-US" dirty="0"/>
              <a:t>：シミュレーション結果（</a:t>
            </a:r>
            <a:r>
              <a:rPr kumimoji="1" lang="en-US" altLang="ja-JP" dirty="0"/>
              <a:t>3.3V</a:t>
            </a:r>
            <a:r>
              <a:rPr kumimoji="1" lang="ja-JP" altLang="en-US" dirty="0"/>
              <a:t>素子の場合）</a:t>
            </a:r>
          </a:p>
        </p:txBody>
      </p:sp>
      <p:sp>
        <p:nvSpPr>
          <p:cNvPr id="3" name="日付プレースホルダー 2">
            <a:extLst>
              <a:ext uri="{FF2B5EF4-FFF2-40B4-BE49-F238E27FC236}">
                <a16:creationId xmlns:a16="http://schemas.microsoft.com/office/drawing/2014/main" id="{48C9A733-68FD-5440-E4F1-CA5BCE98BF0C}"/>
              </a:ext>
            </a:extLst>
          </p:cNvPr>
          <p:cNvSpPr>
            <a:spLocks noGrp="1"/>
          </p:cNvSpPr>
          <p:nvPr>
            <p:ph type="dt" sz="half" idx="10"/>
          </p:nvPr>
        </p:nvSpPr>
        <p:spPr/>
        <p:txBody>
          <a:bodyPr/>
          <a:lstStyle/>
          <a:p>
            <a:pPr rtl="0"/>
            <a:fld id="{6F19E1F3-B630-4884-9EE4-CA91010BB78C}"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CF649A82-5062-71A9-1CCF-FE9691B52730}"/>
              </a:ext>
            </a:extLst>
          </p:cNvPr>
          <p:cNvSpPr>
            <a:spLocks noGrp="1"/>
          </p:cNvSpPr>
          <p:nvPr>
            <p:ph type="sldNum" sz="quarter" idx="12"/>
          </p:nvPr>
        </p:nvSpPr>
        <p:spPr/>
        <p:txBody>
          <a:bodyPr/>
          <a:lstStyle/>
          <a:p>
            <a:pPr rtl="0"/>
            <a:fld id="{9860EDB8-5305-433F-BE41-D7A86D811DB3}" type="slidenum">
              <a:rPr lang="en-US" altLang="ja-JP" noProof="0" smtClean="0"/>
              <a:pPr rtl="0"/>
              <a:t>60</a:t>
            </a:fld>
            <a:endParaRPr lang="ja-JP" altLang="en-US" noProof="0"/>
          </a:p>
        </p:txBody>
      </p:sp>
      <p:sp>
        <p:nvSpPr>
          <p:cNvPr id="9" name="コンテンツ プレースホルダー 8">
            <a:extLst>
              <a:ext uri="{FF2B5EF4-FFF2-40B4-BE49-F238E27FC236}">
                <a16:creationId xmlns:a16="http://schemas.microsoft.com/office/drawing/2014/main" id="{F0C54B34-C1AA-F21C-8269-85D5F18B87E9}"/>
              </a:ext>
            </a:extLst>
          </p:cNvPr>
          <p:cNvSpPr>
            <a:spLocks noGrp="1"/>
          </p:cNvSpPr>
          <p:nvPr>
            <p:ph sz="quarter" idx="14"/>
          </p:nvPr>
        </p:nvSpPr>
        <p:spPr>
          <a:xfrm>
            <a:off x="7702826" y="1463040"/>
            <a:ext cx="3926816" cy="4601748"/>
          </a:xfrm>
        </p:spPr>
        <p:txBody>
          <a:bodyPr/>
          <a:lstStyle/>
          <a:p>
            <a:r>
              <a:rPr lang="ja-JP" altLang="en-US" sz="2000" b="0" i="0" u="none" strike="noStrike" baseline="0" dirty="0">
                <a:solidFill>
                  <a:schemeClr val="tx1"/>
                </a:solidFill>
                <a:latin typeface=""/>
              </a:rPr>
              <a:t>入力</a:t>
            </a:r>
            <a:r>
              <a:rPr lang="en-US" altLang="ja-JP" sz="2000" b="0" i="0" u="none" strike="noStrike" baseline="0" dirty="0">
                <a:solidFill>
                  <a:schemeClr val="tx1"/>
                </a:solidFill>
                <a:latin typeface=""/>
              </a:rPr>
              <a:t>A = 0 V</a:t>
            </a:r>
            <a:r>
              <a:rPr lang="en-US" altLang="ja-JP" sz="2000" dirty="0">
                <a:solidFill>
                  <a:schemeClr val="tx1"/>
                </a:solidFill>
                <a:latin typeface=""/>
              </a:rPr>
              <a:t>	</a:t>
            </a:r>
            <a:r>
              <a:rPr lang="ja-JP" altLang="en-US" sz="2000" dirty="0">
                <a:solidFill>
                  <a:schemeClr val="tx1"/>
                </a:solidFill>
                <a:latin typeface=""/>
              </a:rPr>
              <a:t>→</a:t>
            </a:r>
            <a:r>
              <a:rPr lang="ja-JP" altLang="en-US" sz="2000" b="0" i="0" u="none" strike="noStrike" baseline="0" dirty="0">
                <a:solidFill>
                  <a:schemeClr val="tx1"/>
                </a:solidFill>
                <a:latin typeface=""/>
              </a:rPr>
              <a:t>出力</a:t>
            </a:r>
            <a:r>
              <a:rPr lang="en-US" altLang="ja-JP" sz="2000" b="0" i="0" u="none" strike="noStrike" baseline="0" dirty="0">
                <a:solidFill>
                  <a:schemeClr val="tx1"/>
                </a:solidFill>
                <a:latin typeface=""/>
              </a:rPr>
              <a:t>Q = 3</a:t>
            </a:r>
            <a:r>
              <a:rPr lang="en-US" altLang="ja-JP" sz="2000" dirty="0">
                <a:solidFill>
                  <a:schemeClr val="tx1"/>
                </a:solidFill>
                <a:latin typeface=""/>
              </a:rPr>
              <a:t>.3</a:t>
            </a:r>
            <a:r>
              <a:rPr lang="en-US" altLang="ja-JP" sz="2000" b="0" i="0" u="none" strike="noStrike" baseline="0" dirty="0">
                <a:solidFill>
                  <a:schemeClr val="tx1"/>
                </a:solidFill>
                <a:latin typeface=""/>
              </a:rPr>
              <a:t> V</a:t>
            </a:r>
          </a:p>
          <a:p>
            <a:r>
              <a:rPr lang="ja-JP" altLang="en-US" sz="2000" b="0" i="0" u="none" strike="noStrike" baseline="0" dirty="0">
                <a:solidFill>
                  <a:schemeClr val="tx1"/>
                </a:solidFill>
                <a:latin typeface=""/>
              </a:rPr>
              <a:t>入力</a:t>
            </a:r>
            <a:r>
              <a:rPr lang="en-US" altLang="ja-JP" sz="2000" b="0" i="0" u="none" strike="noStrike" baseline="0" dirty="0">
                <a:solidFill>
                  <a:schemeClr val="tx1"/>
                </a:solidFill>
                <a:latin typeface=""/>
              </a:rPr>
              <a:t>A = 3</a:t>
            </a:r>
            <a:r>
              <a:rPr lang="en-US" altLang="ja-JP" sz="2000" dirty="0">
                <a:solidFill>
                  <a:schemeClr val="tx1"/>
                </a:solidFill>
                <a:latin typeface=""/>
              </a:rPr>
              <a:t>.3</a:t>
            </a:r>
            <a:r>
              <a:rPr lang="en-US" altLang="ja-JP" sz="2000" b="0" i="0" u="none" strike="noStrike" baseline="0" dirty="0">
                <a:solidFill>
                  <a:schemeClr val="tx1"/>
                </a:solidFill>
                <a:latin typeface=""/>
              </a:rPr>
              <a:t> V</a:t>
            </a:r>
            <a:r>
              <a:rPr lang="en-US" altLang="ja-JP" sz="2000" dirty="0">
                <a:solidFill>
                  <a:schemeClr val="tx1"/>
                </a:solidFill>
                <a:latin typeface=""/>
              </a:rPr>
              <a:t>	</a:t>
            </a:r>
            <a:r>
              <a:rPr lang="ja-JP" altLang="en-US" sz="2000" dirty="0">
                <a:solidFill>
                  <a:schemeClr val="tx1"/>
                </a:solidFill>
                <a:latin typeface=""/>
              </a:rPr>
              <a:t>→</a:t>
            </a:r>
            <a:r>
              <a:rPr lang="ja-JP" altLang="en-US" sz="2000" b="0" i="0" u="none" strike="noStrike" baseline="0" dirty="0">
                <a:solidFill>
                  <a:schemeClr val="tx1"/>
                </a:solidFill>
                <a:latin typeface=""/>
              </a:rPr>
              <a:t>出力</a:t>
            </a:r>
            <a:r>
              <a:rPr lang="en-US" altLang="ja-JP" sz="2000" b="0" i="0" u="none" strike="noStrike" baseline="0" dirty="0">
                <a:solidFill>
                  <a:schemeClr val="tx1"/>
                </a:solidFill>
                <a:latin typeface=""/>
              </a:rPr>
              <a:t>Q = 0 V</a:t>
            </a:r>
          </a:p>
          <a:p>
            <a:pPr marL="342900" indent="-342900">
              <a:buFont typeface="Arial" panose="020B0604020202020204" pitchFamily="34" charset="0"/>
              <a:buChar char="•"/>
            </a:pPr>
            <a:r>
              <a:rPr lang="ja-JP" altLang="en-US" sz="2000" dirty="0">
                <a:solidFill>
                  <a:schemeClr val="tx1"/>
                </a:solidFill>
                <a:latin typeface=""/>
              </a:rPr>
              <a:t>インバータとして機能している</a:t>
            </a:r>
            <a:r>
              <a:rPr lang="en-US" altLang="ja-JP" sz="2000" b="0" i="0" u="none" strike="noStrike" baseline="0" dirty="0">
                <a:solidFill>
                  <a:schemeClr val="tx1"/>
                </a:solidFill>
                <a:latin typeface=""/>
              </a:rPr>
              <a:t> </a:t>
            </a:r>
            <a:endParaRPr kumimoji="1" lang="ja-JP" altLang="en-US" sz="2000" dirty="0">
              <a:solidFill>
                <a:schemeClr val="tx1"/>
              </a:solidFill>
            </a:endParaRPr>
          </a:p>
          <a:p>
            <a:endParaRPr lang="ja-JP" altLang="en-US" dirty="0"/>
          </a:p>
        </p:txBody>
      </p:sp>
      <p:pic>
        <p:nvPicPr>
          <p:cNvPr id="8" name="コンテンツ プレースホルダー 7">
            <a:extLst>
              <a:ext uri="{FF2B5EF4-FFF2-40B4-BE49-F238E27FC236}">
                <a16:creationId xmlns:a16="http://schemas.microsoft.com/office/drawing/2014/main" id="{047F5A0A-901D-9DC5-3B23-611A9DDA55A4}"/>
              </a:ext>
            </a:extLst>
          </p:cNvPr>
          <p:cNvPicPr>
            <a:picLocks noGrp="1" noChangeAspect="1"/>
          </p:cNvPicPr>
          <p:nvPr>
            <p:ph sz="quarter" idx="13"/>
          </p:nvPr>
        </p:nvPicPr>
        <p:blipFill>
          <a:blip r:embed="rId2"/>
          <a:stretch>
            <a:fillRect/>
          </a:stretch>
        </p:blipFill>
        <p:spPr>
          <a:xfrm>
            <a:off x="74141" y="1210980"/>
            <a:ext cx="7628685" cy="5275348"/>
          </a:xfrm>
          <a:prstGeom prst="rect">
            <a:avLst/>
          </a:prstGeom>
        </p:spPr>
      </p:pic>
    </p:spTree>
    <p:extLst>
      <p:ext uri="{BB962C8B-B14F-4D97-AF65-F5344CB8AC3E}">
        <p14:creationId xmlns:p14="http://schemas.microsoft.com/office/powerpoint/2010/main" val="31425816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C4ADE1-A9E4-F7E9-5ED9-A93E8DE98C41}"/>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a:t>
            </a:r>
            <a:r>
              <a:rPr lang="en-US" altLang="ja-JP" dirty="0" err="1"/>
              <a:t>wrdata</a:t>
            </a:r>
            <a:r>
              <a:rPr lang="ja-JP" altLang="en-US" dirty="0"/>
              <a:t>　と　</a:t>
            </a:r>
            <a:r>
              <a:rPr lang="en-US" altLang="ja-JP" dirty="0" err="1"/>
              <a:t>gaw</a:t>
            </a:r>
            <a:r>
              <a:rPr lang="ja-JP" altLang="en-US" dirty="0"/>
              <a:t>による波形表示</a:t>
            </a:r>
            <a:endParaRPr kumimoji="1" lang="ja-JP" altLang="en-US" dirty="0"/>
          </a:p>
        </p:txBody>
      </p:sp>
      <p:sp>
        <p:nvSpPr>
          <p:cNvPr id="3" name="日付プレースホルダー 2">
            <a:extLst>
              <a:ext uri="{FF2B5EF4-FFF2-40B4-BE49-F238E27FC236}">
                <a16:creationId xmlns:a16="http://schemas.microsoft.com/office/drawing/2014/main" id="{1A1FCC80-85C9-5EE9-A48B-DEE2352E9D75}"/>
              </a:ext>
            </a:extLst>
          </p:cNvPr>
          <p:cNvSpPr>
            <a:spLocks noGrp="1"/>
          </p:cNvSpPr>
          <p:nvPr>
            <p:ph type="dt" sz="half" idx="10"/>
          </p:nvPr>
        </p:nvSpPr>
        <p:spPr/>
        <p:txBody>
          <a:bodyPr/>
          <a:lstStyle/>
          <a:p>
            <a:pPr rtl="0"/>
            <a:fld id="{7E97BB7A-C14A-4F6E-B0B0-20F2CA57ED83}" type="datetime1">
              <a:rPr lang="ja-JP" altLang="en-US" noProof="0" smtClean="0"/>
              <a:t>2026/10/24</a:t>
            </a:fld>
            <a:endParaRPr lang="ja-JP" altLang="en-US" noProof="0" dirty="0"/>
          </a:p>
        </p:txBody>
      </p:sp>
      <p:sp>
        <p:nvSpPr>
          <p:cNvPr id="4" name="スライド番号プレースホルダー 3">
            <a:extLst>
              <a:ext uri="{FF2B5EF4-FFF2-40B4-BE49-F238E27FC236}">
                <a16:creationId xmlns:a16="http://schemas.microsoft.com/office/drawing/2014/main" id="{E252E35E-6CA5-FDCF-8329-95128119AAEE}"/>
              </a:ext>
            </a:extLst>
          </p:cNvPr>
          <p:cNvSpPr>
            <a:spLocks noGrp="1"/>
          </p:cNvSpPr>
          <p:nvPr>
            <p:ph type="sldNum" sz="quarter" idx="12"/>
          </p:nvPr>
        </p:nvSpPr>
        <p:spPr/>
        <p:txBody>
          <a:bodyPr/>
          <a:lstStyle/>
          <a:p>
            <a:pPr rtl="0"/>
            <a:fld id="{9860EDB8-5305-433F-BE41-D7A86D811DB3}" type="slidenum">
              <a:rPr lang="en-US" altLang="ja-JP" noProof="0" smtClean="0"/>
              <a:pPr rtl="0"/>
              <a:t>61</a:t>
            </a:fld>
            <a:endParaRPr lang="ja-JP" altLang="en-US" noProof="0"/>
          </a:p>
        </p:txBody>
      </p:sp>
      <p:sp>
        <p:nvSpPr>
          <p:cNvPr id="5" name="コンテンツ プレースホルダー 4">
            <a:extLst>
              <a:ext uri="{FF2B5EF4-FFF2-40B4-BE49-F238E27FC236}">
                <a16:creationId xmlns:a16="http://schemas.microsoft.com/office/drawing/2014/main" id="{1441F24C-08E7-1FA3-7924-A94BF42C8C02}"/>
              </a:ext>
            </a:extLst>
          </p:cNvPr>
          <p:cNvSpPr>
            <a:spLocks noGrp="1"/>
          </p:cNvSpPr>
          <p:nvPr>
            <p:ph sz="quarter" idx="13"/>
          </p:nvPr>
        </p:nvSpPr>
        <p:spPr/>
        <p:txBody>
          <a:bodyPr/>
          <a:lstStyle/>
          <a:p>
            <a:pPr algn="ctr"/>
            <a:r>
              <a:rPr kumimoji="1" lang="en-US" altLang="ja-JP" dirty="0" err="1"/>
              <a:t>wrdata</a:t>
            </a:r>
            <a:r>
              <a:rPr kumimoji="1" lang="ja-JP" altLang="en-US" dirty="0"/>
              <a:t>を使用すると</a:t>
            </a:r>
            <a:r>
              <a:rPr lang="ja-JP" altLang="en-US" dirty="0"/>
              <a:t>テキスト</a:t>
            </a:r>
            <a:r>
              <a:rPr kumimoji="1" lang="ja-JP" altLang="en-US" dirty="0"/>
              <a:t>出力ができる</a:t>
            </a:r>
            <a:endParaRPr kumimoji="1" lang="en-US" altLang="ja-JP" dirty="0"/>
          </a:p>
          <a:p>
            <a:pPr marL="285750" indent="-285750">
              <a:buFont typeface="Arial" panose="020B0604020202020204" pitchFamily="34" charset="0"/>
              <a:buChar char="•"/>
            </a:pPr>
            <a:endParaRPr kumimoji="1" lang="ja-JP" altLang="en-US" dirty="0"/>
          </a:p>
        </p:txBody>
      </p:sp>
      <p:sp>
        <p:nvSpPr>
          <p:cNvPr id="6" name="コンテンツ プレースホルダー 5">
            <a:extLst>
              <a:ext uri="{FF2B5EF4-FFF2-40B4-BE49-F238E27FC236}">
                <a16:creationId xmlns:a16="http://schemas.microsoft.com/office/drawing/2014/main" id="{2051BC6E-A973-70B2-EF4D-61710E070E7B}"/>
              </a:ext>
            </a:extLst>
          </p:cNvPr>
          <p:cNvSpPr>
            <a:spLocks noGrp="1"/>
          </p:cNvSpPr>
          <p:nvPr>
            <p:ph sz="quarter" idx="14"/>
          </p:nvPr>
        </p:nvSpPr>
        <p:spPr/>
        <p:txBody>
          <a:bodyPr/>
          <a:lstStyle/>
          <a:p>
            <a:r>
              <a:rPr kumimoji="1" lang="en-US" altLang="ja-JP" dirty="0"/>
              <a:t>write</a:t>
            </a:r>
            <a:r>
              <a:rPr kumimoji="1" lang="ja-JP" altLang="en-US" dirty="0"/>
              <a:t>で</a:t>
            </a:r>
            <a:r>
              <a:rPr kumimoji="1" lang="en-US" altLang="ja-JP" dirty="0"/>
              <a:t>raw</a:t>
            </a:r>
            <a:r>
              <a:rPr kumimoji="1" lang="ja-JP" altLang="en-US" dirty="0"/>
              <a:t>ファイルを出力すると </a:t>
            </a:r>
            <a:r>
              <a:rPr kumimoji="1" lang="en-US" altLang="ja-JP" dirty="0" err="1"/>
              <a:t>gaw</a:t>
            </a:r>
            <a:r>
              <a:rPr kumimoji="1" lang="en-US" altLang="ja-JP" dirty="0"/>
              <a:t> </a:t>
            </a:r>
            <a:r>
              <a:rPr kumimoji="1" lang="ja-JP" altLang="en-US" dirty="0"/>
              <a:t>で波形表示ができる</a:t>
            </a:r>
            <a:endParaRPr kumimoji="1" lang="en-US" altLang="ja-JP" dirty="0"/>
          </a:p>
          <a:p>
            <a:endParaRPr kumimoji="1" lang="ja-JP" altLang="en-US" dirty="0"/>
          </a:p>
        </p:txBody>
      </p:sp>
      <p:sp>
        <p:nvSpPr>
          <p:cNvPr id="7" name="テキスト ボックス 6">
            <a:extLst>
              <a:ext uri="{FF2B5EF4-FFF2-40B4-BE49-F238E27FC236}">
                <a16:creationId xmlns:a16="http://schemas.microsoft.com/office/drawing/2014/main" id="{BC4F8BAF-C4E8-55E1-849F-AA692C4C568C}"/>
              </a:ext>
            </a:extLst>
          </p:cNvPr>
          <p:cNvSpPr txBox="1"/>
          <p:nvPr/>
        </p:nvSpPr>
        <p:spPr>
          <a:xfrm>
            <a:off x="444500" y="1968137"/>
            <a:ext cx="5330952" cy="4247317"/>
          </a:xfrm>
          <a:prstGeom prst="rect">
            <a:avLst/>
          </a:prstGeom>
          <a:noFill/>
        </p:spPr>
        <p:txBody>
          <a:bodyPr wrap="square" rtlCol="0">
            <a:spAutoFit/>
          </a:bodyPr>
          <a:lstStyle/>
          <a:p>
            <a:pPr algn="ctr"/>
            <a:r>
              <a:rPr kumimoji="1" lang="en-US" altLang="ja-JP" dirty="0"/>
              <a:t>0.00000000e+00  3.29999999e+00</a:t>
            </a:r>
            <a:r>
              <a:rPr kumimoji="1" lang="ja-JP" altLang="en-US" dirty="0"/>
              <a:t> </a:t>
            </a:r>
            <a:endParaRPr kumimoji="1" lang="en-US" altLang="ja-JP" dirty="0"/>
          </a:p>
          <a:p>
            <a:pPr algn="ctr"/>
            <a:r>
              <a:rPr kumimoji="1" lang="en-US" altLang="ja-JP" dirty="0"/>
              <a:t>5.00000000e-02  3.29999999e+00</a:t>
            </a:r>
          </a:p>
          <a:p>
            <a:pPr algn="ctr"/>
            <a:r>
              <a:rPr kumimoji="1" lang="en-US" altLang="ja-JP" dirty="0"/>
              <a:t>1.00000000e-01  3.29999997e+00  </a:t>
            </a:r>
          </a:p>
          <a:p>
            <a:pPr algn="ctr"/>
            <a:r>
              <a:rPr kumimoji="1" lang="en-US" altLang="ja-JP" dirty="0"/>
              <a:t>1.50000000e-01  3.29999990e+00  </a:t>
            </a:r>
          </a:p>
          <a:p>
            <a:pPr algn="ctr"/>
            <a:r>
              <a:rPr kumimoji="1" lang="en-US" altLang="ja-JP" dirty="0"/>
              <a:t>2.00000000e-01  3.29999960e+00  </a:t>
            </a:r>
          </a:p>
          <a:p>
            <a:pPr algn="ctr"/>
            <a:r>
              <a:rPr kumimoji="1" lang="en-US" altLang="ja-JP" dirty="0"/>
              <a:t>2.50000000e-01  3.29999842e+00  </a:t>
            </a:r>
          </a:p>
          <a:p>
            <a:pPr algn="ctr"/>
            <a:r>
              <a:rPr kumimoji="1" lang="en-US" altLang="ja-JP" dirty="0"/>
              <a:t>3.00000000e-01  3.29999375e+00  </a:t>
            </a:r>
          </a:p>
          <a:p>
            <a:pPr algn="ctr"/>
            <a:r>
              <a:rPr kumimoji="1" lang="en-US" altLang="ja-JP" dirty="0"/>
              <a:t>3.50000000e-01  3.29997564e+00  </a:t>
            </a:r>
          </a:p>
          <a:p>
            <a:pPr algn="ctr"/>
            <a:r>
              <a:rPr kumimoji="1" lang="en-US" altLang="ja-JP" dirty="0"/>
              <a:t>4.00000000e-01  3.29990878e+00  </a:t>
            </a:r>
          </a:p>
          <a:p>
            <a:pPr algn="ctr"/>
            <a:r>
              <a:rPr kumimoji="1" lang="en-US" altLang="ja-JP" dirty="0"/>
              <a:t>4.50000000e-01  3.29968137e+00  </a:t>
            </a:r>
          </a:p>
          <a:p>
            <a:pPr algn="ctr"/>
            <a:r>
              <a:rPr kumimoji="1" lang="en-US" altLang="ja-JP" dirty="0"/>
              <a:t>5.00000000e-01  3.29900073e+00  </a:t>
            </a:r>
          </a:p>
          <a:p>
            <a:pPr algn="ctr"/>
            <a:r>
              <a:rPr kumimoji="1" lang="en-US" altLang="ja-JP" dirty="0"/>
              <a:t>5.50000000e-01  3.29728006e+00</a:t>
            </a:r>
          </a:p>
          <a:p>
            <a:pPr algn="ctr"/>
            <a:r>
              <a:rPr kumimoji="1" lang="ja-JP" altLang="en-US" dirty="0"/>
              <a:t>・</a:t>
            </a:r>
            <a:endParaRPr kumimoji="1" lang="en-US" altLang="ja-JP" dirty="0"/>
          </a:p>
          <a:p>
            <a:pPr algn="ctr"/>
            <a:r>
              <a:rPr kumimoji="1" lang="ja-JP" altLang="en-US" dirty="0"/>
              <a:t>・</a:t>
            </a:r>
            <a:endParaRPr kumimoji="1" lang="en-US" altLang="ja-JP" dirty="0"/>
          </a:p>
          <a:p>
            <a:pPr algn="ctr"/>
            <a:r>
              <a:rPr kumimoji="1" lang="ja-JP" altLang="en-US" dirty="0"/>
              <a:t>・</a:t>
            </a:r>
          </a:p>
        </p:txBody>
      </p:sp>
      <p:sp>
        <p:nvSpPr>
          <p:cNvPr id="12" name="テキスト ボックス 11">
            <a:extLst>
              <a:ext uri="{FF2B5EF4-FFF2-40B4-BE49-F238E27FC236}">
                <a16:creationId xmlns:a16="http://schemas.microsoft.com/office/drawing/2014/main" id="{2D7F58DE-C77D-D491-2E2F-33851D73D0C1}"/>
              </a:ext>
            </a:extLst>
          </p:cNvPr>
          <p:cNvSpPr txBox="1"/>
          <p:nvPr/>
        </p:nvSpPr>
        <p:spPr>
          <a:xfrm>
            <a:off x="9246241" y="5419378"/>
            <a:ext cx="2501259" cy="646331"/>
          </a:xfrm>
          <a:prstGeom prst="rect">
            <a:avLst/>
          </a:prstGeom>
          <a:noFill/>
        </p:spPr>
        <p:txBody>
          <a:bodyPr wrap="square" rtlCol="0">
            <a:spAutoFit/>
          </a:bodyPr>
          <a:lstStyle/>
          <a:p>
            <a:r>
              <a:rPr kumimoji="1" lang="en-US" altLang="ja-JP" dirty="0" err="1"/>
              <a:t>xschem</a:t>
            </a:r>
            <a:r>
              <a:rPr kumimoji="1" lang="ja-JP" altLang="en-US" dirty="0"/>
              <a:t> 右上の</a:t>
            </a:r>
            <a:br>
              <a:rPr kumimoji="1" lang="en-US" altLang="ja-JP" dirty="0"/>
            </a:br>
            <a:r>
              <a:rPr kumimoji="1" lang="en-US" altLang="ja-JP" dirty="0"/>
              <a:t>Waves</a:t>
            </a:r>
            <a:r>
              <a:rPr kumimoji="1" lang="ja-JP" altLang="en-US" dirty="0"/>
              <a:t>から起動できる</a:t>
            </a:r>
          </a:p>
        </p:txBody>
      </p:sp>
      <p:pic>
        <p:nvPicPr>
          <p:cNvPr id="13" name="図 12" descr="コンピューターのスクリーンショット&#10;&#10;自動的に生成された説明">
            <a:extLst>
              <a:ext uri="{FF2B5EF4-FFF2-40B4-BE49-F238E27FC236}">
                <a16:creationId xmlns:a16="http://schemas.microsoft.com/office/drawing/2014/main" id="{5E6BC8A5-8B81-B6E4-1A20-FB62782022A3}"/>
              </a:ext>
            </a:extLst>
          </p:cNvPr>
          <p:cNvPicPr>
            <a:picLocks noChangeAspect="1"/>
          </p:cNvPicPr>
          <p:nvPr/>
        </p:nvPicPr>
        <p:blipFill>
          <a:blip r:embed="rId2"/>
          <a:stretch>
            <a:fillRect/>
          </a:stretch>
        </p:blipFill>
        <p:spPr>
          <a:xfrm>
            <a:off x="6351736" y="1947222"/>
            <a:ext cx="5002924" cy="3126828"/>
          </a:xfrm>
          <a:prstGeom prst="rect">
            <a:avLst/>
          </a:prstGeom>
        </p:spPr>
      </p:pic>
      <p:pic>
        <p:nvPicPr>
          <p:cNvPr id="9" name="図 8">
            <a:extLst>
              <a:ext uri="{FF2B5EF4-FFF2-40B4-BE49-F238E27FC236}">
                <a16:creationId xmlns:a16="http://schemas.microsoft.com/office/drawing/2014/main" id="{932A9D0A-C9F3-D370-09CC-90299FDEF853}"/>
              </a:ext>
            </a:extLst>
          </p:cNvPr>
          <p:cNvPicPr>
            <a:picLocks noChangeAspect="1"/>
          </p:cNvPicPr>
          <p:nvPr/>
        </p:nvPicPr>
        <p:blipFill>
          <a:blip r:embed="rId3"/>
          <a:stretch>
            <a:fillRect/>
          </a:stretch>
        </p:blipFill>
        <p:spPr>
          <a:xfrm>
            <a:off x="4057712" y="5473888"/>
            <a:ext cx="5184575" cy="840741"/>
          </a:xfrm>
          <a:prstGeom prst="rect">
            <a:avLst/>
          </a:prstGeom>
        </p:spPr>
      </p:pic>
    </p:spTree>
    <p:extLst>
      <p:ext uri="{BB962C8B-B14F-4D97-AF65-F5344CB8AC3E}">
        <p14:creationId xmlns:p14="http://schemas.microsoft.com/office/powerpoint/2010/main" val="10195754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5151CA-62B7-F53B-B57B-785CE4150BD2}"/>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a:t>
            </a:r>
            <a:r>
              <a:rPr lang="ja-JP" altLang="en-US" dirty="0"/>
              <a:t>過渡応答、遅延時間</a:t>
            </a:r>
            <a:endParaRPr kumimoji="1" lang="ja-JP" altLang="en-US" dirty="0"/>
          </a:p>
        </p:txBody>
      </p:sp>
      <p:sp>
        <p:nvSpPr>
          <p:cNvPr id="3" name="日付プレースホルダー 2">
            <a:extLst>
              <a:ext uri="{FF2B5EF4-FFF2-40B4-BE49-F238E27FC236}">
                <a16:creationId xmlns:a16="http://schemas.microsoft.com/office/drawing/2014/main" id="{87032F22-2DFE-672E-E68C-F0F7B023CC6A}"/>
              </a:ext>
            </a:extLst>
          </p:cNvPr>
          <p:cNvSpPr>
            <a:spLocks noGrp="1"/>
          </p:cNvSpPr>
          <p:nvPr>
            <p:ph type="dt" sz="half" idx="10"/>
          </p:nvPr>
        </p:nvSpPr>
        <p:spPr/>
        <p:txBody>
          <a:bodyPr/>
          <a:lstStyle/>
          <a:p>
            <a:pPr rtl="0"/>
            <a:fld id="{8D8DB49E-3E1C-4EE9-B574-165AB3A95C68}"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ECD3E63-8178-2763-094A-07043DEE9CA6}"/>
              </a:ext>
            </a:extLst>
          </p:cNvPr>
          <p:cNvSpPr>
            <a:spLocks noGrp="1"/>
          </p:cNvSpPr>
          <p:nvPr>
            <p:ph type="sldNum" sz="quarter" idx="12"/>
          </p:nvPr>
        </p:nvSpPr>
        <p:spPr/>
        <p:txBody>
          <a:bodyPr/>
          <a:lstStyle/>
          <a:p>
            <a:pPr rtl="0"/>
            <a:fld id="{9860EDB8-5305-433F-BE41-D7A86D811DB3}" type="slidenum">
              <a:rPr lang="en-US" altLang="ja-JP" noProof="0" smtClean="0"/>
              <a:pPr rtl="0"/>
              <a:t>62</a:t>
            </a:fld>
            <a:endParaRPr lang="ja-JP" altLang="en-US" noProof="0"/>
          </a:p>
        </p:txBody>
      </p:sp>
      <p:sp>
        <p:nvSpPr>
          <p:cNvPr id="5" name="コンテンツ プレースホルダー 4">
            <a:extLst>
              <a:ext uri="{FF2B5EF4-FFF2-40B4-BE49-F238E27FC236}">
                <a16:creationId xmlns:a16="http://schemas.microsoft.com/office/drawing/2014/main" id="{9BA3EA52-D6F5-6704-82A9-65E03CCD8E4B}"/>
              </a:ext>
            </a:extLst>
          </p:cNvPr>
          <p:cNvSpPr>
            <a:spLocks noGrp="1"/>
          </p:cNvSpPr>
          <p:nvPr>
            <p:ph sz="quarter" idx="13"/>
          </p:nvPr>
        </p:nvSpPr>
        <p:spPr/>
        <p:txBody>
          <a:bodyPr>
            <a:normAutofit/>
          </a:bodyPr>
          <a:lstStyle/>
          <a:p>
            <a:pPr marL="342900" indent="-342900">
              <a:buFont typeface="Arial" panose="020B0604020202020204" pitchFamily="34" charset="0"/>
              <a:buChar char="•"/>
            </a:pPr>
            <a:r>
              <a:rPr kumimoji="1" lang="ja-JP" altLang="en-US" sz="2400" dirty="0"/>
              <a:t>過渡応答から遅延時間を見たい場合は</a:t>
            </a:r>
            <a:r>
              <a:rPr kumimoji="1" lang="en-US" altLang="ja-JP" sz="2400" dirty="0" err="1"/>
              <a:t>tran</a:t>
            </a:r>
            <a:r>
              <a:rPr kumimoji="1" lang="ja-JP" altLang="en-US" sz="2400" dirty="0"/>
              <a:t>解析を用いる</a:t>
            </a:r>
            <a:endParaRPr kumimoji="1" lang="en-US" altLang="ja-JP" sz="2400" dirty="0"/>
          </a:p>
          <a:p>
            <a:pPr marL="342900" indent="-342900">
              <a:buFont typeface="Arial" panose="020B0604020202020204" pitchFamily="34" charset="0"/>
              <a:buChar char="•"/>
            </a:pPr>
            <a:endParaRPr lang="en-US" altLang="ja-JP" sz="2400" dirty="0"/>
          </a:p>
          <a:p>
            <a:pPr marL="342900" indent="-342900">
              <a:buFont typeface="Arial" panose="020B0604020202020204" pitchFamily="34" charset="0"/>
              <a:buChar char="•"/>
            </a:pPr>
            <a:r>
              <a:rPr kumimoji="1" lang="ja-JP" altLang="en-US" sz="2400" dirty="0"/>
              <a:t>出力段に負荷を設定しないと正しい過渡応答が見れない</a:t>
            </a:r>
            <a:br>
              <a:rPr kumimoji="1" lang="en-US" altLang="ja-JP" sz="2400" dirty="0"/>
            </a:br>
            <a:r>
              <a:rPr kumimoji="1" lang="ja-JP" altLang="en-US" sz="2400" dirty="0"/>
              <a:t>今回は入力段・出力段共に何も接続しない状態を見る</a:t>
            </a:r>
            <a:br>
              <a:rPr kumimoji="1" lang="en-US" altLang="ja-JP" sz="2400" dirty="0"/>
            </a:br>
            <a:endParaRPr kumimoji="1" lang="ja-JP" altLang="en-US" sz="2400" dirty="0"/>
          </a:p>
        </p:txBody>
      </p:sp>
    </p:spTree>
    <p:extLst>
      <p:ext uri="{BB962C8B-B14F-4D97-AF65-F5344CB8AC3E}">
        <p14:creationId xmlns:p14="http://schemas.microsoft.com/office/powerpoint/2010/main" val="35466857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1BA94A-D7DB-A1F2-77B9-969C6AF81FFB}"/>
              </a:ext>
            </a:extLst>
          </p:cNvPr>
          <p:cNvSpPr>
            <a:spLocks noGrp="1"/>
          </p:cNvSpPr>
          <p:nvPr>
            <p:ph type="title"/>
          </p:nvPr>
        </p:nvSpPr>
        <p:spPr/>
        <p:txBody>
          <a:bodyPr/>
          <a:lstStyle/>
          <a:p>
            <a:r>
              <a:rPr kumimoji="1" lang="en-US" altLang="ja-JP" sz="2800" b="0" i="0" u="none" strike="noStrike" kern="1200" cap="none" spc="0" normalizeH="0" baseline="0" noProof="0" dirty="0" err="1">
                <a:ln>
                  <a:noFill/>
                </a:ln>
                <a:solidFill>
                  <a:srgbClr val="E7E6E6">
                    <a:lumMod val="25000"/>
                  </a:srgbClr>
                </a:solidFill>
                <a:effectLst/>
                <a:uLnTx/>
                <a:uFillTx/>
                <a:latin typeface="Meiryo UI" panose="020B0604030504040204" pitchFamily="50" charset="-128"/>
                <a:ea typeface="Meiryo UI" panose="020B0604030504040204" pitchFamily="50" charset="-128"/>
                <a:cs typeface="+mj-cs"/>
              </a:rPr>
              <a:t>ngspice</a:t>
            </a:r>
            <a:r>
              <a:rPr kumimoji="1" lang="ja-JP" altLang="en-US" sz="2800" b="0" i="0" u="none" strike="noStrike" kern="1200" cap="none" spc="0" normalizeH="0" baseline="0" noProof="0" dirty="0">
                <a:ln>
                  <a:noFill/>
                </a:ln>
                <a:solidFill>
                  <a:srgbClr val="E7E6E6">
                    <a:lumMod val="25000"/>
                  </a:srgbClr>
                </a:solidFill>
                <a:effectLst/>
                <a:uLnTx/>
                <a:uFillTx/>
                <a:latin typeface="Meiryo UI" panose="020B0604030504040204" pitchFamily="50" charset="-128"/>
                <a:ea typeface="Meiryo UI" panose="020B0604030504040204" pitchFamily="50" charset="-128"/>
                <a:cs typeface="+mj-cs"/>
              </a:rPr>
              <a:t>：過渡解析ベンチマーク例</a:t>
            </a:r>
            <a:endParaRPr kumimoji="1" lang="ja-JP" altLang="en-US" dirty="0"/>
          </a:p>
        </p:txBody>
      </p:sp>
      <p:sp>
        <p:nvSpPr>
          <p:cNvPr id="3" name="日付プレースホルダー 2">
            <a:extLst>
              <a:ext uri="{FF2B5EF4-FFF2-40B4-BE49-F238E27FC236}">
                <a16:creationId xmlns:a16="http://schemas.microsoft.com/office/drawing/2014/main" id="{B47C3B57-7340-3C82-4FFE-46FCC716B522}"/>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5A5BB053-BFEB-FA4E-478B-6047906927A5}"/>
              </a:ext>
            </a:extLst>
          </p:cNvPr>
          <p:cNvSpPr>
            <a:spLocks noGrp="1"/>
          </p:cNvSpPr>
          <p:nvPr>
            <p:ph type="sldNum" sz="quarter" idx="12"/>
          </p:nvPr>
        </p:nvSpPr>
        <p:spPr/>
        <p:txBody>
          <a:bodyPr/>
          <a:lstStyle/>
          <a:p>
            <a:pPr rtl="0"/>
            <a:fld id="{9860EDB8-5305-433F-BE41-D7A86D811DB3}" type="slidenum">
              <a:rPr lang="en-US" altLang="ja-JP" noProof="0" smtClean="0"/>
              <a:pPr rtl="0"/>
              <a:t>63</a:t>
            </a:fld>
            <a:endParaRPr lang="ja-JP" altLang="en-US" noProof="0"/>
          </a:p>
        </p:txBody>
      </p:sp>
      <p:pic>
        <p:nvPicPr>
          <p:cNvPr id="13" name="コンテンツ プレースホルダー 12">
            <a:extLst>
              <a:ext uri="{FF2B5EF4-FFF2-40B4-BE49-F238E27FC236}">
                <a16:creationId xmlns:a16="http://schemas.microsoft.com/office/drawing/2014/main" id="{29B25788-C07C-668D-43BD-21183FDF652F}"/>
              </a:ext>
            </a:extLst>
          </p:cNvPr>
          <p:cNvPicPr>
            <a:picLocks noGrp="1" noChangeAspect="1"/>
          </p:cNvPicPr>
          <p:nvPr>
            <p:ph sz="quarter" idx="13"/>
          </p:nvPr>
        </p:nvPicPr>
        <p:blipFill>
          <a:blip r:embed="rId2"/>
          <a:stretch>
            <a:fillRect/>
          </a:stretch>
        </p:blipFill>
        <p:spPr>
          <a:xfrm>
            <a:off x="1737345" y="1463675"/>
            <a:ext cx="8625234" cy="4600575"/>
          </a:xfrm>
          <a:prstGeom prst="rect">
            <a:avLst/>
          </a:prstGeom>
        </p:spPr>
      </p:pic>
    </p:spTree>
    <p:extLst>
      <p:ext uri="{BB962C8B-B14F-4D97-AF65-F5344CB8AC3E}">
        <p14:creationId xmlns:p14="http://schemas.microsoft.com/office/powerpoint/2010/main" val="29937804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75D87-C170-53B8-1E80-8225474AA436}"/>
              </a:ext>
            </a:extLst>
          </p:cNvPr>
          <p:cNvSpPr>
            <a:spLocks noGrp="1"/>
          </p:cNvSpPr>
          <p:nvPr>
            <p:ph type="title"/>
          </p:nvPr>
        </p:nvSpPr>
        <p:spPr/>
        <p:txBody>
          <a:bodyPr/>
          <a:lstStyle/>
          <a:p>
            <a:r>
              <a:rPr lang="en-US" altLang="ja-JP" dirty="0" err="1"/>
              <a:t>n</a:t>
            </a:r>
            <a:r>
              <a:rPr kumimoji="1" lang="en-US" altLang="ja-JP" dirty="0" err="1"/>
              <a:t>gspice</a:t>
            </a:r>
            <a:r>
              <a:rPr kumimoji="1" lang="ja-JP" altLang="en-US" dirty="0"/>
              <a:t>：過渡解析シミュレーション結果</a:t>
            </a:r>
          </a:p>
        </p:txBody>
      </p:sp>
      <p:sp>
        <p:nvSpPr>
          <p:cNvPr id="3" name="日付プレースホルダー 2">
            <a:extLst>
              <a:ext uri="{FF2B5EF4-FFF2-40B4-BE49-F238E27FC236}">
                <a16:creationId xmlns:a16="http://schemas.microsoft.com/office/drawing/2014/main" id="{E42273DA-B73D-0DC8-C52B-DD56BCBC40C0}"/>
              </a:ext>
            </a:extLst>
          </p:cNvPr>
          <p:cNvSpPr>
            <a:spLocks noGrp="1"/>
          </p:cNvSpPr>
          <p:nvPr>
            <p:ph type="dt" sz="half" idx="10"/>
          </p:nvPr>
        </p:nvSpPr>
        <p:spPr/>
        <p:txBody>
          <a:bodyPr/>
          <a:lstStyle/>
          <a:p>
            <a:pPr rtl="0"/>
            <a:fld id="{768F1BDC-F29E-4BF4-AE1D-513260F461BE}"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E9B62C4-31D2-0FB4-DE37-89DDD9ACAFB0}"/>
              </a:ext>
            </a:extLst>
          </p:cNvPr>
          <p:cNvSpPr>
            <a:spLocks noGrp="1"/>
          </p:cNvSpPr>
          <p:nvPr>
            <p:ph type="sldNum" sz="quarter" idx="12"/>
          </p:nvPr>
        </p:nvSpPr>
        <p:spPr/>
        <p:txBody>
          <a:bodyPr/>
          <a:lstStyle/>
          <a:p>
            <a:pPr rtl="0"/>
            <a:fld id="{9860EDB8-5305-433F-BE41-D7A86D811DB3}" type="slidenum">
              <a:rPr lang="en-US" altLang="ja-JP" noProof="0" smtClean="0"/>
              <a:pPr rtl="0"/>
              <a:t>64</a:t>
            </a:fld>
            <a:endParaRPr lang="ja-JP" altLang="en-US" noProof="0"/>
          </a:p>
        </p:txBody>
      </p:sp>
      <p:pic>
        <p:nvPicPr>
          <p:cNvPr id="10" name="コンテンツ プレースホルダー 9">
            <a:extLst>
              <a:ext uri="{FF2B5EF4-FFF2-40B4-BE49-F238E27FC236}">
                <a16:creationId xmlns:a16="http://schemas.microsoft.com/office/drawing/2014/main" id="{2ACE5508-9C52-A285-4980-26A258302A2D}"/>
              </a:ext>
            </a:extLst>
          </p:cNvPr>
          <p:cNvPicPr>
            <a:picLocks noGrp="1" noChangeAspect="1"/>
          </p:cNvPicPr>
          <p:nvPr>
            <p:ph sz="quarter" idx="13"/>
          </p:nvPr>
        </p:nvPicPr>
        <p:blipFill>
          <a:blip r:embed="rId2"/>
          <a:stretch>
            <a:fillRect/>
          </a:stretch>
        </p:blipFill>
        <p:spPr>
          <a:xfrm>
            <a:off x="1510548" y="1265053"/>
            <a:ext cx="9244773" cy="5115975"/>
          </a:xfrm>
          <a:prstGeom prst="rect">
            <a:avLst/>
          </a:prstGeom>
        </p:spPr>
      </p:pic>
    </p:spTree>
    <p:extLst>
      <p:ext uri="{BB962C8B-B14F-4D97-AF65-F5344CB8AC3E}">
        <p14:creationId xmlns:p14="http://schemas.microsoft.com/office/powerpoint/2010/main" val="2180863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F8E56A-DE08-7C5B-842A-47705093CAB8}"/>
              </a:ext>
            </a:extLst>
          </p:cNvPr>
          <p:cNvSpPr>
            <a:spLocks noGrp="1"/>
          </p:cNvSpPr>
          <p:nvPr>
            <p:ph type="title"/>
          </p:nvPr>
        </p:nvSpPr>
        <p:spPr/>
        <p:txBody>
          <a:bodyPr/>
          <a:lstStyle/>
          <a:p>
            <a:r>
              <a:rPr kumimoji="1" lang="ja-JP" altLang="en-US" dirty="0"/>
              <a:t>ワンポイントアドバイス：サンプル回路の読み込み</a:t>
            </a:r>
          </a:p>
        </p:txBody>
      </p:sp>
      <p:sp>
        <p:nvSpPr>
          <p:cNvPr id="3" name="日付プレースホルダー 2">
            <a:extLst>
              <a:ext uri="{FF2B5EF4-FFF2-40B4-BE49-F238E27FC236}">
                <a16:creationId xmlns:a16="http://schemas.microsoft.com/office/drawing/2014/main" id="{3AFDB245-92EB-3B36-344F-B004B8EB588E}"/>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C183FFAD-6B7E-6CA4-A4B9-F0723BDA7E6B}"/>
              </a:ext>
            </a:extLst>
          </p:cNvPr>
          <p:cNvSpPr>
            <a:spLocks noGrp="1"/>
          </p:cNvSpPr>
          <p:nvPr>
            <p:ph type="sldNum" sz="quarter" idx="12"/>
          </p:nvPr>
        </p:nvSpPr>
        <p:spPr/>
        <p:txBody>
          <a:bodyPr/>
          <a:lstStyle/>
          <a:p>
            <a:pPr rtl="0"/>
            <a:fld id="{9860EDB8-5305-433F-BE41-D7A86D811DB3}" type="slidenum">
              <a:rPr lang="en-US" altLang="ja-JP" noProof="0" smtClean="0"/>
              <a:pPr rtl="0"/>
              <a:t>65</a:t>
            </a:fld>
            <a:endParaRPr lang="ja-JP" altLang="en-US" noProof="0"/>
          </a:p>
        </p:txBody>
      </p:sp>
      <p:sp>
        <p:nvSpPr>
          <p:cNvPr id="5" name="コンテンツ プレースホルダー 4">
            <a:extLst>
              <a:ext uri="{FF2B5EF4-FFF2-40B4-BE49-F238E27FC236}">
                <a16:creationId xmlns:a16="http://schemas.microsoft.com/office/drawing/2014/main" id="{F6CE16D5-065A-2783-08AA-1115A581F576}"/>
              </a:ext>
            </a:extLst>
          </p:cNvPr>
          <p:cNvSpPr>
            <a:spLocks noGrp="1"/>
          </p:cNvSpPr>
          <p:nvPr>
            <p:ph sz="quarter" idx="13"/>
          </p:nvPr>
        </p:nvSpPr>
        <p:spPr>
          <a:xfrm>
            <a:off x="444500" y="1463040"/>
            <a:ext cx="11210543" cy="4848266"/>
          </a:xfrm>
        </p:spPr>
        <p:txBody>
          <a:bodyPr>
            <a:normAutofit/>
          </a:bodyPr>
          <a:lstStyle/>
          <a:p>
            <a:pPr marL="285750" indent="-285750">
              <a:buFont typeface="Arial" panose="020B0604020202020204" pitchFamily="34" charset="0"/>
              <a:buChar char="•"/>
            </a:pPr>
            <a:r>
              <a:rPr kumimoji="1" lang="ja-JP" altLang="en-US" dirty="0"/>
              <a:t>サンプル回路：</a:t>
            </a:r>
            <a:r>
              <a:rPr kumimoji="1" lang="en-US" altLang="ja-JP" dirty="0"/>
              <a:t>ISHI</a:t>
            </a:r>
            <a:r>
              <a:rPr kumimoji="1" lang="ja-JP" altLang="en-US" dirty="0"/>
              <a:t>会のイメージを利用している場合</a:t>
            </a:r>
            <a:endParaRPr kumimoji="1" lang="en-US" altLang="ja-JP" dirty="0"/>
          </a:p>
          <a:p>
            <a:pPr marL="569214" lvl="1" indent="-285750"/>
            <a:r>
              <a:rPr lang="en-US" altLang="ja-JP" dirty="0"/>
              <a:t>~/</a:t>
            </a:r>
            <a:r>
              <a:rPr lang="en-US" altLang="ja-JP" dirty="0" err="1"/>
              <a:t>OpenEDA-PDK_SetupScript</a:t>
            </a:r>
            <a:r>
              <a:rPr lang="en-US" altLang="ja-JP" dirty="0"/>
              <a:t>/samples/inverter/GF180/</a:t>
            </a:r>
          </a:p>
          <a:p>
            <a:pPr marL="285750" indent="-285750"/>
            <a:endParaRPr lang="en-US" altLang="ja-JP" dirty="0"/>
          </a:p>
          <a:p>
            <a:pPr marL="285750" indent="-285750">
              <a:buFont typeface="Arial" panose="020B0604020202020204" pitchFamily="34" charset="0"/>
              <a:buChar char="•"/>
            </a:pPr>
            <a:r>
              <a:rPr lang="ja-JP" altLang="en-US" dirty="0"/>
              <a:t>利用する場合</a:t>
            </a:r>
            <a:endParaRPr lang="en-US" altLang="ja-JP" dirty="0"/>
          </a:p>
          <a:p>
            <a:pPr marL="626364" lvl="1" indent="-342900">
              <a:buFont typeface="+mj-lt"/>
              <a:buAutoNum type="arabicPeriod"/>
            </a:pPr>
            <a:r>
              <a:rPr lang="ja-JP" altLang="en-US" dirty="0"/>
              <a:t>コマンドラインで、上記のディレクトリまで移動する</a:t>
            </a:r>
            <a:endParaRPr lang="en-US" altLang="ja-JP" dirty="0"/>
          </a:p>
          <a:p>
            <a:pPr marL="1028700" lvl="2" indent="-342900"/>
            <a:r>
              <a:rPr lang="en-US" altLang="ja-JP" dirty="0"/>
              <a:t>cd ~/</a:t>
            </a:r>
            <a:r>
              <a:rPr lang="en-US" altLang="ja-JP" dirty="0" err="1"/>
              <a:t>OpenEDA-PDK_SetupScript</a:t>
            </a:r>
            <a:r>
              <a:rPr lang="en-US" altLang="ja-JP" dirty="0"/>
              <a:t>/samples/inverter/GF180/</a:t>
            </a:r>
          </a:p>
          <a:p>
            <a:pPr marL="626364" lvl="1" indent="-342900">
              <a:buFont typeface="+mj-lt"/>
              <a:buAutoNum type="arabicPeriod"/>
            </a:pPr>
            <a:r>
              <a:rPr lang="ja-JP" altLang="en-US" dirty="0"/>
              <a:t>上記ディレクトリで</a:t>
            </a:r>
            <a:r>
              <a:rPr lang="en-US" altLang="ja-JP" dirty="0" err="1"/>
              <a:t>xschem</a:t>
            </a:r>
            <a:r>
              <a:rPr lang="ja-JP" altLang="en-US" dirty="0"/>
              <a:t>を起動する</a:t>
            </a:r>
            <a:endParaRPr lang="en-US" altLang="ja-JP" dirty="0"/>
          </a:p>
          <a:p>
            <a:pPr marL="626364" lvl="1" indent="-342900">
              <a:buFont typeface="+mj-lt"/>
              <a:buAutoNum type="arabicPeriod"/>
            </a:pPr>
            <a:r>
              <a:rPr lang="ja-JP" altLang="en-US" dirty="0"/>
              <a:t>新規ファイルを作成する</a:t>
            </a:r>
            <a:endParaRPr lang="en-US" altLang="ja-JP" dirty="0"/>
          </a:p>
          <a:p>
            <a:pPr marL="626364" lvl="1" indent="-342900">
              <a:buFont typeface="+mj-lt"/>
              <a:buAutoNum type="arabicPeriod"/>
            </a:pPr>
            <a:r>
              <a:rPr lang="en-US" altLang="ja-JP" dirty="0"/>
              <a:t>[Current </a:t>
            </a:r>
            <a:r>
              <a:rPr lang="en-US" altLang="ja-JP" dirty="0" err="1"/>
              <a:t>dir</a:t>
            </a:r>
            <a:r>
              <a:rPr lang="en-US" altLang="ja-JP" dirty="0"/>
              <a:t>]</a:t>
            </a:r>
            <a:r>
              <a:rPr lang="ja-JP" altLang="en-US" dirty="0"/>
              <a:t>ボタンを押すと一覧にサンプルファイルが表示される</a:t>
            </a:r>
            <a:endParaRPr lang="en-US" altLang="ja-JP" dirty="0"/>
          </a:p>
          <a:p>
            <a:pPr marL="569214" lvl="1" indent="-285750"/>
            <a:endParaRPr lang="en-US" altLang="ja-JP" dirty="0"/>
          </a:p>
        </p:txBody>
      </p:sp>
      <p:pic>
        <p:nvPicPr>
          <p:cNvPr id="7" name="図 6">
            <a:extLst>
              <a:ext uri="{FF2B5EF4-FFF2-40B4-BE49-F238E27FC236}">
                <a16:creationId xmlns:a16="http://schemas.microsoft.com/office/drawing/2014/main" id="{9FD1A2C2-7D25-1020-ABD4-96A592F1EC76}"/>
              </a:ext>
            </a:extLst>
          </p:cNvPr>
          <p:cNvPicPr>
            <a:picLocks noChangeAspect="1"/>
          </p:cNvPicPr>
          <p:nvPr/>
        </p:nvPicPr>
        <p:blipFill>
          <a:blip r:embed="rId2"/>
          <a:stretch>
            <a:fillRect/>
          </a:stretch>
        </p:blipFill>
        <p:spPr>
          <a:xfrm>
            <a:off x="6544769" y="4451647"/>
            <a:ext cx="4309276" cy="2087788"/>
          </a:xfrm>
          <a:prstGeom prst="rect">
            <a:avLst/>
          </a:prstGeom>
        </p:spPr>
      </p:pic>
      <p:sp>
        <p:nvSpPr>
          <p:cNvPr id="8" name="楕円 7">
            <a:extLst>
              <a:ext uri="{FF2B5EF4-FFF2-40B4-BE49-F238E27FC236}">
                <a16:creationId xmlns:a16="http://schemas.microsoft.com/office/drawing/2014/main" id="{A6205A76-94A7-8388-EFDC-AAA229FCF58C}"/>
              </a:ext>
            </a:extLst>
          </p:cNvPr>
          <p:cNvSpPr/>
          <p:nvPr/>
        </p:nvSpPr>
        <p:spPr>
          <a:xfrm>
            <a:off x="7252943" y="6123320"/>
            <a:ext cx="669263" cy="25024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439095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BDA30-9424-292E-8BC7-140EF1F045D0}"/>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14AD1C5F-B370-FE07-3735-66E1A6C4A6E1}"/>
              </a:ext>
            </a:extLst>
          </p:cNvPr>
          <p:cNvSpPr>
            <a:spLocks noGrp="1"/>
          </p:cNvSpPr>
          <p:nvPr>
            <p:ph type="title"/>
          </p:nvPr>
        </p:nvSpPr>
        <p:spPr/>
        <p:txBody>
          <a:bodyPr/>
          <a:lstStyle/>
          <a:p>
            <a:r>
              <a:rPr lang="ja-JP" altLang="en-US" dirty="0"/>
              <a:t>半導体の基礎知識</a:t>
            </a:r>
          </a:p>
        </p:txBody>
      </p:sp>
      <p:sp>
        <p:nvSpPr>
          <p:cNvPr id="7" name="テキスト プレースホルダー 6">
            <a:extLst>
              <a:ext uri="{FF2B5EF4-FFF2-40B4-BE49-F238E27FC236}">
                <a16:creationId xmlns:a16="http://schemas.microsoft.com/office/drawing/2014/main" id="{51EB9D38-6BBA-D885-162F-FEC369836D77}"/>
              </a:ext>
            </a:extLst>
          </p:cNvPr>
          <p:cNvSpPr>
            <a:spLocks noGrp="1"/>
          </p:cNvSpPr>
          <p:nvPr>
            <p:ph type="body" sz="quarter" idx="10"/>
          </p:nvPr>
        </p:nvSpPr>
        <p:spPr/>
        <p:txBody>
          <a:bodyPr/>
          <a:lstStyle/>
          <a:p>
            <a:r>
              <a:rPr lang="ja-JP" altLang="en-US" dirty="0"/>
              <a:t>回路の設計</a:t>
            </a:r>
          </a:p>
        </p:txBody>
      </p:sp>
      <p:sp>
        <p:nvSpPr>
          <p:cNvPr id="3" name="日付プレースホルダー 2">
            <a:extLst>
              <a:ext uri="{FF2B5EF4-FFF2-40B4-BE49-F238E27FC236}">
                <a16:creationId xmlns:a16="http://schemas.microsoft.com/office/drawing/2014/main" id="{8BC4B579-471E-44BF-E9E9-1022850CDF96}"/>
              </a:ext>
            </a:extLst>
          </p:cNvPr>
          <p:cNvSpPr>
            <a:spLocks noGrp="1"/>
          </p:cNvSpPr>
          <p:nvPr>
            <p:ph type="dt" sz="half" idx="2"/>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4D83176-3ED6-9B02-900B-429D88476344}"/>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66</a:t>
            </a:fld>
            <a:endParaRPr lang="ja-JP" altLang="en-US" noProof="0"/>
          </a:p>
        </p:txBody>
      </p:sp>
    </p:spTree>
    <p:extLst>
      <p:ext uri="{BB962C8B-B14F-4D97-AF65-F5344CB8AC3E}">
        <p14:creationId xmlns:p14="http://schemas.microsoft.com/office/powerpoint/2010/main" val="40598409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1773B-A3DC-F874-160B-BFD6439B9D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9ACF203-9827-B0C7-40DD-5AAC86B983D7}"/>
              </a:ext>
            </a:extLst>
          </p:cNvPr>
          <p:cNvSpPr>
            <a:spLocks noGrp="1"/>
          </p:cNvSpPr>
          <p:nvPr>
            <p:ph type="title"/>
          </p:nvPr>
        </p:nvSpPr>
        <p:spPr/>
        <p:txBody>
          <a:bodyPr/>
          <a:lstStyle/>
          <a:p>
            <a:r>
              <a:rPr lang="ja-JP" altLang="en-US" dirty="0"/>
              <a:t>インバータ回路</a:t>
            </a:r>
            <a:r>
              <a:rPr kumimoji="1" lang="ja-JP" altLang="en-US" dirty="0"/>
              <a:t>の設計ポイント</a:t>
            </a:r>
          </a:p>
        </p:txBody>
      </p:sp>
      <p:sp>
        <p:nvSpPr>
          <p:cNvPr id="3" name="日付プレースホルダー 2">
            <a:extLst>
              <a:ext uri="{FF2B5EF4-FFF2-40B4-BE49-F238E27FC236}">
                <a16:creationId xmlns:a16="http://schemas.microsoft.com/office/drawing/2014/main" id="{2F8FC734-6198-29B6-A006-3059CDF8FFED}"/>
              </a:ext>
            </a:extLst>
          </p:cNvPr>
          <p:cNvSpPr>
            <a:spLocks noGrp="1"/>
          </p:cNvSpPr>
          <p:nvPr>
            <p:ph type="dt" sz="half" idx="10"/>
          </p:nvPr>
        </p:nvSpPr>
        <p:spPr/>
        <p:txBody>
          <a:bodyPr/>
          <a:lstStyle/>
          <a:p>
            <a:pPr rtl="0"/>
            <a:fld id="{6F19E1F3-B630-4884-9EE4-CA91010BB78C}"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8E0D6262-5DF6-A7B5-C742-BE0166ECB8BB}"/>
              </a:ext>
            </a:extLst>
          </p:cNvPr>
          <p:cNvSpPr>
            <a:spLocks noGrp="1"/>
          </p:cNvSpPr>
          <p:nvPr>
            <p:ph type="sldNum" sz="quarter" idx="12"/>
          </p:nvPr>
        </p:nvSpPr>
        <p:spPr/>
        <p:txBody>
          <a:bodyPr/>
          <a:lstStyle/>
          <a:p>
            <a:pPr rtl="0"/>
            <a:fld id="{9860EDB8-5305-433F-BE41-D7A86D811DB3}" type="slidenum">
              <a:rPr lang="en-US" altLang="ja-JP" noProof="0" smtClean="0"/>
              <a:pPr rtl="0"/>
              <a:t>67</a:t>
            </a:fld>
            <a:endParaRPr lang="ja-JP" altLang="en-US" noProof="0"/>
          </a:p>
        </p:txBody>
      </p:sp>
      <p:sp>
        <p:nvSpPr>
          <p:cNvPr id="9" name="コンテンツ プレースホルダー 8">
            <a:extLst>
              <a:ext uri="{FF2B5EF4-FFF2-40B4-BE49-F238E27FC236}">
                <a16:creationId xmlns:a16="http://schemas.microsoft.com/office/drawing/2014/main" id="{930C57DD-56D4-EA9C-C389-2AA6F7673498}"/>
              </a:ext>
            </a:extLst>
          </p:cNvPr>
          <p:cNvSpPr>
            <a:spLocks noGrp="1"/>
          </p:cNvSpPr>
          <p:nvPr>
            <p:ph sz="quarter" idx="14"/>
          </p:nvPr>
        </p:nvSpPr>
        <p:spPr>
          <a:xfrm>
            <a:off x="7702825" y="1463040"/>
            <a:ext cx="4149775" cy="4601748"/>
          </a:xfrm>
        </p:spPr>
        <p:txBody>
          <a:bodyPr/>
          <a:lstStyle/>
          <a:p>
            <a:r>
              <a:rPr lang="ja-JP" altLang="en-US" sz="2000" b="0" i="0" u="none" strike="noStrike" baseline="0" dirty="0">
                <a:solidFill>
                  <a:schemeClr val="tx1"/>
                </a:solidFill>
                <a:latin typeface=""/>
              </a:rPr>
              <a:t>入力</a:t>
            </a:r>
            <a:r>
              <a:rPr lang="en-US" altLang="ja-JP" sz="2000" b="0" i="0" u="none" strike="noStrike" baseline="0" dirty="0">
                <a:solidFill>
                  <a:schemeClr val="tx1"/>
                </a:solidFill>
                <a:latin typeface=""/>
              </a:rPr>
              <a:t>A = 1.2V</a:t>
            </a:r>
            <a:r>
              <a:rPr lang="en-US" altLang="ja-JP" sz="2000" dirty="0">
                <a:solidFill>
                  <a:schemeClr val="tx1"/>
                </a:solidFill>
                <a:latin typeface=""/>
              </a:rPr>
              <a:t>	</a:t>
            </a:r>
            <a:r>
              <a:rPr lang="ja-JP" altLang="en-US" sz="2000" dirty="0">
                <a:solidFill>
                  <a:schemeClr val="tx1"/>
                </a:solidFill>
                <a:latin typeface=""/>
              </a:rPr>
              <a:t>→</a:t>
            </a:r>
            <a:r>
              <a:rPr lang="ja-JP" altLang="en-US" sz="2000" b="0" i="0" u="none" strike="noStrike" baseline="0" dirty="0">
                <a:solidFill>
                  <a:schemeClr val="tx1"/>
                </a:solidFill>
                <a:latin typeface=""/>
              </a:rPr>
              <a:t>出力</a:t>
            </a:r>
            <a:r>
              <a:rPr lang="en-US" altLang="ja-JP" sz="2000" b="0" i="0" u="none" strike="noStrike" baseline="0" dirty="0">
                <a:solidFill>
                  <a:schemeClr val="tx1"/>
                </a:solidFill>
                <a:latin typeface=""/>
              </a:rPr>
              <a:t>Q = </a:t>
            </a:r>
            <a:r>
              <a:rPr lang="en-US" altLang="ja-JP" sz="2000" dirty="0">
                <a:solidFill>
                  <a:schemeClr val="tx1"/>
                </a:solidFill>
                <a:latin typeface=""/>
              </a:rPr>
              <a:t>0</a:t>
            </a:r>
            <a:r>
              <a:rPr lang="en-US" altLang="ja-JP" sz="2000" b="0" i="0" u="none" strike="noStrike" baseline="0" dirty="0">
                <a:solidFill>
                  <a:schemeClr val="tx1"/>
                </a:solidFill>
                <a:latin typeface=""/>
              </a:rPr>
              <a:t> V</a:t>
            </a:r>
          </a:p>
          <a:p>
            <a:pPr marL="342900" indent="-342900">
              <a:buFont typeface="Arial" panose="020B0604020202020204" pitchFamily="34" charset="0"/>
              <a:buChar char="•"/>
            </a:pPr>
            <a:r>
              <a:rPr kumimoji="1" lang="ja-JP" altLang="en-US" sz="2000" dirty="0">
                <a:solidFill>
                  <a:schemeClr val="tx1"/>
                </a:solidFill>
                <a:latin typeface=""/>
              </a:rPr>
              <a:t>本来は、</a:t>
            </a:r>
            <a:r>
              <a:rPr kumimoji="1" lang="en-US" altLang="ja-JP" sz="2000" dirty="0">
                <a:solidFill>
                  <a:schemeClr val="tx1"/>
                </a:solidFill>
                <a:latin typeface=""/>
              </a:rPr>
              <a:t>VDD=</a:t>
            </a:r>
            <a:r>
              <a:rPr lang="en-US" altLang="ja-JP" sz="2000" dirty="0">
                <a:solidFill>
                  <a:schemeClr val="tx1"/>
                </a:solidFill>
                <a:latin typeface=""/>
              </a:rPr>
              <a:t>3.3</a:t>
            </a:r>
            <a:r>
              <a:rPr kumimoji="1" lang="en-US" altLang="ja-JP" sz="2000" dirty="0">
                <a:solidFill>
                  <a:schemeClr val="tx1"/>
                </a:solidFill>
                <a:latin typeface=""/>
              </a:rPr>
              <a:t>V</a:t>
            </a:r>
            <a:r>
              <a:rPr kumimoji="1" lang="ja-JP" altLang="en-US" sz="2000" dirty="0">
                <a:solidFill>
                  <a:schemeClr val="tx1"/>
                </a:solidFill>
                <a:latin typeface=""/>
              </a:rPr>
              <a:t>の半分</a:t>
            </a:r>
            <a:r>
              <a:rPr lang="ja-JP" altLang="en-US" sz="2000" dirty="0">
                <a:solidFill>
                  <a:schemeClr val="tx1"/>
                </a:solidFill>
                <a:latin typeface=""/>
              </a:rPr>
              <a:t>である  入力</a:t>
            </a:r>
            <a:r>
              <a:rPr lang="en-US" altLang="ja-JP" sz="2000" dirty="0">
                <a:solidFill>
                  <a:schemeClr val="tx1"/>
                </a:solidFill>
                <a:latin typeface=""/>
              </a:rPr>
              <a:t>A = 1.65V</a:t>
            </a:r>
            <a:r>
              <a:rPr lang="ja-JP" altLang="en-US" sz="2000" dirty="0">
                <a:solidFill>
                  <a:schemeClr val="tx1"/>
                </a:solidFill>
                <a:latin typeface=""/>
              </a:rPr>
              <a:t>で動作すべき</a:t>
            </a:r>
            <a:endParaRPr lang="en-US" altLang="ja-JP" sz="2000" dirty="0">
              <a:solidFill>
                <a:schemeClr val="tx1"/>
              </a:solidFill>
              <a:latin typeface=""/>
            </a:endParaRPr>
          </a:p>
          <a:p>
            <a:pPr marL="342900" indent="-342900">
              <a:buFont typeface="Arial" panose="020B0604020202020204" pitchFamily="34" charset="0"/>
              <a:buChar char="•"/>
            </a:pPr>
            <a:r>
              <a:rPr lang="ja-JP" altLang="en-US" sz="2000" dirty="0">
                <a:solidFill>
                  <a:schemeClr val="tx1"/>
                </a:solidFill>
                <a:latin typeface=""/>
              </a:rPr>
              <a:t>入力</a:t>
            </a:r>
            <a:r>
              <a:rPr lang="en-US" altLang="ja-JP" sz="2000" dirty="0">
                <a:solidFill>
                  <a:schemeClr val="tx1"/>
                </a:solidFill>
                <a:latin typeface=""/>
              </a:rPr>
              <a:t>A = 1.65V</a:t>
            </a:r>
            <a:r>
              <a:rPr lang="ja-JP" altLang="en-US" sz="2000" dirty="0">
                <a:solidFill>
                  <a:schemeClr val="tx1"/>
                </a:solidFill>
                <a:latin typeface=""/>
              </a:rPr>
              <a:t>より低い方向のため、</a:t>
            </a:r>
            <a:r>
              <a:rPr lang="en-US" altLang="ja-JP" sz="2000" dirty="0">
                <a:solidFill>
                  <a:schemeClr val="tx1"/>
                </a:solidFill>
                <a:latin typeface=""/>
              </a:rPr>
              <a:t>PMOS</a:t>
            </a:r>
            <a:r>
              <a:rPr lang="ja-JP" altLang="en-US" sz="2000" dirty="0">
                <a:solidFill>
                  <a:schemeClr val="tx1"/>
                </a:solidFill>
                <a:latin typeface=""/>
              </a:rPr>
              <a:t>の性能が低いことが原因</a:t>
            </a:r>
            <a:endParaRPr lang="en-US" altLang="ja-JP" sz="2000" dirty="0">
              <a:solidFill>
                <a:schemeClr val="tx1"/>
              </a:solidFill>
              <a:latin typeface=""/>
            </a:endParaRPr>
          </a:p>
          <a:p>
            <a:pPr marL="626364" lvl="1" indent="-342900"/>
            <a:r>
              <a:rPr kumimoji="1" lang="ja-JP" altLang="en-US" sz="2000" dirty="0">
                <a:solidFill>
                  <a:schemeClr val="tx1"/>
                </a:solidFill>
                <a:latin typeface=""/>
              </a:rPr>
              <a:t>対策</a:t>
            </a:r>
            <a:endParaRPr kumimoji="1" lang="en-US" altLang="ja-JP" sz="2000" dirty="0">
              <a:solidFill>
                <a:schemeClr val="tx1"/>
              </a:solidFill>
              <a:latin typeface=""/>
            </a:endParaRPr>
          </a:p>
          <a:p>
            <a:pPr marL="1028700" lvl="2" indent="-342900"/>
            <a:r>
              <a:rPr kumimoji="1" lang="en-US" altLang="ja-JP" sz="2000" dirty="0">
                <a:solidFill>
                  <a:schemeClr val="tx1"/>
                </a:solidFill>
                <a:latin typeface=""/>
              </a:rPr>
              <a:t>PMOS</a:t>
            </a:r>
            <a:r>
              <a:rPr kumimoji="1" lang="ja-JP" altLang="en-US" sz="2000" dirty="0">
                <a:solidFill>
                  <a:schemeClr val="tx1"/>
                </a:solidFill>
                <a:latin typeface=""/>
              </a:rPr>
              <a:t>の性能を上げる</a:t>
            </a:r>
            <a:endParaRPr kumimoji="1" lang="en-US" altLang="ja-JP" sz="2000" dirty="0">
              <a:solidFill>
                <a:schemeClr val="tx1"/>
              </a:solidFill>
              <a:latin typeface=""/>
            </a:endParaRPr>
          </a:p>
          <a:p>
            <a:pPr marL="1028700" lvl="2" indent="-342900"/>
            <a:r>
              <a:rPr lang="en-US" altLang="ja-JP" sz="2000" dirty="0">
                <a:solidFill>
                  <a:schemeClr val="tx1"/>
                </a:solidFill>
                <a:latin typeface=""/>
              </a:rPr>
              <a:t>NMOS</a:t>
            </a:r>
            <a:r>
              <a:rPr lang="ja-JP" altLang="en-US" sz="2000" dirty="0">
                <a:solidFill>
                  <a:schemeClr val="tx1"/>
                </a:solidFill>
                <a:latin typeface=""/>
              </a:rPr>
              <a:t>の性能を下げる</a:t>
            </a:r>
            <a:endParaRPr kumimoji="1" lang="ja-JP" altLang="en-US" sz="2000" dirty="0">
              <a:solidFill>
                <a:schemeClr val="tx1"/>
              </a:solidFill>
            </a:endParaRPr>
          </a:p>
          <a:p>
            <a:endParaRPr lang="ja-JP" altLang="en-US" dirty="0"/>
          </a:p>
        </p:txBody>
      </p:sp>
      <p:pic>
        <p:nvPicPr>
          <p:cNvPr id="8" name="コンテンツ プレースホルダー 7">
            <a:extLst>
              <a:ext uri="{FF2B5EF4-FFF2-40B4-BE49-F238E27FC236}">
                <a16:creationId xmlns:a16="http://schemas.microsoft.com/office/drawing/2014/main" id="{A478BF08-9005-3D2B-B1FA-5B8F190E9A22}"/>
              </a:ext>
            </a:extLst>
          </p:cNvPr>
          <p:cNvPicPr>
            <a:picLocks noGrp="1" noChangeAspect="1"/>
          </p:cNvPicPr>
          <p:nvPr>
            <p:ph sz="quarter" idx="13"/>
          </p:nvPr>
        </p:nvPicPr>
        <p:blipFill>
          <a:blip r:embed="rId2"/>
          <a:stretch>
            <a:fillRect/>
          </a:stretch>
        </p:blipFill>
        <p:spPr>
          <a:xfrm>
            <a:off x="200452" y="1195612"/>
            <a:ext cx="7065321" cy="5284271"/>
          </a:xfrm>
          <a:prstGeom prst="rect">
            <a:avLst/>
          </a:prstGeom>
        </p:spPr>
      </p:pic>
    </p:spTree>
    <p:extLst>
      <p:ext uri="{BB962C8B-B14F-4D97-AF65-F5344CB8AC3E}">
        <p14:creationId xmlns:p14="http://schemas.microsoft.com/office/powerpoint/2010/main" val="26140903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EA82E-24B0-2B9A-FCD1-64F3AE318C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B80075-67F5-D424-B638-A73ECA0F1DF7}"/>
              </a:ext>
            </a:extLst>
          </p:cNvPr>
          <p:cNvSpPr>
            <a:spLocks noGrp="1"/>
          </p:cNvSpPr>
          <p:nvPr>
            <p:ph type="title"/>
          </p:nvPr>
        </p:nvSpPr>
        <p:spPr/>
        <p:txBody>
          <a:bodyPr/>
          <a:lstStyle/>
          <a:p>
            <a:r>
              <a:rPr lang="ja-JP" altLang="en-US" dirty="0"/>
              <a:t>インバータ回路ってなにもの？</a:t>
            </a:r>
            <a:endParaRPr kumimoji="1" lang="ja-JP" altLang="en-US" dirty="0"/>
          </a:p>
        </p:txBody>
      </p:sp>
      <p:sp>
        <p:nvSpPr>
          <p:cNvPr id="3" name="日付プレースホルダー 2">
            <a:extLst>
              <a:ext uri="{FF2B5EF4-FFF2-40B4-BE49-F238E27FC236}">
                <a16:creationId xmlns:a16="http://schemas.microsoft.com/office/drawing/2014/main" id="{EF749A1C-83FE-8F0F-B191-35F4F71FDBE4}"/>
              </a:ext>
            </a:extLst>
          </p:cNvPr>
          <p:cNvSpPr>
            <a:spLocks noGrp="1"/>
          </p:cNvSpPr>
          <p:nvPr>
            <p:ph type="dt" sz="half" idx="10"/>
          </p:nvPr>
        </p:nvSpPr>
        <p:spPr/>
        <p:txBody>
          <a:bodyPr/>
          <a:lstStyle/>
          <a:p>
            <a:pPr rtl="0"/>
            <a:fld id="{6F19E1F3-B630-4884-9EE4-CA91010BB78C}"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B60537F6-C0B9-9EDC-A5CF-F436BA20C682}"/>
              </a:ext>
            </a:extLst>
          </p:cNvPr>
          <p:cNvSpPr>
            <a:spLocks noGrp="1"/>
          </p:cNvSpPr>
          <p:nvPr>
            <p:ph type="sldNum" sz="quarter" idx="12"/>
          </p:nvPr>
        </p:nvSpPr>
        <p:spPr/>
        <p:txBody>
          <a:bodyPr/>
          <a:lstStyle/>
          <a:p>
            <a:pPr rtl="0"/>
            <a:fld id="{9860EDB8-5305-433F-BE41-D7A86D811DB3}" type="slidenum">
              <a:rPr lang="en-US" altLang="ja-JP" noProof="0" smtClean="0"/>
              <a:pPr rtl="0"/>
              <a:t>68</a:t>
            </a:fld>
            <a:endParaRPr lang="ja-JP" altLang="en-US" noProof="0"/>
          </a:p>
        </p:txBody>
      </p:sp>
      <p:pic>
        <p:nvPicPr>
          <p:cNvPr id="12" name="図 11">
            <a:extLst>
              <a:ext uri="{FF2B5EF4-FFF2-40B4-BE49-F238E27FC236}">
                <a16:creationId xmlns:a16="http://schemas.microsoft.com/office/drawing/2014/main" id="{915677CB-FAE6-0CA3-CC83-164DA63ED632}"/>
              </a:ext>
            </a:extLst>
          </p:cNvPr>
          <p:cNvPicPr>
            <a:picLocks noChangeAspect="1"/>
          </p:cNvPicPr>
          <p:nvPr/>
        </p:nvPicPr>
        <p:blipFill>
          <a:blip r:embed="rId2"/>
          <a:stretch>
            <a:fillRect/>
          </a:stretch>
        </p:blipFill>
        <p:spPr>
          <a:xfrm>
            <a:off x="7440985" y="1255951"/>
            <a:ext cx="4306516" cy="1236781"/>
          </a:xfrm>
          <a:prstGeom prst="rect">
            <a:avLst/>
          </a:prstGeom>
        </p:spPr>
      </p:pic>
      <p:sp>
        <p:nvSpPr>
          <p:cNvPr id="7" name="コンテンツ プレースホルダー 6">
            <a:extLst>
              <a:ext uri="{FF2B5EF4-FFF2-40B4-BE49-F238E27FC236}">
                <a16:creationId xmlns:a16="http://schemas.microsoft.com/office/drawing/2014/main" id="{5D2CAAF5-F746-D8FC-91CC-1387B11776F4}"/>
              </a:ext>
            </a:extLst>
          </p:cNvPr>
          <p:cNvSpPr>
            <a:spLocks noGrp="1"/>
          </p:cNvSpPr>
          <p:nvPr>
            <p:ph sz="quarter" idx="13"/>
          </p:nvPr>
        </p:nvSpPr>
        <p:spPr>
          <a:xfrm>
            <a:off x="444499" y="1463040"/>
            <a:ext cx="7336113" cy="557784"/>
          </a:xfrm>
        </p:spPr>
        <p:txBody>
          <a:bodyPr/>
          <a:lstStyle/>
          <a:p>
            <a:pPr marL="342900" indent="-342900">
              <a:buFont typeface="Arial" panose="020B0604020202020204" pitchFamily="34" charset="0"/>
              <a:buChar char="•"/>
            </a:pPr>
            <a:r>
              <a:rPr lang="ja-JP" altLang="en-US" sz="2000" dirty="0">
                <a:solidFill>
                  <a:schemeClr val="tx1"/>
                </a:solidFill>
                <a:latin typeface=""/>
              </a:rPr>
              <a:t>本来は、</a:t>
            </a:r>
            <a:r>
              <a:rPr lang="en-US" altLang="ja-JP" sz="2000" dirty="0">
                <a:solidFill>
                  <a:schemeClr val="tx1"/>
                </a:solidFill>
                <a:latin typeface=""/>
              </a:rPr>
              <a:t>VDD=5.0V</a:t>
            </a:r>
            <a:r>
              <a:rPr lang="ja-JP" altLang="en-US" sz="2000" dirty="0">
                <a:solidFill>
                  <a:schemeClr val="tx1"/>
                </a:solidFill>
                <a:latin typeface=""/>
              </a:rPr>
              <a:t>の半分である入力</a:t>
            </a:r>
            <a:r>
              <a:rPr lang="en-US" altLang="ja-JP" sz="2000" dirty="0">
                <a:solidFill>
                  <a:schemeClr val="tx1"/>
                </a:solidFill>
                <a:latin typeface=""/>
              </a:rPr>
              <a:t>A = 2.5V</a:t>
            </a:r>
            <a:r>
              <a:rPr lang="ja-JP" altLang="en-US" sz="2000" dirty="0">
                <a:solidFill>
                  <a:schemeClr val="tx1"/>
                </a:solidFill>
                <a:latin typeface=""/>
              </a:rPr>
              <a:t>で動作すべき</a:t>
            </a:r>
            <a:endParaRPr lang="en-US" altLang="ja-JP" sz="2000" dirty="0">
              <a:solidFill>
                <a:schemeClr val="tx1"/>
              </a:solidFill>
              <a:latin typeface=""/>
            </a:endParaRPr>
          </a:p>
        </p:txBody>
      </p:sp>
      <p:pic>
        <p:nvPicPr>
          <p:cNvPr id="11" name="コンテンツ プレースホルダー 15" descr="図形&#10;&#10;低い精度で自動的に生成された説明">
            <a:extLst>
              <a:ext uri="{FF2B5EF4-FFF2-40B4-BE49-F238E27FC236}">
                <a16:creationId xmlns:a16="http://schemas.microsoft.com/office/drawing/2014/main" id="{6B67BF5E-4FBF-9788-6743-3942CEA25296}"/>
              </a:ext>
            </a:extLst>
          </p:cNvPr>
          <p:cNvPicPr>
            <a:picLocks noChangeAspect="1"/>
          </p:cNvPicPr>
          <p:nvPr/>
        </p:nvPicPr>
        <p:blipFill>
          <a:blip r:embed="rId3"/>
          <a:stretch>
            <a:fillRect/>
          </a:stretch>
        </p:blipFill>
        <p:spPr>
          <a:xfrm>
            <a:off x="892270" y="2715823"/>
            <a:ext cx="3711568" cy="3711568"/>
          </a:xfrm>
          <a:prstGeom prst="rect">
            <a:avLst/>
          </a:prstGeom>
        </p:spPr>
      </p:pic>
      <p:pic>
        <p:nvPicPr>
          <p:cNvPr id="18" name="図 17">
            <a:extLst>
              <a:ext uri="{FF2B5EF4-FFF2-40B4-BE49-F238E27FC236}">
                <a16:creationId xmlns:a16="http://schemas.microsoft.com/office/drawing/2014/main" id="{548B1DDC-5AB2-5188-C732-DF15E0E47CC0}"/>
              </a:ext>
            </a:extLst>
          </p:cNvPr>
          <p:cNvPicPr>
            <a:picLocks noChangeAspect="1"/>
          </p:cNvPicPr>
          <p:nvPr/>
        </p:nvPicPr>
        <p:blipFill>
          <a:blip r:embed="rId4"/>
          <a:stretch>
            <a:fillRect/>
          </a:stretch>
        </p:blipFill>
        <p:spPr>
          <a:xfrm>
            <a:off x="5282661" y="2564138"/>
            <a:ext cx="6581225" cy="3933533"/>
          </a:xfrm>
          <a:prstGeom prst="rect">
            <a:avLst/>
          </a:prstGeom>
        </p:spPr>
      </p:pic>
      <p:sp>
        <p:nvSpPr>
          <p:cNvPr id="19" name="吹き出し: 角を丸めた四角形 18">
            <a:extLst>
              <a:ext uri="{FF2B5EF4-FFF2-40B4-BE49-F238E27FC236}">
                <a16:creationId xmlns:a16="http://schemas.microsoft.com/office/drawing/2014/main" id="{9D119888-F337-378A-B967-ADBC9DD553E3}"/>
              </a:ext>
            </a:extLst>
          </p:cNvPr>
          <p:cNvSpPr/>
          <p:nvPr/>
        </p:nvSpPr>
        <p:spPr>
          <a:xfrm>
            <a:off x="558495" y="2113524"/>
            <a:ext cx="1336010" cy="602299"/>
          </a:xfrm>
          <a:prstGeom prst="wedgeRoundRectCallout">
            <a:avLst>
              <a:gd name="adj1" fmla="val -1980"/>
              <a:gd name="adj2" fmla="val 7977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電源：</a:t>
            </a:r>
            <a:r>
              <a:rPr kumimoji="1" lang="en-US" altLang="ja-JP" dirty="0"/>
              <a:t>5V</a:t>
            </a:r>
          </a:p>
        </p:txBody>
      </p:sp>
      <p:sp>
        <p:nvSpPr>
          <p:cNvPr id="20" name="吹き出し: 角を丸めた四角形 19">
            <a:extLst>
              <a:ext uri="{FF2B5EF4-FFF2-40B4-BE49-F238E27FC236}">
                <a16:creationId xmlns:a16="http://schemas.microsoft.com/office/drawing/2014/main" id="{3EA71409-A542-D4CE-D254-987B57FFAA0A}"/>
              </a:ext>
            </a:extLst>
          </p:cNvPr>
          <p:cNvSpPr/>
          <p:nvPr/>
        </p:nvSpPr>
        <p:spPr>
          <a:xfrm>
            <a:off x="3946651" y="3457780"/>
            <a:ext cx="1336010" cy="602299"/>
          </a:xfrm>
          <a:prstGeom prst="wedgeRoundRectCallout">
            <a:avLst>
              <a:gd name="adj1" fmla="val -38046"/>
              <a:gd name="adj2" fmla="val 102500"/>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出力：</a:t>
            </a:r>
            <a:r>
              <a:rPr kumimoji="1" lang="en-US" altLang="ja-JP" dirty="0"/>
              <a:t>5V</a:t>
            </a:r>
          </a:p>
        </p:txBody>
      </p:sp>
      <p:sp>
        <p:nvSpPr>
          <p:cNvPr id="21" name="吹き出し: 角を丸めた四角形 20">
            <a:extLst>
              <a:ext uri="{FF2B5EF4-FFF2-40B4-BE49-F238E27FC236}">
                <a16:creationId xmlns:a16="http://schemas.microsoft.com/office/drawing/2014/main" id="{1A8D971B-A07C-1BCA-9FD2-0F5980FAC770}"/>
              </a:ext>
            </a:extLst>
          </p:cNvPr>
          <p:cNvSpPr/>
          <p:nvPr/>
        </p:nvSpPr>
        <p:spPr>
          <a:xfrm>
            <a:off x="207971" y="3676371"/>
            <a:ext cx="1412761" cy="602299"/>
          </a:xfrm>
          <a:prstGeom prst="wedgeRoundRectCallout">
            <a:avLst>
              <a:gd name="adj1" fmla="val 35315"/>
              <a:gd name="adj2" fmla="val 87045"/>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dirty="0"/>
              <a:t>入力：</a:t>
            </a:r>
            <a:r>
              <a:rPr kumimoji="1" lang="en-US" altLang="ja-JP"/>
              <a:t>1.8V</a:t>
            </a:r>
            <a:endParaRPr kumimoji="1" lang="en-US" altLang="ja-JP" dirty="0"/>
          </a:p>
        </p:txBody>
      </p:sp>
    </p:spTree>
    <p:extLst>
      <p:ext uri="{BB962C8B-B14F-4D97-AF65-F5344CB8AC3E}">
        <p14:creationId xmlns:p14="http://schemas.microsoft.com/office/powerpoint/2010/main" val="10661728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54FC473D-E110-E173-BBC8-4A7980C27364}"/>
              </a:ext>
            </a:extLst>
          </p:cNvPr>
          <p:cNvPicPr>
            <a:picLocks noChangeAspect="1"/>
          </p:cNvPicPr>
          <p:nvPr/>
        </p:nvPicPr>
        <p:blipFill>
          <a:blip r:embed="rId2"/>
          <a:stretch>
            <a:fillRect/>
          </a:stretch>
        </p:blipFill>
        <p:spPr>
          <a:xfrm>
            <a:off x="6270628" y="1965716"/>
            <a:ext cx="3015797" cy="4156543"/>
          </a:xfrm>
          <a:prstGeom prst="rect">
            <a:avLst/>
          </a:prstGeom>
        </p:spPr>
      </p:pic>
      <p:sp>
        <p:nvSpPr>
          <p:cNvPr id="2" name="タイトル 1">
            <a:extLst>
              <a:ext uri="{FF2B5EF4-FFF2-40B4-BE49-F238E27FC236}">
                <a16:creationId xmlns:a16="http://schemas.microsoft.com/office/drawing/2014/main" id="{6C930C03-EC22-0342-16D9-D3E101590D2B}"/>
              </a:ext>
            </a:extLst>
          </p:cNvPr>
          <p:cNvSpPr>
            <a:spLocks noGrp="1"/>
          </p:cNvSpPr>
          <p:nvPr>
            <p:ph type="title"/>
          </p:nvPr>
        </p:nvSpPr>
        <p:spPr/>
        <p:txBody>
          <a:bodyPr/>
          <a:lstStyle/>
          <a:p>
            <a:r>
              <a:rPr kumimoji="1" lang="ja-JP" altLang="en-US" dirty="0"/>
              <a:t>トランジスタのパラメータ</a:t>
            </a:r>
          </a:p>
        </p:txBody>
      </p:sp>
      <p:sp>
        <p:nvSpPr>
          <p:cNvPr id="3" name="日付プレースホルダー 2">
            <a:extLst>
              <a:ext uri="{FF2B5EF4-FFF2-40B4-BE49-F238E27FC236}">
                <a16:creationId xmlns:a16="http://schemas.microsoft.com/office/drawing/2014/main" id="{3E8FCFB6-5A35-98CB-2B21-C5B356767AC7}"/>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5A38BC6-7876-B78B-A8BE-2218DD5061BC}"/>
              </a:ext>
            </a:extLst>
          </p:cNvPr>
          <p:cNvSpPr>
            <a:spLocks noGrp="1"/>
          </p:cNvSpPr>
          <p:nvPr>
            <p:ph type="sldNum" sz="quarter" idx="12"/>
          </p:nvPr>
        </p:nvSpPr>
        <p:spPr/>
        <p:txBody>
          <a:bodyPr/>
          <a:lstStyle/>
          <a:p>
            <a:pPr rtl="0"/>
            <a:fld id="{9860EDB8-5305-433F-BE41-D7A86D811DB3}" type="slidenum">
              <a:rPr lang="en-US" altLang="ja-JP" noProof="0" smtClean="0"/>
              <a:pPr rtl="0"/>
              <a:t>69</a:t>
            </a:fld>
            <a:endParaRPr lang="ja-JP" altLang="en-US" noProof="0"/>
          </a:p>
        </p:txBody>
      </p:sp>
      <p:sp>
        <p:nvSpPr>
          <p:cNvPr id="5" name="コンテンツ プレースホルダー 4">
            <a:extLst>
              <a:ext uri="{FF2B5EF4-FFF2-40B4-BE49-F238E27FC236}">
                <a16:creationId xmlns:a16="http://schemas.microsoft.com/office/drawing/2014/main" id="{673D62D2-0B76-1A0B-0F4A-EF55BE5811F5}"/>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ja-JP" altLang="en-US" sz="1800" dirty="0"/>
              <a:t>基本は</a:t>
            </a:r>
            <a:r>
              <a:rPr kumimoji="1" lang="en-US" altLang="ja-JP" sz="1800" dirty="0"/>
              <a:t>W</a:t>
            </a:r>
            <a:r>
              <a:rPr kumimoji="1" lang="ja-JP" altLang="en-US" sz="1800" dirty="0"/>
              <a:t>と</a:t>
            </a:r>
            <a:r>
              <a:rPr kumimoji="1" lang="en-US" altLang="ja-JP" sz="1800" dirty="0"/>
              <a:t>L</a:t>
            </a:r>
            <a:r>
              <a:rPr kumimoji="1" lang="ja-JP" altLang="en-US" sz="1800" dirty="0"/>
              <a:t>を変える</a:t>
            </a:r>
            <a:endParaRPr kumimoji="1" lang="en-US" altLang="ja-JP" sz="1800" dirty="0"/>
          </a:p>
          <a:p>
            <a:pPr marL="569214" lvl="1" indent="-285750"/>
            <a:r>
              <a:rPr lang="en-US" altLang="ja-JP" sz="1800" dirty="0"/>
              <a:t>W	</a:t>
            </a:r>
            <a:r>
              <a:rPr lang="ja-JP" altLang="en-US" sz="1800" dirty="0"/>
              <a:t>：チャネル幅</a:t>
            </a:r>
            <a:endParaRPr lang="en-US" altLang="ja-JP" sz="1800" dirty="0"/>
          </a:p>
          <a:p>
            <a:pPr marL="569214" lvl="1" indent="-285750"/>
            <a:r>
              <a:rPr lang="en-US" altLang="ja-JP" sz="1800" dirty="0"/>
              <a:t>L	</a:t>
            </a:r>
            <a:r>
              <a:rPr lang="ja-JP" altLang="en-US" sz="1800" dirty="0"/>
              <a:t>：チャネル長（</a:t>
            </a:r>
            <a:r>
              <a:rPr lang="en-US" altLang="ja-JP" sz="1800" dirty="0"/>
              <a:t>※</a:t>
            </a:r>
            <a:r>
              <a:rPr lang="ja-JP" altLang="en-US" sz="1800" dirty="0"/>
              <a:t>実際のチャネル長はちょっと短い）</a:t>
            </a:r>
            <a:endParaRPr kumimoji="1" lang="en-US" altLang="ja-JP" sz="1800" dirty="0"/>
          </a:p>
          <a:p>
            <a:pPr marL="285750" indent="-285750">
              <a:buFont typeface="Arial" panose="020B0604020202020204" pitchFamily="34" charset="0"/>
              <a:buChar char="•"/>
            </a:pPr>
            <a:r>
              <a:rPr lang="ja-JP" altLang="en-US" sz="1800" b="1" dirty="0">
                <a:solidFill>
                  <a:srgbClr val="FF0000"/>
                </a:solidFill>
              </a:rPr>
              <a:t>ゲートと拡散層の重なった部分がトランジスタ本体</a:t>
            </a:r>
            <a:br>
              <a:rPr lang="en-US" altLang="ja-JP" sz="1800" dirty="0"/>
            </a:br>
            <a:r>
              <a:rPr lang="ja-JP" altLang="en-US" sz="1800" dirty="0"/>
              <a:t>ゲートに充分な電位を与えると</a:t>
            </a:r>
            <a:r>
              <a:rPr lang="ja-JP" altLang="en-US" sz="1800" b="1" dirty="0">
                <a:solidFill>
                  <a:srgbClr val="FF0000"/>
                </a:solidFill>
              </a:rPr>
              <a:t>チャネル</a:t>
            </a:r>
            <a:r>
              <a:rPr lang="ja-JP" altLang="en-US" sz="1800" dirty="0"/>
              <a:t>が形成</a:t>
            </a:r>
            <a:endParaRPr lang="en-US" altLang="ja-JP" sz="1800" dirty="0"/>
          </a:p>
          <a:p>
            <a:pPr marL="285750" indent="-285750">
              <a:buFont typeface="Arial" panose="020B0604020202020204" pitchFamily="34" charset="0"/>
              <a:buChar char="•"/>
            </a:pPr>
            <a:r>
              <a:rPr lang="en-US" altLang="ja-JP" sz="1800" dirty="0"/>
              <a:t>m,</a:t>
            </a:r>
            <a:r>
              <a:rPr lang="ja-JP" altLang="en-US" sz="1800" dirty="0"/>
              <a:t> </a:t>
            </a:r>
            <a:r>
              <a:rPr lang="en-US" altLang="ja-JP" sz="1800" dirty="0" err="1"/>
              <a:t>nf</a:t>
            </a:r>
            <a:r>
              <a:rPr lang="en-US" altLang="ja-JP" sz="1800" dirty="0"/>
              <a:t>, mf </a:t>
            </a:r>
            <a:r>
              <a:rPr lang="ja-JP" altLang="en-US" sz="1800" dirty="0"/>
              <a:t>などはゲートの本数（マルチフィンガー）　</a:t>
            </a:r>
            <a:r>
              <a:rPr lang="en-US" altLang="ja-JP" sz="1800" dirty="0"/>
              <a:t> </a:t>
            </a:r>
            <a:endParaRPr kumimoji="1" lang="ja-JP" altLang="en-US" sz="1800" dirty="0"/>
          </a:p>
        </p:txBody>
      </p:sp>
      <p:cxnSp>
        <p:nvCxnSpPr>
          <p:cNvPr id="7" name="直線矢印コネクタ 6">
            <a:extLst>
              <a:ext uri="{FF2B5EF4-FFF2-40B4-BE49-F238E27FC236}">
                <a16:creationId xmlns:a16="http://schemas.microsoft.com/office/drawing/2014/main" id="{0D71352B-9953-A785-D1E9-18FDCB615480}"/>
              </a:ext>
            </a:extLst>
          </p:cNvPr>
          <p:cNvCxnSpPr>
            <a:cxnSpLocks/>
          </p:cNvCxnSpPr>
          <p:nvPr/>
        </p:nvCxnSpPr>
        <p:spPr>
          <a:xfrm>
            <a:off x="7543324" y="4095420"/>
            <a:ext cx="383106"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F93ABDA2-2CA4-15AC-F566-E0C98F22E929}"/>
              </a:ext>
            </a:extLst>
          </p:cNvPr>
          <p:cNvCxnSpPr>
            <a:cxnSpLocks/>
          </p:cNvCxnSpPr>
          <p:nvPr/>
        </p:nvCxnSpPr>
        <p:spPr>
          <a:xfrm>
            <a:off x="7730781" y="2537827"/>
            <a:ext cx="0" cy="297791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B44759B-2F8F-2DF7-09D6-E790C99B5775}"/>
                  </a:ext>
                </a:extLst>
              </p:cNvPr>
              <p:cNvSpPr txBox="1"/>
              <p:nvPr/>
            </p:nvSpPr>
            <p:spPr>
              <a:xfrm>
                <a:off x="8025956" y="3956920"/>
                <a:ext cx="524118" cy="277064"/>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solidFill>
                            <a:schemeClr val="bg1"/>
                          </a:solidFill>
                          <a:latin typeface="Cambria Math" panose="02040503050406030204" pitchFamily="18" charset="0"/>
                        </a:rPr>
                        <m:t>𝐿</m:t>
                      </m:r>
                    </m:oMath>
                  </m:oMathPara>
                </a14:m>
                <a:br>
                  <a:rPr kumimoji="1" lang="en-US" altLang="ja-JP" b="0" i="1" dirty="0">
                    <a:solidFill>
                      <a:schemeClr val="bg1"/>
                    </a:solidFill>
                    <a:latin typeface="Cambria Math" panose="02040503050406030204" pitchFamily="18" charset="0"/>
                  </a:rPr>
                </a:br>
                <a:endParaRPr kumimoji="1" lang="ja-JP" altLang="en-US" dirty="0">
                  <a:solidFill>
                    <a:schemeClr val="bg1"/>
                  </a:solidFill>
                </a:endParaRPr>
              </a:p>
            </p:txBody>
          </p:sp>
        </mc:Choice>
        <mc:Fallback xmlns="">
          <p:sp>
            <p:nvSpPr>
              <p:cNvPr id="9" name="テキスト ボックス 8">
                <a:extLst>
                  <a:ext uri="{FF2B5EF4-FFF2-40B4-BE49-F238E27FC236}">
                    <a16:creationId xmlns:a16="http://schemas.microsoft.com/office/drawing/2014/main" id="{4B44759B-2F8F-2DF7-09D6-E790C99B5775}"/>
                  </a:ext>
                </a:extLst>
              </p:cNvPr>
              <p:cNvSpPr txBox="1">
                <a:spLocks noRot="1" noChangeAspect="1" noMove="1" noResize="1" noEditPoints="1" noAdjustHandles="1" noChangeArrowheads="1" noChangeShapeType="1" noTextEdit="1"/>
              </p:cNvSpPr>
              <p:nvPr/>
            </p:nvSpPr>
            <p:spPr>
              <a:xfrm>
                <a:off x="8025956" y="3956920"/>
                <a:ext cx="524118" cy="277064"/>
              </a:xfrm>
              <a:prstGeom prst="rect">
                <a:avLst/>
              </a:prstGeom>
              <a:blipFill>
                <a:blip r:embed="rId3"/>
                <a:stretch>
                  <a:fillRect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6B7D764-8ADE-E442-641A-77133C240AAC}"/>
                  </a:ext>
                </a:extLst>
              </p:cNvPr>
              <p:cNvSpPr txBox="1"/>
              <p:nvPr/>
            </p:nvSpPr>
            <p:spPr>
              <a:xfrm>
                <a:off x="7597465" y="5590599"/>
                <a:ext cx="279948" cy="276999"/>
              </a:xfrm>
              <a:prstGeom prst="rect">
                <a:avLst/>
              </a:prstGeom>
              <a:noFill/>
            </p:spPr>
            <p:txBody>
              <a:bodyPr wrap="none" lIns="0" tIns="0" rIns="0" bIns="0" rtlCol="0">
                <a:spAutoFit/>
              </a:bodyPr>
              <a:lstStyle/>
              <a:p>
                <a:pPr algn="ctr"/>
                <a14:m>
                  <m:oMathPara xmlns:m="http://schemas.openxmlformats.org/officeDocument/2006/math">
                    <m:oMath>
                      <m:r>
                        <a:rPr kumimoji="1" lang="en-US" altLang="ja-JP" b="0" i="1" smtClean="0">
                          <a:solidFill>
                            <a:schemeClr val="bg1"/>
                          </a:solidFill>
                          <a:latin typeface="Cambria Math" panose="02040503050406030204" pitchFamily="18" charset="0"/>
                        </a:rPr>
                        <m:t>𝑊</m:t>
                      </m:r>
                    </m:oMath>
                  </m:oMathPara>
                </a14:m>
                <a:endParaRPr kumimoji="1" lang="en-US" altLang="ja-JP" b="0" i="1" dirty="0">
                  <a:solidFill>
                    <a:schemeClr val="bg1"/>
                  </a:solidFill>
                  <a:latin typeface="Cambria Math" panose="02040503050406030204" pitchFamily="18" charset="0"/>
                </a:endParaRPr>
              </a:p>
            </p:txBody>
          </p:sp>
        </mc:Choice>
        <mc:Fallback xmlns="">
          <p:sp>
            <p:nvSpPr>
              <p:cNvPr id="10" name="テキスト ボックス 9">
                <a:extLst>
                  <a:ext uri="{FF2B5EF4-FFF2-40B4-BE49-F238E27FC236}">
                    <a16:creationId xmlns:a16="http://schemas.microsoft.com/office/drawing/2014/main" id="{A6B7D764-8ADE-E442-641A-77133C240AAC}"/>
                  </a:ext>
                </a:extLst>
              </p:cNvPr>
              <p:cNvSpPr txBox="1">
                <a:spLocks noRot="1" noChangeAspect="1" noMove="1" noResize="1" noEditPoints="1" noAdjustHandles="1" noChangeArrowheads="1" noChangeShapeType="1" noTextEdit="1"/>
              </p:cNvSpPr>
              <p:nvPr/>
            </p:nvSpPr>
            <p:spPr>
              <a:xfrm>
                <a:off x="7597465" y="5590599"/>
                <a:ext cx="279948" cy="276999"/>
              </a:xfrm>
              <a:prstGeom prst="rect">
                <a:avLst/>
              </a:prstGeom>
              <a:blipFill>
                <a:blip r:embed="rId4"/>
                <a:stretch>
                  <a:fillRect l="-28261" r="-8696" b="-8696"/>
                </a:stretch>
              </a:blipFill>
            </p:spPr>
            <p:txBody>
              <a:bodyPr/>
              <a:lstStyle/>
              <a:p>
                <a:r>
                  <a:rPr lang="ja-JP" altLang="en-US">
                    <a:noFill/>
                  </a:rPr>
                  <a:t> </a:t>
                </a:r>
              </a:p>
            </p:txBody>
          </p:sp>
        </mc:Fallback>
      </mc:AlternateContent>
      <p:sp>
        <p:nvSpPr>
          <p:cNvPr id="11" name="矢印: 左右 10">
            <a:extLst>
              <a:ext uri="{FF2B5EF4-FFF2-40B4-BE49-F238E27FC236}">
                <a16:creationId xmlns:a16="http://schemas.microsoft.com/office/drawing/2014/main" id="{78755E70-F26D-9909-062B-6C99E8964431}"/>
              </a:ext>
            </a:extLst>
          </p:cNvPr>
          <p:cNvSpPr/>
          <p:nvPr/>
        </p:nvSpPr>
        <p:spPr>
          <a:xfrm>
            <a:off x="6542606" y="3213480"/>
            <a:ext cx="2430250" cy="337616"/>
          </a:xfrm>
          <a:prstGeom prst="leftRightArrow">
            <a:avLst/>
          </a:prstGeom>
          <a:solidFill>
            <a:srgbClr val="00B0F0"/>
          </a:solidFill>
          <a:ln>
            <a:solidFill>
              <a:srgbClr val="0070C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36EA36A-5813-8506-BECD-919AD1FC9F90}"/>
              </a:ext>
            </a:extLst>
          </p:cNvPr>
          <p:cNvSpPr/>
          <p:nvPr/>
        </p:nvSpPr>
        <p:spPr>
          <a:xfrm>
            <a:off x="9518295" y="2650048"/>
            <a:ext cx="2133600" cy="27254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5BC72BA-20CB-1844-DAF0-0E9D1045054A}"/>
              </a:ext>
            </a:extLst>
          </p:cNvPr>
          <p:cNvSpPr/>
          <p:nvPr/>
        </p:nvSpPr>
        <p:spPr>
          <a:xfrm>
            <a:off x="10346970" y="2023047"/>
            <a:ext cx="476250" cy="378314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24D2D76-DFAB-A483-20D5-7FD0FC3A136C}"/>
              </a:ext>
            </a:extLst>
          </p:cNvPr>
          <p:cNvSpPr/>
          <p:nvPr/>
        </p:nvSpPr>
        <p:spPr>
          <a:xfrm>
            <a:off x="10346970" y="2652083"/>
            <a:ext cx="476250" cy="272544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BB7C41C-8C8A-631B-AA95-82EFA7D0C408}"/>
              </a:ext>
            </a:extLst>
          </p:cNvPr>
          <p:cNvSpPr txBox="1"/>
          <p:nvPr/>
        </p:nvSpPr>
        <p:spPr>
          <a:xfrm>
            <a:off x="10363618" y="3135606"/>
            <a:ext cx="476250" cy="1754326"/>
          </a:xfrm>
          <a:prstGeom prst="rect">
            <a:avLst/>
          </a:prstGeom>
          <a:noFill/>
        </p:spPr>
        <p:txBody>
          <a:bodyPr wrap="square" rtlCol="0">
            <a:spAutoFit/>
          </a:bodyPr>
          <a:lstStyle/>
          <a:p>
            <a:r>
              <a:rPr kumimoji="1" lang="ja-JP" altLang="en-US" dirty="0">
                <a:solidFill>
                  <a:schemeClr val="bg1"/>
                </a:solidFill>
              </a:rPr>
              <a:t>ほぼ</a:t>
            </a:r>
            <a:endParaRPr kumimoji="1" lang="en-US" altLang="ja-JP" dirty="0">
              <a:solidFill>
                <a:schemeClr val="bg1"/>
              </a:solidFill>
            </a:endParaRPr>
          </a:p>
          <a:p>
            <a:r>
              <a:rPr kumimoji="1" lang="ja-JP" altLang="en-US" dirty="0">
                <a:solidFill>
                  <a:schemeClr val="bg1"/>
                </a:solidFill>
              </a:rPr>
              <a:t>チャネル</a:t>
            </a:r>
            <a:endParaRPr kumimoji="1" lang="en-US" altLang="ja-JP" dirty="0">
              <a:solidFill>
                <a:schemeClr val="bg1"/>
              </a:solidFill>
            </a:endParaRPr>
          </a:p>
        </p:txBody>
      </p:sp>
      <p:sp>
        <p:nvSpPr>
          <p:cNvPr id="16" name="テキスト ボックス 15">
            <a:extLst>
              <a:ext uri="{FF2B5EF4-FFF2-40B4-BE49-F238E27FC236}">
                <a16:creationId xmlns:a16="http://schemas.microsoft.com/office/drawing/2014/main" id="{BBFA34C0-62F2-59DD-1D51-A26EA4C9C5C1}"/>
              </a:ext>
            </a:extLst>
          </p:cNvPr>
          <p:cNvSpPr txBox="1"/>
          <p:nvPr/>
        </p:nvSpPr>
        <p:spPr>
          <a:xfrm>
            <a:off x="9733934" y="3412605"/>
            <a:ext cx="409303" cy="1200329"/>
          </a:xfrm>
          <a:prstGeom prst="rect">
            <a:avLst/>
          </a:prstGeom>
          <a:noFill/>
        </p:spPr>
        <p:txBody>
          <a:bodyPr wrap="square" rtlCol="0">
            <a:spAutoFit/>
          </a:bodyPr>
          <a:lstStyle/>
          <a:p>
            <a:r>
              <a:rPr kumimoji="1" lang="ja-JP" altLang="en-US" dirty="0"/>
              <a:t>ドレイン</a:t>
            </a:r>
          </a:p>
        </p:txBody>
      </p:sp>
      <p:sp>
        <p:nvSpPr>
          <p:cNvPr id="17" name="テキスト ボックス 16">
            <a:extLst>
              <a:ext uri="{FF2B5EF4-FFF2-40B4-BE49-F238E27FC236}">
                <a16:creationId xmlns:a16="http://schemas.microsoft.com/office/drawing/2014/main" id="{B9E6F7A7-EA24-33F2-E5B0-CD0D495648F3}"/>
              </a:ext>
            </a:extLst>
          </p:cNvPr>
          <p:cNvSpPr txBox="1"/>
          <p:nvPr/>
        </p:nvSpPr>
        <p:spPr>
          <a:xfrm>
            <a:off x="11010722" y="3551104"/>
            <a:ext cx="409303" cy="923330"/>
          </a:xfrm>
          <a:prstGeom prst="rect">
            <a:avLst/>
          </a:prstGeom>
          <a:noFill/>
        </p:spPr>
        <p:txBody>
          <a:bodyPr wrap="square" rtlCol="0">
            <a:spAutoFit/>
          </a:bodyPr>
          <a:lstStyle/>
          <a:p>
            <a:r>
              <a:rPr kumimoji="1" lang="ja-JP" altLang="en-US" dirty="0"/>
              <a:t>ソ｜ス</a:t>
            </a:r>
          </a:p>
        </p:txBody>
      </p:sp>
      <p:sp>
        <p:nvSpPr>
          <p:cNvPr id="18" name="テキスト ボックス 17">
            <a:extLst>
              <a:ext uri="{FF2B5EF4-FFF2-40B4-BE49-F238E27FC236}">
                <a16:creationId xmlns:a16="http://schemas.microsoft.com/office/drawing/2014/main" id="{99657E91-B183-486E-B185-C7212072EFB7}"/>
              </a:ext>
            </a:extLst>
          </p:cNvPr>
          <p:cNvSpPr txBox="1"/>
          <p:nvPr/>
        </p:nvSpPr>
        <p:spPr>
          <a:xfrm>
            <a:off x="9984204" y="1614948"/>
            <a:ext cx="1201782" cy="369332"/>
          </a:xfrm>
          <a:prstGeom prst="rect">
            <a:avLst/>
          </a:prstGeom>
          <a:noFill/>
        </p:spPr>
        <p:txBody>
          <a:bodyPr wrap="square" rtlCol="0">
            <a:spAutoFit/>
          </a:bodyPr>
          <a:lstStyle/>
          <a:p>
            <a:pPr algn="ctr"/>
            <a:r>
              <a:rPr kumimoji="1" lang="ja-JP" altLang="en-US" dirty="0">
                <a:solidFill>
                  <a:srgbClr val="FF0000"/>
                </a:solidFill>
              </a:rPr>
              <a:t>ゲート</a:t>
            </a:r>
          </a:p>
        </p:txBody>
      </p:sp>
    </p:spTree>
    <p:extLst>
      <p:ext uri="{BB962C8B-B14F-4D97-AF65-F5344CB8AC3E}">
        <p14:creationId xmlns:p14="http://schemas.microsoft.com/office/powerpoint/2010/main" val="10879398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正方形/長方形 28">
            <a:extLst>
              <a:ext uri="{FF2B5EF4-FFF2-40B4-BE49-F238E27FC236}">
                <a16:creationId xmlns:a16="http://schemas.microsoft.com/office/drawing/2014/main" id="{04E293D9-E058-3588-CB46-CF463ABECECA}"/>
              </a:ext>
            </a:extLst>
          </p:cNvPr>
          <p:cNvSpPr/>
          <p:nvPr/>
        </p:nvSpPr>
        <p:spPr>
          <a:xfrm>
            <a:off x="7438564" y="3600196"/>
            <a:ext cx="1739772" cy="135457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正方形/長方形 80">
            <a:extLst>
              <a:ext uri="{FF2B5EF4-FFF2-40B4-BE49-F238E27FC236}">
                <a16:creationId xmlns:a16="http://schemas.microsoft.com/office/drawing/2014/main" id="{ADC4AE93-FF30-0331-D937-B351345514FE}"/>
              </a:ext>
            </a:extLst>
          </p:cNvPr>
          <p:cNvSpPr/>
          <p:nvPr/>
        </p:nvSpPr>
        <p:spPr>
          <a:xfrm rot="5400000">
            <a:off x="7505486" y="3532184"/>
            <a:ext cx="2722552"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4D8B704-2A44-3507-DBDC-33C165ED4BC6}"/>
              </a:ext>
            </a:extLst>
          </p:cNvPr>
          <p:cNvSpPr>
            <a:spLocks noGrp="1"/>
          </p:cNvSpPr>
          <p:nvPr>
            <p:ph type="title"/>
          </p:nvPr>
        </p:nvSpPr>
        <p:spPr/>
        <p:txBody>
          <a:bodyPr/>
          <a:lstStyle/>
          <a:p>
            <a:r>
              <a:rPr lang="ja-JP" altLang="en-US" dirty="0"/>
              <a:t>チャネル幅　</a:t>
            </a:r>
            <a:r>
              <a:rPr kumimoji="1" lang="en-US" altLang="ja-JP" dirty="0"/>
              <a:t>W</a:t>
            </a:r>
            <a:r>
              <a:rPr lang="ja-JP" altLang="en-US" dirty="0"/>
              <a:t>を変えるとどうなる？</a:t>
            </a:r>
            <a:endParaRPr kumimoji="1" lang="ja-JP" altLang="en-US" dirty="0"/>
          </a:p>
        </p:txBody>
      </p:sp>
      <p:sp>
        <p:nvSpPr>
          <p:cNvPr id="3" name="日付プレースホルダー 2">
            <a:extLst>
              <a:ext uri="{FF2B5EF4-FFF2-40B4-BE49-F238E27FC236}">
                <a16:creationId xmlns:a16="http://schemas.microsoft.com/office/drawing/2014/main" id="{48FC6C92-1A03-7BB7-D07A-33CEFCC3FDF8}"/>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8737296A-84A9-1904-B69B-F62BF2925429}"/>
              </a:ext>
            </a:extLst>
          </p:cNvPr>
          <p:cNvSpPr>
            <a:spLocks noGrp="1"/>
          </p:cNvSpPr>
          <p:nvPr>
            <p:ph type="sldNum" sz="quarter" idx="12"/>
          </p:nvPr>
        </p:nvSpPr>
        <p:spPr/>
        <p:txBody>
          <a:bodyPr/>
          <a:lstStyle/>
          <a:p>
            <a:pPr rtl="0"/>
            <a:fld id="{9860EDB8-5305-433F-BE41-D7A86D811DB3}" type="slidenum">
              <a:rPr lang="en-US" altLang="ja-JP" noProof="0" smtClean="0"/>
              <a:pPr rtl="0"/>
              <a:t>70</a:t>
            </a:fld>
            <a:endParaRPr lang="ja-JP" altLang="en-US" noProof="0"/>
          </a:p>
        </p:txBody>
      </p:sp>
      <p:sp>
        <p:nvSpPr>
          <p:cNvPr id="5" name="コンテンツ プレースホルダー 4">
            <a:extLst>
              <a:ext uri="{FF2B5EF4-FFF2-40B4-BE49-F238E27FC236}">
                <a16:creationId xmlns:a16="http://schemas.microsoft.com/office/drawing/2014/main" id="{DF6CC52A-B587-080A-F9A1-E962FD799A61}"/>
              </a:ext>
            </a:extLst>
          </p:cNvPr>
          <p:cNvSpPr>
            <a:spLocks noGrp="1"/>
          </p:cNvSpPr>
          <p:nvPr>
            <p:ph sz="quarter" idx="13"/>
          </p:nvPr>
        </p:nvSpPr>
        <p:spPr/>
        <p:txBody>
          <a:bodyPr>
            <a:normAutofit/>
          </a:bodyPr>
          <a:lstStyle/>
          <a:p>
            <a:pPr marL="285750" indent="-285750">
              <a:buFont typeface="Arial" panose="020B0604020202020204" pitchFamily="34" charset="0"/>
              <a:buChar char="•"/>
            </a:pPr>
            <a:r>
              <a:rPr kumimoji="1" lang="ja-JP" altLang="en-US" sz="2000" dirty="0">
                <a:solidFill>
                  <a:srgbClr val="464646"/>
                </a:solidFill>
              </a:rPr>
              <a:t>チャネル幅を大きくとると電流の通り道が</a:t>
            </a:r>
            <a:r>
              <a:rPr kumimoji="1" lang="ja-JP" altLang="en-US" sz="2000" dirty="0"/>
              <a:t>広くなるので、ドレインソース間の電流は増える</a:t>
            </a:r>
            <a:endParaRPr kumimoji="1" lang="en-US" altLang="ja-JP" sz="2000" dirty="0"/>
          </a:p>
          <a:p>
            <a:pPr marL="285750" indent="-285750">
              <a:buFont typeface="Arial" panose="020B0604020202020204" pitchFamily="34" charset="0"/>
              <a:buChar char="•"/>
            </a:pPr>
            <a:r>
              <a:rPr lang="ja-JP" altLang="en-US" sz="2000" dirty="0">
                <a:solidFill>
                  <a:srgbClr val="464646"/>
                </a:solidFill>
              </a:rPr>
              <a:t>チャネル長が同</a:t>
            </a:r>
            <a:r>
              <a:rPr lang="ja-JP" altLang="en-US" sz="2000" dirty="0"/>
              <a:t>じトランジスタでは、</a:t>
            </a:r>
            <a:r>
              <a:rPr lang="ja-JP" altLang="en-US" sz="2000" b="1" dirty="0">
                <a:solidFill>
                  <a:srgbClr val="FF0000"/>
                </a:solidFill>
              </a:rPr>
              <a:t>チャネル幅とドレインソース間電流は比例の関係</a:t>
            </a:r>
            <a:endParaRPr kumimoji="1" lang="ja-JP" altLang="en-US" sz="2000" b="1" dirty="0">
              <a:solidFill>
                <a:srgbClr val="FF0000"/>
              </a:solidFill>
            </a:endParaRPr>
          </a:p>
        </p:txBody>
      </p:sp>
      <p:sp>
        <p:nvSpPr>
          <p:cNvPr id="24" name="正方形/長方形 23">
            <a:extLst>
              <a:ext uri="{FF2B5EF4-FFF2-40B4-BE49-F238E27FC236}">
                <a16:creationId xmlns:a16="http://schemas.microsoft.com/office/drawing/2014/main" id="{2FCEB86C-7FB9-3CCE-10DE-A2D49FE58671}"/>
              </a:ext>
            </a:extLst>
          </p:cNvPr>
          <p:cNvSpPr/>
          <p:nvPr/>
        </p:nvSpPr>
        <p:spPr>
          <a:xfrm>
            <a:off x="3013665" y="3261552"/>
            <a:ext cx="1739772" cy="677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A4266BB1-E9E3-6596-B817-FF05ABD8E578}"/>
              </a:ext>
            </a:extLst>
          </p:cNvPr>
          <p:cNvSpPr/>
          <p:nvPr/>
        </p:nvSpPr>
        <p:spPr>
          <a:xfrm>
            <a:off x="3013665" y="4572236"/>
            <a:ext cx="1739772" cy="677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A79E11B5-6E9D-8337-3457-6FF0161F8CEE}"/>
              </a:ext>
            </a:extLst>
          </p:cNvPr>
          <p:cNvSpPr/>
          <p:nvPr/>
        </p:nvSpPr>
        <p:spPr>
          <a:xfrm>
            <a:off x="3697858" y="2775492"/>
            <a:ext cx="390286" cy="297518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0389BE72-8FA8-2E06-6913-AE984D58CFC9}"/>
              </a:ext>
            </a:extLst>
          </p:cNvPr>
          <p:cNvSpPr/>
          <p:nvPr/>
        </p:nvSpPr>
        <p:spPr>
          <a:xfrm>
            <a:off x="8070325" y="3063200"/>
            <a:ext cx="476250" cy="245138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矢印コネクタ 31">
            <a:extLst>
              <a:ext uri="{FF2B5EF4-FFF2-40B4-BE49-F238E27FC236}">
                <a16:creationId xmlns:a16="http://schemas.microsoft.com/office/drawing/2014/main" id="{61A11285-BDB9-FD76-E625-C3DB7D4B2A99}"/>
              </a:ext>
            </a:extLst>
          </p:cNvPr>
          <p:cNvCxnSpPr/>
          <p:nvPr/>
        </p:nvCxnSpPr>
        <p:spPr>
          <a:xfrm>
            <a:off x="4916573" y="3261552"/>
            <a:ext cx="0" cy="67728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302263C5-9C68-6B3D-7E3E-4D1684AA7F64}"/>
              </a:ext>
            </a:extLst>
          </p:cNvPr>
          <p:cNvCxnSpPr/>
          <p:nvPr/>
        </p:nvCxnSpPr>
        <p:spPr>
          <a:xfrm>
            <a:off x="4916573" y="4572236"/>
            <a:ext cx="0" cy="67728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74342091-A18F-53E7-39C8-5BF7BA7A11AC}"/>
              </a:ext>
            </a:extLst>
          </p:cNvPr>
          <p:cNvCxnSpPr>
            <a:cxnSpLocks/>
          </p:cNvCxnSpPr>
          <p:nvPr/>
        </p:nvCxnSpPr>
        <p:spPr>
          <a:xfrm>
            <a:off x="9454552" y="3600196"/>
            <a:ext cx="0" cy="135457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CC1EDB66-41B9-825E-0250-2C964179ACAE}"/>
              </a:ext>
            </a:extLst>
          </p:cNvPr>
          <p:cNvSpPr txBox="1"/>
          <p:nvPr/>
        </p:nvSpPr>
        <p:spPr>
          <a:xfrm>
            <a:off x="4974251" y="3429000"/>
            <a:ext cx="627014" cy="369332"/>
          </a:xfrm>
          <a:prstGeom prst="rect">
            <a:avLst/>
          </a:prstGeom>
          <a:noFill/>
        </p:spPr>
        <p:txBody>
          <a:bodyPr wrap="square" rtlCol="0">
            <a:spAutoFit/>
          </a:bodyPr>
          <a:lstStyle/>
          <a:p>
            <a:r>
              <a:rPr kumimoji="1" lang="en-US" altLang="ja-JP" dirty="0"/>
              <a:t>W</a:t>
            </a:r>
            <a:endParaRPr kumimoji="1" lang="ja-JP" altLang="en-US" dirty="0"/>
          </a:p>
        </p:txBody>
      </p:sp>
      <p:sp>
        <p:nvSpPr>
          <p:cNvPr id="37" name="テキスト ボックス 36">
            <a:extLst>
              <a:ext uri="{FF2B5EF4-FFF2-40B4-BE49-F238E27FC236}">
                <a16:creationId xmlns:a16="http://schemas.microsoft.com/office/drawing/2014/main" id="{BC64822D-8A77-F5F4-65CA-8895D3378271}"/>
              </a:ext>
            </a:extLst>
          </p:cNvPr>
          <p:cNvSpPr txBox="1"/>
          <p:nvPr/>
        </p:nvSpPr>
        <p:spPr>
          <a:xfrm>
            <a:off x="4974251" y="4746894"/>
            <a:ext cx="627014" cy="369332"/>
          </a:xfrm>
          <a:prstGeom prst="rect">
            <a:avLst/>
          </a:prstGeom>
          <a:noFill/>
        </p:spPr>
        <p:txBody>
          <a:bodyPr wrap="square" rtlCol="0">
            <a:spAutoFit/>
          </a:bodyPr>
          <a:lstStyle/>
          <a:p>
            <a:r>
              <a:rPr kumimoji="1" lang="en-US" altLang="ja-JP" dirty="0"/>
              <a:t>W</a:t>
            </a:r>
            <a:endParaRPr kumimoji="1" lang="ja-JP" altLang="en-US" dirty="0"/>
          </a:p>
        </p:txBody>
      </p:sp>
      <p:sp>
        <p:nvSpPr>
          <p:cNvPr id="38" name="テキスト ボックス 37">
            <a:extLst>
              <a:ext uri="{FF2B5EF4-FFF2-40B4-BE49-F238E27FC236}">
                <a16:creationId xmlns:a16="http://schemas.microsoft.com/office/drawing/2014/main" id="{D8BC3D07-5D3C-10A6-5ECB-A5B42B8B65EE}"/>
              </a:ext>
            </a:extLst>
          </p:cNvPr>
          <p:cNvSpPr txBox="1"/>
          <p:nvPr/>
        </p:nvSpPr>
        <p:spPr>
          <a:xfrm>
            <a:off x="9496590" y="4078416"/>
            <a:ext cx="627014" cy="369332"/>
          </a:xfrm>
          <a:prstGeom prst="rect">
            <a:avLst/>
          </a:prstGeom>
          <a:noFill/>
        </p:spPr>
        <p:txBody>
          <a:bodyPr wrap="square" rtlCol="0">
            <a:spAutoFit/>
          </a:bodyPr>
          <a:lstStyle/>
          <a:p>
            <a:r>
              <a:rPr kumimoji="1" lang="en-US" altLang="ja-JP" dirty="0"/>
              <a:t>2W</a:t>
            </a:r>
            <a:endParaRPr kumimoji="1" lang="ja-JP" altLang="en-US" dirty="0"/>
          </a:p>
        </p:txBody>
      </p:sp>
      <p:sp>
        <p:nvSpPr>
          <p:cNvPr id="42" name="正方形/長方形 41">
            <a:extLst>
              <a:ext uri="{FF2B5EF4-FFF2-40B4-BE49-F238E27FC236}">
                <a16:creationId xmlns:a16="http://schemas.microsoft.com/office/drawing/2014/main" id="{D15BD1D0-650D-D88A-C0CE-B45DC413B64D}"/>
              </a:ext>
            </a:extLst>
          </p:cNvPr>
          <p:cNvSpPr/>
          <p:nvPr/>
        </p:nvSpPr>
        <p:spPr>
          <a:xfrm>
            <a:off x="1802674" y="3378159"/>
            <a:ext cx="1732048"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3123A7D6-CFE4-ABC4-E221-922C4F204216}"/>
              </a:ext>
            </a:extLst>
          </p:cNvPr>
          <p:cNvSpPr/>
          <p:nvPr/>
        </p:nvSpPr>
        <p:spPr>
          <a:xfrm>
            <a:off x="1802674" y="4688114"/>
            <a:ext cx="1732048"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6F0228F6-887A-7F49-2014-871BF63481F7}"/>
              </a:ext>
            </a:extLst>
          </p:cNvPr>
          <p:cNvSpPr/>
          <p:nvPr/>
        </p:nvSpPr>
        <p:spPr>
          <a:xfrm rot="5400000">
            <a:off x="1140052" y="4033136"/>
            <a:ext cx="1755487"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360553F7-412C-B62C-D1EC-455FFE20D406}"/>
              </a:ext>
            </a:extLst>
          </p:cNvPr>
          <p:cNvSpPr/>
          <p:nvPr/>
        </p:nvSpPr>
        <p:spPr>
          <a:xfrm rot="5400000">
            <a:off x="2543523" y="4159116"/>
            <a:ext cx="3748136"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6A6B2687-0002-B206-5096-4FCF13CEEE68}"/>
              </a:ext>
            </a:extLst>
          </p:cNvPr>
          <p:cNvSpPr/>
          <p:nvPr/>
        </p:nvSpPr>
        <p:spPr>
          <a:xfrm>
            <a:off x="508514" y="4033136"/>
            <a:ext cx="1732048"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35E9A121-434A-0E05-610E-6C7E559D8CB1}"/>
              </a:ext>
            </a:extLst>
          </p:cNvPr>
          <p:cNvSpPr/>
          <p:nvPr/>
        </p:nvSpPr>
        <p:spPr>
          <a:xfrm>
            <a:off x="3115135" y="3439259"/>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コネクタ 49">
            <a:extLst>
              <a:ext uri="{FF2B5EF4-FFF2-40B4-BE49-F238E27FC236}">
                <a16:creationId xmlns:a16="http://schemas.microsoft.com/office/drawing/2014/main" id="{033426B7-8B71-7B16-72C5-918FAC8BFEEB}"/>
              </a:ext>
            </a:extLst>
          </p:cNvPr>
          <p:cNvCxnSpPr>
            <a:cxnSpLocks/>
          </p:cNvCxnSpPr>
          <p:nvPr/>
        </p:nvCxnSpPr>
        <p:spPr>
          <a:xfrm>
            <a:off x="3117646" y="3442392"/>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7CAA4A62-759E-357E-C17D-98C0F291F00D}"/>
              </a:ext>
            </a:extLst>
          </p:cNvPr>
          <p:cNvCxnSpPr>
            <a:cxnSpLocks/>
          </p:cNvCxnSpPr>
          <p:nvPr/>
        </p:nvCxnSpPr>
        <p:spPr>
          <a:xfrm flipV="1">
            <a:off x="3112596" y="3439259"/>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56" name="正方形/長方形 55">
            <a:extLst>
              <a:ext uri="{FF2B5EF4-FFF2-40B4-BE49-F238E27FC236}">
                <a16:creationId xmlns:a16="http://schemas.microsoft.com/office/drawing/2014/main" id="{251CCFB9-E8CC-8E48-F3B8-2E84FD2B4416}"/>
              </a:ext>
            </a:extLst>
          </p:cNvPr>
          <p:cNvSpPr/>
          <p:nvPr/>
        </p:nvSpPr>
        <p:spPr>
          <a:xfrm>
            <a:off x="3112596" y="4746894"/>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7" name="直線コネクタ 56">
            <a:extLst>
              <a:ext uri="{FF2B5EF4-FFF2-40B4-BE49-F238E27FC236}">
                <a16:creationId xmlns:a16="http://schemas.microsoft.com/office/drawing/2014/main" id="{9CF6E9F5-330A-D852-AEAB-2A63A4403093}"/>
              </a:ext>
            </a:extLst>
          </p:cNvPr>
          <p:cNvCxnSpPr>
            <a:cxnSpLocks/>
          </p:cNvCxnSpPr>
          <p:nvPr/>
        </p:nvCxnSpPr>
        <p:spPr>
          <a:xfrm>
            <a:off x="3115107" y="4750027"/>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512EFB10-2245-0186-2373-AE6EFE3EB2AA}"/>
              </a:ext>
            </a:extLst>
          </p:cNvPr>
          <p:cNvCxnSpPr>
            <a:cxnSpLocks/>
          </p:cNvCxnSpPr>
          <p:nvPr/>
        </p:nvCxnSpPr>
        <p:spPr>
          <a:xfrm flipV="1">
            <a:off x="3110057" y="4746894"/>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C9007B2F-DE63-9745-692E-B425A5CA73F5}"/>
              </a:ext>
            </a:extLst>
          </p:cNvPr>
          <p:cNvSpPr/>
          <p:nvPr/>
        </p:nvSpPr>
        <p:spPr>
          <a:xfrm>
            <a:off x="4260685" y="3429000"/>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0" name="直線コネクタ 59">
            <a:extLst>
              <a:ext uri="{FF2B5EF4-FFF2-40B4-BE49-F238E27FC236}">
                <a16:creationId xmlns:a16="http://schemas.microsoft.com/office/drawing/2014/main" id="{4836BEAD-53CE-861C-D711-21D52F4D823D}"/>
              </a:ext>
            </a:extLst>
          </p:cNvPr>
          <p:cNvCxnSpPr>
            <a:cxnSpLocks/>
          </p:cNvCxnSpPr>
          <p:nvPr/>
        </p:nvCxnSpPr>
        <p:spPr>
          <a:xfrm>
            <a:off x="4263196" y="3432133"/>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B5C25231-BE7E-AAA2-0042-A9B9BA39720A}"/>
              </a:ext>
            </a:extLst>
          </p:cNvPr>
          <p:cNvCxnSpPr>
            <a:cxnSpLocks/>
          </p:cNvCxnSpPr>
          <p:nvPr/>
        </p:nvCxnSpPr>
        <p:spPr>
          <a:xfrm flipV="1">
            <a:off x="4258146" y="3429000"/>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943612FB-2A2C-E5A2-C3B6-FA1FD7CBDD5A}"/>
              </a:ext>
            </a:extLst>
          </p:cNvPr>
          <p:cNvSpPr/>
          <p:nvPr/>
        </p:nvSpPr>
        <p:spPr>
          <a:xfrm>
            <a:off x="4264452" y="4742799"/>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3" name="直線コネクタ 62">
            <a:extLst>
              <a:ext uri="{FF2B5EF4-FFF2-40B4-BE49-F238E27FC236}">
                <a16:creationId xmlns:a16="http://schemas.microsoft.com/office/drawing/2014/main" id="{B7E54736-70C3-C858-9EDC-CDD00139A782}"/>
              </a:ext>
            </a:extLst>
          </p:cNvPr>
          <p:cNvCxnSpPr>
            <a:cxnSpLocks/>
          </p:cNvCxnSpPr>
          <p:nvPr/>
        </p:nvCxnSpPr>
        <p:spPr>
          <a:xfrm>
            <a:off x="4266963" y="4745932"/>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16DB1975-6EF1-BBC6-D711-717ACD6972E9}"/>
              </a:ext>
            </a:extLst>
          </p:cNvPr>
          <p:cNvCxnSpPr>
            <a:cxnSpLocks/>
          </p:cNvCxnSpPr>
          <p:nvPr/>
        </p:nvCxnSpPr>
        <p:spPr>
          <a:xfrm flipV="1">
            <a:off x="4261913" y="4742799"/>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74" name="正方形/長方形 73">
            <a:extLst>
              <a:ext uri="{FF2B5EF4-FFF2-40B4-BE49-F238E27FC236}">
                <a16:creationId xmlns:a16="http://schemas.microsoft.com/office/drawing/2014/main" id="{2513C775-3B97-9F47-31DD-2A5E22B94CFA}"/>
              </a:ext>
            </a:extLst>
          </p:cNvPr>
          <p:cNvSpPr/>
          <p:nvPr/>
        </p:nvSpPr>
        <p:spPr>
          <a:xfrm>
            <a:off x="8702682" y="3763914"/>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5" name="直線コネクタ 74">
            <a:extLst>
              <a:ext uri="{FF2B5EF4-FFF2-40B4-BE49-F238E27FC236}">
                <a16:creationId xmlns:a16="http://schemas.microsoft.com/office/drawing/2014/main" id="{DED83619-EDF7-45C1-0024-C71A204E13BA}"/>
              </a:ext>
            </a:extLst>
          </p:cNvPr>
          <p:cNvCxnSpPr>
            <a:cxnSpLocks/>
          </p:cNvCxnSpPr>
          <p:nvPr/>
        </p:nvCxnSpPr>
        <p:spPr>
          <a:xfrm>
            <a:off x="8705193" y="3767047"/>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EF1961DB-1D7B-CDE5-3C21-9A77C827C1FB}"/>
              </a:ext>
            </a:extLst>
          </p:cNvPr>
          <p:cNvCxnSpPr>
            <a:cxnSpLocks/>
          </p:cNvCxnSpPr>
          <p:nvPr/>
        </p:nvCxnSpPr>
        <p:spPr>
          <a:xfrm flipV="1">
            <a:off x="8700143" y="3763914"/>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77" name="正方形/長方形 76">
            <a:extLst>
              <a:ext uri="{FF2B5EF4-FFF2-40B4-BE49-F238E27FC236}">
                <a16:creationId xmlns:a16="http://schemas.microsoft.com/office/drawing/2014/main" id="{DF667285-7364-8AB4-4D52-FC0EFD85986C}"/>
              </a:ext>
            </a:extLst>
          </p:cNvPr>
          <p:cNvSpPr/>
          <p:nvPr/>
        </p:nvSpPr>
        <p:spPr>
          <a:xfrm>
            <a:off x="8697150" y="4466708"/>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8" name="直線コネクタ 77">
            <a:extLst>
              <a:ext uri="{FF2B5EF4-FFF2-40B4-BE49-F238E27FC236}">
                <a16:creationId xmlns:a16="http://schemas.microsoft.com/office/drawing/2014/main" id="{E6C55CD6-B571-713D-65CA-DC8B3B9DD65D}"/>
              </a:ext>
            </a:extLst>
          </p:cNvPr>
          <p:cNvCxnSpPr>
            <a:cxnSpLocks/>
          </p:cNvCxnSpPr>
          <p:nvPr/>
        </p:nvCxnSpPr>
        <p:spPr>
          <a:xfrm>
            <a:off x="8699661" y="4469841"/>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59561E7B-FD01-F6A1-5029-83ED10246B98}"/>
              </a:ext>
            </a:extLst>
          </p:cNvPr>
          <p:cNvCxnSpPr>
            <a:cxnSpLocks/>
          </p:cNvCxnSpPr>
          <p:nvPr/>
        </p:nvCxnSpPr>
        <p:spPr>
          <a:xfrm flipV="1">
            <a:off x="8694611" y="4466708"/>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1E4AB8B0-ABCC-6719-087B-176E9B3ADC17}"/>
              </a:ext>
            </a:extLst>
          </p:cNvPr>
          <p:cNvSpPr/>
          <p:nvPr/>
        </p:nvSpPr>
        <p:spPr>
          <a:xfrm rot="5400000">
            <a:off x="6393379" y="4567510"/>
            <a:ext cx="2722552" cy="445532"/>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AD5F2AEE-2108-D212-B45B-E2CEBBE16B42}"/>
              </a:ext>
            </a:extLst>
          </p:cNvPr>
          <p:cNvSpPr/>
          <p:nvPr/>
        </p:nvSpPr>
        <p:spPr>
          <a:xfrm>
            <a:off x="7592582" y="3763914"/>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9" name="直線コネクタ 68">
            <a:extLst>
              <a:ext uri="{FF2B5EF4-FFF2-40B4-BE49-F238E27FC236}">
                <a16:creationId xmlns:a16="http://schemas.microsoft.com/office/drawing/2014/main" id="{205E85F5-DD9B-71E4-E7C4-03B61116CB73}"/>
              </a:ext>
            </a:extLst>
          </p:cNvPr>
          <p:cNvCxnSpPr>
            <a:cxnSpLocks/>
          </p:cNvCxnSpPr>
          <p:nvPr/>
        </p:nvCxnSpPr>
        <p:spPr>
          <a:xfrm>
            <a:off x="7595093" y="3767047"/>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A5305FD2-0711-F6A0-79CE-12C365920150}"/>
              </a:ext>
            </a:extLst>
          </p:cNvPr>
          <p:cNvCxnSpPr>
            <a:cxnSpLocks/>
          </p:cNvCxnSpPr>
          <p:nvPr/>
        </p:nvCxnSpPr>
        <p:spPr>
          <a:xfrm flipV="1">
            <a:off x="7590043" y="3763914"/>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71" name="正方形/長方形 70">
            <a:extLst>
              <a:ext uri="{FF2B5EF4-FFF2-40B4-BE49-F238E27FC236}">
                <a16:creationId xmlns:a16="http://schemas.microsoft.com/office/drawing/2014/main" id="{F795DE8C-73C2-A3B7-A40C-2F6E9AABF71B}"/>
              </a:ext>
            </a:extLst>
          </p:cNvPr>
          <p:cNvSpPr/>
          <p:nvPr/>
        </p:nvSpPr>
        <p:spPr>
          <a:xfrm>
            <a:off x="7587050" y="4466708"/>
            <a:ext cx="324175" cy="3177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2" name="直線コネクタ 71">
            <a:extLst>
              <a:ext uri="{FF2B5EF4-FFF2-40B4-BE49-F238E27FC236}">
                <a16:creationId xmlns:a16="http://schemas.microsoft.com/office/drawing/2014/main" id="{21C4BC08-F1D7-97CD-C90C-B13958538A69}"/>
              </a:ext>
            </a:extLst>
          </p:cNvPr>
          <p:cNvCxnSpPr>
            <a:cxnSpLocks/>
          </p:cNvCxnSpPr>
          <p:nvPr/>
        </p:nvCxnSpPr>
        <p:spPr>
          <a:xfrm>
            <a:off x="7589561" y="4469841"/>
            <a:ext cx="319125" cy="321522"/>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C8AF129C-3AD9-E48E-4E7C-8F287529F92A}"/>
              </a:ext>
            </a:extLst>
          </p:cNvPr>
          <p:cNvCxnSpPr>
            <a:cxnSpLocks/>
          </p:cNvCxnSpPr>
          <p:nvPr/>
        </p:nvCxnSpPr>
        <p:spPr>
          <a:xfrm flipV="1">
            <a:off x="7584511" y="4466708"/>
            <a:ext cx="324175" cy="324655"/>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86" name="テキスト ボックス 85">
            <a:extLst>
              <a:ext uri="{FF2B5EF4-FFF2-40B4-BE49-F238E27FC236}">
                <a16:creationId xmlns:a16="http://schemas.microsoft.com/office/drawing/2014/main" id="{2237B9C3-64F2-2F9B-4A21-9D30F8BAEDA9}"/>
              </a:ext>
            </a:extLst>
          </p:cNvPr>
          <p:cNvSpPr txBox="1"/>
          <p:nvPr/>
        </p:nvSpPr>
        <p:spPr>
          <a:xfrm>
            <a:off x="5496128" y="3626904"/>
            <a:ext cx="1483548" cy="923330"/>
          </a:xfrm>
          <a:prstGeom prst="rect">
            <a:avLst/>
          </a:prstGeom>
          <a:noFill/>
        </p:spPr>
        <p:txBody>
          <a:bodyPr wrap="square" rtlCol="0">
            <a:spAutoFit/>
          </a:bodyPr>
          <a:lstStyle/>
          <a:p>
            <a:pPr algn="ctr"/>
            <a:r>
              <a:rPr kumimoji="1" lang="ja-JP" altLang="en-US" sz="5400" dirty="0"/>
              <a:t>＝</a:t>
            </a:r>
          </a:p>
        </p:txBody>
      </p:sp>
    </p:spTree>
    <p:extLst>
      <p:ext uri="{BB962C8B-B14F-4D97-AF65-F5344CB8AC3E}">
        <p14:creationId xmlns:p14="http://schemas.microsoft.com/office/powerpoint/2010/main" val="10102474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238449-4C54-313A-B885-F9BB7BE693CA}"/>
              </a:ext>
            </a:extLst>
          </p:cNvPr>
          <p:cNvSpPr>
            <a:spLocks noGrp="1"/>
          </p:cNvSpPr>
          <p:nvPr>
            <p:ph type="title"/>
          </p:nvPr>
        </p:nvSpPr>
        <p:spPr/>
        <p:txBody>
          <a:bodyPr/>
          <a:lstStyle/>
          <a:p>
            <a:r>
              <a:rPr lang="ja-JP" altLang="en-US" dirty="0"/>
              <a:t>ゲートの本数</a:t>
            </a:r>
            <a:endParaRPr kumimoji="1" lang="ja-JP" altLang="en-US" dirty="0"/>
          </a:p>
        </p:txBody>
      </p:sp>
      <p:sp>
        <p:nvSpPr>
          <p:cNvPr id="4" name="日付プレースホルダー 3">
            <a:extLst>
              <a:ext uri="{FF2B5EF4-FFF2-40B4-BE49-F238E27FC236}">
                <a16:creationId xmlns:a16="http://schemas.microsoft.com/office/drawing/2014/main" id="{16194A60-B509-92D5-83EC-EAEA547FFAF8}"/>
              </a:ext>
            </a:extLst>
          </p:cNvPr>
          <p:cNvSpPr>
            <a:spLocks noGrp="1"/>
          </p:cNvSpPr>
          <p:nvPr>
            <p:ph type="dt" sz="half" idx="10"/>
          </p:nvPr>
        </p:nvSpPr>
        <p:spPr/>
        <p:txBody>
          <a:bodyPr/>
          <a:lstStyle/>
          <a:p>
            <a:fld id="{C8D55FC4-4FBB-4061-B0B6-96F0050D7C51}"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C97028B5-480E-30D9-E394-6C8D5BAF7638}"/>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71</a:t>
            </a:fld>
            <a:endParaRPr kumimoji="1" lang="ja-JP" altLang="en-US" sz="1400"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521EF2E0-F779-A985-119E-2F680CF0B0CB}"/>
              </a:ext>
            </a:extLst>
          </p:cNvPr>
          <p:cNvSpPr>
            <a:spLocks noGrp="1"/>
          </p:cNvSpPr>
          <p:nvPr>
            <p:ph sz="quarter" idx="13"/>
          </p:nvPr>
        </p:nvSpPr>
        <p:spPr/>
        <p:txBody>
          <a:bodyPr>
            <a:normAutofit/>
          </a:bodyPr>
          <a:lstStyle/>
          <a:p>
            <a:r>
              <a:rPr kumimoji="1" lang="ja-JP" altLang="en-US" sz="2000" dirty="0"/>
              <a:t>ドレイン・ソース・ゲート・ボディが同じノード</a:t>
            </a:r>
            <a:r>
              <a:rPr lang="ja-JP" altLang="en-US" sz="2000" dirty="0"/>
              <a:t>である</a:t>
            </a:r>
            <a:r>
              <a:rPr kumimoji="1" lang="ja-JP" altLang="en-US" sz="2000" dirty="0"/>
              <a:t>同じサイズのトランジスタは、</a:t>
            </a:r>
            <a:r>
              <a:rPr kumimoji="1" lang="en-US" altLang="ja-JP" sz="2000" dirty="0"/>
              <a:t>W</a:t>
            </a:r>
            <a:r>
              <a:rPr kumimoji="1" lang="ja-JP" altLang="en-US" sz="2000" dirty="0"/>
              <a:t>が２倍のトランジスタに等しい</a:t>
            </a:r>
            <a:endParaRPr kumimoji="1" lang="en-US" altLang="ja-JP" sz="2000" dirty="0"/>
          </a:p>
          <a:p>
            <a:r>
              <a:rPr lang="ja-JP" altLang="en-US" sz="2000" dirty="0"/>
              <a:t>これを「</a:t>
            </a:r>
            <a:r>
              <a:rPr lang="en-US" altLang="ja-JP" sz="2000" dirty="0"/>
              <a:t> m,</a:t>
            </a:r>
            <a:r>
              <a:rPr lang="ja-JP" altLang="en-US" sz="2000" dirty="0"/>
              <a:t> </a:t>
            </a:r>
            <a:r>
              <a:rPr lang="en-US" altLang="ja-JP" sz="2000" dirty="0" err="1"/>
              <a:t>nf</a:t>
            </a:r>
            <a:r>
              <a:rPr lang="en-US" altLang="ja-JP" sz="2000" dirty="0"/>
              <a:t>, mf </a:t>
            </a:r>
            <a:r>
              <a:rPr lang="ja-JP" altLang="en-US" sz="2000" dirty="0"/>
              <a:t>」で表現し、</a:t>
            </a:r>
            <a:r>
              <a:rPr lang="ja-JP" altLang="en-US" sz="2000" dirty="0">
                <a:solidFill>
                  <a:srgbClr val="FF0000"/>
                </a:solidFill>
              </a:rPr>
              <a:t>マルチフィンガー</a:t>
            </a:r>
            <a:r>
              <a:rPr lang="ja-JP" altLang="en-US" sz="2000" dirty="0"/>
              <a:t>という</a:t>
            </a:r>
            <a:endParaRPr kumimoji="1" lang="en-US" altLang="ja-JP" sz="2000" dirty="0"/>
          </a:p>
        </p:txBody>
      </p:sp>
      <p:pic>
        <p:nvPicPr>
          <p:cNvPr id="7" name="図 6">
            <a:extLst>
              <a:ext uri="{FF2B5EF4-FFF2-40B4-BE49-F238E27FC236}">
                <a16:creationId xmlns:a16="http://schemas.microsoft.com/office/drawing/2014/main" id="{510C863D-700D-4413-EB07-EB7ECCB7DE19}"/>
              </a:ext>
            </a:extLst>
          </p:cNvPr>
          <p:cNvPicPr>
            <a:picLocks noChangeAspect="1"/>
          </p:cNvPicPr>
          <p:nvPr/>
        </p:nvPicPr>
        <p:blipFill>
          <a:blip r:embed="rId2"/>
          <a:stretch>
            <a:fillRect/>
          </a:stretch>
        </p:blipFill>
        <p:spPr>
          <a:xfrm>
            <a:off x="536957" y="2837298"/>
            <a:ext cx="11105257" cy="3475950"/>
          </a:xfrm>
          <a:prstGeom prst="rect">
            <a:avLst/>
          </a:prstGeom>
        </p:spPr>
      </p:pic>
    </p:spTree>
    <p:extLst>
      <p:ext uri="{BB962C8B-B14F-4D97-AF65-F5344CB8AC3E}">
        <p14:creationId xmlns:p14="http://schemas.microsoft.com/office/powerpoint/2010/main" val="18857409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8A7DC-D702-BD10-9A1B-4B215E2EB7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0BD2B5-E3E8-AD47-10ED-562D4C32CE1F}"/>
              </a:ext>
            </a:extLst>
          </p:cNvPr>
          <p:cNvSpPr>
            <a:spLocks noGrp="1"/>
          </p:cNvSpPr>
          <p:nvPr>
            <p:ph type="title"/>
          </p:nvPr>
        </p:nvSpPr>
        <p:spPr/>
        <p:txBody>
          <a:bodyPr/>
          <a:lstStyle/>
          <a:p>
            <a:r>
              <a:rPr lang="ja-JP" altLang="en-US" dirty="0"/>
              <a:t>チャネル長　</a:t>
            </a:r>
            <a:r>
              <a:rPr kumimoji="1" lang="en-US" altLang="ja-JP" dirty="0"/>
              <a:t>L</a:t>
            </a:r>
            <a:r>
              <a:rPr lang="ja-JP" altLang="en-US" dirty="0"/>
              <a:t>を変えるとどうなる？</a:t>
            </a:r>
            <a:endParaRPr kumimoji="1" lang="ja-JP" altLang="en-US" dirty="0"/>
          </a:p>
        </p:txBody>
      </p:sp>
      <p:sp>
        <p:nvSpPr>
          <p:cNvPr id="3" name="日付プレースホルダー 2">
            <a:extLst>
              <a:ext uri="{FF2B5EF4-FFF2-40B4-BE49-F238E27FC236}">
                <a16:creationId xmlns:a16="http://schemas.microsoft.com/office/drawing/2014/main" id="{19A63580-D7EC-DEAD-3E8D-FF27CE6A652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D117615-6C9C-ED5D-CA0E-8E8FB6DD725D}"/>
              </a:ext>
            </a:extLst>
          </p:cNvPr>
          <p:cNvSpPr>
            <a:spLocks noGrp="1"/>
          </p:cNvSpPr>
          <p:nvPr>
            <p:ph type="sldNum" sz="quarter" idx="12"/>
          </p:nvPr>
        </p:nvSpPr>
        <p:spPr/>
        <p:txBody>
          <a:bodyPr/>
          <a:lstStyle/>
          <a:p>
            <a:pPr rtl="0"/>
            <a:fld id="{9860EDB8-5305-433F-BE41-D7A86D811DB3}" type="slidenum">
              <a:rPr lang="en-US" altLang="ja-JP" noProof="0" smtClean="0"/>
              <a:pPr rtl="0"/>
              <a:t>72</a:t>
            </a:fld>
            <a:endParaRPr lang="ja-JP" altLang="en-US" noProof="0"/>
          </a:p>
        </p:txBody>
      </p:sp>
      <p:sp>
        <p:nvSpPr>
          <p:cNvPr id="5" name="コンテンツ プレースホルダー 4">
            <a:extLst>
              <a:ext uri="{FF2B5EF4-FFF2-40B4-BE49-F238E27FC236}">
                <a16:creationId xmlns:a16="http://schemas.microsoft.com/office/drawing/2014/main" id="{E06783D5-1D7F-CDEF-83F0-BB00D6BF6549}"/>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2000" b="1" dirty="0">
                <a:solidFill>
                  <a:srgbClr val="FF0000"/>
                </a:solidFill>
              </a:rPr>
              <a:t>短チャネル効果</a:t>
            </a:r>
            <a:r>
              <a:rPr lang="ja-JP" altLang="en-US" sz="2000" dirty="0">
                <a:solidFill>
                  <a:srgbClr val="464646"/>
                </a:solidFill>
              </a:rPr>
              <a:t>による影響で、特性が全く変化する。</a:t>
            </a:r>
            <a:br>
              <a:rPr lang="en-US" altLang="ja-JP" sz="2000" dirty="0">
                <a:solidFill>
                  <a:srgbClr val="464646"/>
                </a:solidFill>
              </a:rPr>
            </a:br>
            <a:r>
              <a:rPr lang="ja-JP" altLang="en-US" sz="2000" dirty="0">
                <a:solidFill>
                  <a:srgbClr val="FF0000"/>
                </a:solidFill>
              </a:rPr>
              <a:t>チャネル長</a:t>
            </a:r>
            <a:r>
              <a:rPr lang="en-US" altLang="ja-JP" sz="2000" dirty="0">
                <a:solidFill>
                  <a:srgbClr val="FF0000"/>
                </a:solidFill>
              </a:rPr>
              <a:t>L</a:t>
            </a:r>
            <a:r>
              <a:rPr lang="ja-JP" altLang="en-US" sz="2000" dirty="0">
                <a:solidFill>
                  <a:srgbClr val="FF0000"/>
                </a:solidFill>
              </a:rPr>
              <a:t>が短くなると基本は</a:t>
            </a:r>
            <a:r>
              <a:rPr lang="en-US" altLang="ja-JP" sz="2000" dirty="0">
                <a:solidFill>
                  <a:srgbClr val="FF0000"/>
                </a:solidFill>
              </a:rPr>
              <a:t>Ids</a:t>
            </a:r>
            <a:r>
              <a:rPr lang="ja-JP" altLang="en-US" sz="2000" dirty="0">
                <a:solidFill>
                  <a:srgbClr val="FF0000"/>
                </a:solidFill>
              </a:rPr>
              <a:t>が増加</a:t>
            </a:r>
            <a:r>
              <a:rPr lang="ja-JP" altLang="en-US" sz="2000" dirty="0">
                <a:solidFill>
                  <a:srgbClr val="464646"/>
                </a:solidFill>
              </a:rPr>
              <a:t>するが、</a:t>
            </a:r>
            <a:r>
              <a:rPr lang="ja-JP" altLang="en-US" sz="2000" b="1" dirty="0">
                <a:solidFill>
                  <a:srgbClr val="FF0000"/>
                </a:solidFill>
              </a:rPr>
              <a:t>短チャネル効果</a:t>
            </a:r>
            <a:r>
              <a:rPr lang="ja-JP" altLang="en-US" sz="2000" dirty="0">
                <a:solidFill>
                  <a:srgbClr val="464646"/>
                </a:solidFill>
              </a:rPr>
              <a:t>も発生</a:t>
            </a:r>
            <a:endParaRPr lang="en-US" altLang="ja-JP" sz="2000" dirty="0">
              <a:solidFill>
                <a:srgbClr val="464646"/>
              </a:solidFill>
            </a:endParaRPr>
          </a:p>
          <a:p>
            <a:pPr marL="285750" indent="-285750">
              <a:buFont typeface="Arial" panose="020B0604020202020204" pitchFamily="34" charset="0"/>
              <a:buChar char="•"/>
            </a:pPr>
            <a:endParaRPr lang="en-US" altLang="ja-JP" sz="2000" dirty="0">
              <a:solidFill>
                <a:srgbClr val="464646"/>
              </a:solidFill>
            </a:endParaRPr>
          </a:p>
          <a:p>
            <a:pPr marL="285750" indent="-285750">
              <a:buFont typeface="Arial" panose="020B0604020202020204" pitchFamily="34" charset="0"/>
              <a:buChar char="•"/>
            </a:pPr>
            <a:r>
              <a:rPr lang="en-US" altLang="ja-JP" sz="2000" dirty="0">
                <a:solidFill>
                  <a:srgbClr val="464646"/>
                </a:solidFill>
              </a:rPr>
              <a:t>DIBL (Drain Induced Barrier Lowering)</a:t>
            </a:r>
            <a:r>
              <a:rPr lang="ja-JP" altLang="en-US" sz="2000" dirty="0">
                <a:solidFill>
                  <a:srgbClr val="464646"/>
                </a:solidFill>
              </a:rPr>
              <a:t>により、</a:t>
            </a:r>
            <a:r>
              <a:rPr lang="en-US" altLang="ja-JP" sz="2000" dirty="0" err="1">
                <a:solidFill>
                  <a:srgbClr val="464646"/>
                </a:solidFill>
              </a:rPr>
              <a:t>Vds</a:t>
            </a:r>
            <a:r>
              <a:rPr lang="ja-JP" altLang="en-US" sz="2000" dirty="0">
                <a:solidFill>
                  <a:srgbClr val="464646"/>
                </a:solidFill>
              </a:rPr>
              <a:t>の増加に対して</a:t>
            </a:r>
            <a:r>
              <a:rPr lang="en-US" altLang="ja-JP" sz="2000" dirty="0">
                <a:solidFill>
                  <a:srgbClr val="464646"/>
                </a:solidFill>
              </a:rPr>
              <a:t>Vth</a:t>
            </a:r>
            <a:r>
              <a:rPr lang="ja-JP" altLang="en-US" sz="2000" dirty="0">
                <a:solidFill>
                  <a:srgbClr val="464646"/>
                </a:solidFill>
              </a:rPr>
              <a:t>が低下</a:t>
            </a:r>
            <a:endParaRPr lang="en-US" altLang="ja-JP" sz="2000" dirty="0">
              <a:solidFill>
                <a:srgbClr val="464646"/>
              </a:solidFill>
            </a:endParaRPr>
          </a:p>
          <a:p>
            <a:pPr marL="342900" indent="-342900">
              <a:buFont typeface="Arial" panose="020B0604020202020204" pitchFamily="34" charset="0"/>
              <a:buChar char="•"/>
            </a:pPr>
            <a:r>
              <a:rPr lang="en-US" altLang="ja-JP" sz="2000" dirty="0">
                <a:solidFill>
                  <a:srgbClr val="464646"/>
                </a:solidFill>
              </a:rPr>
              <a:t>Subthreshold swing</a:t>
            </a:r>
            <a:r>
              <a:rPr lang="ja-JP" altLang="en-US" sz="2000" dirty="0">
                <a:solidFill>
                  <a:srgbClr val="464646"/>
                </a:solidFill>
              </a:rPr>
              <a:t>の増加により、弱反転領域におけるパンチスルーが増加</a:t>
            </a:r>
            <a:endParaRPr lang="en-US" altLang="ja-JP" sz="2000" dirty="0">
              <a:solidFill>
                <a:srgbClr val="464646"/>
              </a:solidFill>
            </a:endParaRPr>
          </a:p>
          <a:p>
            <a:pPr marL="626364" lvl="1" indent="-342900"/>
            <a:r>
              <a:rPr lang="ja-JP" altLang="en-US" sz="2000" dirty="0">
                <a:solidFill>
                  <a:srgbClr val="464646"/>
                </a:solidFill>
              </a:rPr>
              <a:t>オフ状態でのリーク電流が増え、</a:t>
            </a:r>
            <a:r>
              <a:rPr lang="en-US" altLang="ja-JP" sz="2000" dirty="0" err="1">
                <a:solidFill>
                  <a:srgbClr val="464646"/>
                </a:solidFill>
              </a:rPr>
              <a:t>Vgs</a:t>
            </a:r>
            <a:r>
              <a:rPr lang="ja-JP" altLang="en-US" sz="2000" dirty="0">
                <a:solidFill>
                  <a:srgbClr val="464646"/>
                </a:solidFill>
              </a:rPr>
              <a:t>の増加幅に対する</a:t>
            </a:r>
            <a:r>
              <a:rPr lang="en-US" altLang="ja-JP" sz="2000" dirty="0">
                <a:solidFill>
                  <a:srgbClr val="464646"/>
                </a:solidFill>
              </a:rPr>
              <a:t>Ids</a:t>
            </a:r>
            <a:r>
              <a:rPr lang="ja-JP" altLang="en-US" sz="2000" dirty="0">
                <a:solidFill>
                  <a:srgbClr val="464646"/>
                </a:solidFill>
              </a:rPr>
              <a:t>の増加幅が鈍くなる　→スイッチング特性劣化</a:t>
            </a:r>
            <a:endParaRPr lang="en-US" altLang="ja-JP" sz="2000" dirty="0">
              <a:solidFill>
                <a:srgbClr val="464646"/>
              </a:solidFill>
            </a:endParaRPr>
          </a:p>
          <a:p>
            <a:pPr marL="342900" indent="-342900">
              <a:buFont typeface="Arial" panose="020B0604020202020204" pitchFamily="34" charset="0"/>
              <a:buChar char="•"/>
            </a:pPr>
            <a:r>
              <a:rPr lang="ja-JP" altLang="en-US" sz="2000" dirty="0">
                <a:solidFill>
                  <a:srgbClr val="464646"/>
                </a:solidFill>
              </a:rPr>
              <a:t>チャネル長変調効果により、</a:t>
            </a:r>
            <a:r>
              <a:rPr lang="en-US" altLang="ja-JP" sz="2000" dirty="0" err="1">
                <a:solidFill>
                  <a:srgbClr val="464646"/>
                </a:solidFill>
              </a:rPr>
              <a:t>Vds</a:t>
            </a:r>
            <a:r>
              <a:rPr lang="ja-JP" altLang="en-US" sz="2000" dirty="0">
                <a:solidFill>
                  <a:srgbClr val="464646"/>
                </a:solidFill>
              </a:rPr>
              <a:t>変動幅に対する</a:t>
            </a:r>
            <a:r>
              <a:rPr lang="en-US" altLang="ja-JP" sz="2000" dirty="0">
                <a:solidFill>
                  <a:srgbClr val="464646"/>
                </a:solidFill>
              </a:rPr>
              <a:t>Ids</a:t>
            </a:r>
            <a:r>
              <a:rPr lang="ja-JP" altLang="en-US" sz="2000" dirty="0">
                <a:solidFill>
                  <a:srgbClr val="464646"/>
                </a:solidFill>
              </a:rPr>
              <a:t>変動幅が増え、</a:t>
            </a:r>
            <a:r>
              <a:rPr lang="ja-JP" altLang="en-US" sz="2000" b="1" dirty="0">
                <a:solidFill>
                  <a:srgbClr val="FF0000"/>
                </a:solidFill>
              </a:rPr>
              <a:t>飽和状態にならない</a:t>
            </a:r>
            <a:endParaRPr lang="en-US" altLang="ja-JP" sz="2000" b="1" dirty="0">
              <a:solidFill>
                <a:srgbClr val="FF0000"/>
              </a:solidFill>
            </a:endParaRPr>
          </a:p>
        </p:txBody>
      </p:sp>
    </p:spTree>
    <p:extLst>
      <p:ext uri="{BB962C8B-B14F-4D97-AF65-F5344CB8AC3E}">
        <p14:creationId xmlns:p14="http://schemas.microsoft.com/office/powerpoint/2010/main" val="36006278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C5A2-D734-34AA-E990-7BAC46F08D5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2AFC54-C6EC-FD8A-6816-338599693B2B}"/>
              </a:ext>
            </a:extLst>
          </p:cNvPr>
          <p:cNvSpPr>
            <a:spLocks noGrp="1"/>
          </p:cNvSpPr>
          <p:nvPr>
            <p:ph type="title"/>
          </p:nvPr>
        </p:nvSpPr>
        <p:spPr/>
        <p:txBody>
          <a:bodyPr/>
          <a:lstStyle/>
          <a:p>
            <a:r>
              <a:rPr lang="ja-JP" altLang="en-US" dirty="0"/>
              <a:t>チャネル長　</a:t>
            </a:r>
            <a:r>
              <a:rPr kumimoji="1" lang="en-US" altLang="ja-JP" dirty="0"/>
              <a:t>L</a:t>
            </a:r>
            <a:r>
              <a:rPr lang="ja-JP" altLang="en-US" dirty="0"/>
              <a:t>を変えるとどうなる？</a:t>
            </a:r>
            <a:endParaRPr kumimoji="1" lang="ja-JP" altLang="en-US" dirty="0"/>
          </a:p>
        </p:txBody>
      </p:sp>
      <p:sp>
        <p:nvSpPr>
          <p:cNvPr id="3" name="日付プレースホルダー 2">
            <a:extLst>
              <a:ext uri="{FF2B5EF4-FFF2-40B4-BE49-F238E27FC236}">
                <a16:creationId xmlns:a16="http://schemas.microsoft.com/office/drawing/2014/main" id="{DC06CF60-0294-92CA-BCD7-7CF266EE79A8}"/>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DD17B21B-EDBF-BC7B-1ECB-558DCCC4592D}"/>
              </a:ext>
            </a:extLst>
          </p:cNvPr>
          <p:cNvSpPr>
            <a:spLocks noGrp="1"/>
          </p:cNvSpPr>
          <p:nvPr>
            <p:ph type="sldNum" sz="quarter" idx="12"/>
          </p:nvPr>
        </p:nvSpPr>
        <p:spPr/>
        <p:txBody>
          <a:bodyPr/>
          <a:lstStyle/>
          <a:p>
            <a:pPr rtl="0"/>
            <a:fld id="{9860EDB8-5305-433F-BE41-D7A86D811DB3}" type="slidenum">
              <a:rPr lang="en-US" altLang="ja-JP" noProof="0" smtClean="0"/>
              <a:pPr rtl="0"/>
              <a:t>73</a:t>
            </a:fld>
            <a:endParaRPr lang="ja-JP" altLang="en-US" noProof="0"/>
          </a:p>
        </p:txBody>
      </p:sp>
      <p:sp>
        <p:nvSpPr>
          <p:cNvPr id="5" name="コンテンツ プレースホルダー 4">
            <a:extLst>
              <a:ext uri="{FF2B5EF4-FFF2-40B4-BE49-F238E27FC236}">
                <a16:creationId xmlns:a16="http://schemas.microsoft.com/office/drawing/2014/main" id="{132AAB3F-ADC5-5BA2-384C-4957CA8D15C2}"/>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ja-JP" altLang="en-US" sz="2000" b="1" dirty="0">
                <a:solidFill>
                  <a:srgbClr val="FF0000"/>
                </a:solidFill>
              </a:rPr>
              <a:t>短チャネル効果</a:t>
            </a:r>
            <a:r>
              <a:rPr lang="ja-JP" altLang="en-US" sz="2000" dirty="0">
                <a:solidFill>
                  <a:srgbClr val="464646"/>
                </a:solidFill>
              </a:rPr>
              <a:t>による影響で、特性が全く変化する。</a:t>
            </a:r>
            <a:br>
              <a:rPr lang="en-US" altLang="ja-JP" sz="2000" dirty="0">
                <a:solidFill>
                  <a:srgbClr val="464646"/>
                </a:solidFill>
              </a:rPr>
            </a:br>
            <a:r>
              <a:rPr lang="ja-JP" altLang="en-US" sz="2000" dirty="0">
                <a:solidFill>
                  <a:srgbClr val="FF0000"/>
                </a:solidFill>
              </a:rPr>
              <a:t>チャネル長</a:t>
            </a:r>
            <a:r>
              <a:rPr lang="en-US" altLang="ja-JP" sz="2000" dirty="0">
                <a:solidFill>
                  <a:srgbClr val="FF0000"/>
                </a:solidFill>
              </a:rPr>
              <a:t>L</a:t>
            </a:r>
            <a:r>
              <a:rPr lang="ja-JP" altLang="en-US" sz="2000" dirty="0">
                <a:solidFill>
                  <a:srgbClr val="FF0000"/>
                </a:solidFill>
              </a:rPr>
              <a:t>が短くなると基本は</a:t>
            </a:r>
            <a:r>
              <a:rPr lang="en-US" altLang="ja-JP" sz="2000" dirty="0">
                <a:solidFill>
                  <a:srgbClr val="FF0000"/>
                </a:solidFill>
              </a:rPr>
              <a:t>Ids</a:t>
            </a:r>
            <a:r>
              <a:rPr lang="ja-JP" altLang="en-US" sz="2000" dirty="0">
                <a:solidFill>
                  <a:srgbClr val="FF0000"/>
                </a:solidFill>
              </a:rPr>
              <a:t>が増加</a:t>
            </a:r>
            <a:r>
              <a:rPr lang="ja-JP" altLang="en-US" sz="2000" dirty="0">
                <a:solidFill>
                  <a:srgbClr val="464646"/>
                </a:solidFill>
              </a:rPr>
              <a:t>するが、</a:t>
            </a:r>
            <a:r>
              <a:rPr lang="ja-JP" altLang="en-US" sz="2000" b="1" dirty="0">
                <a:solidFill>
                  <a:srgbClr val="FF0000"/>
                </a:solidFill>
              </a:rPr>
              <a:t>短チャネル効果</a:t>
            </a:r>
            <a:r>
              <a:rPr lang="ja-JP" altLang="en-US" sz="2000" dirty="0">
                <a:solidFill>
                  <a:srgbClr val="464646"/>
                </a:solidFill>
              </a:rPr>
              <a:t>も発生</a:t>
            </a:r>
            <a:endParaRPr lang="en-US" altLang="ja-JP" sz="2000" dirty="0">
              <a:solidFill>
                <a:srgbClr val="464646"/>
              </a:solidFill>
            </a:endParaRPr>
          </a:p>
        </p:txBody>
      </p:sp>
      <p:sp>
        <p:nvSpPr>
          <p:cNvPr id="6" name="正方形/長方形 5">
            <a:extLst>
              <a:ext uri="{FF2B5EF4-FFF2-40B4-BE49-F238E27FC236}">
                <a16:creationId xmlns:a16="http://schemas.microsoft.com/office/drawing/2014/main" id="{4E7229E2-C73D-17EB-222B-F237C362DB5C}"/>
              </a:ext>
            </a:extLst>
          </p:cNvPr>
          <p:cNvSpPr/>
          <p:nvPr/>
        </p:nvSpPr>
        <p:spPr>
          <a:xfrm>
            <a:off x="394753" y="2605346"/>
            <a:ext cx="11402494" cy="334409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dirty="0">
                <a:solidFill>
                  <a:srgbClr val="464646"/>
                </a:solidFill>
              </a:rPr>
              <a:t>ロジックゲートは通常、高集積密度、低</a:t>
            </a:r>
            <a:r>
              <a:rPr kumimoji="1" lang="en-US" altLang="ja-JP" sz="2800" dirty="0">
                <a:solidFill>
                  <a:srgbClr val="464646"/>
                </a:solidFill>
              </a:rPr>
              <a:t>Vth</a:t>
            </a:r>
            <a:r>
              <a:rPr kumimoji="1" lang="ja-JP" altLang="en-US" sz="2800" dirty="0">
                <a:solidFill>
                  <a:srgbClr val="464646"/>
                </a:solidFill>
              </a:rPr>
              <a:t>、高</a:t>
            </a:r>
            <a:r>
              <a:rPr kumimoji="1" lang="en-US" altLang="ja-JP" sz="2800" dirty="0">
                <a:solidFill>
                  <a:srgbClr val="464646"/>
                </a:solidFill>
              </a:rPr>
              <a:t>Ids</a:t>
            </a:r>
            <a:r>
              <a:rPr kumimoji="1" lang="ja-JP" altLang="en-US" sz="2800" dirty="0">
                <a:solidFill>
                  <a:srgbClr val="464646"/>
                </a:solidFill>
              </a:rPr>
              <a:t>のため、</a:t>
            </a:r>
            <a:br>
              <a:rPr kumimoji="1" lang="en-US" altLang="ja-JP" sz="2800" dirty="0">
                <a:solidFill>
                  <a:srgbClr val="464646"/>
                </a:solidFill>
              </a:rPr>
            </a:br>
            <a:r>
              <a:rPr kumimoji="1" lang="ja-JP" altLang="en-US" sz="2800" b="1" dirty="0">
                <a:solidFill>
                  <a:srgbClr val="FF0000"/>
                </a:solidFill>
              </a:rPr>
              <a:t>チャネル長</a:t>
            </a:r>
            <a:r>
              <a:rPr kumimoji="1" lang="en-US" altLang="ja-JP" sz="2800" b="1" dirty="0">
                <a:solidFill>
                  <a:srgbClr val="FF0000"/>
                </a:solidFill>
              </a:rPr>
              <a:t>(L)</a:t>
            </a:r>
            <a:r>
              <a:rPr kumimoji="1" lang="ja-JP" altLang="en-US" sz="2800" b="1" dirty="0">
                <a:solidFill>
                  <a:srgbClr val="FF0000"/>
                </a:solidFill>
              </a:rPr>
              <a:t>は最短</a:t>
            </a:r>
            <a:r>
              <a:rPr kumimoji="1" lang="ja-JP" altLang="en-US" sz="2800" dirty="0">
                <a:solidFill>
                  <a:srgbClr val="464646"/>
                </a:solidFill>
              </a:rPr>
              <a:t>で設計される。</a:t>
            </a:r>
            <a:endParaRPr kumimoji="1" lang="en-US" altLang="ja-JP" sz="2800" dirty="0">
              <a:solidFill>
                <a:srgbClr val="464646"/>
              </a:solidFill>
            </a:endParaRPr>
          </a:p>
          <a:p>
            <a:endParaRPr kumimoji="1" lang="en-US" altLang="ja-JP" sz="2800" dirty="0">
              <a:solidFill>
                <a:srgbClr val="464646"/>
              </a:solidFill>
            </a:endParaRPr>
          </a:p>
          <a:p>
            <a:endParaRPr kumimoji="1" lang="en-US" altLang="ja-JP" sz="2800" dirty="0">
              <a:solidFill>
                <a:srgbClr val="464646"/>
              </a:solidFill>
            </a:endParaRPr>
          </a:p>
          <a:p>
            <a:r>
              <a:rPr kumimoji="1" lang="ja-JP" altLang="en-US" sz="2800" dirty="0">
                <a:solidFill>
                  <a:srgbClr val="464646"/>
                </a:solidFill>
              </a:rPr>
              <a:t>短チャネル効果やちゃんとした設計手法についてはオペアンプ編にて詳しく解説します。</a:t>
            </a:r>
            <a:r>
              <a:rPr kumimoji="1" lang="en-US" altLang="ja-JP" sz="2800" dirty="0">
                <a:solidFill>
                  <a:srgbClr val="464646"/>
                </a:solidFill>
              </a:rPr>
              <a:t> </a:t>
            </a:r>
            <a:endParaRPr kumimoji="1" lang="ja-JP" altLang="en-US" sz="2800" dirty="0">
              <a:solidFill>
                <a:srgbClr val="464646"/>
              </a:solidFill>
            </a:endParaRPr>
          </a:p>
        </p:txBody>
      </p:sp>
    </p:spTree>
    <p:extLst>
      <p:ext uri="{BB962C8B-B14F-4D97-AF65-F5344CB8AC3E}">
        <p14:creationId xmlns:p14="http://schemas.microsoft.com/office/powerpoint/2010/main" val="26069610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1350E4-E9BB-5993-FAEA-FCC89FC7856F}"/>
              </a:ext>
            </a:extLst>
          </p:cNvPr>
          <p:cNvSpPr>
            <a:spLocks noGrp="1"/>
          </p:cNvSpPr>
          <p:nvPr>
            <p:ph type="title"/>
          </p:nvPr>
        </p:nvSpPr>
        <p:spPr/>
        <p:txBody>
          <a:bodyPr/>
          <a:lstStyle/>
          <a:p>
            <a:r>
              <a:rPr kumimoji="1" lang="ja-JP" altLang="en-US" dirty="0"/>
              <a:t>設計方針</a:t>
            </a:r>
          </a:p>
        </p:txBody>
      </p:sp>
      <p:sp>
        <p:nvSpPr>
          <p:cNvPr id="3" name="日付プレースホルダー 2">
            <a:extLst>
              <a:ext uri="{FF2B5EF4-FFF2-40B4-BE49-F238E27FC236}">
                <a16:creationId xmlns:a16="http://schemas.microsoft.com/office/drawing/2014/main" id="{5A18B1D9-D137-4487-3303-6EFBA1305953}"/>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CC09E9D-E8B3-732A-8734-E4D01BD729D9}"/>
              </a:ext>
            </a:extLst>
          </p:cNvPr>
          <p:cNvSpPr>
            <a:spLocks noGrp="1"/>
          </p:cNvSpPr>
          <p:nvPr>
            <p:ph type="sldNum" sz="quarter" idx="12"/>
          </p:nvPr>
        </p:nvSpPr>
        <p:spPr/>
        <p:txBody>
          <a:bodyPr/>
          <a:lstStyle/>
          <a:p>
            <a:pPr rtl="0"/>
            <a:fld id="{9860EDB8-5305-433F-BE41-D7A86D811DB3}" type="slidenum">
              <a:rPr lang="en-US" altLang="ja-JP" noProof="0" smtClean="0"/>
              <a:pPr rtl="0"/>
              <a:t>74</a:t>
            </a:fld>
            <a:endParaRPr lang="ja-JP" altLang="en-US" noProof="0"/>
          </a:p>
        </p:txBody>
      </p:sp>
      <p:sp>
        <p:nvSpPr>
          <p:cNvPr id="5" name="コンテンツ プレースホルダー 4">
            <a:extLst>
              <a:ext uri="{FF2B5EF4-FFF2-40B4-BE49-F238E27FC236}">
                <a16:creationId xmlns:a16="http://schemas.microsoft.com/office/drawing/2014/main" id="{8AAAE804-CCF1-FAA1-3483-7474A214AA66}"/>
              </a:ext>
            </a:extLst>
          </p:cNvPr>
          <p:cNvSpPr>
            <a:spLocks noGrp="1"/>
          </p:cNvSpPr>
          <p:nvPr>
            <p:ph sz="quarter" idx="13"/>
          </p:nvPr>
        </p:nvSpPr>
        <p:spPr/>
        <p:txBody>
          <a:bodyPr/>
          <a:lstStyle/>
          <a:p>
            <a:pPr marL="285750" indent="-285750">
              <a:buFont typeface="Arial" panose="020B0604020202020204" pitchFamily="34" charset="0"/>
              <a:buChar char="•"/>
            </a:pPr>
            <a:r>
              <a:rPr kumimoji="1" lang="en-US" altLang="ja-JP" dirty="0"/>
              <a:t>PMOS</a:t>
            </a:r>
            <a:r>
              <a:rPr kumimoji="1" lang="ja-JP" altLang="en-US" dirty="0"/>
              <a:t>の性能を上げる</a:t>
            </a:r>
            <a:endParaRPr kumimoji="1" lang="en-US" altLang="ja-JP" dirty="0"/>
          </a:p>
          <a:p>
            <a:pPr marL="569214" lvl="1" indent="-285750"/>
            <a:r>
              <a:rPr lang="en-US" altLang="ja-JP" dirty="0"/>
              <a:t>PMOS</a:t>
            </a:r>
            <a:r>
              <a:rPr lang="ja-JP" altLang="en-US" dirty="0"/>
              <a:t>の</a:t>
            </a:r>
            <a:r>
              <a:rPr lang="en-US" altLang="ja-JP" dirty="0"/>
              <a:t>W</a:t>
            </a:r>
            <a:r>
              <a:rPr lang="ja-JP" altLang="en-US" dirty="0"/>
              <a:t>を大きくする</a:t>
            </a:r>
            <a:endParaRPr lang="en-US" altLang="ja-JP" dirty="0"/>
          </a:p>
          <a:p>
            <a:pPr marL="569214" lvl="1" indent="-285750"/>
            <a:r>
              <a:rPr lang="en-US" altLang="ja-JP" dirty="0"/>
              <a:t>PMOS</a:t>
            </a:r>
            <a:r>
              <a:rPr lang="ja-JP" altLang="en-US" dirty="0"/>
              <a:t>の</a:t>
            </a:r>
            <a:r>
              <a:rPr lang="en-US" altLang="ja-JP" dirty="0"/>
              <a:t>L</a:t>
            </a:r>
            <a:r>
              <a:rPr lang="ja-JP" altLang="en-US" dirty="0"/>
              <a:t>を小さくする</a:t>
            </a:r>
            <a:endParaRPr lang="en-US" altLang="ja-JP" dirty="0"/>
          </a:p>
          <a:p>
            <a:pPr marL="285750" indent="-285750">
              <a:buFont typeface="Arial" panose="020B0604020202020204" pitchFamily="34" charset="0"/>
              <a:buChar char="•"/>
            </a:pPr>
            <a:r>
              <a:rPr kumimoji="1" lang="en-US" altLang="ja-JP" dirty="0"/>
              <a:t>NMOS</a:t>
            </a:r>
            <a:r>
              <a:rPr kumimoji="1" lang="ja-JP" altLang="en-US" dirty="0"/>
              <a:t>の性能を下げる</a:t>
            </a:r>
            <a:endParaRPr kumimoji="1" lang="en-US" altLang="ja-JP" dirty="0"/>
          </a:p>
          <a:p>
            <a:pPr marL="569214" lvl="1" indent="-285750"/>
            <a:r>
              <a:rPr lang="en-US" altLang="ja-JP" dirty="0"/>
              <a:t>NMOS</a:t>
            </a:r>
            <a:r>
              <a:rPr lang="ja-JP" altLang="en-US" dirty="0"/>
              <a:t>の</a:t>
            </a:r>
            <a:r>
              <a:rPr lang="en-US" altLang="ja-JP" dirty="0"/>
              <a:t>W</a:t>
            </a:r>
            <a:r>
              <a:rPr lang="ja-JP" altLang="en-US" dirty="0"/>
              <a:t>を小さくする</a:t>
            </a:r>
            <a:endParaRPr lang="en-US" altLang="ja-JP" dirty="0"/>
          </a:p>
          <a:p>
            <a:pPr marL="569214" lvl="1" indent="-285750"/>
            <a:r>
              <a:rPr lang="en-US" altLang="ja-JP" dirty="0"/>
              <a:t>NMOS</a:t>
            </a:r>
            <a:r>
              <a:rPr lang="ja-JP" altLang="en-US" dirty="0"/>
              <a:t>の</a:t>
            </a:r>
            <a:r>
              <a:rPr lang="en-US" altLang="ja-JP" dirty="0"/>
              <a:t>L</a:t>
            </a:r>
            <a:r>
              <a:rPr lang="ja-JP" altLang="en-US" dirty="0"/>
              <a:t>を大きくする</a:t>
            </a:r>
            <a:endParaRPr kumimoji="1" lang="en-US" altLang="ja-JP" dirty="0"/>
          </a:p>
        </p:txBody>
      </p:sp>
      <p:sp>
        <p:nvSpPr>
          <p:cNvPr id="8" name="正方形/長方形 7">
            <a:extLst>
              <a:ext uri="{FF2B5EF4-FFF2-40B4-BE49-F238E27FC236}">
                <a16:creationId xmlns:a16="http://schemas.microsoft.com/office/drawing/2014/main" id="{B4F0AF1C-8D25-5F5D-E3A4-A1C2D0A11D98}"/>
              </a:ext>
            </a:extLst>
          </p:cNvPr>
          <p:cNvSpPr/>
          <p:nvPr/>
        </p:nvSpPr>
        <p:spPr>
          <a:xfrm>
            <a:off x="444500" y="5258894"/>
            <a:ext cx="11402494" cy="124007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dirty="0">
                <a:solidFill>
                  <a:srgbClr val="464646"/>
                </a:solidFill>
              </a:rPr>
              <a:t>計算による設計手法についてはオペアンプ編にて詳しく解説します。</a:t>
            </a:r>
            <a:r>
              <a:rPr kumimoji="1" lang="en-US" altLang="ja-JP" sz="2800" dirty="0">
                <a:solidFill>
                  <a:srgbClr val="464646"/>
                </a:solidFill>
              </a:rPr>
              <a:t> </a:t>
            </a:r>
            <a:endParaRPr kumimoji="1" lang="ja-JP" altLang="en-US" sz="2800" dirty="0">
              <a:solidFill>
                <a:srgbClr val="464646"/>
              </a:solidFill>
            </a:endParaRPr>
          </a:p>
        </p:txBody>
      </p:sp>
      <p:pic>
        <p:nvPicPr>
          <p:cNvPr id="9" name="図 8">
            <a:extLst>
              <a:ext uri="{FF2B5EF4-FFF2-40B4-BE49-F238E27FC236}">
                <a16:creationId xmlns:a16="http://schemas.microsoft.com/office/drawing/2014/main" id="{FD9FB3A0-9B3F-374B-0E96-95C084F70A03}"/>
              </a:ext>
            </a:extLst>
          </p:cNvPr>
          <p:cNvPicPr>
            <a:picLocks noChangeAspect="1"/>
          </p:cNvPicPr>
          <p:nvPr/>
        </p:nvPicPr>
        <p:blipFill>
          <a:blip r:embed="rId2"/>
          <a:stretch>
            <a:fillRect/>
          </a:stretch>
        </p:blipFill>
        <p:spPr>
          <a:xfrm>
            <a:off x="6193206" y="1153332"/>
            <a:ext cx="5471145" cy="4084362"/>
          </a:xfrm>
          <a:prstGeom prst="rect">
            <a:avLst/>
          </a:prstGeom>
        </p:spPr>
      </p:pic>
    </p:spTree>
    <p:extLst>
      <p:ext uri="{BB962C8B-B14F-4D97-AF65-F5344CB8AC3E}">
        <p14:creationId xmlns:p14="http://schemas.microsoft.com/office/powerpoint/2010/main" val="15131260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E799E38D-0A82-4095-BE6B-85157473E4AE}"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75</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回路図（テストベンチ）を描く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b="1" dirty="0">
                <a:solidFill>
                  <a:schemeClr val="accent2"/>
                </a:solidFill>
              </a:rPr>
              <a:t>回路図を基にレイアウトを描く</a:t>
            </a:r>
            <a:endParaRPr kumimoji="1" lang="en-US" altLang="ja-JP" sz="2000" b="1" dirty="0">
              <a:solidFill>
                <a:schemeClr val="accent2"/>
              </a:solidFill>
            </a:endParaRPr>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37458846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A30A239B-CF60-F14D-D9CC-9879FA60F97F}"/>
              </a:ext>
            </a:extLst>
          </p:cNvPr>
          <p:cNvSpPr>
            <a:spLocks noGrp="1"/>
          </p:cNvSpPr>
          <p:nvPr>
            <p:ph type="title"/>
          </p:nvPr>
        </p:nvSpPr>
        <p:spPr/>
        <p:txBody>
          <a:bodyPr/>
          <a:lstStyle/>
          <a:p>
            <a:r>
              <a:rPr lang="ja-JP" altLang="en-US" dirty="0"/>
              <a:t>半導体の基礎知識</a:t>
            </a:r>
          </a:p>
        </p:txBody>
      </p:sp>
      <p:sp>
        <p:nvSpPr>
          <p:cNvPr id="7" name="テキスト プレースホルダー 6">
            <a:extLst>
              <a:ext uri="{FF2B5EF4-FFF2-40B4-BE49-F238E27FC236}">
                <a16:creationId xmlns:a16="http://schemas.microsoft.com/office/drawing/2014/main" id="{8563F2CC-E883-5D8E-9E4D-A524C8CBCB0A}"/>
              </a:ext>
            </a:extLst>
          </p:cNvPr>
          <p:cNvSpPr>
            <a:spLocks noGrp="1"/>
          </p:cNvSpPr>
          <p:nvPr>
            <p:ph type="body" sz="quarter" idx="10"/>
          </p:nvPr>
        </p:nvSpPr>
        <p:spPr/>
        <p:txBody>
          <a:bodyPr/>
          <a:lstStyle/>
          <a:p>
            <a:r>
              <a:rPr lang="ja-JP" altLang="en-US" dirty="0"/>
              <a:t>プレーナ型</a:t>
            </a:r>
            <a:r>
              <a:rPr lang="en-US" altLang="ja-JP" dirty="0"/>
              <a:t>FET</a:t>
            </a:r>
            <a:r>
              <a:rPr lang="ja-JP" altLang="en-US" dirty="0"/>
              <a:t>プロセス　レイアウト編</a:t>
            </a:r>
          </a:p>
        </p:txBody>
      </p:sp>
      <p:sp>
        <p:nvSpPr>
          <p:cNvPr id="3" name="日付プレースホルダー 2">
            <a:extLst>
              <a:ext uri="{FF2B5EF4-FFF2-40B4-BE49-F238E27FC236}">
                <a16:creationId xmlns:a16="http://schemas.microsoft.com/office/drawing/2014/main" id="{4E92EA04-BF04-AEDE-EE38-69247B176266}"/>
              </a:ext>
            </a:extLst>
          </p:cNvPr>
          <p:cNvSpPr>
            <a:spLocks noGrp="1"/>
          </p:cNvSpPr>
          <p:nvPr>
            <p:ph type="dt" sz="half" idx="2"/>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A354318-E272-2BE7-65A0-C3DAAD7656BB}"/>
              </a:ext>
            </a:extLst>
          </p:cNvPr>
          <p:cNvSpPr>
            <a:spLocks noGrp="1"/>
          </p:cNvSpPr>
          <p:nvPr>
            <p:ph type="sldNum" sz="quarter" idx="4294967295"/>
          </p:nvPr>
        </p:nvSpPr>
        <p:spPr>
          <a:xfrm>
            <a:off x="11136313" y="6565900"/>
            <a:ext cx="1055687" cy="292100"/>
          </a:xfrm>
        </p:spPr>
        <p:txBody>
          <a:bodyPr/>
          <a:lstStyle/>
          <a:p>
            <a:pPr rtl="0"/>
            <a:fld id="{9860EDB8-5305-433F-BE41-D7A86D811DB3}" type="slidenum">
              <a:rPr lang="en-US" altLang="ja-JP" noProof="0" smtClean="0"/>
              <a:pPr rtl="0"/>
              <a:t>76</a:t>
            </a:fld>
            <a:endParaRPr lang="ja-JP" altLang="en-US" noProof="0"/>
          </a:p>
        </p:txBody>
      </p:sp>
    </p:spTree>
    <p:extLst>
      <p:ext uri="{BB962C8B-B14F-4D97-AF65-F5344CB8AC3E}">
        <p14:creationId xmlns:p14="http://schemas.microsoft.com/office/powerpoint/2010/main" val="5409580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8B2344-1CED-2D60-2385-80C4756EDFE4}"/>
              </a:ext>
            </a:extLst>
          </p:cNvPr>
          <p:cNvSpPr>
            <a:spLocks noGrp="1"/>
          </p:cNvSpPr>
          <p:nvPr>
            <p:ph type="title"/>
          </p:nvPr>
        </p:nvSpPr>
        <p:spPr/>
        <p:txBody>
          <a:bodyPr/>
          <a:lstStyle/>
          <a:p>
            <a:r>
              <a:rPr lang="ja-JP" altLang="en-US" dirty="0"/>
              <a:t>プレーナ（平面）型</a:t>
            </a:r>
            <a:r>
              <a:rPr lang="en-US" altLang="ja-JP" dirty="0"/>
              <a:t>MOS</a:t>
            </a:r>
            <a:r>
              <a:rPr lang="ja-JP" altLang="en-US" dirty="0"/>
              <a:t>トランジスタ</a:t>
            </a:r>
            <a:endParaRPr kumimoji="1" lang="ja-JP" altLang="en-US" dirty="0"/>
          </a:p>
        </p:txBody>
      </p:sp>
      <p:sp>
        <p:nvSpPr>
          <p:cNvPr id="3" name="日付プレースホルダー 2">
            <a:extLst>
              <a:ext uri="{FF2B5EF4-FFF2-40B4-BE49-F238E27FC236}">
                <a16:creationId xmlns:a16="http://schemas.microsoft.com/office/drawing/2014/main" id="{8DFAE9E1-D01F-52FC-052C-998CBF5FAC8B}"/>
              </a:ext>
            </a:extLst>
          </p:cNvPr>
          <p:cNvSpPr>
            <a:spLocks noGrp="1"/>
          </p:cNvSpPr>
          <p:nvPr>
            <p:ph type="dt" sz="half" idx="10"/>
          </p:nvPr>
        </p:nvSpPr>
        <p:spPr/>
        <p:txBody>
          <a:bodyPr/>
          <a:lstStyle/>
          <a:p>
            <a:pPr rtl="0"/>
            <a:fld id="{50C24D4B-F9B3-40C0-A688-3069BABB38BD}"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A8A48505-FDB2-5059-A237-CE551D067387}"/>
              </a:ext>
            </a:extLst>
          </p:cNvPr>
          <p:cNvSpPr>
            <a:spLocks noGrp="1"/>
          </p:cNvSpPr>
          <p:nvPr>
            <p:ph type="sldNum" sz="quarter" idx="12"/>
          </p:nvPr>
        </p:nvSpPr>
        <p:spPr/>
        <p:txBody>
          <a:bodyPr/>
          <a:lstStyle/>
          <a:p>
            <a:pPr rtl="0"/>
            <a:fld id="{9860EDB8-5305-433F-BE41-D7A86D811DB3}" type="slidenum">
              <a:rPr lang="en-US" altLang="ja-JP" noProof="0" smtClean="0"/>
              <a:pPr rtl="0"/>
              <a:t>77</a:t>
            </a:fld>
            <a:endParaRPr lang="ja-JP" altLang="en-US" noProof="0"/>
          </a:p>
        </p:txBody>
      </p:sp>
      <p:pic>
        <p:nvPicPr>
          <p:cNvPr id="6" name="図 5">
            <a:extLst>
              <a:ext uri="{FF2B5EF4-FFF2-40B4-BE49-F238E27FC236}">
                <a16:creationId xmlns:a16="http://schemas.microsoft.com/office/drawing/2014/main" id="{643796EA-6A69-0A9A-217C-E338842C74A7}"/>
              </a:ext>
            </a:extLst>
          </p:cNvPr>
          <p:cNvPicPr>
            <a:picLocks noChangeAspect="1"/>
          </p:cNvPicPr>
          <p:nvPr/>
        </p:nvPicPr>
        <p:blipFill>
          <a:blip r:embed="rId2"/>
          <a:stretch>
            <a:fillRect/>
          </a:stretch>
        </p:blipFill>
        <p:spPr>
          <a:xfrm>
            <a:off x="6369832" y="1608600"/>
            <a:ext cx="5822168" cy="4424848"/>
          </a:xfrm>
          <a:prstGeom prst="rect">
            <a:avLst/>
          </a:prstGeom>
        </p:spPr>
      </p:pic>
      <p:sp>
        <p:nvSpPr>
          <p:cNvPr id="5" name="コンテンツ プレースホルダー 4">
            <a:extLst>
              <a:ext uri="{FF2B5EF4-FFF2-40B4-BE49-F238E27FC236}">
                <a16:creationId xmlns:a16="http://schemas.microsoft.com/office/drawing/2014/main" id="{19AF088B-AB5E-AA51-28B0-4B94277AB974}"/>
              </a:ext>
            </a:extLst>
          </p:cNvPr>
          <p:cNvSpPr>
            <a:spLocks noGrp="1"/>
          </p:cNvSpPr>
          <p:nvPr>
            <p:ph sz="quarter" idx="13"/>
          </p:nvPr>
        </p:nvSpPr>
        <p:spPr>
          <a:xfrm>
            <a:off x="444500" y="1283931"/>
            <a:ext cx="11210543" cy="4601748"/>
          </a:xfrm>
        </p:spPr>
        <p:txBody>
          <a:bodyPr>
            <a:normAutofit fontScale="85000" lnSpcReduction="20000"/>
          </a:bodyPr>
          <a:lstStyle/>
          <a:p>
            <a:pPr marL="285750" indent="-285750">
              <a:buFont typeface="Arial" panose="020B0604020202020204" pitchFamily="34" charset="0"/>
              <a:buChar char="•"/>
            </a:pPr>
            <a:r>
              <a:rPr lang="en-US" altLang="ja-JP" dirty="0"/>
              <a:t>substrate</a:t>
            </a:r>
            <a:r>
              <a:rPr lang="ja-JP" altLang="en-US" dirty="0"/>
              <a:t>（基板）を最下層として積層していく。</a:t>
            </a:r>
            <a:endParaRPr lang="en-US" altLang="ja-JP" dirty="0"/>
          </a:p>
          <a:p>
            <a:pPr marL="285750" indent="-285750">
              <a:buFont typeface="Arial" panose="020B0604020202020204" pitchFamily="34" charset="0"/>
              <a:buChar char="•"/>
            </a:pPr>
            <a:r>
              <a:rPr lang="ja-JP" altLang="en-US" dirty="0"/>
              <a:t>基板上に</a:t>
            </a:r>
            <a:r>
              <a:rPr lang="en-US" altLang="ja-JP" dirty="0"/>
              <a:t>MOS</a:t>
            </a:r>
            <a:r>
              <a:rPr lang="ja-JP" altLang="en-US" dirty="0"/>
              <a:t>トランジスタ</a:t>
            </a:r>
            <a:r>
              <a:rPr lang="en-US" altLang="ja-JP" dirty="0"/>
              <a:t>(well, diffusion, poly)</a:t>
            </a:r>
          </a:p>
          <a:p>
            <a:pPr marL="285750" indent="-285750">
              <a:buFont typeface="Arial" panose="020B0604020202020204" pitchFamily="34" charset="0"/>
              <a:buChar char="•"/>
            </a:pPr>
            <a:r>
              <a:rPr lang="ja-JP" altLang="en-US" dirty="0"/>
              <a:t>トランジスタより上は配線層</a:t>
            </a:r>
            <a:r>
              <a:rPr lang="en-US" altLang="ja-JP" dirty="0"/>
              <a:t>(metal*, via*)</a:t>
            </a:r>
          </a:p>
          <a:p>
            <a:pPr marL="285750" indent="-285750">
              <a:buFont typeface="Arial" panose="020B0604020202020204" pitchFamily="34" charset="0"/>
              <a:buChar char="•"/>
            </a:pPr>
            <a:endParaRPr lang="en-US" altLang="ja-JP" dirty="0"/>
          </a:p>
          <a:p>
            <a:pPr marL="569214" lvl="1" indent="-285750"/>
            <a:r>
              <a:rPr lang="en-US" altLang="ja-JP" dirty="0" err="1"/>
              <a:t>Wafer.Space</a:t>
            </a:r>
            <a:r>
              <a:rPr kumimoji="1" lang="en-US" altLang="ja-JP" dirty="0"/>
              <a:t> : </a:t>
            </a:r>
            <a:r>
              <a:rPr kumimoji="1" lang="en-US" altLang="ja-JP" b="1" dirty="0">
                <a:solidFill>
                  <a:schemeClr val="accent2"/>
                </a:solidFill>
              </a:rPr>
              <a:t>gf180mcuD</a:t>
            </a:r>
            <a:r>
              <a:rPr kumimoji="1" lang="en-US" altLang="ja-JP" dirty="0"/>
              <a:t> </a:t>
            </a:r>
          </a:p>
          <a:p>
            <a:pPr marL="569214" lvl="1" indent="-285750"/>
            <a:r>
              <a:rPr kumimoji="1" lang="en-US" altLang="ja-JP" dirty="0"/>
              <a:t>5-metal stack, 1P5M, 5LM (</a:t>
            </a:r>
            <a:r>
              <a:rPr kumimoji="1" lang="en-US" altLang="ja-JP" dirty="0" err="1"/>
              <a:t>metal_level</a:t>
            </a:r>
            <a:r>
              <a:rPr kumimoji="1" lang="en-US" altLang="ja-JP" dirty="0"/>
              <a:t>=5LM)</a:t>
            </a:r>
          </a:p>
          <a:p>
            <a:pPr marL="569214" lvl="1" indent="-285750"/>
            <a:r>
              <a:rPr lang="en-US" altLang="ja-JP" b="1" dirty="0">
                <a:solidFill>
                  <a:schemeClr val="accent2"/>
                </a:solidFill>
              </a:rPr>
              <a:t>1.1um thick top metal, TM 11KA (</a:t>
            </a:r>
            <a:r>
              <a:rPr lang="en-US" altLang="ja-JP" b="1" dirty="0" err="1">
                <a:solidFill>
                  <a:schemeClr val="accent2"/>
                </a:solidFill>
              </a:rPr>
              <a:t>metal_top</a:t>
            </a:r>
            <a:r>
              <a:rPr lang="en-US" altLang="ja-JP" b="1" dirty="0">
                <a:solidFill>
                  <a:schemeClr val="accent2"/>
                </a:solidFill>
              </a:rPr>
              <a:t>=11K)</a:t>
            </a:r>
          </a:p>
          <a:p>
            <a:pPr marL="569214" lvl="1" indent="-285750"/>
            <a:r>
              <a:rPr lang="en-US" altLang="ja-JP" dirty="0" err="1"/>
              <a:t>MiM</a:t>
            </a:r>
            <a:r>
              <a:rPr lang="en-US" altLang="ja-JP" dirty="0"/>
              <a:t> B option (</a:t>
            </a:r>
            <a:r>
              <a:rPr lang="en-US" altLang="ja-JP" dirty="0" err="1"/>
              <a:t>mim_option</a:t>
            </a:r>
            <a:r>
              <a:rPr lang="en-US" altLang="ja-JP" dirty="0"/>
              <a:t>=B)</a:t>
            </a:r>
            <a:endParaRPr kumimoji="1" lang="en-US" altLang="ja-JP" dirty="0"/>
          </a:p>
          <a:p>
            <a:pPr marL="569214" lvl="1" indent="-285750"/>
            <a:r>
              <a:rPr kumimoji="1" lang="en-US" altLang="ja-JP" dirty="0"/>
              <a:t>2fF/um2 </a:t>
            </a:r>
            <a:r>
              <a:rPr kumimoji="1" lang="en-US" altLang="ja-JP" dirty="0" err="1"/>
              <a:t>Mi</a:t>
            </a:r>
            <a:r>
              <a:rPr lang="en-US" altLang="ja-JP" dirty="0" err="1"/>
              <a:t>M</a:t>
            </a:r>
            <a:r>
              <a:rPr lang="en-US" altLang="ja-JP" dirty="0"/>
              <a:t> Capacitance (cap_mim_2f0fF)</a:t>
            </a:r>
            <a:br>
              <a:rPr lang="en-US" altLang="ja-JP" dirty="0"/>
            </a:br>
            <a:r>
              <a:rPr lang="ja-JP" altLang="en-US" dirty="0"/>
              <a:t>メモ：キャパシタの耐圧は</a:t>
            </a:r>
            <a:r>
              <a:rPr lang="en-US" altLang="ja-JP" dirty="0"/>
              <a:t>6V</a:t>
            </a:r>
            <a:r>
              <a:rPr lang="ja-JP" altLang="en-US" dirty="0"/>
              <a:t>らしい</a:t>
            </a:r>
            <a:endParaRPr lang="en-US" altLang="ja-JP" dirty="0"/>
          </a:p>
          <a:p>
            <a:pPr marL="569214" lvl="1" indent="-285750"/>
            <a:r>
              <a:rPr lang="en-US" altLang="ja-JP" dirty="0"/>
              <a:t>1kΩ high sheet rho poly (ppolyf_u_1k)</a:t>
            </a:r>
          </a:p>
        </p:txBody>
      </p:sp>
      <p:sp>
        <p:nvSpPr>
          <p:cNvPr id="8" name="テキスト ボックス 7">
            <a:extLst>
              <a:ext uri="{FF2B5EF4-FFF2-40B4-BE49-F238E27FC236}">
                <a16:creationId xmlns:a16="http://schemas.microsoft.com/office/drawing/2014/main" id="{950EA4E8-579A-4881-B024-DCC09CE4AC4D}"/>
              </a:ext>
            </a:extLst>
          </p:cNvPr>
          <p:cNvSpPr txBox="1"/>
          <p:nvPr/>
        </p:nvSpPr>
        <p:spPr>
          <a:xfrm>
            <a:off x="1046697" y="6181217"/>
            <a:ext cx="10006148" cy="369332"/>
          </a:xfrm>
          <a:prstGeom prst="rect">
            <a:avLst/>
          </a:prstGeom>
          <a:noFill/>
        </p:spPr>
        <p:txBody>
          <a:bodyPr wrap="square">
            <a:spAutoFit/>
          </a:bodyPr>
          <a:lstStyle/>
          <a:p>
            <a:r>
              <a:rPr lang="en-US" altLang="ja-JP" dirty="0"/>
              <a:t>https://gf180mcu-pdk.readthedocs.io/en/latest/analog/layout/inter_specs/inter_specs_3_43.html</a:t>
            </a:r>
            <a:endParaRPr lang="ja-JP" altLang="en-US" dirty="0"/>
          </a:p>
        </p:txBody>
      </p:sp>
    </p:spTree>
    <p:extLst>
      <p:ext uri="{BB962C8B-B14F-4D97-AF65-F5344CB8AC3E}">
        <p14:creationId xmlns:p14="http://schemas.microsoft.com/office/powerpoint/2010/main" val="987175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338CF3-BB97-1A7D-9F8D-36C440EE8F87}"/>
              </a:ext>
            </a:extLst>
          </p:cNvPr>
          <p:cNvSpPr>
            <a:spLocks noGrp="1"/>
          </p:cNvSpPr>
          <p:nvPr>
            <p:ph type="title"/>
          </p:nvPr>
        </p:nvSpPr>
        <p:spPr/>
        <p:txBody>
          <a:bodyPr/>
          <a:lstStyle/>
          <a:p>
            <a:r>
              <a:rPr kumimoji="1" lang="ja-JP" altLang="en-US" dirty="0"/>
              <a:t>レイアウトを描く上での注意</a:t>
            </a:r>
          </a:p>
        </p:txBody>
      </p:sp>
      <p:sp>
        <p:nvSpPr>
          <p:cNvPr id="3" name="日付プレースホルダー 2">
            <a:extLst>
              <a:ext uri="{FF2B5EF4-FFF2-40B4-BE49-F238E27FC236}">
                <a16:creationId xmlns:a16="http://schemas.microsoft.com/office/drawing/2014/main" id="{63BB8DBB-5E81-BCB7-E786-D68E5B2E45BA}"/>
              </a:ext>
            </a:extLst>
          </p:cNvPr>
          <p:cNvSpPr>
            <a:spLocks noGrp="1"/>
          </p:cNvSpPr>
          <p:nvPr>
            <p:ph type="dt" sz="half" idx="10"/>
          </p:nvPr>
        </p:nvSpPr>
        <p:spPr/>
        <p:txBody>
          <a:bodyPr/>
          <a:lstStyle/>
          <a:p>
            <a:pPr rtl="0"/>
            <a:fld id="{399B0BAB-78EC-4ED8-A262-F8B312BA9827}"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6B138E8-3909-1651-57D0-F7457DDAFCD5}"/>
              </a:ext>
            </a:extLst>
          </p:cNvPr>
          <p:cNvSpPr>
            <a:spLocks noGrp="1"/>
          </p:cNvSpPr>
          <p:nvPr>
            <p:ph type="sldNum" sz="quarter" idx="12"/>
          </p:nvPr>
        </p:nvSpPr>
        <p:spPr/>
        <p:txBody>
          <a:bodyPr/>
          <a:lstStyle/>
          <a:p>
            <a:pPr rtl="0"/>
            <a:fld id="{9860EDB8-5305-433F-BE41-D7A86D811DB3}" type="slidenum">
              <a:rPr lang="en-US" altLang="ja-JP" noProof="0" smtClean="0"/>
              <a:pPr rtl="0"/>
              <a:t>78</a:t>
            </a:fld>
            <a:endParaRPr lang="ja-JP" altLang="en-US" noProof="0"/>
          </a:p>
        </p:txBody>
      </p:sp>
      <p:sp>
        <p:nvSpPr>
          <p:cNvPr id="5" name="コンテンツ プレースホルダー 4">
            <a:extLst>
              <a:ext uri="{FF2B5EF4-FFF2-40B4-BE49-F238E27FC236}">
                <a16:creationId xmlns:a16="http://schemas.microsoft.com/office/drawing/2014/main" id="{DCE7D3B4-2F71-23D1-3317-13C00506632D}"/>
              </a:ext>
            </a:extLst>
          </p:cNvPr>
          <p:cNvSpPr>
            <a:spLocks noGrp="1"/>
          </p:cNvSpPr>
          <p:nvPr>
            <p:ph sz="quarter" idx="13"/>
          </p:nvPr>
        </p:nvSpPr>
        <p:spPr>
          <a:xfrm>
            <a:off x="444500" y="1463039"/>
            <a:ext cx="11210543" cy="4964351"/>
          </a:xfrm>
        </p:spPr>
        <p:txBody>
          <a:bodyPr>
            <a:normAutofit/>
          </a:bodyPr>
          <a:lstStyle/>
          <a:p>
            <a:pPr marL="342900" indent="-342900">
              <a:buFont typeface="Arial" panose="020B0604020202020204" pitchFamily="34" charset="0"/>
              <a:buChar char="•"/>
            </a:pPr>
            <a:r>
              <a:rPr lang="ja-JP" altLang="en-US" sz="2400" dirty="0"/>
              <a:t>メタルは最大</a:t>
            </a:r>
            <a:r>
              <a:rPr lang="en-US" altLang="ja-JP" sz="2400" dirty="0"/>
              <a:t>6</a:t>
            </a:r>
            <a:r>
              <a:rPr lang="ja-JP" altLang="en-US" sz="2400" dirty="0"/>
              <a:t>層まで使えるが、今回は</a:t>
            </a:r>
            <a:r>
              <a:rPr lang="en-US" altLang="ja-JP" sz="2400" dirty="0"/>
              <a:t>5</a:t>
            </a:r>
            <a:r>
              <a:rPr lang="ja-JP" altLang="en-US" sz="2400" dirty="0"/>
              <a:t>層なので</a:t>
            </a:r>
            <a:r>
              <a:rPr kumimoji="1" lang="en-US" altLang="ja-JP" sz="2400" dirty="0"/>
              <a:t>VIA5, </a:t>
            </a:r>
            <a:r>
              <a:rPr kumimoji="1" lang="en-US" altLang="ja-JP" sz="2400" dirty="0" err="1"/>
              <a:t>MetalTop</a:t>
            </a:r>
            <a:r>
              <a:rPr kumimoji="1" lang="ja-JP" altLang="en-US" sz="2400" dirty="0"/>
              <a:t>は使用</a:t>
            </a:r>
            <a:r>
              <a:rPr lang="ja-JP" altLang="en-US" sz="2400" dirty="0"/>
              <a:t>不可</a:t>
            </a:r>
            <a:endParaRPr kumimoji="1" lang="en-US" altLang="ja-JP" sz="2400" dirty="0"/>
          </a:p>
          <a:p>
            <a:pPr marL="342900" indent="-342900">
              <a:buFont typeface="Arial" panose="020B0604020202020204" pitchFamily="34" charset="0"/>
              <a:buChar char="•"/>
            </a:pPr>
            <a:r>
              <a:rPr lang="en-US" altLang="ja-JP" sz="2400" dirty="0"/>
              <a:t>MIM</a:t>
            </a:r>
            <a:r>
              <a:rPr lang="ja-JP" altLang="en-US" sz="2400" dirty="0"/>
              <a:t>キャパシタは</a:t>
            </a:r>
            <a:r>
              <a:rPr lang="en-US" altLang="ja-JP" sz="2400" dirty="0"/>
              <a:t>Metal4</a:t>
            </a:r>
            <a:r>
              <a:rPr lang="ja-JP" altLang="en-US" sz="2400" dirty="0"/>
              <a:t>と</a:t>
            </a:r>
            <a:r>
              <a:rPr lang="en-US" altLang="ja-JP" sz="2400" dirty="0"/>
              <a:t>Metal5</a:t>
            </a:r>
            <a:r>
              <a:rPr lang="ja-JP" altLang="en-US" sz="2400" dirty="0"/>
              <a:t>の間に形成する</a:t>
            </a:r>
            <a:r>
              <a:rPr lang="en-US" altLang="ja-JP" sz="2400" dirty="0"/>
              <a:t> (Option=B, Level=M4-M5)</a:t>
            </a:r>
            <a:br>
              <a:rPr kumimoji="1" lang="en-US" altLang="ja-JP" sz="2400" dirty="0"/>
            </a:br>
            <a:r>
              <a:rPr kumimoji="1" lang="en-US" altLang="ja-JP" sz="2000" dirty="0"/>
              <a:t>※MIM</a:t>
            </a:r>
            <a:r>
              <a:rPr kumimoji="1" lang="ja-JP" altLang="en-US" sz="2000" dirty="0"/>
              <a:t>キャパシタは</a:t>
            </a:r>
            <a:r>
              <a:rPr lang="ja-JP" altLang="en-US" sz="2000" dirty="0"/>
              <a:t>トップメタルの下に形成される</a:t>
            </a:r>
            <a:endParaRPr kumimoji="1" lang="en-US" altLang="ja-JP" sz="2000" dirty="0"/>
          </a:p>
          <a:p>
            <a:pPr marL="342900" indent="-342900">
              <a:buFont typeface="Arial" panose="020B0604020202020204" pitchFamily="34" charset="0"/>
              <a:buChar char="•"/>
            </a:pPr>
            <a:r>
              <a:rPr lang="ja-JP" altLang="en-US" sz="2400" dirty="0"/>
              <a:t>各検証の実行前にオプションを確認・設定する　（特に</a:t>
            </a:r>
            <a:r>
              <a:rPr lang="en-US" altLang="ja-JP" sz="2400" dirty="0" err="1"/>
              <a:t>metal_top</a:t>
            </a:r>
            <a:r>
              <a:rPr lang="en-US" altLang="ja-JP" sz="2400" dirty="0"/>
              <a:t>=11K</a:t>
            </a:r>
            <a:r>
              <a:rPr lang="ja-JP" altLang="en-US" sz="2400" dirty="0"/>
              <a:t>）</a:t>
            </a:r>
            <a:endParaRPr lang="en-US" altLang="ja-JP" sz="2400" dirty="0"/>
          </a:p>
          <a:p>
            <a:pPr marL="342900" indent="-342900">
              <a:buFont typeface="Arial" panose="020B0604020202020204" pitchFamily="34" charset="0"/>
              <a:buChar char="•"/>
            </a:pPr>
            <a:endParaRPr kumimoji="1" lang="en-US" altLang="ja-JP" sz="2400" dirty="0"/>
          </a:p>
          <a:p>
            <a:pPr marL="342900" indent="-342900">
              <a:buFont typeface="Arial" panose="020B0604020202020204" pitchFamily="34" charset="0"/>
              <a:buChar char="•"/>
            </a:pPr>
            <a:r>
              <a:rPr lang="en-US" altLang="ja-JP" sz="2400" b="1" dirty="0">
                <a:solidFill>
                  <a:schemeClr val="accent2"/>
                </a:solidFill>
              </a:rPr>
              <a:t>DRC</a:t>
            </a:r>
            <a:r>
              <a:rPr lang="ja-JP" altLang="en-US" sz="2400" b="1" dirty="0">
                <a:solidFill>
                  <a:schemeClr val="accent2"/>
                </a:solidFill>
              </a:rPr>
              <a:t>チェックで検知できないルールがある</a:t>
            </a:r>
            <a:br>
              <a:rPr lang="en-US" altLang="ja-JP" sz="2400" b="1" dirty="0">
                <a:solidFill>
                  <a:schemeClr val="accent2"/>
                </a:solidFill>
              </a:rPr>
            </a:br>
            <a:r>
              <a:rPr lang="en-US" altLang="ja-JP" sz="1400" b="1" dirty="0">
                <a:solidFill>
                  <a:schemeClr val="accent2"/>
                </a:solidFill>
                <a:hlinkClick r:id="rId2"/>
              </a:rPr>
              <a:t>https://gf180mcu-pdk.readthedocs.io/en/latest/physical_verification/design_manual/drm_16.html</a:t>
            </a:r>
            <a:endParaRPr lang="en-US" altLang="ja-JP" sz="1400" b="1" dirty="0">
              <a:solidFill>
                <a:schemeClr val="accent2"/>
              </a:solidFill>
            </a:endParaRPr>
          </a:p>
          <a:p>
            <a:pPr marL="342900" indent="-342900">
              <a:buFont typeface="Arial" panose="020B0604020202020204" pitchFamily="34" charset="0"/>
              <a:buChar char="•"/>
            </a:pPr>
            <a:endParaRPr kumimoji="1" lang="en-US" altLang="ja-JP" sz="2400" b="1" dirty="0">
              <a:solidFill>
                <a:schemeClr val="accent2"/>
              </a:solidFill>
            </a:endParaRPr>
          </a:p>
          <a:p>
            <a:pPr marL="342900" indent="-342900">
              <a:buFont typeface="Arial" panose="020B0604020202020204" pitchFamily="34" charset="0"/>
              <a:buChar char="•"/>
            </a:pPr>
            <a:endParaRPr kumimoji="1" lang="ja-JP" altLang="en-US" sz="2400" dirty="0"/>
          </a:p>
        </p:txBody>
      </p:sp>
    </p:spTree>
    <p:extLst>
      <p:ext uri="{BB962C8B-B14F-4D97-AF65-F5344CB8AC3E}">
        <p14:creationId xmlns:p14="http://schemas.microsoft.com/office/powerpoint/2010/main" val="21394936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5596-EDB3-5238-FE1A-A46D366823A2}"/>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1FD8499B-CEBC-15FF-6082-AE226BD6DCF0}"/>
              </a:ext>
            </a:extLst>
          </p:cNvPr>
          <p:cNvPicPr>
            <a:picLocks noChangeAspect="1"/>
          </p:cNvPicPr>
          <p:nvPr/>
        </p:nvPicPr>
        <p:blipFill>
          <a:blip r:embed="rId2"/>
          <a:srcRect r="49755"/>
          <a:stretch>
            <a:fillRect/>
          </a:stretch>
        </p:blipFill>
        <p:spPr>
          <a:xfrm>
            <a:off x="268140" y="1661759"/>
            <a:ext cx="5893724" cy="4147654"/>
          </a:xfrm>
          <a:prstGeom prst="rect">
            <a:avLst/>
          </a:prstGeom>
        </p:spPr>
      </p:pic>
      <p:sp>
        <p:nvSpPr>
          <p:cNvPr id="7" name="タイトル 6">
            <a:extLst>
              <a:ext uri="{FF2B5EF4-FFF2-40B4-BE49-F238E27FC236}">
                <a16:creationId xmlns:a16="http://schemas.microsoft.com/office/drawing/2014/main" id="{4A050F91-4D17-809F-06B4-38A9B52B13EA}"/>
              </a:ext>
            </a:extLst>
          </p:cNvPr>
          <p:cNvSpPr>
            <a:spLocks noGrp="1"/>
          </p:cNvSpPr>
          <p:nvPr>
            <p:ph type="title"/>
          </p:nvPr>
        </p:nvSpPr>
        <p:spPr/>
        <p:txBody>
          <a:bodyPr/>
          <a:lstStyle/>
          <a:p>
            <a:r>
              <a:rPr lang="ja-JP" altLang="en-US"/>
              <a:t>プレーナ型</a:t>
            </a:r>
            <a:r>
              <a:rPr lang="en-US" altLang="ja-JP"/>
              <a:t>PMOS</a:t>
            </a:r>
            <a:endParaRPr lang="ja-JP" altLang="en-US" dirty="0"/>
          </a:p>
        </p:txBody>
      </p:sp>
      <p:sp>
        <p:nvSpPr>
          <p:cNvPr id="4" name="日付プレースホルダー 3">
            <a:extLst>
              <a:ext uri="{FF2B5EF4-FFF2-40B4-BE49-F238E27FC236}">
                <a16:creationId xmlns:a16="http://schemas.microsoft.com/office/drawing/2014/main" id="{601AADDF-A507-42FF-1E8B-F0A389B92F75}"/>
              </a:ext>
            </a:extLst>
          </p:cNvPr>
          <p:cNvSpPr>
            <a:spLocks noGrp="1"/>
          </p:cNvSpPr>
          <p:nvPr>
            <p:ph type="dt" sz="half" idx="10"/>
          </p:nvPr>
        </p:nvSpPr>
        <p:spPr/>
        <p:txBody>
          <a:bodyPr/>
          <a:lstStyle/>
          <a:p>
            <a:fld id="{98554BCD-4603-4EDE-A06E-405E941F3AF4}"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9CE83EC4-FB56-2675-5A08-6A08B8B479E6}"/>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79</a:t>
            </a:fld>
            <a:endParaRPr kumimoji="1" lang="ja-JP" altLang="en-US" dirty="0">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03D4C911-524C-3E2F-6561-D5A1C35068F5}"/>
              </a:ext>
            </a:extLst>
          </p:cNvPr>
          <p:cNvSpPr txBox="1"/>
          <p:nvPr/>
        </p:nvSpPr>
        <p:spPr>
          <a:xfrm>
            <a:off x="6768502" y="1810944"/>
            <a:ext cx="3460528" cy="369332"/>
          </a:xfrm>
          <a:prstGeom prst="rect">
            <a:avLst/>
          </a:prstGeom>
          <a:noFill/>
        </p:spPr>
        <p:txBody>
          <a:bodyPr wrap="square" rtlCol="0">
            <a:spAutoFit/>
          </a:bodyPr>
          <a:lstStyle/>
          <a:p>
            <a:r>
              <a:rPr kumimoji="1" lang="ja-JP" altLang="en-US" dirty="0">
                <a:solidFill>
                  <a:schemeClr val="accent1"/>
                </a:solidFill>
              </a:rPr>
              <a:t>ポリ</a:t>
            </a:r>
            <a:r>
              <a:rPr kumimoji="1" lang="en-US" altLang="ja-JP" dirty="0">
                <a:solidFill>
                  <a:schemeClr val="accent1"/>
                </a:solidFill>
              </a:rPr>
              <a:t>(</a:t>
            </a:r>
            <a:r>
              <a:rPr kumimoji="1" lang="ja-JP" altLang="en-US" dirty="0">
                <a:solidFill>
                  <a:schemeClr val="accent1"/>
                </a:solidFill>
              </a:rPr>
              <a:t>多結晶</a:t>
            </a:r>
            <a:r>
              <a:rPr kumimoji="1" lang="en-US" altLang="ja-JP" dirty="0">
                <a:solidFill>
                  <a:schemeClr val="accent1"/>
                </a:solidFill>
              </a:rPr>
              <a:t>)</a:t>
            </a:r>
            <a:r>
              <a:rPr kumimoji="1" lang="ja-JP" altLang="en-US" dirty="0">
                <a:solidFill>
                  <a:schemeClr val="accent1"/>
                </a:solidFill>
              </a:rPr>
              <a:t>シリコン</a:t>
            </a:r>
            <a:r>
              <a:rPr kumimoji="1" lang="en-US" altLang="ja-JP" dirty="0">
                <a:solidFill>
                  <a:schemeClr val="accent1"/>
                </a:solidFill>
              </a:rPr>
              <a:t>(GC</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sp>
        <p:nvSpPr>
          <p:cNvPr id="2" name="テキスト ボックス 1">
            <a:extLst>
              <a:ext uri="{FF2B5EF4-FFF2-40B4-BE49-F238E27FC236}">
                <a16:creationId xmlns:a16="http://schemas.microsoft.com/office/drawing/2014/main" id="{354AD0E9-6C72-D32E-7145-22B1896CC6C8}"/>
              </a:ext>
            </a:extLst>
          </p:cNvPr>
          <p:cNvSpPr txBox="1"/>
          <p:nvPr/>
        </p:nvSpPr>
        <p:spPr>
          <a:xfrm>
            <a:off x="6768502" y="4253053"/>
            <a:ext cx="2046201" cy="369332"/>
          </a:xfrm>
          <a:prstGeom prst="rect">
            <a:avLst/>
          </a:prstGeom>
          <a:noFill/>
        </p:spPr>
        <p:txBody>
          <a:bodyPr wrap="none" rtlCol="0">
            <a:spAutoFit/>
          </a:bodyPr>
          <a:lstStyle/>
          <a:p>
            <a:r>
              <a:rPr kumimoji="1" lang="en-US" altLang="ja-JP" dirty="0">
                <a:solidFill>
                  <a:schemeClr val="accent1"/>
                </a:solidFill>
              </a:rPr>
              <a:t>NW(N-</a:t>
            </a:r>
            <a:r>
              <a:rPr kumimoji="1" lang="en-US" altLang="ja-JP" dirty="0" err="1">
                <a:solidFill>
                  <a:schemeClr val="accent1"/>
                </a:solidFill>
              </a:rPr>
              <a:t>well,WN</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cxnSp>
        <p:nvCxnSpPr>
          <p:cNvPr id="8" name="直線矢印コネクタ 7">
            <a:extLst>
              <a:ext uri="{FF2B5EF4-FFF2-40B4-BE49-F238E27FC236}">
                <a16:creationId xmlns:a16="http://schemas.microsoft.com/office/drawing/2014/main" id="{7D66331A-0ACD-9DD0-081F-D49D68D63D06}"/>
              </a:ext>
            </a:extLst>
          </p:cNvPr>
          <p:cNvCxnSpPr>
            <a:cxnSpLocks/>
          </p:cNvCxnSpPr>
          <p:nvPr/>
        </p:nvCxnSpPr>
        <p:spPr>
          <a:xfrm flipH="1">
            <a:off x="5703644" y="3140311"/>
            <a:ext cx="1162050" cy="3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794396D0-64F1-98CA-6E2B-8232D990D7A3}"/>
              </a:ext>
            </a:extLst>
          </p:cNvPr>
          <p:cNvSpPr txBox="1"/>
          <p:nvPr/>
        </p:nvSpPr>
        <p:spPr>
          <a:xfrm>
            <a:off x="6865694" y="2934818"/>
            <a:ext cx="5314076" cy="369332"/>
          </a:xfrm>
          <a:prstGeom prst="rect">
            <a:avLst/>
          </a:prstGeom>
          <a:noFill/>
        </p:spPr>
        <p:txBody>
          <a:bodyPr wrap="square" rtlCol="0">
            <a:spAutoFit/>
          </a:bodyPr>
          <a:lstStyle/>
          <a:p>
            <a:r>
              <a:rPr lang="en-US" altLang="ja-JP" dirty="0"/>
              <a:t>LOCOS(local oxidation of silicon)</a:t>
            </a:r>
            <a:endParaRPr lang="ja-JP" altLang="en-US" dirty="0"/>
          </a:p>
        </p:txBody>
      </p:sp>
      <p:cxnSp>
        <p:nvCxnSpPr>
          <p:cNvPr id="22" name="直線矢印コネクタ 21">
            <a:extLst>
              <a:ext uri="{FF2B5EF4-FFF2-40B4-BE49-F238E27FC236}">
                <a16:creationId xmlns:a16="http://schemas.microsoft.com/office/drawing/2014/main" id="{90ED4E1D-56BC-A47E-7C4E-8659DA7FE5B0}"/>
              </a:ext>
            </a:extLst>
          </p:cNvPr>
          <p:cNvCxnSpPr>
            <a:cxnSpLocks/>
          </p:cNvCxnSpPr>
          <p:nvPr/>
        </p:nvCxnSpPr>
        <p:spPr>
          <a:xfrm flipH="1">
            <a:off x="3303215" y="1959000"/>
            <a:ext cx="3400466" cy="907378"/>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24" name="テキスト ボックス 23">
            <a:extLst>
              <a:ext uri="{FF2B5EF4-FFF2-40B4-BE49-F238E27FC236}">
                <a16:creationId xmlns:a16="http://schemas.microsoft.com/office/drawing/2014/main" id="{F084B7CD-D2A3-9604-EBD6-923D0862D52D}"/>
              </a:ext>
            </a:extLst>
          </p:cNvPr>
          <p:cNvSpPr txBox="1"/>
          <p:nvPr/>
        </p:nvSpPr>
        <p:spPr>
          <a:xfrm>
            <a:off x="1686581" y="1498753"/>
            <a:ext cx="3019425" cy="369332"/>
          </a:xfrm>
          <a:prstGeom prst="rect">
            <a:avLst/>
          </a:prstGeom>
          <a:noFill/>
          <a:ln>
            <a:noFill/>
          </a:ln>
        </p:spPr>
        <p:txBody>
          <a:bodyPr wrap="square" rtlCol="0">
            <a:spAutoFit/>
          </a:bodyPr>
          <a:lstStyle/>
          <a:p>
            <a:pPr algn="ctr"/>
            <a:r>
              <a:rPr kumimoji="1" lang="en-US" altLang="ja-JP" dirty="0">
                <a:solidFill>
                  <a:schemeClr val="accent1"/>
                </a:solidFill>
              </a:rPr>
              <a:t>P+ (AP)</a:t>
            </a:r>
            <a:r>
              <a:rPr kumimoji="1" lang="ja-JP" altLang="en-US" dirty="0">
                <a:solidFill>
                  <a:schemeClr val="accent1"/>
                </a:solidFill>
              </a:rPr>
              <a:t>層</a:t>
            </a:r>
          </a:p>
        </p:txBody>
      </p:sp>
      <p:cxnSp>
        <p:nvCxnSpPr>
          <p:cNvPr id="28" name="直線矢印コネクタ 27">
            <a:extLst>
              <a:ext uri="{FF2B5EF4-FFF2-40B4-BE49-F238E27FC236}">
                <a16:creationId xmlns:a16="http://schemas.microsoft.com/office/drawing/2014/main" id="{DCFC1263-1B20-77BE-BB31-206CE57EF880}"/>
              </a:ext>
            </a:extLst>
          </p:cNvPr>
          <p:cNvCxnSpPr>
            <a:cxnSpLocks/>
            <a:stCxn id="24" idx="2"/>
          </p:cNvCxnSpPr>
          <p:nvPr/>
        </p:nvCxnSpPr>
        <p:spPr>
          <a:xfrm flipH="1">
            <a:off x="2125547" y="1868085"/>
            <a:ext cx="1070747" cy="127400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99E1553C-74A9-D48D-14EC-E88EE1005E6A}"/>
              </a:ext>
            </a:extLst>
          </p:cNvPr>
          <p:cNvCxnSpPr>
            <a:cxnSpLocks/>
            <a:stCxn id="24" idx="2"/>
          </p:cNvCxnSpPr>
          <p:nvPr/>
        </p:nvCxnSpPr>
        <p:spPr>
          <a:xfrm>
            <a:off x="3196294" y="1868085"/>
            <a:ext cx="932893" cy="1270686"/>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8355AE1B-C4D3-F686-F32B-DEC2F20019D6}"/>
              </a:ext>
            </a:extLst>
          </p:cNvPr>
          <p:cNvCxnSpPr>
            <a:cxnSpLocks/>
            <a:stCxn id="2" idx="1"/>
          </p:cNvCxnSpPr>
          <p:nvPr/>
        </p:nvCxnSpPr>
        <p:spPr>
          <a:xfrm flipH="1" flipV="1">
            <a:off x="2008180" y="4423897"/>
            <a:ext cx="4760322" cy="1382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94A8D4EE-B0A2-1B42-C580-DDF2EA044C7C}"/>
              </a:ext>
            </a:extLst>
          </p:cNvPr>
          <p:cNvCxnSpPr>
            <a:cxnSpLocks/>
            <a:stCxn id="18" idx="1"/>
          </p:cNvCxnSpPr>
          <p:nvPr/>
        </p:nvCxnSpPr>
        <p:spPr>
          <a:xfrm flipH="1">
            <a:off x="5578278" y="1512780"/>
            <a:ext cx="706391" cy="13210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E394D203-7E42-A011-5DAA-E273F2360EC1}"/>
              </a:ext>
            </a:extLst>
          </p:cNvPr>
          <p:cNvSpPr txBox="1"/>
          <p:nvPr/>
        </p:nvSpPr>
        <p:spPr>
          <a:xfrm>
            <a:off x="6284669" y="1328114"/>
            <a:ext cx="5324475" cy="369332"/>
          </a:xfrm>
          <a:prstGeom prst="rect">
            <a:avLst/>
          </a:prstGeom>
          <a:noFill/>
        </p:spPr>
        <p:txBody>
          <a:bodyPr wrap="square" rtlCol="0">
            <a:spAutoFit/>
          </a:bodyPr>
          <a:lstStyle/>
          <a:p>
            <a:r>
              <a:rPr lang="ja-JP" altLang="en-US" dirty="0"/>
              <a:t>リン</a:t>
            </a:r>
            <a:r>
              <a:rPr lang="en-US" altLang="ja-JP" dirty="0"/>
              <a:t>-</a:t>
            </a:r>
            <a:r>
              <a:rPr lang="ja-JP" altLang="en-US" dirty="0"/>
              <a:t>ケイ酸ガラス</a:t>
            </a:r>
            <a:r>
              <a:rPr lang="en-US" altLang="ja-JP" dirty="0"/>
              <a:t>; </a:t>
            </a:r>
            <a:r>
              <a:rPr lang="ja-JP" altLang="en-US" dirty="0"/>
              <a:t>レイヤ間を埋める絶縁物質</a:t>
            </a:r>
          </a:p>
        </p:txBody>
      </p:sp>
      <p:sp>
        <p:nvSpPr>
          <p:cNvPr id="21" name="テキスト ボックス 20">
            <a:extLst>
              <a:ext uri="{FF2B5EF4-FFF2-40B4-BE49-F238E27FC236}">
                <a16:creationId xmlns:a16="http://schemas.microsoft.com/office/drawing/2014/main" id="{CB71571C-DF87-6229-5758-E1F45DA3C079}"/>
              </a:ext>
            </a:extLst>
          </p:cNvPr>
          <p:cNvSpPr txBox="1"/>
          <p:nvPr/>
        </p:nvSpPr>
        <p:spPr>
          <a:xfrm>
            <a:off x="6553200" y="4718838"/>
            <a:ext cx="4953579" cy="369332"/>
          </a:xfrm>
          <a:prstGeom prst="rect">
            <a:avLst/>
          </a:prstGeom>
          <a:noFill/>
        </p:spPr>
        <p:txBody>
          <a:bodyPr wrap="square" rtlCol="0">
            <a:spAutoFit/>
          </a:bodyPr>
          <a:lstStyle/>
          <a:p>
            <a:r>
              <a:rPr kumimoji="1" lang="en-US" altLang="ja-JP" dirty="0" err="1"/>
              <a:t>Psub</a:t>
            </a:r>
            <a:r>
              <a:rPr kumimoji="1" lang="en-US" altLang="ja-JP" dirty="0"/>
              <a:t>-</a:t>
            </a:r>
            <a:r>
              <a:rPr kumimoji="1" lang="ja-JP" altLang="en-US" dirty="0"/>
              <a:t>サブストレート</a:t>
            </a:r>
            <a:r>
              <a:rPr kumimoji="1" lang="en-US" altLang="ja-JP" dirty="0"/>
              <a:t>, </a:t>
            </a:r>
            <a:r>
              <a:rPr kumimoji="1" lang="ja-JP" altLang="en-US" dirty="0"/>
              <a:t>基板（シリコン）</a:t>
            </a:r>
          </a:p>
        </p:txBody>
      </p:sp>
      <p:sp>
        <p:nvSpPr>
          <p:cNvPr id="23" name="テキスト ボックス 22">
            <a:extLst>
              <a:ext uri="{FF2B5EF4-FFF2-40B4-BE49-F238E27FC236}">
                <a16:creationId xmlns:a16="http://schemas.microsoft.com/office/drawing/2014/main" id="{C01FD28E-0B9B-EF02-C280-645BD61389DB}"/>
              </a:ext>
            </a:extLst>
          </p:cNvPr>
          <p:cNvSpPr txBox="1"/>
          <p:nvPr/>
        </p:nvSpPr>
        <p:spPr>
          <a:xfrm>
            <a:off x="6792314" y="2218415"/>
            <a:ext cx="5324475" cy="369332"/>
          </a:xfrm>
          <a:prstGeom prst="rect">
            <a:avLst/>
          </a:prstGeom>
          <a:noFill/>
        </p:spPr>
        <p:txBody>
          <a:bodyPr wrap="square" rtlCol="0">
            <a:spAutoFit/>
          </a:bodyPr>
          <a:lstStyle/>
          <a:p>
            <a:r>
              <a:rPr lang="ja-JP" altLang="en-US" dirty="0"/>
              <a:t>酸化膜絶層</a:t>
            </a:r>
          </a:p>
        </p:txBody>
      </p:sp>
      <p:cxnSp>
        <p:nvCxnSpPr>
          <p:cNvPr id="25" name="直線矢印コネクタ 24">
            <a:extLst>
              <a:ext uri="{FF2B5EF4-FFF2-40B4-BE49-F238E27FC236}">
                <a16:creationId xmlns:a16="http://schemas.microsoft.com/office/drawing/2014/main" id="{C96D61BB-FE20-647E-9E85-189EEA921A21}"/>
              </a:ext>
            </a:extLst>
          </p:cNvPr>
          <p:cNvCxnSpPr>
            <a:cxnSpLocks/>
            <a:stCxn id="23" idx="1"/>
          </p:cNvCxnSpPr>
          <p:nvPr/>
        </p:nvCxnSpPr>
        <p:spPr>
          <a:xfrm flipH="1">
            <a:off x="4375120" y="2403081"/>
            <a:ext cx="2417194" cy="329571"/>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0" name="テキスト ボックス 9">
            <a:extLst>
              <a:ext uri="{FF2B5EF4-FFF2-40B4-BE49-F238E27FC236}">
                <a16:creationId xmlns:a16="http://schemas.microsoft.com/office/drawing/2014/main" id="{6A0137D4-3C7D-7EF2-EF55-3F8A3A02A673}"/>
              </a:ext>
            </a:extLst>
          </p:cNvPr>
          <p:cNvSpPr txBox="1"/>
          <p:nvPr/>
        </p:nvSpPr>
        <p:spPr>
          <a:xfrm>
            <a:off x="7450829" y="3270770"/>
            <a:ext cx="4670336" cy="830997"/>
          </a:xfrm>
          <a:prstGeom prst="rect">
            <a:avLst/>
          </a:prstGeom>
          <a:noFill/>
        </p:spPr>
        <p:txBody>
          <a:bodyPr wrap="square" rtlCol="0">
            <a:spAutoFit/>
          </a:bodyPr>
          <a:lstStyle/>
          <a:p>
            <a:r>
              <a:rPr kumimoji="1" lang="ja-JP" altLang="en-US" sz="1200" dirty="0"/>
              <a:t>半導体デバイスを形成する際の代表的素子分離法。</a:t>
            </a:r>
          </a:p>
          <a:p>
            <a:r>
              <a:rPr kumimoji="1" lang="ja-JP" altLang="en-US" sz="1200" dirty="0"/>
              <a:t>窒化膜で酸化防止マスクされた部分以外のシリコン基板を酸化し、この酸化膜の層によって周囲から電気的に絶縁された領域（活性領域）を作る</a:t>
            </a:r>
          </a:p>
        </p:txBody>
      </p:sp>
      <p:sp>
        <p:nvSpPr>
          <p:cNvPr id="15" name="正方形/長方形 14">
            <a:extLst>
              <a:ext uri="{FF2B5EF4-FFF2-40B4-BE49-F238E27FC236}">
                <a16:creationId xmlns:a16="http://schemas.microsoft.com/office/drawing/2014/main" id="{390AA65C-3C4D-EECD-F161-A1928DBAFFF9}"/>
              </a:ext>
            </a:extLst>
          </p:cNvPr>
          <p:cNvSpPr/>
          <p:nvPr/>
        </p:nvSpPr>
        <p:spPr>
          <a:xfrm>
            <a:off x="7127070" y="5633107"/>
            <a:ext cx="4162690" cy="557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緑字はレイアウトする必要がある層</a:t>
            </a:r>
          </a:p>
        </p:txBody>
      </p:sp>
      <p:sp>
        <p:nvSpPr>
          <p:cNvPr id="17" name="正方形/長方形 16">
            <a:extLst>
              <a:ext uri="{FF2B5EF4-FFF2-40B4-BE49-F238E27FC236}">
                <a16:creationId xmlns:a16="http://schemas.microsoft.com/office/drawing/2014/main" id="{6C91118F-C9C8-D63B-A346-DE29EC85F4C8}"/>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6978485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19FCE-EE41-1F19-D11B-D07374B79CFA}"/>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FAE4E869-09E7-A4AC-E6EF-A401B6D908B3}"/>
              </a:ext>
            </a:extLst>
          </p:cNvPr>
          <p:cNvPicPr>
            <a:picLocks noChangeAspect="1"/>
          </p:cNvPicPr>
          <p:nvPr/>
        </p:nvPicPr>
        <p:blipFill>
          <a:blip r:embed="rId2"/>
          <a:srcRect r="49755"/>
          <a:stretch>
            <a:fillRect/>
          </a:stretch>
        </p:blipFill>
        <p:spPr>
          <a:xfrm>
            <a:off x="268140" y="1661759"/>
            <a:ext cx="5893724" cy="4147654"/>
          </a:xfrm>
          <a:prstGeom prst="rect">
            <a:avLst/>
          </a:prstGeom>
        </p:spPr>
      </p:pic>
      <p:sp>
        <p:nvSpPr>
          <p:cNvPr id="7" name="タイトル 6">
            <a:extLst>
              <a:ext uri="{FF2B5EF4-FFF2-40B4-BE49-F238E27FC236}">
                <a16:creationId xmlns:a16="http://schemas.microsoft.com/office/drawing/2014/main" id="{7BEDD7D5-4004-6911-1A02-82912B551855}"/>
              </a:ext>
            </a:extLst>
          </p:cNvPr>
          <p:cNvSpPr>
            <a:spLocks noGrp="1"/>
          </p:cNvSpPr>
          <p:nvPr>
            <p:ph type="title"/>
          </p:nvPr>
        </p:nvSpPr>
        <p:spPr/>
        <p:txBody>
          <a:bodyPr/>
          <a:lstStyle/>
          <a:p>
            <a:r>
              <a:rPr lang="ja-JP" altLang="en-US" dirty="0"/>
              <a:t>プレーナ型</a:t>
            </a:r>
            <a:r>
              <a:rPr lang="en-US" altLang="ja-JP" dirty="0"/>
              <a:t>PMOS</a:t>
            </a:r>
            <a:endParaRPr lang="ja-JP" altLang="en-US" dirty="0"/>
          </a:p>
        </p:txBody>
      </p:sp>
      <p:sp>
        <p:nvSpPr>
          <p:cNvPr id="4" name="日付プレースホルダー 3">
            <a:extLst>
              <a:ext uri="{FF2B5EF4-FFF2-40B4-BE49-F238E27FC236}">
                <a16:creationId xmlns:a16="http://schemas.microsoft.com/office/drawing/2014/main" id="{B4B882F7-3CFD-1F14-8ACF-86F01D0027EA}"/>
              </a:ext>
            </a:extLst>
          </p:cNvPr>
          <p:cNvSpPr>
            <a:spLocks noGrp="1"/>
          </p:cNvSpPr>
          <p:nvPr>
            <p:ph type="dt" sz="half" idx="10"/>
          </p:nvPr>
        </p:nvSpPr>
        <p:spPr/>
        <p:txBody>
          <a:bodyPr/>
          <a:lstStyle/>
          <a:p>
            <a:fld id="{98554BCD-4603-4EDE-A06E-405E941F3AF4}"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FAC17BA8-A3D3-E3DD-38A6-FF53D2A9BCF1}"/>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80</a:t>
            </a:fld>
            <a:endParaRPr kumimoji="1" lang="ja-JP" altLang="en-US" dirty="0">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7676DFF9-28FB-7DB5-917C-D9F875C58E77}"/>
              </a:ext>
            </a:extLst>
          </p:cNvPr>
          <p:cNvSpPr txBox="1"/>
          <p:nvPr/>
        </p:nvSpPr>
        <p:spPr>
          <a:xfrm>
            <a:off x="6768502" y="1810944"/>
            <a:ext cx="3460528" cy="369332"/>
          </a:xfrm>
          <a:prstGeom prst="rect">
            <a:avLst/>
          </a:prstGeom>
          <a:noFill/>
        </p:spPr>
        <p:txBody>
          <a:bodyPr wrap="square" rtlCol="0">
            <a:spAutoFit/>
          </a:bodyPr>
          <a:lstStyle/>
          <a:p>
            <a:r>
              <a:rPr kumimoji="1" lang="ja-JP" altLang="en-US" dirty="0">
                <a:solidFill>
                  <a:schemeClr val="accent1"/>
                </a:solidFill>
              </a:rPr>
              <a:t>ポリ</a:t>
            </a:r>
            <a:r>
              <a:rPr kumimoji="1" lang="en-US" altLang="ja-JP" dirty="0">
                <a:solidFill>
                  <a:schemeClr val="accent1"/>
                </a:solidFill>
              </a:rPr>
              <a:t>(</a:t>
            </a:r>
            <a:r>
              <a:rPr kumimoji="1" lang="ja-JP" altLang="en-US" dirty="0">
                <a:solidFill>
                  <a:schemeClr val="accent1"/>
                </a:solidFill>
              </a:rPr>
              <a:t>多結晶</a:t>
            </a:r>
            <a:r>
              <a:rPr kumimoji="1" lang="en-US" altLang="ja-JP" dirty="0">
                <a:solidFill>
                  <a:schemeClr val="accent1"/>
                </a:solidFill>
              </a:rPr>
              <a:t>)</a:t>
            </a:r>
            <a:r>
              <a:rPr kumimoji="1" lang="ja-JP" altLang="en-US" dirty="0">
                <a:solidFill>
                  <a:schemeClr val="accent1"/>
                </a:solidFill>
              </a:rPr>
              <a:t>シリコン</a:t>
            </a:r>
            <a:r>
              <a:rPr kumimoji="1" lang="en-US" altLang="ja-JP" dirty="0">
                <a:solidFill>
                  <a:schemeClr val="accent1"/>
                </a:solidFill>
              </a:rPr>
              <a:t>(GC</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sp>
        <p:nvSpPr>
          <p:cNvPr id="2" name="テキスト ボックス 1">
            <a:extLst>
              <a:ext uri="{FF2B5EF4-FFF2-40B4-BE49-F238E27FC236}">
                <a16:creationId xmlns:a16="http://schemas.microsoft.com/office/drawing/2014/main" id="{10D28262-824C-19B4-6B21-7CE1ED591288}"/>
              </a:ext>
            </a:extLst>
          </p:cNvPr>
          <p:cNvSpPr txBox="1"/>
          <p:nvPr/>
        </p:nvSpPr>
        <p:spPr>
          <a:xfrm>
            <a:off x="6768502" y="4253053"/>
            <a:ext cx="2046201" cy="369332"/>
          </a:xfrm>
          <a:prstGeom prst="rect">
            <a:avLst/>
          </a:prstGeom>
          <a:noFill/>
        </p:spPr>
        <p:txBody>
          <a:bodyPr wrap="none" rtlCol="0">
            <a:spAutoFit/>
          </a:bodyPr>
          <a:lstStyle/>
          <a:p>
            <a:r>
              <a:rPr kumimoji="1" lang="en-US" altLang="ja-JP" dirty="0">
                <a:solidFill>
                  <a:schemeClr val="accent1"/>
                </a:solidFill>
              </a:rPr>
              <a:t>NW(N-</a:t>
            </a:r>
            <a:r>
              <a:rPr kumimoji="1" lang="en-US" altLang="ja-JP" dirty="0" err="1">
                <a:solidFill>
                  <a:schemeClr val="accent1"/>
                </a:solidFill>
              </a:rPr>
              <a:t>well,WN</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cxnSp>
        <p:nvCxnSpPr>
          <p:cNvPr id="8" name="直線矢印コネクタ 7">
            <a:extLst>
              <a:ext uri="{FF2B5EF4-FFF2-40B4-BE49-F238E27FC236}">
                <a16:creationId xmlns:a16="http://schemas.microsoft.com/office/drawing/2014/main" id="{EC840F6B-121A-D91B-26B7-E7F0FCC834AC}"/>
              </a:ext>
            </a:extLst>
          </p:cNvPr>
          <p:cNvCxnSpPr>
            <a:cxnSpLocks/>
          </p:cNvCxnSpPr>
          <p:nvPr/>
        </p:nvCxnSpPr>
        <p:spPr>
          <a:xfrm flipH="1">
            <a:off x="5703644" y="3140311"/>
            <a:ext cx="1162050" cy="3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0E9629E1-99C9-1D35-44EE-2C08CF844F78}"/>
              </a:ext>
            </a:extLst>
          </p:cNvPr>
          <p:cNvSpPr txBox="1"/>
          <p:nvPr/>
        </p:nvSpPr>
        <p:spPr>
          <a:xfrm>
            <a:off x="6865694" y="2934818"/>
            <a:ext cx="5314076" cy="369332"/>
          </a:xfrm>
          <a:prstGeom prst="rect">
            <a:avLst/>
          </a:prstGeom>
          <a:noFill/>
        </p:spPr>
        <p:txBody>
          <a:bodyPr wrap="square" rtlCol="0">
            <a:spAutoFit/>
          </a:bodyPr>
          <a:lstStyle/>
          <a:p>
            <a:r>
              <a:rPr lang="en-US" altLang="ja-JP" dirty="0"/>
              <a:t>LOCOS(local oxidation of silicon)</a:t>
            </a:r>
            <a:endParaRPr lang="ja-JP" altLang="en-US" dirty="0"/>
          </a:p>
        </p:txBody>
      </p:sp>
      <p:cxnSp>
        <p:nvCxnSpPr>
          <p:cNvPr id="22" name="直線矢印コネクタ 21">
            <a:extLst>
              <a:ext uri="{FF2B5EF4-FFF2-40B4-BE49-F238E27FC236}">
                <a16:creationId xmlns:a16="http://schemas.microsoft.com/office/drawing/2014/main" id="{568B9E98-00D9-66AB-44A8-DC7B1D878ACA}"/>
              </a:ext>
            </a:extLst>
          </p:cNvPr>
          <p:cNvCxnSpPr>
            <a:cxnSpLocks/>
          </p:cNvCxnSpPr>
          <p:nvPr/>
        </p:nvCxnSpPr>
        <p:spPr>
          <a:xfrm flipH="1">
            <a:off x="3303215" y="1959000"/>
            <a:ext cx="3400466" cy="907378"/>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24" name="テキスト ボックス 23">
            <a:extLst>
              <a:ext uri="{FF2B5EF4-FFF2-40B4-BE49-F238E27FC236}">
                <a16:creationId xmlns:a16="http://schemas.microsoft.com/office/drawing/2014/main" id="{DB889942-9A1F-174D-C763-831DA6EA2A1B}"/>
              </a:ext>
            </a:extLst>
          </p:cNvPr>
          <p:cNvSpPr txBox="1"/>
          <p:nvPr/>
        </p:nvSpPr>
        <p:spPr>
          <a:xfrm>
            <a:off x="1686581" y="1498753"/>
            <a:ext cx="3019425" cy="369332"/>
          </a:xfrm>
          <a:prstGeom prst="rect">
            <a:avLst/>
          </a:prstGeom>
          <a:noFill/>
          <a:ln>
            <a:noFill/>
          </a:ln>
        </p:spPr>
        <p:txBody>
          <a:bodyPr wrap="square" rtlCol="0">
            <a:spAutoFit/>
          </a:bodyPr>
          <a:lstStyle/>
          <a:p>
            <a:pPr algn="ctr"/>
            <a:r>
              <a:rPr kumimoji="1" lang="en-US" altLang="ja-JP" dirty="0">
                <a:solidFill>
                  <a:schemeClr val="accent1"/>
                </a:solidFill>
              </a:rPr>
              <a:t>P+ (AP)</a:t>
            </a:r>
            <a:r>
              <a:rPr kumimoji="1" lang="ja-JP" altLang="en-US" dirty="0">
                <a:solidFill>
                  <a:schemeClr val="accent1"/>
                </a:solidFill>
              </a:rPr>
              <a:t>層</a:t>
            </a:r>
          </a:p>
        </p:txBody>
      </p:sp>
      <p:cxnSp>
        <p:nvCxnSpPr>
          <p:cNvPr id="28" name="直線矢印コネクタ 27">
            <a:extLst>
              <a:ext uri="{FF2B5EF4-FFF2-40B4-BE49-F238E27FC236}">
                <a16:creationId xmlns:a16="http://schemas.microsoft.com/office/drawing/2014/main" id="{7B714AD4-F760-582E-3F90-B169D239B3E9}"/>
              </a:ext>
            </a:extLst>
          </p:cNvPr>
          <p:cNvCxnSpPr>
            <a:cxnSpLocks/>
            <a:stCxn id="24" idx="2"/>
          </p:cNvCxnSpPr>
          <p:nvPr/>
        </p:nvCxnSpPr>
        <p:spPr>
          <a:xfrm flipH="1">
            <a:off x="2125547" y="1868085"/>
            <a:ext cx="1070747" cy="127400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447D0D6E-35D6-15A7-5C66-3156C80E7591}"/>
              </a:ext>
            </a:extLst>
          </p:cNvPr>
          <p:cNvCxnSpPr>
            <a:cxnSpLocks/>
            <a:stCxn id="24" idx="2"/>
          </p:cNvCxnSpPr>
          <p:nvPr/>
        </p:nvCxnSpPr>
        <p:spPr>
          <a:xfrm>
            <a:off x="3196294" y="1868085"/>
            <a:ext cx="932893" cy="1270686"/>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34D07931-1F99-DB5F-39B4-15B9FC1BEAF1}"/>
              </a:ext>
            </a:extLst>
          </p:cNvPr>
          <p:cNvCxnSpPr>
            <a:cxnSpLocks/>
            <a:stCxn id="2" idx="1"/>
          </p:cNvCxnSpPr>
          <p:nvPr/>
        </p:nvCxnSpPr>
        <p:spPr>
          <a:xfrm flipH="1" flipV="1">
            <a:off x="2008180" y="4423897"/>
            <a:ext cx="4760322" cy="1382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5550DD5C-2049-9593-A29A-216C1FF63470}"/>
              </a:ext>
            </a:extLst>
          </p:cNvPr>
          <p:cNvCxnSpPr>
            <a:cxnSpLocks/>
            <a:stCxn id="18" idx="1"/>
          </p:cNvCxnSpPr>
          <p:nvPr/>
        </p:nvCxnSpPr>
        <p:spPr>
          <a:xfrm flipH="1">
            <a:off x="5578278" y="1512780"/>
            <a:ext cx="706391" cy="13210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8B55AE67-243E-0FF9-6EE5-2525D135F3F8}"/>
              </a:ext>
            </a:extLst>
          </p:cNvPr>
          <p:cNvSpPr txBox="1"/>
          <p:nvPr/>
        </p:nvSpPr>
        <p:spPr>
          <a:xfrm>
            <a:off x="6284669" y="1328114"/>
            <a:ext cx="5324475" cy="369332"/>
          </a:xfrm>
          <a:prstGeom prst="rect">
            <a:avLst/>
          </a:prstGeom>
          <a:noFill/>
        </p:spPr>
        <p:txBody>
          <a:bodyPr wrap="square" rtlCol="0">
            <a:spAutoFit/>
          </a:bodyPr>
          <a:lstStyle/>
          <a:p>
            <a:r>
              <a:rPr lang="ja-JP" altLang="en-US" dirty="0"/>
              <a:t>リン</a:t>
            </a:r>
            <a:r>
              <a:rPr lang="en-US" altLang="ja-JP" dirty="0"/>
              <a:t>-</a:t>
            </a:r>
            <a:r>
              <a:rPr lang="ja-JP" altLang="en-US" dirty="0"/>
              <a:t>ケイ酸ガラス</a:t>
            </a:r>
            <a:r>
              <a:rPr lang="en-US" altLang="ja-JP" dirty="0"/>
              <a:t>; </a:t>
            </a:r>
            <a:r>
              <a:rPr lang="ja-JP" altLang="en-US" dirty="0"/>
              <a:t>レイヤ間を埋める絶縁物質</a:t>
            </a:r>
          </a:p>
        </p:txBody>
      </p:sp>
      <p:sp>
        <p:nvSpPr>
          <p:cNvPr id="21" name="テキスト ボックス 20">
            <a:extLst>
              <a:ext uri="{FF2B5EF4-FFF2-40B4-BE49-F238E27FC236}">
                <a16:creationId xmlns:a16="http://schemas.microsoft.com/office/drawing/2014/main" id="{591E4C78-C632-36C4-E69F-BDC4604FA9D8}"/>
              </a:ext>
            </a:extLst>
          </p:cNvPr>
          <p:cNvSpPr txBox="1"/>
          <p:nvPr/>
        </p:nvSpPr>
        <p:spPr>
          <a:xfrm>
            <a:off x="6553200" y="4718838"/>
            <a:ext cx="4953579" cy="369332"/>
          </a:xfrm>
          <a:prstGeom prst="rect">
            <a:avLst/>
          </a:prstGeom>
          <a:noFill/>
        </p:spPr>
        <p:txBody>
          <a:bodyPr wrap="square" rtlCol="0">
            <a:spAutoFit/>
          </a:bodyPr>
          <a:lstStyle/>
          <a:p>
            <a:r>
              <a:rPr kumimoji="1" lang="en-US" altLang="ja-JP" dirty="0" err="1"/>
              <a:t>Psub</a:t>
            </a:r>
            <a:r>
              <a:rPr kumimoji="1" lang="en-US" altLang="ja-JP" dirty="0"/>
              <a:t>-</a:t>
            </a:r>
            <a:r>
              <a:rPr kumimoji="1" lang="ja-JP" altLang="en-US" dirty="0"/>
              <a:t>サブストレート</a:t>
            </a:r>
            <a:r>
              <a:rPr kumimoji="1" lang="en-US" altLang="ja-JP" dirty="0"/>
              <a:t>, </a:t>
            </a:r>
            <a:r>
              <a:rPr kumimoji="1" lang="ja-JP" altLang="en-US" dirty="0"/>
              <a:t>基板（シリコン）</a:t>
            </a:r>
          </a:p>
        </p:txBody>
      </p:sp>
      <p:sp>
        <p:nvSpPr>
          <p:cNvPr id="23" name="テキスト ボックス 22">
            <a:extLst>
              <a:ext uri="{FF2B5EF4-FFF2-40B4-BE49-F238E27FC236}">
                <a16:creationId xmlns:a16="http://schemas.microsoft.com/office/drawing/2014/main" id="{F4407CD2-9ED7-EEAA-73C2-C845AB0FD0FF}"/>
              </a:ext>
            </a:extLst>
          </p:cNvPr>
          <p:cNvSpPr txBox="1"/>
          <p:nvPr/>
        </p:nvSpPr>
        <p:spPr>
          <a:xfrm>
            <a:off x="6792314" y="2218415"/>
            <a:ext cx="5324475" cy="369332"/>
          </a:xfrm>
          <a:prstGeom prst="rect">
            <a:avLst/>
          </a:prstGeom>
          <a:noFill/>
        </p:spPr>
        <p:txBody>
          <a:bodyPr wrap="square" rtlCol="0">
            <a:spAutoFit/>
          </a:bodyPr>
          <a:lstStyle/>
          <a:p>
            <a:r>
              <a:rPr lang="ja-JP" altLang="en-US" dirty="0"/>
              <a:t>酸化膜絶層</a:t>
            </a:r>
          </a:p>
        </p:txBody>
      </p:sp>
      <p:cxnSp>
        <p:nvCxnSpPr>
          <p:cNvPr id="25" name="直線矢印コネクタ 24">
            <a:extLst>
              <a:ext uri="{FF2B5EF4-FFF2-40B4-BE49-F238E27FC236}">
                <a16:creationId xmlns:a16="http://schemas.microsoft.com/office/drawing/2014/main" id="{535C5FF2-A25A-30B1-5565-56AC3D6E06E1}"/>
              </a:ext>
            </a:extLst>
          </p:cNvPr>
          <p:cNvCxnSpPr>
            <a:cxnSpLocks/>
            <a:stCxn id="23" idx="1"/>
          </p:cNvCxnSpPr>
          <p:nvPr/>
        </p:nvCxnSpPr>
        <p:spPr>
          <a:xfrm flipH="1">
            <a:off x="4375120" y="2403081"/>
            <a:ext cx="2417194" cy="329571"/>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0" name="テキスト ボックス 9">
            <a:extLst>
              <a:ext uri="{FF2B5EF4-FFF2-40B4-BE49-F238E27FC236}">
                <a16:creationId xmlns:a16="http://schemas.microsoft.com/office/drawing/2014/main" id="{8C4F333E-9AF9-5485-8A0E-57D6D25347C6}"/>
              </a:ext>
            </a:extLst>
          </p:cNvPr>
          <p:cNvSpPr txBox="1"/>
          <p:nvPr/>
        </p:nvSpPr>
        <p:spPr>
          <a:xfrm>
            <a:off x="7450829" y="3270770"/>
            <a:ext cx="4670336" cy="830997"/>
          </a:xfrm>
          <a:prstGeom prst="rect">
            <a:avLst/>
          </a:prstGeom>
          <a:noFill/>
        </p:spPr>
        <p:txBody>
          <a:bodyPr wrap="square" rtlCol="0">
            <a:spAutoFit/>
          </a:bodyPr>
          <a:lstStyle/>
          <a:p>
            <a:r>
              <a:rPr kumimoji="1" lang="ja-JP" altLang="en-US" sz="1200" dirty="0"/>
              <a:t>半導体デバイスを形成する際の代表的素子分離法。</a:t>
            </a:r>
          </a:p>
          <a:p>
            <a:r>
              <a:rPr kumimoji="1" lang="ja-JP" altLang="en-US" sz="1200" dirty="0"/>
              <a:t>窒化膜で酸化防止マスクされた部分以外のシリコン基板を酸化し、この酸化膜の層によって周囲から電気的に絶縁された領域（活性領域）を作る</a:t>
            </a:r>
          </a:p>
        </p:txBody>
      </p:sp>
      <p:sp>
        <p:nvSpPr>
          <p:cNvPr id="15" name="正方形/長方形 14">
            <a:extLst>
              <a:ext uri="{FF2B5EF4-FFF2-40B4-BE49-F238E27FC236}">
                <a16:creationId xmlns:a16="http://schemas.microsoft.com/office/drawing/2014/main" id="{8BC8ECBA-1E92-03CF-CBFF-5EE890E8BA1A}"/>
              </a:ext>
            </a:extLst>
          </p:cNvPr>
          <p:cNvSpPr/>
          <p:nvPr/>
        </p:nvSpPr>
        <p:spPr>
          <a:xfrm>
            <a:off x="7127070" y="5633107"/>
            <a:ext cx="4162690" cy="557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緑字はレイアウトする必要がある層</a:t>
            </a:r>
          </a:p>
        </p:txBody>
      </p:sp>
      <p:sp>
        <p:nvSpPr>
          <p:cNvPr id="11" name="正方形/長方形 10">
            <a:extLst>
              <a:ext uri="{FF2B5EF4-FFF2-40B4-BE49-F238E27FC236}">
                <a16:creationId xmlns:a16="http://schemas.microsoft.com/office/drawing/2014/main" id="{89275FD3-8F0F-76F6-4750-B2EDE81DC84E}"/>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8739700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61C9EAB-CD34-4FCF-4A42-49E4BCF9C515}"/>
              </a:ext>
            </a:extLst>
          </p:cNvPr>
          <p:cNvPicPr>
            <a:picLocks noChangeAspect="1"/>
          </p:cNvPicPr>
          <p:nvPr/>
        </p:nvPicPr>
        <p:blipFill>
          <a:blip r:embed="rId2"/>
          <a:srcRect t="21010" r="49755"/>
          <a:stretch>
            <a:fillRect/>
          </a:stretch>
        </p:blipFill>
        <p:spPr>
          <a:xfrm>
            <a:off x="352901" y="3107428"/>
            <a:ext cx="5893724" cy="3276217"/>
          </a:xfrm>
          <a:prstGeom prst="rect">
            <a:avLst/>
          </a:prstGeom>
        </p:spPr>
      </p:pic>
      <p:sp>
        <p:nvSpPr>
          <p:cNvPr id="7" name="タイトル 6">
            <a:extLst>
              <a:ext uri="{FF2B5EF4-FFF2-40B4-BE49-F238E27FC236}">
                <a16:creationId xmlns:a16="http://schemas.microsoft.com/office/drawing/2014/main" id="{756602D8-389F-0F46-C637-1202C361C557}"/>
              </a:ext>
            </a:extLst>
          </p:cNvPr>
          <p:cNvSpPr>
            <a:spLocks noGrp="1"/>
          </p:cNvSpPr>
          <p:nvPr>
            <p:ph type="title"/>
          </p:nvPr>
        </p:nvSpPr>
        <p:spPr/>
        <p:txBody>
          <a:bodyPr/>
          <a:lstStyle/>
          <a:p>
            <a:r>
              <a:rPr lang="ja-JP" altLang="en-US" dirty="0"/>
              <a:t>プレーナ型</a:t>
            </a:r>
            <a:r>
              <a:rPr lang="en-US" altLang="ja-JP" dirty="0"/>
              <a:t>PMOS</a:t>
            </a:r>
            <a:endParaRPr lang="ja-JP" altLang="en-US" dirty="0"/>
          </a:p>
        </p:txBody>
      </p:sp>
      <p:sp>
        <p:nvSpPr>
          <p:cNvPr id="4" name="日付プレースホルダー 3">
            <a:extLst>
              <a:ext uri="{FF2B5EF4-FFF2-40B4-BE49-F238E27FC236}">
                <a16:creationId xmlns:a16="http://schemas.microsoft.com/office/drawing/2014/main" id="{E9DD6A27-6BEB-6E88-1C52-8261373D63CA}"/>
              </a:ext>
            </a:extLst>
          </p:cNvPr>
          <p:cNvSpPr>
            <a:spLocks noGrp="1"/>
          </p:cNvSpPr>
          <p:nvPr>
            <p:ph type="dt" sz="half" idx="10"/>
          </p:nvPr>
        </p:nvSpPr>
        <p:spPr/>
        <p:txBody>
          <a:bodyPr/>
          <a:lstStyle/>
          <a:p>
            <a:fld id="{98554BCD-4603-4EDE-A06E-405E941F3AF4}"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8FAF24E1-5BB3-1914-E0BE-40394558200F}"/>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81</a:t>
            </a:fld>
            <a:endParaRPr kumimoji="1" lang="ja-JP" altLang="en-US" dirty="0">
              <a:latin typeface="Meiryo UI" panose="020B0604030504040204" pitchFamily="50" charset="-128"/>
              <a:ea typeface="Meiryo UI" panose="020B0604030504040204" pitchFamily="50" charset="-128"/>
            </a:endParaRPr>
          </a:p>
        </p:txBody>
      </p:sp>
      <p:cxnSp>
        <p:nvCxnSpPr>
          <p:cNvPr id="21" name="直線矢印コネクタ 20">
            <a:extLst>
              <a:ext uri="{FF2B5EF4-FFF2-40B4-BE49-F238E27FC236}">
                <a16:creationId xmlns:a16="http://schemas.microsoft.com/office/drawing/2014/main" id="{3EC68F19-45F7-946D-58F1-1027323F3CB9}"/>
              </a:ext>
            </a:extLst>
          </p:cNvPr>
          <p:cNvCxnSpPr>
            <a:cxnSpLocks/>
          </p:cNvCxnSpPr>
          <p:nvPr/>
        </p:nvCxnSpPr>
        <p:spPr>
          <a:xfrm>
            <a:off x="2821952" y="3429000"/>
            <a:ext cx="787522"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F69B9988-6BA8-3493-6405-BEBF69C10100}"/>
              </a:ext>
            </a:extLst>
          </p:cNvPr>
          <p:cNvSpPr txBox="1"/>
          <p:nvPr/>
        </p:nvSpPr>
        <p:spPr>
          <a:xfrm>
            <a:off x="2129594" y="2791114"/>
            <a:ext cx="2152650" cy="369332"/>
          </a:xfrm>
          <a:prstGeom prst="rect">
            <a:avLst/>
          </a:prstGeom>
          <a:solidFill>
            <a:schemeClr val="bg1"/>
          </a:solidFill>
        </p:spPr>
        <p:txBody>
          <a:bodyPr wrap="square" rtlCol="0">
            <a:spAutoFit/>
          </a:bodyPr>
          <a:lstStyle/>
          <a:p>
            <a:pPr algn="ctr"/>
            <a:r>
              <a:rPr kumimoji="1" lang="en-US" altLang="ja-JP" dirty="0">
                <a:solidFill>
                  <a:srgbClr val="FF0000"/>
                </a:solidFill>
              </a:rPr>
              <a:t>GC</a:t>
            </a:r>
            <a:endParaRPr kumimoji="1" lang="ja-JP" altLang="en-US" dirty="0">
              <a:solidFill>
                <a:srgbClr val="FF0000"/>
              </a:solidFill>
            </a:endParaRPr>
          </a:p>
        </p:txBody>
      </p:sp>
      <p:cxnSp>
        <p:nvCxnSpPr>
          <p:cNvPr id="16" name="直線矢印コネクタ 15">
            <a:extLst>
              <a:ext uri="{FF2B5EF4-FFF2-40B4-BE49-F238E27FC236}">
                <a16:creationId xmlns:a16="http://schemas.microsoft.com/office/drawing/2014/main" id="{1E469C87-2DA2-F62A-5444-3F38CB6E7A64}"/>
              </a:ext>
            </a:extLst>
          </p:cNvPr>
          <p:cNvCxnSpPr>
            <a:cxnSpLocks/>
          </p:cNvCxnSpPr>
          <p:nvPr/>
        </p:nvCxnSpPr>
        <p:spPr>
          <a:xfrm>
            <a:off x="2046988" y="4046217"/>
            <a:ext cx="2336882" cy="0"/>
          </a:xfrm>
          <a:prstGeom prst="straightConnector1">
            <a:avLst/>
          </a:prstGeom>
          <a:ln w="38100">
            <a:solidFill>
              <a:srgbClr val="BC14B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D63E5594-FCC7-6006-C530-6501C3C031B1}"/>
              </a:ext>
            </a:extLst>
          </p:cNvPr>
          <p:cNvSpPr txBox="1"/>
          <p:nvPr/>
        </p:nvSpPr>
        <p:spPr>
          <a:xfrm>
            <a:off x="2275062" y="4079426"/>
            <a:ext cx="1767549" cy="369332"/>
          </a:xfrm>
          <a:prstGeom prst="rect">
            <a:avLst/>
          </a:prstGeom>
          <a:solidFill>
            <a:schemeClr val="bg1"/>
          </a:solidFill>
        </p:spPr>
        <p:txBody>
          <a:bodyPr wrap="square" rtlCol="0">
            <a:spAutoFit/>
          </a:bodyPr>
          <a:lstStyle/>
          <a:p>
            <a:pPr algn="ctr"/>
            <a:r>
              <a:rPr kumimoji="1" lang="en-US" altLang="ja-JP" dirty="0">
                <a:solidFill>
                  <a:srgbClr val="BC14BC"/>
                </a:solidFill>
              </a:rPr>
              <a:t>p+(AP)</a:t>
            </a:r>
            <a:endParaRPr kumimoji="1" lang="ja-JP" altLang="en-US" dirty="0">
              <a:solidFill>
                <a:srgbClr val="BC14BC"/>
              </a:solidFill>
            </a:endParaRPr>
          </a:p>
        </p:txBody>
      </p:sp>
      <p:sp>
        <p:nvSpPr>
          <p:cNvPr id="2" name="テキスト ボックス 1">
            <a:extLst>
              <a:ext uri="{FF2B5EF4-FFF2-40B4-BE49-F238E27FC236}">
                <a16:creationId xmlns:a16="http://schemas.microsoft.com/office/drawing/2014/main" id="{EF0760FA-8200-C5ED-AB70-C3B43B7C8DFE}"/>
              </a:ext>
            </a:extLst>
          </p:cNvPr>
          <p:cNvSpPr txBox="1"/>
          <p:nvPr/>
        </p:nvSpPr>
        <p:spPr>
          <a:xfrm>
            <a:off x="353584" y="1326441"/>
            <a:ext cx="6865822" cy="923330"/>
          </a:xfrm>
          <a:prstGeom prst="rect">
            <a:avLst/>
          </a:prstGeom>
          <a:noFill/>
        </p:spPr>
        <p:txBody>
          <a:bodyPr wrap="square" rtlCol="0">
            <a:spAutoFit/>
          </a:bodyPr>
          <a:lstStyle/>
          <a:p>
            <a:r>
              <a:rPr kumimoji="1" lang="en-US" altLang="ja-JP" dirty="0"/>
              <a:t>WN		N-well</a:t>
            </a:r>
          </a:p>
          <a:p>
            <a:r>
              <a:rPr kumimoji="1" lang="en-US" altLang="ja-JP" dirty="0"/>
              <a:t>AP		</a:t>
            </a:r>
            <a:r>
              <a:rPr kumimoji="1" lang="ja-JP" altLang="en-US" dirty="0"/>
              <a:t>不純物注入による</a:t>
            </a:r>
            <a:r>
              <a:rPr kumimoji="1" lang="en-US" altLang="ja-JP" dirty="0"/>
              <a:t>P+</a:t>
            </a:r>
            <a:r>
              <a:rPr kumimoji="1" lang="ja-JP" altLang="en-US" dirty="0"/>
              <a:t>イオン領域と拡散層</a:t>
            </a:r>
            <a:endParaRPr kumimoji="1" lang="en-US" altLang="ja-JP" dirty="0"/>
          </a:p>
          <a:p>
            <a:r>
              <a:rPr kumimoji="1" lang="en-US" altLang="ja-JP" dirty="0"/>
              <a:t>GC		</a:t>
            </a:r>
            <a:r>
              <a:rPr kumimoji="1" lang="ja-JP" altLang="en-US" dirty="0"/>
              <a:t>ポリシリコン</a:t>
            </a:r>
            <a:endParaRPr kumimoji="1" lang="en-US" altLang="ja-JP" dirty="0"/>
          </a:p>
        </p:txBody>
      </p:sp>
      <p:cxnSp>
        <p:nvCxnSpPr>
          <p:cNvPr id="12" name="直線矢印コネクタ 11">
            <a:extLst>
              <a:ext uri="{FF2B5EF4-FFF2-40B4-BE49-F238E27FC236}">
                <a16:creationId xmlns:a16="http://schemas.microsoft.com/office/drawing/2014/main" id="{07F69430-9D8D-6C03-768A-B6414D3F0704}"/>
              </a:ext>
            </a:extLst>
          </p:cNvPr>
          <p:cNvCxnSpPr>
            <a:cxnSpLocks/>
          </p:cNvCxnSpPr>
          <p:nvPr/>
        </p:nvCxnSpPr>
        <p:spPr>
          <a:xfrm>
            <a:off x="1548792" y="5109395"/>
            <a:ext cx="3604750" cy="0"/>
          </a:xfrm>
          <a:prstGeom prst="straightConnector1">
            <a:avLst/>
          </a:prstGeom>
          <a:ln w="38100">
            <a:solidFill>
              <a:schemeClr val="accent4">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FA2715A4-2801-9637-0EEF-B0EEF67B612C}"/>
              </a:ext>
            </a:extLst>
          </p:cNvPr>
          <p:cNvSpPr txBox="1"/>
          <p:nvPr/>
        </p:nvSpPr>
        <p:spPr>
          <a:xfrm>
            <a:off x="2181411" y="4696643"/>
            <a:ext cx="2152651" cy="369332"/>
          </a:xfrm>
          <a:prstGeom prst="rect">
            <a:avLst/>
          </a:prstGeom>
          <a:solidFill>
            <a:schemeClr val="bg1"/>
          </a:solidFill>
          <a:ln>
            <a:noFill/>
          </a:ln>
        </p:spPr>
        <p:txBody>
          <a:bodyPr wrap="square" rtlCol="0">
            <a:spAutoFit/>
          </a:bodyPr>
          <a:lstStyle/>
          <a:p>
            <a:pPr algn="ctr"/>
            <a:r>
              <a:rPr kumimoji="1" lang="en-US" altLang="ja-JP" dirty="0">
                <a:solidFill>
                  <a:srgbClr val="00B050"/>
                </a:solidFill>
              </a:rPr>
              <a:t>WN</a:t>
            </a:r>
            <a:endParaRPr kumimoji="1" lang="ja-JP" altLang="en-US" dirty="0">
              <a:solidFill>
                <a:srgbClr val="00B050"/>
              </a:solidFill>
            </a:endParaRPr>
          </a:p>
        </p:txBody>
      </p:sp>
      <p:pic>
        <p:nvPicPr>
          <p:cNvPr id="20" name="図 19">
            <a:extLst>
              <a:ext uri="{FF2B5EF4-FFF2-40B4-BE49-F238E27FC236}">
                <a16:creationId xmlns:a16="http://schemas.microsoft.com/office/drawing/2014/main" id="{E13B5475-C748-9D2B-7C9B-97DB1CC4406F}"/>
              </a:ext>
            </a:extLst>
          </p:cNvPr>
          <p:cNvPicPr>
            <a:picLocks noChangeAspect="1"/>
          </p:cNvPicPr>
          <p:nvPr/>
        </p:nvPicPr>
        <p:blipFill>
          <a:blip r:embed="rId3"/>
          <a:srcRect l="16347" t="18765" b="47420"/>
          <a:stretch>
            <a:fillRect/>
          </a:stretch>
        </p:blipFill>
        <p:spPr>
          <a:xfrm>
            <a:off x="8630489" y="5113416"/>
            <a:ext cx="2003634" cy="1452541"/>
          </a:xfrm>
          <a:prstGeom prst="rect">
            <a:avLst/>
          </a:prstGeom>
        </p:spPr>
      </p:pic>
      <p:pic>
        <p:nvPicPr>
          <p:cNvPr id="30" name="図 29">
            <a:extLst>
              <a:ext uri="{FF2B5EF4-FFF2-40B4-BE49-F238E27FC236}">
                <a16:creationId xmlns:a16="http://schemas.microsoft.com/office/drawing/2014/main" id="{A578B5A1-8B45-316D-FC43-85E6526F45C0}"/>
              </a:ext>
            </a:extLst>
          </p:cNvPr>
          <p:cNvPicPr>
            <a:picLocks noChangeAspect="1"/>
          </p:cNvPicPr>
          <p:nvPr/>
        </p:nvPicPr>
        <p:blipFill>
          <a:blip r:embed="rId4"/>
          <a:stretch>
            <a:fillRect/>
          </a:stretch>
        </p:blipFill>
        <p:spPr>
          <a:xfrm>
            <a:off x="7527594" y="0"/>
            <a:ext cx="3781322" cy="5109395"/>
          </a:xfrm>
          <a:prstGeom prst="rect">
            <a:avLst/>
          </a:prstGeom>
        </p:spPr>
      </p:pic>
      <p:sp>
        <p:nvSpPr>
          <p:cNvPr id="8" name="正方形/長方形 7">
            <a:extLst>
              <a:ext uri="{FF2B5EF4-FFF2-40B4-BE49-F238E27FC236}">
                <a16:creationId xmlns:a16="http://schemas.microsoft.com/office/drawing/2014/main" id="{E22DF724-8FA3-A014-04C6-EE10B2DE00CC}"/>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7908468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A2C2A-B068-2CD2-EA32-BE1A7310E5FE}"/>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5766C5E2-825B-6773-2EE4-EDA257240C7C}"/>
              </a:ext>
            </a:extLst>
          </p:cNvPr>
          <p:cNvPicPr>
            <a:picLocks noChangeAspect="1"/>
          </p:cNvPicPr>
          <p:nvPr/>
        </p:nvPicPr>
        <p:blipFill>
          <a:blip r:embed="rId2"/>
          <a:srcRect l="50066"/>
          <a:stretch>
            <a:fillRect/>
          </a:stretch>
        </p:blipFill>
        <p:spPr>
          <a:xfrm>
            <a:off x="535276" y="1660281"/>
            <a:ext cx="5815218" cy="4117895"/>
          </a:xfrm>
          <a:prstGeom prst="rect">
            <a:avLst/>
          </a:prstGeom>
        </p:spPr>
      </p:pic>
      <p:sp>
        <p:nvSpPr>
          <p:cNvPr id="7" name="タイトル 6">
            <a:extLst>
              <a:ext uri="{FF2B5EF4-FFF2-40B4-BE49-F238E27FC236}">
                <a16:creationId xmlns:a16="http://schemas.microsoft.com/office/drawing/2014/main" id="{CC032AFF-6AF1-B3E2-4FF0-8DF55519924E}"/>
              </a:ext>
            </a:extLst>
          </p:cNvPr>
          <p:cNvSpPr>
            <a:spLocks noGrp="1"/>
          </p:cNvSpPr>
          <p:nvPr>
            <p:ph type="title"/>
          </p:nvPr>
        </p:nvSpPr>
        <p:spPr/>
        <p:txBody>
          <a:bodyPr/>
          <a:lstStyle/>
          <a:p>
            <a:r>
              <a:rPr lang="ja-JP" altLang="en-US" dirty="0"/>
              <a:t>プレーナ型</a:t>
            </a:r>
            <a:r>
              <a:rPr lang="en-US" altLang="ja-JP" dirty="0"/>
              <a:t>NMOS</a:t>
            </a:r>
            <a:endParaRPr lang="ja-JP" altLang="en-US" dirty="0"/>
          </a:p>
        </p:txBody>
      </p:sp>
      <p:sp>
        <p:nvSpPr>
          <p:cNvPr id="4" name="日付プレースホルダー 3">
            <a:extLst>
              <a:ext uri="{FF2B5EF4-FFF2-40B4-BE49-F238E27FC236}">
                <a16:creationId xmlns:a16="http://schemas.microsoft.com/office/drawing/2014/main" id="{8AFFC7F8-22C5-8950-6A5F-FD93691CA660}"/>
              </a:ext>
            </a:extLst>
          </p:cNvPr>
          <p:cNvSpPr>
            <a:spLocks noGrp="1"/>
          </p:cNvSpPr>
          <p:nvPr>
            <p:ph type="dt" sz="half" idx="10"/>
          </p:nvPr>
        </p:nvSpPr>
        <p:spPr/>
        <p:txBody>
          <a:bodyPr/>
          <a:lstStyle/>
          <a:p>
            <a:fld id="{98554BCD-4603-4EDE-A06E-405E941F3AF4}"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2FA6F7D2-A964-4347-3C1B-64D4960D6797}"/>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82</a:t>
            </a:fld>
            <a:endParaRPr kumimoji="1" lang="ja-JP" altLang="en-US" dirty="0">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1F235250-6293-3025-EE95-1CE1EEB91FCA}"/>
              </a:ext>
            </a:extLst>
          </p:cNvPr>
          <p:cNvSpPr txBox="1"/>
          <p:nvPr/>
        </p:nvSpPr>
        <p:spPr>
          <a:xfrm>
            <a:off x="6768501" y="1810944"/>
            <a:ext cx="3184895" cy="369332"/>
          </a:xfrm>
          <a:prstGeom prst="rect">
            <a:avLst/>
          </a:prstGeom>
          <a:noFill/>
        </p:spPr>
        <p:txBody>
          <a:bodyPr wrap="square" rtlCol="0">
            <a:spAutoFit/>
          </a:bodyPr>
          <a:lstStyle/>
          <a:p>
            <a:r>
              <a:rPr kumimoji="1" lang="ja-JP" altLang="en-US" dirty="0">
                <a:solidFill>
                  <a:schemeClr val="accent1"/>
                </a:solidFill>
              </a:rPr>
              <a:t>ポリ</a:t>
            </a:r>
            <a:r>
              <a:rPr kumimoji="1" lang="en-US" altLang="ja-JP" dirty="0">
                <a:solidFill>
                  <a:schemeClr val="accent1"/>
                </a:solidFill>
              </a:rPr>
              <a:t>(</a:t>
            </a:r>
            <a:r>
              <a:rPr kumimoji="1" lang="ja-JP" altLang="en-US" dirty="0">
                <a:solidFill>
                  <a:schemeClr val="accent1"/>
                </a:solidFill>
              </a:rPr>
              <a:t>多結晶</a:t>
            </a:r>
            <a:r>
              <a:rPr kumimoji="1" lang="en-US" altLang="ja-JP" dirty="0">
                <a:solidFill>
                  <a:schemeClr val="accent1"/>
                </a:solidFill>
              </a:rPr>
              <a:t>)</a:t>
            </a:r>
            <a:r>
              <a:rPr kumimoji="1" lang="ja-JP" altLang="en-US" dirty="0">
                <a:solidFill>
                  <a:schemeClr val="accent1"/>
                </a:solidFill>
              </a:rPr>
              <a:t>シリコン</a:t>
            </a:r>
            <a:r>
              <a:rPr kumimoji="1" lang="en-US" altLang="ja-JP" dirty="0">
                <a:solidFill>
                  <a:schemeClr val="accent1"/>
                </a:solidFill>
              </a:rPr>
              <a:t>(GC</a:t>
            </a:r>
            <a:r>
              <a:rPr kumimoji="1" lang="ja-JP" altLang="en-US" dirty="0">
                <a:solidFill>
                  <a:schemeClr val="accent1"/>
                </a:solidFill>
              </a:rPr>
              <a:t>層</a:t>
            </a:r>
            <a:r>
              <a:rPr kumimoji="1" lang="en-US" altLang="ja-JP" dirty="0">
                <a:solidFill>
                  <a:schemeClr val="accent1"/>
                </a:solidFill>
              </a:rPr>
              <a:t>)</a:t>
            </a:r>
            <a:endParaRPr kumimoji="1" lang="ja-JP" altLang="en-US" dirty="0">
              <a:solidFill>
                <a:schemeClr val="accent1"/>
              </a:solidFill>
            </a:endParaRPr>
          </a:p>
        </p:txBody>
      </p:sp>
      <p:sp>
        <p:nvSpPr>
          <p:cNvPr id="2" name="テキスト ボックス 1">
            <a:extLst>
              <a:ext uri="{FF2B5EF4-FFF2-40B4-BE49-F238E27FC236}">
                <a16:creationId xmlns:a16="http://schemas.microsoft.com/office/drawing/2014/main" id="{ADBA1561-1ABD-DD46-6BC3-A8D17276314F}"/>
              </a:ext>
            </a:extLst>
          </p:cNvPr>
          <p:cNvSpPr txBox="1"/>
          <p:nvPr/>
        </p:nvSpPr>
        <p:spPr>
          <a:xfrm>
            <a:off x="6911960" y="4225636"/>
            <a:ext cx="1294009" cy="369332"/>
          </a:xfrm>
          <a:prstGeom prst="rect">
            <a:avLst/>
          </a:prstGeom>
          <a:noFill/>
        </p:spPr>
        <p:txBody>
          <a:bodyPr wrap="none" rtlCol="0">
            <a:spAutoFit/>
          </a:bodyPr>
          <a:lstStyle/>
          <a:p>
            <a:r>
              <a:rPr kumimoji="1" lang="en-US" altLang="ja-JP" dirty="0"/>
              <a:t>PW(P-well)</a:t>
            </a:r>
            <a:endParaRPr kumimoji="1" lang="ja-JP" altLang="en-US" dirty="0"/>
          </a:p>
        </p:txBody>
      </p:sp>
      <p:cxnSp>
        <p:nvCxnSpPr>
          <p:cNvPr id="8" name="直線矢印コネクタ 7">
            <a:extLst>
              <a:ext uri="{FF2B5EF4-FFF2-40B4-BE49-F238E27FC236}">
                <a16:creationId xmlns:a16="http://schemas.microsoft.com/office/drawing/2014/main" id="{E3D45ACE-1379-6FE3-250E-B859F6335995}"/>
              </a:ext>
            </a:extLst>
          </p:cNvPr>
          <p:cNvCxnSpPr>
            <a:cxnSpLocks/>
          </p:cNvCxnSpPr>
          <p:nvPr/>
        </p:nvCxnSpPr>
        <p:spPr>
          <a:xfrm flipH="1">
            <a:off x="5703644" y="3140311"/>
            <a:ext cx="1162050" cy="3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D205C35B-AEAD-F52C-073B-149224472315}"/>
              </a:ext>
            </a:extLst>
          </p:cNvPr>
          <p:cNvCxnSpPr>
            <a:cxnSpLocks/>
          </p:cNvCxnSpPr>
          <p:nvPr/>
        </p:nvCxnSpPr>
        <p:spPr>
          <a:xfrm flipH="1">
            <a:off x="3303215" y="1959000"/>
            <a:ext cx="3400466" cy="907378"/>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24" name="テキスト ボックス 23">
            <a:extLst>
              <a:ext uri="{FF2B5EF4-FFF2-40B4-BE49-F238E27FC236}">
                <a16:creationId xmlns:a16="http://schemas.microsoft.com/office/drawing/2014/main" id="{EB530B3D-E574-AFD0-C8B2-785F94D9100C}"/>
              </a:ext>
            </a:extLst>
          </p:cNvPr>
          <p:cNvSpPr txBox="1"/>
          <p:nvPr/>
        </p:nvSpPr>
        <p:spPr>
          <a:xfrm>
            <a:off x="1686581" y="1498753"/>
            <a:ext cx="3019425" cy="369332"/>
          </a:xfrm>
          <a:prstGeom prst="rect">
            <a:avLst/>
          </a:prstGeom>
          <a:noFill/>
          <a:ln>
            <a:noFill/>
          </a:ln>
        </p:spPr>
        <p:txBody>
          <a:bodyPr wrap="square" rtlCol="0">
            <a:spAutoFit/>
          </a:bodyPr>
          <a:lstStyle/>
          <a:p>
            <a:pPr algn="ctr"/>
            <a:r>
              <a:rPr kumimoji="1" lang="en-US" altLang="ja-JP" dirty="0">
                <a:solidFill>
                  <a:schemeClr val="accent1"/>
                </a:solidFill>
              </a:rPr>
              <a:t>N+(AN) </a:t>
            </a:r>
            <a:r>
              <a:rPr kumimoji="1" lang="ja-JP" altLang="en-US" dirty="0">
                <a:solidFill>
                  <a:schemeClr val="accent1"/>
                </a:solidFill>
              </a:rPr>
              <a:t>層</a:t>
            </a:r>
          </a:p>
        </p:txBody>
      </p:sp>
      <p:cxnSp>
        <p:nvCxnSpPr>
          <p:cNvPr id="28" name="直線矢印コネクタ 27">
            <a:extLst>
              <a:ext uri="{FF2B5EF4-FFF2-40B4-BE49-F238E27FC236}">
                <a16:creationId xmlns:a16="http://schemas.microsoft.com/office/drawing/2014/main" id="{4218E8C6-E2C1-7E2C-AAF3-FE966C251CBF}"/>
              </a:ext>
            </a:extLst>
          </p:cNvPr>
          <p:cNvCxnSpPr>
            <a:cxnSpLocks/>
            <a:stCxn id="24" idx="2"/>
          </p:cNvCxnSpPr>
          <p:nvPr/>
        </p:nvCxnSpPr>
        <p:spPr>
          <a:xfrm flipH="1">
            <a:off x="2125547" y="1868085"/>
            <a:ext cx="1070747" cy="127400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445C1813-1430-8CCA-3C0D-CEBAC4B6812E}"/>
              </a:ext>
            </a:extLst>
          </p:cNvPr>
          <p:cNvCxnSpPr>
            <a:cxnSpLocks/>
            <a:stCxn id="24" idx="2"/>
          </p:cNvCxnSpPr>
          <p:nvPr/>
        </p:nvCxnSpPr>
        <p:spPr>
          <a:xfrm>
            <a:off x="3196294" y="1868085"/>
            <a:ext cx="932893" cy="1270686"/>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96DC6F21-FD47-A4DE-476F-7E904075EB98}"/>
              </a:ext>
            </a:extLst>
          </p:cNvPr>
          <p:cNvCxnSpPr>
            <a:cxnSpLocks/>
            <a:stCxn id="2" idx="1"/>
          </p:cNvCxnSpPr>
          <p:nvPr/>
        </p:nvCxnSpPr>
        <p:spPr>
          <a:xfrm flipH="1">
            <a:off x="2148184" y="4410302"/>
            <a:ext cx="4763776" cy="632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44B2C52-0951-BBAF-DF11-4EEB467DAFA1}"/>
              </a:ext>
            </a:extLst>
          </p:cNvPr>
          <p:cNvCxnSpPr>
            <a:cxnSpLocks/>
            <a:stCxn id="18" idx="1"/>
          </p:cNvCxnSpPr>
          <p:nvPr/>
        </p:nvCxnSpPr>
        <p:spPr>
          <a:xfrm flipH="1">
            <a:off x="5578278" y="1512780"/>
            <a:ext cx="706391" cy="13210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6C14210-1B43-E05F-48B2-F3F7EF4BA93B}"/>
              </a:ext>
            </a:extLst>
          </p:cNvPr>
          <p:cNvSpPr txBox="1"/>
          <p:nvPr/>
        </p:nvSpPr>
        <p:spPr>
          <a:xfrm>
            <a:off x="6284669" y="1328114"/>
            <a:ext cx="5324475" cy="369332"/>
          </a:xfrm>
          <a:prstGeom prst="rect">
            <a:avLst/>
          </a:prstGeom>
          <a:noFill/>
        </p:spPr>
        <p:txBody>
          <a:bodyPr wrap="square" rtlCol="0">
            <a:spAutoFit/>
          </a:bodyPr>
          <a:lstStyle/>
          <a:p>
            <a:r>
              <a:rPr lang="ja-JP" altLang="en-US" dirty="0"/>
              <a:t>リン</a:t>
            </a:r>
            <a:r>
              <a:rPr lang="en-US" altLang="ja-JP" dirty="0"/>
              <a:t>-</a:t>
            </a:r>
            <a:r>
              <a:rPr lang="ja-JP" altLang="en-US" dirty="0"/>
              <a:t>ケイ酸ガラス</a:t>
            </a:r>
            <a:r>
              <a:rPr lang="en-US" altLang="ja-JP" dirty="0"/>
              <a:t>; </a:t>
            </a:r>
            <a:r>
              <a:rPr lang="ja-JP" altLang="en-US" dirty="0"/>
              <a:t>レイヤ間を埋める絶縁物質</a:t>
            </a:r>
          </a:p>
        </p:txBody>
      </p:sp>
      <p:sp>
        <p:nvSpPr>
          <p:cNvPr id="21" name="テキスト ボックス 20">
            <a:extLst>
              <a:ext uri="{FF2B5EF4-FFF2-40B4-BE49-F238E27FC236}">
                <a16:creationId xmlns:a16="http://schemas.microsoft.com/office/drawing/2014/main" id="{947389CF-CB9B-C26E-0AEB-809F9B984F4F}"/>
              </a:ext>
            </a:extLst>
          </p:cNvPr>
          <p:cNvSpPr txBox="1"/>
          <p:nvPr/>
        </p:nvSpPr>
        <p:spPr>
          <a:xfrm>
            <a:off x="6553200" y="4718838"/>
            <a:ext cx="4953579" cy="369332"/>
          </a:xfrm>
          <a:prstGeom prst="rect">
            <a:avLst/>
          </a:prstGeom>
          <a:noFill/>
        </p:spPr>
        <p:txBody>
          <a:bodyPr wrap="square" rtlCol="0">
            <a:spAutoFit/>
          </a:bodyPr>
          <a:lstStyle/>
          <a:p>
            <a:r>
              <a:rPr kumimoji="1" lang="en-US" altLang="ja-JP" dirty="0" err="1"/>
              <a:t>Psub</a:t>
            </a:r>
            <a:r>
              <a:rPr kumimoji="1" lang="en-US" altLang="ja-JP" dirty="0"/>
              <a:t>-</a:t>
            </a:r>
            <a:r>
              <a:rPr kumimoji="1" lang="ja-JP" altLang="en-US" dirty="0"/>
              <a:t>サブストレート</a:t>
            </a:r>
            <a:r>
              <a:rPr kumimoji="1" lang="en-US" altLang="ja-JP" dirty="0"/>
              <a:t>, </a:t>
            </a:r>
            <a:r>
              <a:rPr kumimoji="1" lang="ja-JP" altLang="en-US" dirty="0"/>
              <a:t>基板（シリコン）</a:t>
            </a:r>
          </a:p>
        </p:txBody>
      </p:sp>
      <p:sp>
        <p:nvSpPr>
          <p:cNvPr id="23" name="テキスト ボックス 22">
            <a:extLst>
              <a:ext uri="{FF2B5EF4-FFF2-40B4-BE49-F238E27FC236}">
                <a16:creationId xmlns:a16="http://schemas.microsoft.com/office/drawing/2014/main" id="{61CB1AEF-D2C3-0CBB-4A9A-7FE86F7A0A6F}"/>
              </a:ext>
            </a:extLst>
          </p:cNvPr>
          <p:cNvSpPr txBox="1"/>
          <p:nvPr/>
        </p:nvSpPr>
        <p:spPr>
          <a:xfrm>
            <a:off x="6792314" y="2218415"/>
            <a:ext cx="5324475" cy="369332"/>
          </a:xfrm>
          <a:prstGeom prst="rect">
            <a:avLst/>
          </a:prstGeom>
          <a:noFill/>
        </p:spPr>
        <p:txBody>
          <a:bodyPr wrap="square" rtlCol="0">
            <a:spAutoFit/>
          </a:bodyPr>
          <a:lstStyle/>
          <a:p>
            <a:r>
              <a:rPr lang="ja-JP" altLang="en-US" dirty="0"/>
              <a:t>酸化膜絶層</a:t>
            </a:r>
          </a:p>
        </p:txBody>
      </p:sp>
      <p:cxnSp>
        <p:nvCxnSpPr>
          <p:cNvPr id="25" name="直線矢印コネクタ 24">
            <a:extLst>
              <a:ext uri="{FF2B5EF4-FFF2-40B4-BE49-F238E27FC236}">
                <a16:creationId xmlns:a16="http://schemas.microsoft.com/office/drawing/2014/main" id="{1FE18ADE-40F8-CF20-34BB-2CFF560403CA}"/>
              </a:ext>
            </a:extLst>
          </p:cNvPr>
          <p:cNvCxnSpPr>
            <a:cxnSpLocks/>
            <a:stCxn id="23" idx="1"/>
          </p:cNvCxnSpPr>
          <p:nvPr/>
        </p:nvCxnSpPr>
        <p:spPr>
          <a:xfrm flipH="1">
            <a:off x="4375120" y="2403081"/>
            <a:ext cx="2417194" cy="329571"/>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34" name="正方形/長方形 33">
            <a:extLst>
              <a:ext uri="{FF2B5EF4-FFF2-40B4-BE49-F238E27FC236}">
                <a16:creationId xmlns:a16="http://schemas.microsoft.com/office/drawing/2014/main" id="{E23B8F4A-B410-62D2-12B2-559359E40A4B}"/>
              </a:ext>
            </a:extLst>
          </p:cNvPr>
          <p:cNvSpPr/>
          <p:nvPr/>
        </p:nvSpPr>
        <p:spPr>
          <a:xfrm>
            <a:off x="7127070" y="5633107"/>
            <a:ext cx="4162690" cy="557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緑字はレイアウトする必要がある層</a:t>
            </a:r>
          </a:p>
        </p:txBody>
      </p:sp>
      <p:sp>
        <p:nvSpPr>
          <p:cNvPr id="5" name="テキスト ボックス 4">
            <a:extLst>
              <a:ext uri="{FF2B5EF4-FFF2-40B4-BE49-F238E27FC236}">
                <a16:creationId xmlns:a16="http://schemas.microsoft.com/office/drawing/2014/main" id="{A963580E-86E3-F7C9-6FA6-1E4BF10AB21E}"/>
              </a:ext>
            </a:extLst>
          </p:cNvPr>
          <p:cNvSpPr txBox="1"/>
          <p:nvPr/>
        </p:nvSpPr>
        <p:spPr>
          <a:xfrm>
            <a:off x="6865694" y="2934818"/>
            <a:ext cx="5314076" cy="369332"/>
          </a:xfrm>
          <a:prstGeom prst="rect">
            <a:avLst/>
          </a:prstGeom>
          <a:noFill/>
        </p:spPr>
        <p:txBody>
          <a:bodyPr wrap="square" rtlCol="0">
            <a:spAutoFit/>
          </a:bodyPr>
          <a:lstStyle/>
          <a:p>
            <a:r>
              <a:rPr lang="en-US" altLang="ja-JP" dirty="0"/>
              <a:t>LOCOS(local oxidation of silicon)</a:t>
            </a:r>
            <a:endParaRPr lang="ja-JP" altLang="en-US" dirty="0"/>
          </a:p>
        </p:txBody>
      </p:sp>
      <p:sp>
        <p:nvSpPr>
          <p:cNvPr id="11" name="テキスト ボックス 10">
            <a:extLst>
              <a:ext uri="{FF2B5EF4-FFF2-40B4-BE49-F238E27FC236}">
                <a16:creationId xmlns:a16="http://schemas.microsoft.com/office/drawing/2014/main" id="{607BD19A-CC99-5D17-092E-22B4B46EEA7B}"/>
              </a:ext>
            </a:extLst>
          </p:cNvPr>
          <p:cNvSpPr txBox="1"/>
          <p:nvPr/>
        </p:nvSpPr>
        <p:spPr>
          <a:xfrm>
            <a:off x="7450829" y="3270770"/>
            <a:ext cx="4670336" cy="830997"/>
          </a:xfrm>
          <a:prstGeom prst="rect">
            <a:avLst/>
          </a:prstGeom>
          <a:noFill/>
        </p:spPr>
        <p:txBody>
          <a:bodyPr wrap="square" rtlCol="0">
            <a:spAutoFit/>
          </a:bodyPr>
          <a:lstStyle/>
          <a:p>
            <a:r>
              <a:rPr kumimoji="1" lang="ja-JP" altLang="en-US" sz="1200" dirty="0"/>
              <a:t>半導体デバイスを形成する際の代表的素子分離法。</a:t>
            </a:r>
          </a:p>
          <a:p>
            <a:r>
              <a:rPr kumimoji="1" lang="ja-JP" altLang="en-US" sz="1200" dirty="0"/>
              <a:t>窒化膜で酸化防止マスクされた部分以外のシリコン基板を酸化し、この酸化膜の層によって周囲から電気的に絶縁された領域（活性領域）を作る</a:t>
            </a:r>
          </a:p>
        </p:txBody>
      </p:sp>
      <p:sp>
        <p:nvSpPr>
          <p:cNvPr id="10" name="正方形/長方形 9">
            <a:extLst>
              <a:ext uri="{FF2B5EF4-FFF2-40B4-BE49-F238E27FC236}">
                <a16:creationId xmlns:a16="http://schemas.microsoft.com/office/drawing/2014/main" id="{303D09EF-339F-0042-47F3-B7B2E0B8A593}"/>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9326691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81E42-B909-BD9D-E3B5-BCD9FF2CDEFF}"/>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B47E4751-78D3-1BEA-C0C5-8BFAF84EA5A5}"/>
              </a:ext>
            </a:extLst>
          </p:cNvPr>
          <p:cNvPicPr>
            <a:picLocks noChangeAspect="1"/>
          </p:cNvPicPr>
          <p:nvPr/>
        </p:nvPicPr>
        <p:blipFill>
          <a:blip r:embed="rId2"/>
          <a:srcRect l="50066" t="21615"/>
          <a:stretch>
            <a:fillRect/>
          </a:stretch>
        </p:blipFill>
        <p:spPr>
          <a:xfrm>
            <a:off x="706060" y="3053526"/>
            <a:ext cx="5815218" cy="3227789"/>
          </a:xfrm>
          <a:prstGeom prst="rect">
            <a:avLst/>
          </a:prstGeom>
        </p:spPr>
      </p:pic>
      <p:sp>
        <p:nvSpPr>
          <p:cNvPr id="7" name="タイトル 6">
            <a:extLst>
              <a:ext uri="{FF2B5EF4-FFF2-40B4-BE49-F238E27FC236}">
                <a16:creationId xmlns:a16="http://schemas.microsoft.com/office/drawing/2014/main" id="{E026D3AA-D14E-409B-1B8C-FFC9633ED353}"/>
              </a:ext>
            </a:extLst>
          </p:cNvPr>
          <p:cNvSpPr>
            <a:spLocks noGrp="1"/>
          </p:cNvSpPr>
          <p:nvPr>
            <p:ph type="title"/>
          </p:nvPr>
        </p:nvSpPr>
        <p:spPr/>
        <p:txBody>
          <a:bodyPr/>
          <a:lstStyle/>
          <a:p>
            <a:r>
              <a:rPr lang="ja-JP" altLang="en-US" dirty="0"/>
              <a:t>プレーナ型</a:t>
            </a:r>
            <a:r>
              <a:rPr lang="en-US" altLang="ja-JP" dirty="0"/>
              <a:t>NMOS</a:t>
            </a:r>
            <a:endParaRPr lang="ja-JP" altLang="en-US" dirty="0"/>
          </a:p>
        </p:txBody>
      </p:sp>
      <p:sp>
        <p:nvSpPr>
          <p:cNvPr id="4" name="日付プレースホルダー 3">
            <a:extLst>
              <a:ext uri="{FF2B5EF4-FFF2-40B4-BE49-F238E27FC236}">
                <a16:creationId xmlns:a16="http://schemas.microsoft.com/office/drawing/2014/main" id="{0AA1F52A-9A6F-482C-B91F-71BFF1697301}"/>
              </a:ext>
            </a:extLst>
          </p:cNvPr>
          <p:cNvSpPr>
            <a:spLocks noGrp="1"/>
          </p:cNvSpPr>
          <p:nvPr>
            <p:ph type="dt" sz="half" idx="10"/>
          </p:nvPr>
        </p:nvSpPr>
        <p:spPr/>
        <p:txBody>
          <a:bodyPr/>
          <a:lstStyle/>
          <a:p>
            <a:fld id="{98554BCD-4603-4EDE-A06E-405E941F3AF4}"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F531E31A-E0BE-E792-E9C9-54BA604DE2BA}"/>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83</a:t>
            </a:fld>
            <a:endParaRPr kumimoji="1" lang="ja-JP" altLang="en-US" sz="1400" dirty="0">
              <a:latin typeface="Meiryo UI" panose="020B0604030504040204" pitchFamily="50" charset="-128"/>
              <a:ea typeface="Meiryo UI" panose="020B0604030504040204" pitchFamily="50" charset="-128"/>
            </a:endParaRPr>
          </a:p>
        </p:txBody>
      </p:sp>
      <p:sp>
        <p:nvSpPr>
          <p:cNvPr id="23" name="テキスト ボックス 22">
            <a:extLst>
              <a:ext uri="{FF2B5EF4-FFF2-40B4-BE49-F238E27FC236}">
                <a16:creationId xmlns:a16="http://schemas.microsoft.com/office/drawing/2014/main" id="{336E0ED0-47C6-17CB-647D-4DDD6CE5D424}"/>
              </a:ext>
            </a:extLst>
          </p:cNvPr>
          <p:cNvSpPr txBox="1"/>
          <p:nvPr/>
        </p:nvSpPr>
        <p:spPr>
          <a:xfrm>
            <a:off x="2181413" y="2705758"/>
            <a:ext cx="2152650" cy="369332"/>
          </a:xfrm>
          <a:prstGeom prst="rect">
            <a:avLst/>
          </a:prstGeom>
          <a:solidFill>
            <a:schemeClr val="bg1"/>
          </a:solidFill>
        </p:spPr>
        <p:txBody>
          <a:bodyPr wrap="square" rtlCol="0">
            <a:spAutoFit/>
          </a:bodyPr>
          <a:lstStyle/>
          <a:p>
            <a:pPr algn="ctr"/>
            <a:r>
              <a:rPr kumimoji="1" lang="en-US" altLang="ja-JP" dirty="0">
                <a:solidFill>
                  <a:srgbClr val="FF0000"/>
                </a:solidFill>
              </a:rPr>
              <a:t>GC</a:t>
            </a:r>
            <a:endParaRPr kumimoji="1" lang="ja-JP" altLang="en-US" dirty="0">
              <a:solidFill>
                <a:srgbClr val="FF0000"/>
              </a:solidFill>
            </a:endParaRPr>
          </a:p>
        </p:txBody>
      </p:sp>
      <p:cxnSp>
        <p:nvCxnSpPr>
          <p:cNvPr id="16" name="直線矢印コネクタ 15">
            <a:extLst>
              <a:ext uri="{FF2B5EF4-FFF2-40B4-BE49-F238E27FC236}">
                <a16:creationId xmlns:a16="http://schemas.microsoft.com/office/drawing/2014/main" id="{0C9F872F-4158-2A94-E810-EAC8A1F59141}"/>
              </a:ext>
            </a:extLst>
          </p:cNvPr>
          <p:cNvCxnSpPr>
            <a:cxnSpLocks/>
          </p:cNvCxnSpPr>
          <p:nvPr/>
        </p:nvCxnSpPr>
        <p:spPr>
          <a:xfrm>
            <a:off x="2103074" y="3983750"/>
            <a:ext cx="2324547" cy="0"/>
          </a:xfrm>
          <a:prstGeom prst="straightConnector1">
            <a:avLst/>
          </a:prstGeom>
          <a:ln w="38100">
            <a:solidFill>
              <a:schemeClr val="accent5">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158F576D-CAE8-8FBA-1489-163D8D14FC7A}"/>
              </a:ext>
            </a:extLst>
          </p:cNvPr>
          <p:cNvSpPr txBox="1"/>
          <p:nvPr/>
        </p:nvSpPr>
        <p:spPr>
          <a:xfrm>
            <a:off x="2384016" y="4005314"/>
            <a:ext cx="1747444" cy="369332"/>
          </a:xfrm>
          <a:prstGeom prst="rect">
            <a:avLst/>
          </a:prstGeom>
          <a:solidFill>
            <a:schemeClr val="bg1"/>
          </a:solidFill>
        </p:spPr>
        <p:txBody>
          <a:bodyPr wrap="square" rtlCol="0">
            <a:spAutoFit/>
          </a:bodyPr>
          <a:lstStyle/>
          <a:p>
            <a:pPr algn="ctr"/>
            <a:r>
              <a:rPr kumimoji="1" lang="en-US" altLang="ja-JP" dirty="0">
                <a:solidFill>
                  <a:srgbClr val="00B050"/>
                </a:solidFill>
              </a:rPr>
              <a:t>n+(AN)</a:t>
            </a:r>
            <a:endParaRPr kumimoji="1" lang="ja-JP" altLang="en-US" dirty="0">
              <a:solidFill>
                <a:srgbClr val="00B050"/>
              </a:solidFill>
            </a:endParaRPr>
          </a:p>
        </p:txBody>
      </p:sp>
      <p:sp>
        <p:nvSpPr>
          <p:cNvPr id="2" name="テキスト ボックス 1">
            <a:extLst>
              <a:ext uri="{FF2B5EF4-FFF2-40B4-BE49-F238E27FC236}">
                <a16:creationId xmlns:a16="http://schemas.microsoft.com/office/drawing/2014/main" id="{1989629B-6E8D-C5FF-3DCE-D5743ADD9509}"/>
              </a:ext>
            </a:extLst>
          </p:cNvPr>
          <p:cNvSpPr txBox="1"/>
          <p:nvPr/>
        </p:nvSpPr>
        <p:spPr>
          <a:xfrm>
            <a:off x="353583" y="1326441"/>
            <a:ext cx="7523592" cy="1200329"/>
          </a:xfrm>
          <a:prstGeom prst="rect">
            <a:avLst/>
          </a:prstGeom>
          <a:noFill/>
        </p:spPr>
        <p:txBody>
          <a:bodyPr wrap="square" rtlCol="0">
            <a:spAutoFit/>
          </a:bodyPr>
          <a:lstStyle/>
          <a:p>
            <a:r>
              <a:rPr kumimoji="1" lang="en-US" altLang="ja-JP" dirty="0"/>
              <a:t>AN		</a:t>
            </a:r>
            <a:r>
              <a:rPr kumimoji="1" lang="ja-JP" altLang="en-US" dirty="0"/>
              <a:t>不純物注入による</a:t>
            </a:r>
            <a:r>
              <a:rPr kumimoji="1" lang="en-US" altLang="ja-JP" dirty="0"/>
              <a:t>N+</a:t>
            </a:r>
            <a:r>
              <a:rPr kumimoji="1" lang="ja-JP" altLang="en-US" dirty="0"/>
              <a:t>イオン領域と拡散層</a:t>
            </a:r>
            <a:endParaRPr kumimoji="1" lang="en-US" altLang="ja-JP" dirty="0"/>
          </a:p>
          <a:p>
            <a:r>
              <a:rPr kumimoji="1" lang="en-US" altLang="ja-JP" dirty="0"/>
              <a:t>GC		</a:t>
            </a:r>
            <a:r>
              <a:rPr kumimoji="1" lang="ja-JP" altLang="en-US" dirty="0"/>
              <a:t>ポリシリコン</a:t>
            </a:r>
            <a:endParaRPr kumimoji="1" lang="en-US" altLang="ja-JP" dirty="0"/>
          </a:p>
          <a:p>
            <a:endParaRPr kumimoji="1" lang="en-US" altLang="ja-JP" dirty="0"/>
          </a:p>
          <a:p>
            <a:r>
              <a:rPr kumimoji="1" lang="ja-JP" altLang="en-US" dirty="0"/>
              <a:t>レイアウトでは、</a:t>
            </a:r>
            <a:r>
              <a:rPr kumimoji="1" lang="en-US" altLang="ja-JP" dirty="0"/>
              <a:t>PW(P-well)</a:t>
            </a:r>
            <a:r>
              <a:rPr kumimoji="1" lang="ja-JP" altLang="en-US" dirty="0"/>
              <a:t>は描かれない</a:t>
            </a:r>
            <a:r>
              <a:rPr kumimoji="1" lang="en-US" altLang="ja-JP" dirty="0"/>
              <a:t> </a:t>
            </a:r>
            <a:endParaRPr kumimoji="1" lang="ja-JP" altLang="en-US" dirty="0"/>
          </a:p>
        </p:txBody>
      </p:sp>
      <p:cxnSp>
        <p:nvCxnSpPr>
          <p:cNvPr id="5" name="直線矢印コネクタ 4">
            <a:extLst>
              <a:ext uri="{FF2B5EF4-FFF2-40B4-BE49-F238E27FC236}">
                <a16:creationId xmlns:a16="http://schemas.microsoft.com/office/drawing/2014/main" id="{27F768FF-0730-F9B4-F19B-4B8F92DD6AAB}"/>
              </a:ext>
            </a:extLst>
          </p:cNvPr>
          <p:cNvCxnSpPr>
            <a:cxnSpLocks/>
          </p:cNvCxnSpPr>
          <p:nvPr/>
        </p:nvCxnSpPr>
        <p:spPr>
          <a:xfrm>
            <a:off x="2913827" y="3350250"/>
            <a:ext cx="787522"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C9559CC5-9A5E-E84B-6C71-A9BF3CD3A2DD}"/>
              </a:ext>
            </a:extLst>
          </p:cNvPr>
          <p:cNvPicPr>
            <a:picLocks noChangeAspect="1"/>
          </p:cNvPicPr>
          <p:nvPr/>
        </p:nvPicPr>
        <p:blipFill>
          <a:blip r:embed="rId3"/>
          <a:stretch>
            <a:fillRect/>
          </a:stretch>
        </p:blipFill>
        <p:spPr>
          <a:xfrm>
            <a:off x="7714248" y="0"/>
            <a:ext cx="3681766" cy="5160767"/>
          </a:xfrm>
          <a:prstGeom prst="rect">
            <a:avLst/>
          </a:prstGeom>
        </p:spPr>
      </p:pic>
      <p:pic>
        <p:nvPicPr>
          <p:cNvPr id="9" name="図 8">
            <a:extLst>
              <a:ext uri="{FF2B5EF4-FFF2-40B4-BE49-F238E27FC236}">
                <a16:creationId xmlns:a16="http://schemas.microsoft.com/office/drawing/2014/main" id="{2B82C3CE-8AB6-9B2A-37EC-4FACA0DFCDC3}"/>
              </a:ext>
            </a:extLst>
          </p:cNvPr>
          <p:cNvPicPr>
            <a:picLocks noChangeAspect="1"/>
          </p:cNvPicPr>
          <p:nvPr/>
        </p:nvPicPr>
        <p:blipFill>
          <a:blip r:embed="rId4"/>
          <a:srcRect l="16347" t="18765" b="47420"/>
          <a:stretch>
            <a:fillRect/>
          </a:stretch>
        </p:blipFill>
        <p:spPr>
          <a:xfrm>
            <a:off x="8630489" y="5100291"/>
            <a:ext cx="2003634" cy="1452541"/>
          </a:xfrm>
          <a:prstGeom prst="rect">
            <a:avLst/>
          </a:prstGeom>
        </p:spPr>
      </p:pic>
      <p:sp>
        <p:nvSpPr>
          <p:cNvPr id="10" name="正方形/長方形 9">
            <a:extLst>
              <a:ext uri="{FF2B5EF4-FFF2-40B4-BE49-F238E27FC236}">
                <a16:creationId xmlns:a16="http://schemas.microsoft.com/office/drawing/2014/main" id="{298475F4-1C5F-7574-034D-438AE349B983}"/>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13208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3705871D-25D9-9371-2DE6-D4F1272F7C71}"/>
              </a:ext>
            </a:extLst>
          </p:cNvPr>
          <p:cNvPicPr>
            <a:picLocks noChangeAspect="1"/>
          </p:cNvPicPr>
          <p:nvPr/>
        </p:nvPicPr>
        <p:blipFill>
          <a:blip r:embed="rId2"/>
          <a:srcRect l="50066"/>
          <a:stretch>
            <a:fillRect/>
          </a:stretch>
        </p:blipFill>
        <p:spPr>
          <a:xfrm>
            <a:off x="535276" y="1660281"/>
            <a:ext cx="5815218" cy="4117895"/>
          </a:xfrm>
          <a:prstGeom prst="rect">
            <a:avLst/>
          </a:prstGeom>
        </p:spPr>
      </p:pic>
      <p:sp>
        <p:nvSpPr>
          <p:cNvPr id="7" name="タイトル 6">
            <a:extLst>
              <a:ext uri="{FF2B5EF4-FFF2-40B4-BE49-F238E27FC236}">
                <a16:creationId xmlns:a16="http://schemas.microsoft.com/office/drawing/2014/main" id="{756602D8-389F-0F46-C637-1202C361C557}"/>
              </a:ext>
            </a:extLst>
          </p:cNvPr>
          <p:cNvSpPr>
            <a:spLocks noGrp="1"/>
          </p:cNvSpPr>
          <p:nvPr>
            <p:ph type="title"/>
          </p:nvPr>
        </p:nvSpPr>
        <p:spPr/>
        <p:txBody>
          <a:bodyPr/>
          <a:lstStyle/>
          <a:p>
            <a:r>
              <a:rPr lang="ja-JP" altLang="en-US" dirty="0"/>
              <a:t>プレーナ型</a:t>
            </a:r>
            <a:r>
              <a:rPr lang="en-US" altLang="ja-JP" dirty="0"/>
              <a:t>NMOS</a:t>
            </a:r>
            <a:endParaRPr lang="ja-JP" altLang="en-US" dirty="0"/>
          </a:p>
        </p:txBody>
      </p:sp>
      <p:sp>
        <p:nvSpPr>
          <p:cNvPr id="4" name="日付プレースホルダー 3">
            <a:extLst>
              <a:ext uri="{FF2B5EF4-FFF2-40B4-BE49-F238E27FC236}">
                <a16:creationId xmlns:a16="http://schemas.microsoft.com/office/drawing/2014/main" id="{E9DD6A27-6BEB-6E88-1C52-8261373D63CA}"/>
              </a:ext>
            </a:extLst>
          </p:cNvPr>
          <p:cNvSpPr>
            <a:spLocks noGrp="1"/>
          </p:cNvSpPr>
          <p:nvPr>
            <p:ph type="dt" sz="half" idx="10"/>
          </p:nvPr>
        </p:nvSpPr>
        <p:spPr/>
        <p:txBody>
          <a:bodyPr/>
          <a:lstStyle/>
          <a:p>
            <a:fld id="{98554BCD-4603-4EDE-A06E-405E941F3AF4}"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8FAF24E1-5BB3-1914-E0BE-40394558200F}"/>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84</a:t>
            </a:fld>
            <a:endParaRPr kumimoji="1" lang="ja-JP" altLang="en-US" dirty="0">
              <a:latin typeface="Meiryo UI" panose="020B0604030504040204" pitchFamily="50" charset="-128"/>
              <a:ea typeface="Meiryo UI" panose="020B0604030504040204" pitchFamily="50" charset="-128"/>
            </a:endParaRPr>
          </a:p>
        </p:txBody>
      </p:sp>
      <p:sp>
        <p:nvSpPr>
          <p:cNvPr id="2" name="楕円 1">
            <a:extLst>
              <a:ext uri="{FF2B5EF4-FFF2-40B4-BE49-F238E27FC236}">
                <a16:creationId xmlns:a16="http://schemas.microsoft.com/office/drawing/2014/main" id="{64AE85C6-2D4F-5D53-2AE1-8C55ABDC2D0D}"/>
              </a:ext>
            </a:extLst>
          </p:cNvPr>
          <p:cNvSpPr/>
          <p:nvPr/>
        </p:nvSpPr>
        <p:spPr>
          <a:xfrm>
            <a:off x="2533194" y="2906977"/>
            <a:ext cx="1194408" cy="438144"/>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CCCEEBA-FC07-829C-8664-07D684108B8F}"/>
              </a:ext>
            </a:extLst>
          </p:cNvPr>
          <p:cNvSpPr txBox="1"/>
          <p:nvPr/>
        </p:nvSpPr>
        <p:spPr>
          <a:xfrm>
            <a:off x="1237813" y="3777755"/>
            <a:ext cx="4172242" cy="646331"/>
          </a:xfrm>
          <a:prstGeom prst="rect">
            <a:avLst/>
          </a:prstGeom>
          <a:solidFill>
            <a:schemeClr val="bg1"/>
          </a:solidFill>
        </p:spPr>
        <p:txBody>
          <a:bodyPr wrap="square" rtlCol="0">
            <a:spAutoFit/>
          </a:bodyPr>
          <a:lstStyle/>
          <a:p>
            <a:pPr algn="ctr"/>
            <a:r>
              <a:rPr kumimoji="1" lang="en-US" altLang="ja-JP" dirty="0"/>
              <a:t>poly</a:t>
            </a:r>
            <a:r>
              <a:rPr kumimoji="1" lang="ja-JP" altLang="en-US" dirty="0"/>
              <a:t>と</a:t>
            </a:r>
            <a:r>
              <a:rPr kumimoji="1" lang="en-US" altLang="ja-JP" dirty="0"/>
              <a:t>diff</a:t>
            </a:r>
            <a:r>
              <a:rPr kumimoji="1" lang="ja-JP" altLang="en-US" dirty="0"/>
              <a:t>が</a:t>
            </a:r>
            <a:r>
              <a:rPr kumimoji="1" lang="ja-JP" altLang="en-US" dirty="0">
                <a:solidFill>
                  <a:schemeClr val="accent1"/>
                </a:solidFill>
              </a:rPr>
              <a:t>絶縁層を挟んで</a:t>
            </a:r>
            <a:r>
              <a:rPr kumimoji="1" lang="ja-JP" altLang="en-US" dirty="0"/>
              <a:t>重なった</a:t>
            </a:r>
            <a:br>
              <a:rPr kumimoji="1" lang="en-US" altLang="ja-JP" dirty="0"/>
            </a:br>
            <a:r>
              <a:rPr kumimoji="1" lang="ja-JP" altLang="en-US" dirty="0"/>
              <a:t>部分がトランジスタ</a:t>
            </a:r>
          </a:p>
        </p:txBody>
      </p:sp>
      <p:cxnSp>
        <p:nvCxnSpPr>
          <p:cNvPr id="10" name="直線矢印コネクタ 9">
            <a:extLst>
              <a:ext uri="{FF2B5EF4-FFF2-40B4-BE49-F238E27FC236}">
                <a16:creationId xmlns:a16="http://schemas.microsoft.com/office/drawing/2014/main" id="{D8804EB5-8C5D-759F-E165-EC71D4465DA4}"/>
              </a:ext>
            </a:extLst>
          </p:cNvPr>
          <p:cNvCxnSpPr/>
          <p:nvPr/>
        </p:nvCxnSpPr>
        <p:spPr>
          <a:xfrm>
            <a:off x="9134475" y="4146852"/>
            <a:ext cx="476250"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0AB50C49-F585-6B2E-5049-D42F601E5058}"/>
              </a:ext>
            </a:extLst>
          </p:cNvPr>
          <p:cNvCxnSpPr>
            <a:cxnSpLocks/>
          </p:cNvCxnSpPr>
          <p:nvPr/>
        </p:nvCxnSpPr>
        <p:spPr>
          <a:xfrm>
            <a:off x="9365942" y="2882283"/>
            <a:ext cx="0" cy="2725445"/>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8C91DDC9-53EC-4492-28D2-B1AF94E8B63E}"/>
                  </a:ext>
                </a:extLst>
              </p:cNvPr>
              <p:cNvSpPr txBox="1"/>
              <p:nvPr/>
            </p:nvSpPr>
            <p:spPr>
              <a:xfrm>
                <a:off x="9661117" y="4008352"/>
                <a:ext cx="810286" cy="553998"/>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solidFill>
                            <a:schemeClr val="bg1"/>
                          </a:solidFill>
                          <a:latin typeface="Cambria Math" panose="02040503050406030204" pitchFamily="18" charset="0"/>
                        </a:rPr>
                        <m:t>𝐿</m:t>
                      </m:r>
                    </m:oMath>
                    <m:oMath>
                      <m:r>
                        <a:rPr kumimoji="1" lang="en-US" altLang="ja-JP" b="0" i="1" smtClean="0">
                          <a:solidFill>
                            <a:schemeClr val="bg1"/>
                          </a:solidFill>
                          <a:latin typeface="Cambria Math" panose="02040503050406030204" pitchFamily="18" charset="0"/>
                        </a:rPr>
                        <m:t>0.18</m:t>
                      </m:r>
                      <m:r>
                        <m:rPr>
                          <m:sty m:val="p"/>
                        </m:rPr>
                        <a:rPr kumimoji="1" lang="en-US" altLang="ja-JP" i="1">
                          <a:solidFill>
                            <a:schemeClr val="bg1"/>
                          </a:solidFill>
                          <a:latin typeface="Cambria Math" panose="02040503050406030204" pitchFamily="18" charset="0"/>
                        </a:rPr>
                        <m:t>μ</m:t>
                      </m:r>
                      <m:r>
                        <a:rPr kumimoji="1" lang="en-US" altLang="ja-JP" b="0" i="1" smtClean="0">
                          <a:solidFill>
                            <a:schemeClr val="bg1"/>
                          </a:solidFill>
                          <a:latin typeface="Cambria Math" panose="02040503050406030204" pitchFamily="18" charset="0"/>
                        </a:rPr>
                        <m:t>𝑚</m:t>
                      </m:r>
                    </m:oMath>
                  </m:oMathPara>
                </a14:m>
                <a:endParaRPr kumimoji="1" lang="ja-JP" altLang="en-US" dirty="0">
                  <a:solidFill>
                    <a:schemeClr val="bg1"/>
                  </a:solidFill>
                </a:endParaRPr>
              </a:p>
            </p:txBody>
          </p:sp>
        </mc:Choice>
        <mc:Fallback xmlns="">
          <p:sp>
            <p:nvSpPr>
              <p:cNvPr id="16" name="テキスト ボックス 15">
                <a:extLst>
                  <a:ext uri="{FF2B5EF4-FFF2-40B4-BE49-F238E27FC236}">
                    <a16:creationId xmlns:a16="http://schemas.microsoft.com/office/drawing/2014/main" id="{8C91DDC9-53EC-4492-28D2-B1AF94E8B63E}"/>
                  </a:ext>
                </a:extLst>
              </p:cNvPr>
              <p:cNvSpPr txBox="1">
                <a:spLocks noRot="1" noChangeAspect="1" noMove="1" noResize="1" noEditPoints="1" noAdjustHandles="1" noChangeArrowheads="1" noChangeShapeType="1" noTextEdit="1"/>
              </p:cNvSpPr>
              <p:nvPr/>
            </p:nvSpPr>
            <p:spPr>
              <a:xfrm>
                <a:off x="9661117" y="4008352"/>
                <a:ext cx="810286" cy="553998"/>
              </a:xfrm>
              <a:prstGeom prst="rect">
                <a:avLst/>
              </a:prstGeom>
              <a:blipFill>
                <a:blip r:embed="rId5"/>
                <a:stretch>
                  <a:fillRect l="-6767" r="-3759"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7959D6FA-2A6C-61E1-3170-5329E8643DC7}"/>
                  </a:ext>
                </a:extLst>
              </p:cNvPr>
              <p:cNvSpPr txBox="1"/>
              <p:nvPr/>
            </p:nvSpPr>
            <p:spPr>
              <a:xfrm>
                <a:off x="9031577" y="5642031"/>
                <a:ext cx="682046" cy="553998"/>
              </a:xfrm>
              <a:prstGeom prst="rect">
                <a:avLst/>
              </a:prstGeom>
              <a:noFill/>
            </p:spPr>
            <p:txBody>
              <a:bodyPr wrap="none" lIns="0" tIns="0" rIns="0" bIns="0" rtlCol="0">
                <a:spAutoFit/>
              </a:bodyPr>
              <a:lstStyle/>
              <a:p>
                <a:pPr algn="ctr"/>
                <a14:m>
                  <m:oMathPara xmlns:m="http://schemas.openxmlformats.org/officeDocument/2006/math">
                    <m:oMath>
                      <m:r>
                        <a:rPr kumimoji="1" lang="en-US" altLang="ja-JP" b="0" i="1" smtClean="0">
                          <a:solidFill>
                            <a:schemeClr val="bg1"/>
                          </a:solidFill>
                          <a:latin typeface="Cambria Math" panose="02040503050406030204" pitchFamily="18" charset="0"/>
                        </a:rPr>
                        <m:t>𝑊</m:t>
                      </m:r>
                    </m:oMath>
                  </m:oMathPara>
                </a14:m>
                <a:endParaRPr kumimoji="1" lang="en-US" altLang="ja-JP" b="0" i="1" dirty="0">
                  <a:solidFill>
                    <a:schemeClr val="bg1"/>
                  </a:solidFill>
                  <a:latin typeface="Cambria Math" panose="02040503050406030204" pitchFamily="18" charset="0"/>
                </a:endParaRPr>
              </a:p>
              <a:p>
                <a:pPr algn="ctr"/>
                <a14:m>
                  <m:oMathPara xmlns:m="http://schemas.openxmlformats.org/officeDocument/2006/math">
                    <m:oMath>
                      <m:r>
                        <a:rPr kumimoji="1" lang="en-US" altLang="ja-JP" b="0" i="1" smtClean="0">
                          <a:solidFill>
                            <a:schemeClr val="bg1"/>
                          </a:solidFill>
                          <a:latin typeface="Cambria Math" panose="02040503050406030204" pitchFamily="18" charset="0"/>
                        </a:rPr>
                        <m:t>1.0</m:t>
                      </m:r>
                      <m:r>
                        <m:rPr>
                          <m:sty m:val="p"/>
                        </m:rPr>
                        <a:rPr kumimoji="1" lang="en-US" altLang="ja-JP" i="1">
                          <a:solidFill>
                            <a:schemeClr val="bg1"/>
                          </a:solidFill>
                          <a:latin typeface="Cambria Math" panose="02040503050406030204" pitchFamily="18" charset="0"/>
                        </a:rPr>
                        <m:t>μ</m:t>
                      </m:r>
                      <m:r>
                        <a:rPr kumimoji="1" lang="en-US" altLang="ja-JP" b="0" i="1" smtClean="0">
                          <a:solidFill>
                            <a:schemeClr val="bg1"/>
                          </a:solidFill>
                          <a:latin typeface="Cambria Math" panose="02040503050406030204" pitchFamily="18" charset="0"/>
                        </a:rPr>
                        <m:t>𝑚</m:t>
                      </m:r>
                    </m:oMath>
                  </m:oMathPara>
                </a14:m>
                <a:endParaRPr kumimoji="1" lang="ja-JP" altLang="en-US" dirty="0">
                  <a:solidFill>
                    <a:schemeClr val="bg1"/>
                  </a:solidFill>
                </a:endParaRPr>
              </a:p>
            </p:txBody>
          </p:sp>
        </mc:Choice>
        <mc:Fallback xmlns="">
          <p:sp>
            <p:nvSpPr>
              <p:cNvPr id="18" name="テキスト ボックス 17">
                <a:extLst>
                  <a:ext uri="{FF2B5EF4-FFF2-40B4-BE49-F238E27FC236}">
                    <a16:creationId xmlns:a16="http://schemas.microsoft.com/office/drawing/2014/main" id="{7959D6FA-2A6C-61E1-3170-5329E8643DC7}"/>
                  </a:ext>
                </a:extLst>
              </p:cNvPr>
              <p:cNvSpPr txBox="1">
                <a:spLocks noRot="1" noChangeAspect="1" noMove="1" noResize="1" noEditPoints="1" noAdjustHandles="1" noChangeArrowheads="1" noChangeShapeType="1" noTextEdit="1"/>
              </p:cNvSpPr>
              <p:nvPr/>
            </p:nvSpPr>
            <p:spPr>
              <a:xfrm>
                <a:off x="9031577" y="5642031"/>
                <a:ext cx="682046" cy="553998"/>
              </a:xfrm>
              <a:prstGeom prst="rect">
                <a:avLst/>
              </a:prstGeom>
              <a:blipFill>
                <a:blip r:embed="rId6"/>
                <a:stretch>
                  <a:fillRect l="-11712" r="-901" b="-13333"/>
                </a:stretch>
              </a:blipFill>
            </p:spPr>
            <p:txBody>
              <a:bodyPr/>
              <a:lstStyle/>
              <a:p>
                <a:r>
                  <a:rPr lang="ja-JP" altLang="en-US">
                    <a:noFill/>
                  </a:rPr>
                  <a:t> </a:t>
                </a:r>
              </a:p>
            </p:txBody>
          </p:sp>
        </mc:Fallback>
      </mc:AlternateContent>
      <p:sp>
        <p:nvSpPr>
          <p:cNvPr id="3" name="テキスト ボックス 2">
            <a:extLst>
              <a:ext uri="{FF2B5EF4-FFF2-40B4-BE49-F238E27FC236}">
                <a16:creationId xmlns:a16="http://schemas.microsoft.com/office/drawing/2014/main" id="{40F9D621-65A0-8CD9-6DA1-32A521171CE1}"/>
              </a:ext>
            </a:extLst>
          </p:cNvPr>
          <p:cNvSpPr txBox="1"/>
          <p:nvPr/>
        </p:nvSpPr>
        <p:spPr>
          <a:xfrm>
            <a:off x="573802" y="4776731"/>
            <a:ext cx="5784271" cy="830997"/>
          </a:xfrm>
          <a:prstGeom prst="rect">
            <a:avLst/>
          </a:prstGeom>
          <a:noFill/>
        </p:spPr>
        <p:txBody>
          <a:bodyPr wrap="square" rtlCol="0">
            <a:spAutoFit/>
          </a:bodyPr>
          <a:lstStyle/>
          <a:p>
            <a:pPr algn="ctr"/>
            <a:r>
              <a:rPr kumimoji="1" lang="ja-JP" altLang="en-US" sz="2400" b="1" dirty="0">
                <a:solidFill>
                  <a:srgbClr val="FF0000"/>
                </a:solidFill>
              </a:rPr>
              <a:t>電流が流れる方向を基準として</a:t>
            </a:r>
            <a:br>
              <a:rPr kumimoji="1" lang="en-US" altLang="ja-JP" sz="2400" b="1" dirty="0">
                <a:solidFill>
                  <a:srgbClr val="FF0000"/>
                </a:solidFill>
              </a:rPr>
            </a:br>
            <a:r>
              <a:rPr kumimoji="1" lang="en-US" altLang="ja-JP" sz="2400" b="1" dirty="0">
                <a:solidFill>
                  <a:srgbClr val="FF0000"/>
                </a:solidFill>
              </a:rPr>
              <a:t>L</a:t>
            </a:r>
            <a:r>
              <a:rPr kumimoji="1" lang="ja-JP" altLang="en-US" sz="2400" b="1" dirty="0">
                <a:solidFill>
                  <a:srgbClr val="FF0000"/>
                </a:solidFill>
              </a:rPr>
              <a:t>と</a:t>
            </a:r>
            <a:r>
              <a:rPr kumimoji="1" lang="en-US" altLang="ja-JP" sz="2400" b="1" dirty="0">
                <a:solidFill>
                  <a:srgbClr val="FF0000"/>
                </a:solidFill>
              </a:rPr>
              <a:t>W</a:t>
            </a:r>
            <a:r>
              <a:rPr kumimoji="1" lang="ja-JP" altLang="en-US" sz="2400" b="1" dirty="0">
                <a:solidFill>
                  <a:srgbClr val="FF0000"/>
                </a:solidFill>
              </a:rPr>
              <a:t>の方向が定まる</a:t>
            </a:r>
          </a:p>
        </p:txBody>
      </p:sp>
      <p:pic>
        <p:nvPicPr>
          <p:cNvPr id="12" name="図 11">
            <a:extLst>
              <a:ext uri="{FF2B5EF4-FFF2-40B4-BE49-F238E27FC236}">
                <a16:creationId xmlns:a16="http://schemas.microsoft.com/office/drawing/2014/main" id="{8889D1D2-476D-6E93-55B7-407AD11DC874}"/>
              </a:ext>
            </a:extLst>
          </p:cNvPr>
          <p:cNvPicPr>
            <a:picLocks noChangeAspect="1"/>
          </p:cNvPicPr>
          <p:nvPr/>
        </p:nvPicPr>
        <p:blipFill>
          <a:blip r:embed="rId7"/>
          <a:stretch>
            <a:fillRect/>
          </a:stretch>
        </p:blipFill>
        <p:spPr>
          <a:xfrm>
            <a:off x="7946653" y="1821337"/>
            <a:ext cx="3015797" cy="4156543"/>
          </a:xfrm>
          <a:prstGeom prst="rect">
            <a:avLst/>
          </a:prstGeom>
        </p:spPr>
      </p:pic>
      <p:cxnSp>
        <p:nvCxnSpPr>
          <p:cNvPr id="15" name="直線矢印コネクタ 14">
            <a:extLst>
              <a:ext uri="{FF2B5EF4-FFF2-40B4-BE49-F238E27FC236}">
                <a16:creationId xmlns:a16="http://schemas.microsoft.com/office/drawing/2014/main" id="{99B683E7-1E00-5B3A-B802-4ADAF79FA34C}"/>
              </a:ext>
            </a:extLst>
          </p:cNvPr>
          <p:cNvCxnSpPr>
            <a:cxnSpLocks/>
          </p:cNvCxnSpPr>
          <p:nvPr/>
        </p:nvCxnSpPr>
        <p:spPr>
          <a:xfrm>
            <a:off x="9219349" y="3951041"/>
            <a:ext cx="383106"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4FF28784-3A9F-FCAC-4318-B8451AA8C587}"/>
              </a:ext>
            </a:extLst>
          </p:cNvPr>
          <p:cNvCxnSpPr>
            <a:cxnSpLocks/>
          </p:cNvCxnSpPr>
          <p:nvPr/>
        </p:nvCxnSpPr>
        <p:spPr>
          <a:xfrm>
            <a:off x="9406806" y="2393448"/>
            <a:ext cx="0" cy="297791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7CC975AE-DA4E-1FC4-4175-57CAAE183D08}"/>
                  </a:ext>
                </a:extLst>
              </p:cNvPr>
              <p:cNvSpPr txBox="1"/>
              <p:nvPr/>
            </p:nvSpPr>
            <p:spPr>
              <a:xfrm>
                <a:off x="9701981" y="3812541"/>
                <a:ext cx="524118" cy="277064"/>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solidFill>
                            <a:schemeClr val="bg1"/>
                          </a:solidFill>
                          <a:latin typeface="Cambria Math" panose="02040503050406030204" pitchFamily="18" charset="0"/>
                        </a:rPr>
                        <m:t>𝐿</m:t>
                      </m:r>
                    </m:oMath>
                  </m:oMathPara>
                </a14:m>
                <a:br>
                  <a:rPr kumimoji="1" lang="en-US" altLang="ja-JP" b="0" i="1" dirty="0">
                    <a:solidFill>
                      <a:schemeClr val="bg1"/>
                    </a:solidFill>
                    <a:latin typeface="Cambria Math" panose="02040503050406030204" pitchFamily="18" charset="0"/>
                  </a:rPr>
                </a:br>
                <a:endParaRPr kumimoji="1" lang="ja-JP" altLang="en-US" dirty="0">
                  <a:solidFill>
                    <a:schemeClr val="bg1"/>
                  </a:solidFill>
                </a:endParaRPr>
              </a:p>
            </p:txBody>
          </p:sp>
        </mc:Choice>
        <mc:Fallback xmlns="">
          <p:sp>
            <p:nvSpPr>
              <p:cNvPr id="19" name="テキスト ボックス 18">
                <a:extLst>
                  <a:ext uri="{FF2B5EF4-FFF2-40B4-BE49-F238E27FC236}">
                    <a16:creationId xmlns:a16="http://schemas.microsoft.com/office/drawing/2014/main" id="{7CC975AE-DA4E-1FC4-4175-57CAAE183D08}"/>
                  </a:ext>
                </a:extLst>
              </p:cNvPr>
              <p:cNvSpPr txBox="1">
                <a:spLocks noRot="1" noChangeAspect="1" noMove="1" noResize="1" noEditPoints="1" noAdjustHandles="1" noChangeArrowheads="1" noChangeShapeType="1" noTextEdit="1"/>
              </p:cNvSpPr>
              <p:nvPr/>
            </p:nvSpPr>
            <p:spPr>
              <a:xfrm>
                <a:off x="9701981" y="3812541"/>
                <a:ext cx="524118" cy="277064"/>
              </a:xfrm>
              <a:prstGeom prst="rect">
                <a:avLst/>
              </a:prstGeom>
              <a:blipFill>
                <a:blip r:embed="rId8"/>
                <a:stretch>
                  <a:fillRect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7075F9EE-0BE5-14F8-FBC2-979D0AFF319F}"/>
                  </a:ext>
                </a:extLst>
              </p:cNvPr>
              <p:cNvSpPr txBox="1"/>
              <p:nvPr/>
            </p:nvSpPr>
            <p:spPr>
              <a:xfrm>
                <a:off x="9273490" y="5446220"/>
                <a:ext cx="279948" cy="276999"/>
              </a:xfrm>
              <a:prstGeom prst="rect">
                <a:avLst/>
              </a:prstGeom>
              <a:noFill/>
            </p:spPr>
            <p:txBody>
              <a:bodyPr wrap="none" lIns="0" tIns="0" rIns="0" bIns="0" rtlCol="0">
                <a:spAutoFit/>
              </a:bodyPr>
              <a:lstStyle/>
              <a:p>
                <a:pPr algn="ctr"/>
                <a14:m>
                  <m:oMathPara xmlns:m="http://schemas.openxmlformats.org/officeDocument/2006/math">
                    <m:oMath>
                      <m:r>
                        <a:rPr kumimoji="1" lang="en-US" altLang="ja-JP" b="0" i="1" smtClean="0">
                          <a:solidFill>
                            <a:schemeClr val="bg1"/>
                          </a:solidFill>
                          <a:latin typeface="Cambria Math" panose="02040503050406030204" pitchFamily="18" charset="0"/>
                        </a:rPr>
                        <m:t>𝑊</m:t>
                      </m:r>
                    </m:oMath>
                  </m:oMathPara>
                </a14:m>
                <a:endParaRPr kumimoji="1" lang="en-US" altLang="ja-JP" b="0" i="1" dirty="0">
                  <a:solidFill>
                    <a:schemeClr val="bg1"/>
                  </a:solidFill>
                  <a:latin typeface="Cambria Math" panose="02040503050406030204" pitchFamily="18" charset="0"/>
                </a:endParaRPr>
              </a:p>
            </p:txBody>
          </p:sp>
        </mc:Choice>
        <mc:Fallback xmlns="">
          <p:sp>
            <p:nvSpPr>
              <p:cNvPr id="20" name="テキスト ボックス 19">
                <a:extLst>
                  <a:ext uri="{FF2B5EF4-FFF2-40B4-BE49-F238E27FC236}">
                    <a16:creationId xmlns:a16="http://schemas.microsoft.com/office/drawing/2014/main" id="{7075F9EE-0BE5-14F8-FBC2-979D0AFF319F}"/>
                  </a:ext>
                </a:extLst>
              </p:cNvPr>
              <p:cNvSpPr txBox="1">
                <a:spLocks noRot="1" noChangeAspect="1" noMove="1" noResize="1" noEditPoints="1" noAdjustHandles="1" noChangeArrowheads="1" noChangeShapeType="1" noTextEdit="1"/>
              </p:cNvSpPr>
              <p:nvPr/>
            </p:nvSpPr>
            <p:spPr>
              <a:xfrm>
                <a:off x="9273490" y="5446220"/>
                <a:ext cx="279948" cy="276999"/>
              </a:xfrm>
              <a:prstGeom prst="rect">
                <a:avLst/>
              </a:prstGeom>
              <a:blipFill>
                <a:blip r:embed="rId9"/>
                <a:stretch>
                  <a:fillRect l="-28261" r="-8696" b="-8696"/>
                </a:stretch>
              </a:blipFill>
            </p:spPr>
            <p:txBody>
              <a:bodyPr/>
              <a:lstStyle/>
              <a:p>
                <a:r>
                  <a:rPr lang="ja-JP" altLang="en-US">
                    <a:noFill/>
                  </a:rPr>
                  <a:t> </a:t>
                </a:r>
              </a:p>
            </p:txBody>
          </p:sp>
        </mc:Fallback>
      </mc:AlternateContent>
      <p:sp>
        <p:nvSpPr>
          <p:cNvPr id="21" name="矢印: 左右 20">
            <a:extLst>
              <a:ext uri="{FF2B5EF4-FFF2-40B4-BE49-F238E27FC236}">
                <a16:creationId xmlns:a16="http://schemas.microsoft.com/office/drawing/2014/main" id="{68C3969B-0480-C2AE-8DAC-0436C7C797D2}"/>
              </a:ext>
            </a:extLst>
          </p:cNvPr>
          <p:cNvSpPr/>
          <p:nvPr/>
        </p:nvSpPr>
        <p:spPr>
          <a:xfrm>
            <a:off x="8218631" y="3069101"/>
            <a:ext cx="2430250" cy="337616"/>
          </a:xfrm>
          <a:prstGeom prst="leftRightArrow">
            <a:avLst/>
          </a:prstGeom>
          <a:solidFill>
            <a:srgbClr val="00B0F0"/>
          </a:solidFill>
          <a:ln>
            <a:solidFill>
              <a:srgbClr val="0070C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33839B5F-73E2-CCB3-0D53-81D8497BA0FF}"/>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9798830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6602D8-389F-0F46-C637-1202C361C557}"/>
              </a:ext>
            </a:extLst>
          </p:cNvPr>
          <p:cNvSpPr>
            <a:spLocks noGrp="1"/>
          </p:cNvSpPr>
          <p:nvPr>
            <p:ph type="title"/>
          </p:nvPr>
        </p:nvSpPr>
        <p:spPr/>
        <p:txBody>
          <a:bodyPr/>
          <a:lstStyle/>
          <a:p>
            <a:r>
              <a:rPr lang="en-US" altLang="ja-JP" dirty="0"/>
              <a:t>PCELL</a:t>
            </a:r>
            <a:r>
              <a:rPr lang="ja-JP" altLang="en-US" dirty="0"/>
              <a:t>でのボディの扱い</a:t>
            </a:r>
          </a:p>
        </p:txBody>
      </p:sp>
      <p:sp>
        <p:nvSpPr>
          <p:cNvPr id="4" name="日付プレースホルダー 3">
            <a:extLst>
              <a:ext uri="{FF2B5EF4-FFF2-40B4-BE49-F238E27FC236}">
                <a16:creationId xmlns:a16="http://schemas.microsoft.com/office/drawing/2014/main" id="{E9DD6A27-6BEB-6E88-1C52-8261373D63CA}"/>
              </a:ext>
            </a:extLst>
          </p:cNvPr>
          <p:cNvSpPr>
            <a:spLocks noGrp="1"/>
          </p:cNvSpPr>
          <p:nvPr>
            <p:ph type="dt" sz="half" idx="10"/>
          </p:nvPr>
        </p:nvSpPr>
        <p:spPr/>
        <p:txBody>
          <a:bodyPr/>
          <a:lstStyle/>
          <a:p>
            <a:fld id="{98554BCD-4603-4EDE-A06E-405E941F3AF4}"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8FAF24E1-5BB3-1914-E0BE-40394558200F}"/>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85</a:t>
            </a:fld>
            <a:endParaRPr kumimoji="1" lang="ja-JP" altLang="en-US" dirty="0">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92E114E7-A2EA-9A23-265B-E73EC4B9DB15}"/>
              </a:ext>
            </a:extLst>
          </p:cNvPr>
          <p:cNvSpPr>
            <a:spLocks noGrp="1"/>
          </p:cNvSpPr>
          <p:nvPr>
            <p:ph sz="quarter" idx="13"/>
          </p:nvPr>
        </p:nvSpPr>
        <p:spPr>
          <a:xfrm>
            <a:off x="444500" y="1272150"/>
            <a:ext cx="11210543" cy="4601748"/>
          </a:xfrm>
        </p:spPr>
        <p:txBody>
          <a:bodyPr>
            <a:normAutofit/>
          </a:bodyPr>
          <a:lstStyle/>
          <a:p>
            <a:r>
              <a:rPr lang="en-US" altLang="ja-JP" sz="2000" dirty="0"/>
              <a:t>PMOS</a:t>
            </a:r>
            <a:r>
              <a:rPr lang="ja-JP" altLang="en-US" sz="2000" dirty="0"/>
              <a:t>は</a:t>
            </a:r>
            <a:r>
              <a:rPr lang="en-US" altLang="ja-JP" sz="2000" dirty="0" err="1">
                <a:solidFill>
                  <a:srgbClr val="FF0000"/>
                </a:solidFill>
              </a:rPr>
              <a:t>Nplus</a:t>
            </a:r>
            <a:r>
              <a:rPr lang="ja-JP" altLang="en-US" sz="2000" dirty="0"/>
              <a:t>を介して</a:t>
            </a:r>
            <a:r>
              <a:rPr lang="en-US" altLang="ja-JP" sz="2000" dirty="0"/>
              <a:t>N-well</a:t>
            </a:r>
            <a:r>
              <a:rPr lang="ja-JP" altLang="en-US" sz="2000" dirty="0"/>
              <a:t> に繋がっている</a:t>
            </a:r>
            <a:endParaRPr lang="en-US" altLang="ja-JP" sz="2000" dirty="0"/>
          </a:p>
          <a:p>
            <a:r>
              <a:rPr lang="en-US" altLang="ja-JP" sz="2000" dirty="0"/>
              <a:t>NMOS</a:t>
            </a:r>
            <a:r>
              <a:rPr lang="ja-JP" altLang="en-US" sz="2000" dirty="0"/>
              <a:t>は</a:t>
            </a:r>
            <a:r>
              <a:rPr lang="en-US" altLang="ja-JP" sz="2000" dirty="0" err="1">
                <a:solidFill>
                  <a:srgbClr val="BC14BC"/>
                </a:solidFill>
              </a:rPr>
              <a:t>Pplus</a:t>
            </a:r>
            <a:r>
              <a:rPr lang="ja-JP" altLang="en-US" sz="2000" dirty="0"/>
              <a:t>を介して</a:t>
            </a:r>
            <a:r>
              <a:rPr lang="en-US" altLang="ja-JP" sz="2000" dirty="0"/>
              <a:t>P-substrate</a:t>
            </a:r>
            <a:r>
              <a:rPr lang="ja-JP" altLang="en-US" sz="2000" dirty="0"/>
              <a:t>に繋がっている</a:t>
            </a:r>
            <a:endParaRPr lang="en-US" altLang="ja-JP" sz="2000" dirty="0"/>
          </a:p>
        </p:txBody>
      </p:sp>
      <p:pic>
        <p:nvPicPr>
          <p:cNvPr id="14" name="図 13" descr="ダイアグラム&#10;&#10;自動的に生成された説明">
            <a:extLst>
              <a:ext uri="{FF2B5EF4-FFF2-40B4-BE49-F238E27FC236}">
                <a16:creationId xmlns:a16="http://schemas.microsoft.com/office/drawing/2014/main" id="{A1CBBB40-4D05-31CD-9ECA-94C82A509E23}"/>
              </a:ext>
            </a:extLst>
          </p:cNvPr>
          <p:cNvPicPr>
            <a:picLocks noChangeAspect="1"/>
          </p:cNvPicPr>
          <p:nvPr/>
        </p:nvPicPr>
        <p:blipFill>
          <a:blip r:embed="rId2"/>
          <a:stretch>
            <a:fillRect/>
          </a:stretch>
        </p:blipFill>
        <p:spPr>
          <a:xfrm>
            <a:off x="8452143" y="1380157"/>
            <a:ext cx="3029308" cy="1731397"/>
          </a:xfrm>
          <a:prstGeom prst="rect">
            <a:avLst/>
          </a:prstGeom>
        </p:spPr>
      </p:pic>
      <p:sp>
        <p:nvSpPr>
          <p:cNvPr id="17" name="テキスト ボックス 16">
            <a:extLst>
              <a:ext uri="{FF2B5EF4-FFF2-40B4-BE49-F238E27FC236}">
                <a16:creationId xmlns:a16="http://schemas.microsoft.com/office/drawing/2014/main" id="{36188FBF-678F-93CC-36CE-35851F115945}"/>
              </a:ext>
            </a:extLst>
          </p:cNvPr>
          <p:cNvSpPr txBox="1"/>
          <p:nvPr/>
        </p:nvSpPr>
        <p:spPr>
          <a:xfrm>
            <a:off x="7994254" y="3108790"/>
            <a:ext cx="4198836" cy="307777"/>
          </a:xfrm>
          <a:prstGeom prst="rect">
            <a:avLst/>
          </a:prstGeom>
          <a:noFill/>
        </p:spPr>
        <p:txBody>
          <a:bodyPr wrap="square">
            <a:spAutoFit/>
          </a:bodyPr>
          <a:lstStyle/>
          <a:p>
            <a:r>
              <a:rPr lang="ja-JP" altLang="en-US" sz="1400" dirty="0"/>
              <a:t>https://note.com/akira_tsuchiya/n/nd4444304f013</a:t>
            </a:r>
          </a:p>
        </p:txBody>
      </p:sp>
      <p:pic>
        <p:nvPicPr>
          <p:cNvPr id="5" name="図 4">
            <a:extLst>
              <a:ext uri="{FF2B5EF4-FFF2-40B4-BE49-F238E27FC236}">
                <a16:creationId xmlns:a16="http://schemas.microsoft.com/office/drawing/2014/main" id="{04279C97-A1B5-256E-0112-FC9FD24B959A}"/>
              </a:ext>
            </a:extLst>
          </p:cNvPr>
          <p:cNvPicPr>
            <a:picLocks noChangeAspect="1"/>
          </p:cNvPicPr>
          <p:nvPr/>
        </p:nvPicPr>
        <p:blipFill>
          <a:blip r:embed="rId3"/>
          <a:stretch>
            <a:fillRect/>
          </a:stretch>
        </p:blipFill>
        <p:spPr>
          <a:xfrm>
            <a:off x="9351903" y="3374931"/>
            <a:ext cx="1644278" cy="3146525"/>
          </a:xfrm>
          <a:prstGeom prst="rect">
            <a:avLst/>
          </a:prstGeom>
        </p:spPr>
      </p:pic>
      <p:pic>
        <p:nvPicPr>
          <p:cNvPr id="9" name="図 8">
            <a:extLst>
              <a:ext uri="{FF2B5EF4-FFF2-40B4-BE49-F238E27FC236}">
                <a16:creationId xmlns:a16="http://schemas.microsoft.com/office/drawing/2014/main" id="{8697250D-EA81-592C-B9C3-B25844797A14}"/>
              </a:ext>
            </a:extLst>
          </p:cNvPr>
          <p:cNvPicPr>
            <a:picLocks noChangeAspect="1"/>
          </p:cNvPicPr>
          <p:nvPr/>
        </p:nvPicPr>
        <p:blipFill>
          <a:blip r:embed="rId4"/>
          <a:stretch>
            <a:fillRect/>
          </a:stretch>
        </p:blipFill>
        <p:spPr>
          <a:xfrm>
            <a:off x="0" y="3318441"/>
            <a:ext cx="7884247" cy="3254799"/>
          </a:xfrm>
          <a:prstGeom prst="rect">
            <a:avLst/>
          </a:prstGeom>
        </p:spPr>
      </p:pic>
      <p:sp>
        <p:nvSpPr>
          <p:cNvPr id="13" name="吹き出し: 角を丸めた四角形 12">
            <a:extLst>
              <a:ext uri="{FF2B5EF4-FFF2-40B4-BE49-F238E27FC236}">
                <a16:creationId xmlns:a16="http://schemas.microsoft.com/office/drawing/2014/main" id="{575669FA-233E-C0C7-5080-608A53BFAFA8}"/>
              </a:ext>
            </a:extLst>
          </p:cNvPr>
          <p:cNvSpPr/>
          <p:nvPr/>
        </p:nvSpPr>
        <p:spPr>
          <a:xfrm>
            <a:off x="3284776" y="2768902"/>
            <a:ext cx="2714803" cy="647665"/>
          </a:xfrm>
          <a:prstGeom prst="wedgeRoundRectCallout">
            <a:avLst>
              <a:gd name="adj1" fmla="val -45557"/>
              <a:gd name="adj2" fmla="val 28233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Body</a:t>
            </a:r>
            <a:r>
              <a:rPr kumimoji="1" lang="ja-JP" altLang="en-US" dirty="0"/>
              <a:t>端子</a:t>
            </a:r>
            <a:endParaRPr kumimoji="1" lang="en-US" altLang="ja-JP" dirty="0"/>
          </a:p>
        </p:txBody>
      </p:sp>
      <p:sp>
        <p:nvSpPr>
          <p:cNvPr id="16" name="吹き出し: 角を丸めた四角形 15">
            <a:extLst>
              <a:ext uri="{FF2B5EF4-FFF2-40B4-BE49-F238E27FC236}">
                <a16:creationId xmlns:a16="http://schemas.microsoft.com/office/drawing/2014/main" id="{98E19CE3-9B82-9A5F-54C8-6201DE98A191}"/>
              </a:ext>
            </a:extLst>
          </p:cNvPr>
          <p:cNvSpPr/>
          <p:nvPr/>
        </p:nvSpPr>
        <p:spPr>
          <a:xfrm>
            <a:off x="3284776" y="2768901"/>
            <a:ext cx="2714803" cy="647665"/>
          </a:xfrm>
          <a:prstGeom prst="wedgeRoundRectCallout">
            <a:avLst>
              <a:gd name="adj1" fmla="val 91050"/>
              <a:gd name="adj2" fmla="val 27385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Body</a:t>
            </a:r>
            <a:r>
              <a:rPr kumimoji="1" lang="ja-JP" altLang="en-US" dirty="0"/>
              <a:t>端子</a:t>
            </a:r>
            <a:r>
              <a:rPr kumimoji="1" lang="en-US" altLang="ja-JP" dirty="0"/>
              <a:t>(</a:t>
            </a:r>
            <a:r>
              <a:rPr kumimoji="1" lang="ja-JP" altLang="en-US" dirty="0"/>
              <a:t>基板タップ</a:t>
            </a:r>
            <a:r>
              <a:rPr kumimoji="1" lang="en-US" altLang="ja-JP" dirty="0"/>
              <a:t>)</a:t>
            </a:r>
          </a:p>
        </p:txBody>
      </p:sp>
    </p:spTree>
    <p:extLst>
      <p:ext uri="{BB962C8B-B14F-4D97-AF65-F5344CB8AC3E}">
        <p14:creationId xmlns:p14="http://schemas.microsoft.com/office/powerpoint/2010/main" val="27242891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6602D8-389F-0F46-C637-1202C361C557}"/>
              </a:ext>
            </a:extLst>
          </p:cNvPr>
          <p:cNvSpPr>
            <a:spLocks noGrp="1"/>
          </p:cNvSpPr>
          <p:nvPr>
            <p:ph type="title"/>
          </p:nvPr>
        </p:nvSpPr>
        <p:spPr/>
        <p:txBody>
          <a:bodyPr/>
          <a:lstStyle/>
          <a:p>
            <a:r>
              <a:rPr lang="ja-JP" altLang="en-US" dirty="0"/>
              <a:t>レイヤーの名前と意味（カッコ内は</a:t>
            </a:r>
            <a:r>
              <a:rPr lang="en-US" altLang="ja-JP" dirty="0"/>
              <a:t>OpenSUSI-TR10</a:t>
            </a:r>
            <a:r>
              <a:rPr lang="ja-JP" altLang="en-US" dirty="0"/>
              <a:t>での名前）</a:t>
            </a:r>
          </a:p>
        </p:txBody>
      </p:sp>
      <p:sp>
        <p:nvSpPr>
          <p:cNvPr id="4" name="日付プレースホルダー 3">
            <a:extLst>
              <a:ext uri="{FF2B5EF4-FFF2-40B4-BE49-F238E27FC236}">
                <a16:creationId xmlns:a16="http://schemas.microsoft.com/office/drawing/2014/main" id="{E9DD6A27-6BEB-6E88-1C52-8261373D63CA}"/>
              </a:ext>
            </a:extLst>
          </p:cNvPr>
          <p:cNvSpPr>
            <a:spLocks noGrp="1"/>
          </p:cNvSpPr>
          <p:nvPr>
            <p:ph type="dt" sz="half" idx="10"/>
          </p:nvPr>
        </p:nvSpPr>
        <p:spPr/>
        <p:txBody>
          <a:bodyPr/>
          <a:lstStyle/>
          <a:p>
            <a:fld id="{98554BCD-4603-4EDE-A06E-405E941F3AF4}"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8FAF24E1-5BB3-1914-E0BE-40394558200F}"/>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E89953-8AEA-4BDF-A508-664B12926AB4}" type="slidenum">
              <a:rPr kumimoji="1" lang="ja-JP" altLang="en-US" sz="1400" smtClean="0">
                <a:latin typeface="Meiryo UI" panose="020B0604030504040204" pitchFamily="50" charset="-128"/>
                <a:ea typeface="Meiryo UI" panose="020B0604030504040204" pitchFamily="50" charset="-128"/>
              </a:rPr>
              <a:pPr/>
              <a:t>86</a:t>
            </a:fld>
            <a:endParaRPr kumimoji="1" lang="ja-JP" altLang="en-US" dirty="0">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92E114E7-A2EA-9A23-265B-E73EC4B9DB15}"/>
              </a:ext>
            </a:extLst>
          </p:cNvPr>
          <p:cNvSpPr>
            <a:spLocks noGrp="1"/>
          </p:cNvSpPr>
          <p:nvPr>
            <p:ph sz="quarter" idx="13"/>
          </p:nvPr>
        </p:nvSpPr>
        <p:spPr>
          <a:xfrm>
            <a:off x="444500" y="1463039"/>
            <a:ext cx="11210543" cy="4877223"/>
          </a:xfrm>
        </p:spPr>
        <p:txBody>
          <a:bodyPr>
            <a:normAutofit/>
          </a:bodyPr>
          <a:lstStyle/>
          <a:p>
            <a:r>
              <a:rPr lang="en-US" altLang="ja-JP" sz="1800" dirty="0" err="1"/>
              <a:t>Nwell</a:t>
            </a:r>
            <a:r>
              <a:rPr lang="en-US" altLang="ja-JP" sz="1800" dirty="0"/>
              <a:t>(WN)	N-well</a:t>
            </a:r>
          </a:p>
          <a:p>
            <a:r>
              <a:rPr lang="en-US" altLang="ja-JP" sz="1800" dirty="0" err="1"/>
              <a:t>Pplus</a:t>
            </a:r>
            <a:r>
              <a:rPr lang="en-US" altLang="ja-JP" sz="1800" dirty="0"/>
              <a:t>(AP)</a:t>
            </a:r>
            <a:r>
              <a:rPr kumimoji="1" lang="en-US" altLang="ja-JP" sz="1800" dirty="0"/>
              <a:t>	</a:t>
            </a:r>
            <a:r>
              <a:rPr kumimoji="1" lang="ja-JP" altLang="en-US" sz="1800" dirty="0"/>
              <a:t>不純物注入による</a:t>
            </a:r>
            <a:r>
              <a:rPr lang="en-US" altLang="ja-JP" sz="1800" dirty="0"/>
              <a:t>P</a:t>
            </a:r>
            <a:r>
              <a:rPr kumimoji="1" lang="en-US" altLang="ja-JP" sz="1800" dirty="0"/>
              <a:t>+</a:t>
            </a:r>
            <a:r>
              <a:rPr kumimoji="1" lang="ja-JP" altLang="en-US" sz="1800" dirty="0"/>
              <a:t>イオン領域</a:t>
            </a:r>
            <a:r>
              <a:rPr lang="ja-JP" altLang="en-US" sz="1800" dirty="0"/>
              <a:t>と拡散層の複合レイヤー</a:t>
            </a:r>
            <a:endParaRPr kumimoji="1" lang="en-US" altLang="ja-JP" sz="1800" dirty="0"/>
          </a:p>
          <a:p>
            <a:r>
              <a:rPr lang="en-US" altLang="ja-JP" sz="1800" dirty="0" err="1"/>
              <a:t>N</a:t>
            </a:r>
            <a:r>
              <a:rPr kumimoji="1" lang="en-US" altLang="ja-JP" sz="1800" dirty="0" err="1"/>
              <a:t>plus</a:t>
            </a:r>
            <a:r>
              <a:rPr kumimoji="1" lang="en-US" altLang="ja-JP" sz="1800" dirty="0"/>
              <a:t>(AN)	</a:t>
            </a:r>
            <a:r>
              <a:rPr kumimoji="1" lang="ja-JP" altLang="en-US" sz="1800" dirty="0"/>
              <a:t>不純物注入による</a:t>
            </a:r>
            <a:r>
              <a:rPr kumimoji="1" lang="en-US" altLang="ja-JP" sz="1800" dirty="0"/>
              <a:t>N+</a:t>
            </a:r>
            <a:r>
              <a:rPr kumimoji="1" lang="ja-JP" altLang="en-US" sz="1800" dirty="0"/>
              <a:t>イオン領域</a:t>
            </a:r>
            <a:r>
              <a:rPr lang="ja-JP" altLang="en-US" sz="1800" dirty="0"/>
              <a:t>と拡散層の複合レイヤー</a:t>
            </a:r>
            <a:endParaRPr kumimoji="1" lang="en-US" altLang="ja-JP" sz="1800" dirty="0"/>
          </a:p>
          <a:p>
            <a:r>
              <a:rPr lang="en-US" altLang="ja-JP" sz="1800" dirty="0"/>
              <a:t>Poly2(GC)	Polysilicon</a:t>
            </a:r>
          </a:p>
          <a:p>
            <a:r>
              <a:rPr lang="en-US" altLang="ja-JP" sz="1800" dirty="0"/>
              <a:t>Contact(CO)	Poly2</a:t>
            </a:r>
            <a:r>
              <a:rPr lang="ja-JP" altLang="en-US" sz="1800" dirty="0"/>
              <a:t>と</a:t>
            </a:r>
            <a:r>
              <a:rPr lang="en-US" altLang="ja-JP" sz="1800" dirty="0"/>
              <a:t>Metal1</a:t>
            </a:r>
            <a:r>
              <a:rPr lang="ja-JP" altLang="en-US" sz="1800" dirty="0"/>
              <a:t>接続用の</a:t>
            </a:r>
            <a:r>
              <a:rPr lang="en-US" altLang="ja-JP" sz="1800" dirty="0"/>
              <a:t>VIA</a:t>
            </a:r>
            <a:r>
              <a:rPr lang="ja-JP" altLang="en-US" sz="1800" dirty="0"/>
              <a:t>（コンタクトと呼ぶことが多い）</a:t>
            </a:r>
            <a:endParaRPr lang="en-US" altLang="ja-JP" sz="1800" dirty="0"/>
          </a:p>
          <a:p>
            <a:r>
              <a:rPr lang="en-US" altLang="ja-JP" sz="1800" dirty="0"/>
              <a:t>Metal1</a:t>
            </a:r>
            <a:r>
              <a:rPr lang="ja-JP" altLang="en-US" sz="1800" dirty="0"/>
              <a:t>～</a:t>
            </a:r>
            <a:r>
              <a:rPr lang="en-US" altLang="ja-JP" sz="1800" dirty="0"/>
              <a:t>5(M1,2)</a:t>
            </a:r>
            <a:r>
              <a:rPr lang="ja-JP" altLang="en-US" sz="1800" dirty="0"/>
              <a:t>メタル</a:t>
            </a:r>
            <a:r>
              <a:rPr lang="en-US" altLang="ja-JP" sz="1800" dirty="0"/>
              <a:t>1</a:t>
            </a:r>
            <a:r>
              <a:rPr lang="ja-JP" altLang="en-US" sz="1800" dirty="0"/>
              <a:t>～</a:t>
            </a:r>
            <a:r>
              <a:rPr lang="en-US" altLang="ja-JP" sz="1800" dirty="0"/>
              <a:t>5</a:t>
            </a:r>
            <a:r>
              <a:rPr lang="ja-JP" altLang="en-US" sz="1800" dirty="0"/>
              <a:t>層目</a:t>
            </a:r>
            <a:endParaRPr lang="en-US" altLang="ja-JP" sz="1800" dirty="0"/>
          </a:p>
          <a:p>
            <a:r>
              <a:rPr lang="en-US" altLang="ja-JP" sz="1800" dirty="0"/>
              <a:t>VIA1</a:t>
            </a:r>
            <a:r>
              <a:rPr lang="ja-JP" altLang="en-US" sz="1800" dirty="0"/>
              <a:t>～</a:t>
            </a:r>
            <a:r>
              <a:rPr lang="en-US" altLang="ja-JP" sz="1800" dirty="0"/>
              <a:t>4(V1)	Metal</a:t>
            </a:r>
            <a:r>
              <a:rPr lang="ja-JP" altLang="en-US" sz="1800" dirty="0"/>
              <a:t>接続用の</a:t>
            </a:r>
            <a:r>
              <a:rPr lang="en-US" altLang="ja-JP" sz="1800" dirty="0"/>
              <a:t>VIA</a:t>
            </a:r>
          </a:p>
          <a:p>
            <a:r>
              <a:rPr lang="en-US" altLang="ja-JP" sz="1800" dirty="0"/>
              <a:t>Pad		</a:t>
            </a:r>
            <a:r>
              <a:rPr lang="ja-JP" altLang="en-US" sz="1800" dirty="0"/>
              <a:t>パッド（むき出しのメタル）</a:t>
            </a:r>
            <a:endParaRPr lang="en-US" altLang="ja-JP" sz="1800" dirty="0"/>
          </a:p>
        </p:txBody>
      </p:sp>
      <p:pic>
        <p:nvPicPr>
          <p:cNvPr id="10" name="図 9">
            <a:extLst>
              <a:ext uri="{FF2B5EF4-FFF2-40B4-BE49-F238E27FC236}">
                <a16:creationId xmlns:a16="http://schemas.microsoft.com/office/drawing/2014/main" id="{462E08BB-E1BD-DF26-1FFC-9535B9B077AC}"/>
              </a:ext>
            </a:extLst>
          </p:cNvPr>
          <p:cNvPicPr>
            <a:picLocks noChangeAspect="1"/>
          </p:cNvPicPr>
          <p:nvPr/>
        </p:nvPicPr>
        <p:blipFill>
          <a:blip r:embed="rId2"/>
          <a:stretch>
            <a:fillRect/>
          </a:stretch>
        </p:blipFill>
        <p:spPr>
          <a:xfrm>
            <a:off x="9081443" y="1232473"/>
            <a:ext cx="2541626" cy="4863710"/>
          </a:xfrm>
          <a:prstGeom prst="rect">
            <a:avLst/>
          </a:prstGeom>
        </p:spPr>
      </p:pic>
    </p:spTree>
    <p:extLst>
      <p:ext uri="{BB962C8B-B14F-4D97-AF65-F5344CB8AC3E}">
        <p14:creationId xmlns:p14="http://schemas.microsoft.com/office/powerpoint/2010/main" val="21705118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FC844E-EA3C-10FE-D723-E0E9C3FDBF1C}"/>
              </a:ext>
            </a:extLst>
          </p:cNvPr>
          <p:cNvSpPr>
            <a:spLocks noGrp="1"/>
          </p:cNvSpPr>
          <p:nvPr>
            <p:ph type="title"/>
          </p:nvPr>
        </p:nvSpPr>
        <p:spPr/>
        <p:txBody>
          <a:bodyPr/>
          <a:lstStyle/>
          <a:p>
            <a:r>
              <a:rPr kumimoji="1" lang="ja-JP" altLang="en-US" dirty="0"/>
              <a:t>配線層ができるまで</a:t>
            </a:r>
          </a:p>
        </p:txBody>
      </p:sp>
      <p:sp>
        <p:nvSpPr>
          <p:cNvPr id="3" name="日付プレースホルダー 2">
            <a:extLst>
              <a:ext uri="{FF2B5EF4-FFF2-40B4-BE49-F238E27FC236}">
                <a16:creationId xmlns:a16="http://schemas.microsoft.com/office/drawing/2014/main" id="{533F8F2E-4186-60E1-6AD8-B36498224D80}"/>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008A374-6D7E-9C12-8070-06E6E08EB3B5}"/>
              </a:ext>
            </a:extLst>
          </p:cNvPr>
          <p:cNvSpPr>
            <a:spLocks noGrp="1"/>
          </p:cNvSpPr>
          <p:nvPr>
            <p:ph type="sldNum" sz="quarter" idx="12"/>
          </p:nvPr>
        </p:nvSpPr>
        <p:spPr/>
        <p:txBody>
          <a:bodyPr/>
          <a:lstStyle/>
          <a:p>
            <a:pPr rtl="0"/>
            <a:fld id="{9860EDB8-5305-433F-BE41-D7A86D811DB3}" type="slidenum">
              <a:rPr lang="en-US" altLang="ja-JP" noProof="0" smtClean="0"/>
              <a:pPr rtl="0"/>
              <a:t>87</a:t>
            </a:fld>
            <a:endParaRPr lang="ja-JP" altLang="en-US" noProof="0"/>
          </a:p>
        </p:txBody>
      </p:sp>
      <p:sp>
        <p:nvSpPr>
          <p:cNvPr id="10" name="正方形/長方形 9">
            <a:extLst>
              <a:ext uri="{FF2B5EF4-FFF2-40B4-BE49-F238E27FC236}">
                <a16:creationId xmlns:a16="http://schemas.microsoft.com/office/drawing/2014/main" id="{8AC56772-46C0-FEE5-A7C5-69E623D95A00}"/>
              </a:ext>
            </a:extLst>
          </p:cNvPr>
          <p:cNvSpPr/>
          <p:nvPr/>
        </p:nvSpPr>
        <p:spPr>
          <a:xfrm>
            <a:off x="2660556" y="3867124"/>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8F713084-1021-14EF-18D3-5563F23CB831}"/>
              </a:ext>
            </a:extLst>
          </p:cNvPr>
          <p:cNvSpPr/>
          <p:nvPr/>
        </p:nvSpPr>
        <p:spPr>
          <a:xfrm>
            <a:off x="173224" y="3861784"/>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bottom</a:t>
            </a:r>
            <a:endParaRPr kumimoji="1" lang="ja-JP" altLang="en-US" dirty="0"/>
          </a:p>
        </p:txBody>
      </p:sp>
      <p:sp>
        <p:nvSpPr>
          <p:cNvPr id="13" name="正方形/長方形 12">
            <a:extLst>
              <a:ext uri="{FF2B5EF4-FFF2-40B4-BE49-F238E27FC236}">
                <a16:creationId xmlns:a16="http://schemas.microsoft.com/office/drawing/2014/main" id="{3D7B9418-FBDC-14BD-8A4A-DAE1FEF7AA32}"/>
              </a:ext>
            </a:extLst>
          </p:cNvPr>
          <p:cNvSpPr/>
          <p:nvPr/>
        </p:nvSpPr>
        <p:spPr>
          <a:xfrm>
            <a:off x="5147889" y="330578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C320CC3-E5E0-66BC-FC7B-A76AA13D6EE4}"/>
              </a:ext>
            </a:extLst>
          </p:cNvPr>
          <p:cNvSpPr/>
          <p:nvPr/>
        </p:nvSpPr>
        <p:spPr>
          <a:xfrm>
            <a:off x="5882387" y="3596087"/>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DCA1CEBE-B544-B7BA-E6F5-C0CD27D384C7}"/>
              </a:ext>
            </a:extLst>
          </p:cNvPr>
          <p:cNvSpPr/>
          <p:nvPr/>
        </p:nvSpPr>
        <p:spPr>
          <a:xfrm>
            <a:off x="5147888" y="385571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3709625F-5532-D061-7364-935A79DA2306}"/>
              </a:ext>
            </a:extLst>
          </p:cNvPr>
          <p:cNvSpPr/>
          <p:nvPr/>
        </p:nvSpPr>
        <p:spPr>
          <a:xfrm>
            <a:off x="5147883" y="3305781"/>
            <a:ext cx="1819333"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ABB5BBD6-7BE9-EE92-49C9-9E70D3493A84}"/>
              </a:ext>
            </a:extLst>
          </p:cNvPr>
          <p:cNvSpPr/>
          <p:nvPr/>
        </p:nvSpPr>
        <p:spPr>
          <a:xfrm>
            <a:off x="7635220" y="3624896"/>
            <a:ext cx="1819333" cy="245454"/>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DA5F2D27-CDD7-9617-C835-F5E97797FC0C}"/>
              </a:ext>
            </a:extLst>
          </p:cNvPr>
          <p:cNvSpPr/>
          <p:nvPr/>
        </p:nvSpPr>
        <p:spPr>
          <a:xfrm>
            <a:off x="8369718" y="3596087"/>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C968FFFD-C861-63A1-2B9E-D27E03EC76B5}"/>
              </a:ext>
            </a:extLst>
          </p:cNvPr>
          <p:cNvSpPr/>
          <p:nvPr/>
        </p:nvSpPr>
        <p:spPr>
          <a:xfrm>
            <a:off x="7635219" y="385571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C44A0C09-DACB-F3B4-78A3-355A6193CA00}"/>
              </a:ext>
            </a:extLst>
          </p:cNvPr>
          <p:cNvSpPr/>
          <p:nvPr/>
        </p:nvSpPr>
        <p:spPr>
          <a:xfrm>
            <a:off x="8027349" y="3305781"/>
            <a:ext cx="1261207"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5A1B18E3-F2E7-7EB9-8C40-4B37E4CBE8E5}"/>
              </a:ext>
            </a:extLst>
          </p:cNvPr>
          <p:cNvSpPr/>
          <p:nvPr/>
        </p:nvSpPr>
        <p:spPr>
          <a:xfrm>
            <a:off x="7635219" y="5413714"/>
            <a:ext cx="1819333" cy="245454"/>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567D0FA7-BF4E-8F07-B15C-987A05FBE5CD}"/>
              </a:ext>
            </a:extLst>
          </p:cNvPr>
          <p:cNvSpPr/>
          <p:nvPr/>
        </p:nvSpPr>
        <p:spPr>
          <a:xfrm>
            <a:off x="8369718" y="5384905"/>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0EAD31EA-3E18-BDED-91C0-351E54E31FCA}"/>
              </a:ext>
            </a:extLst>
          </p:cNvPr>
          <p:cNvSpPr/>
          <p:nvPr/>
        </p:nvSpPr>
        <p:spPr>
          <a:xfrm>
            <a:off x="7635219" y="5644533"/>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B6B2ABC-1C71-B872-AE91-0FDF0267BE90}"/>
              </a:ext>
            </a:extLst>
          </p:cNvPr>
          <p:cNvSpPr/>
          <p:nvPr/>
        </p:nvSpPr>
        <p:spPr>
          <a:xfrm>
            <a:off x="8027349" y="5094599"/>
            <a:ext cx="1261207"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18510857-14E1-781E-7804-F63830E3066D}"/>
              </a:ext>
            </a:extLst>
          </p:cNvPr>
          <p:cNvSpPr txBox="1"/>
          <p:nvPr/>
        </p:nvSpPr>
        <p:spPr>
          <a:xfrm>
            <a:off x="173224" y="4255465"/>
            <a:ext cx="4306665" cy="369332"/>
          </a:xfrm>
          <a:prstGeom prst="rect">
            <a:avLst/>
          </a:prstGeom>
          <a:noFill/>
        </p:spPr>
        <p:txBody>
          <a:bodyPr wrap="square">
            <a:spAutoFit/>
          </a:bodyPr>
          <a:lstStyle/>
          <a:p>
            <a:pPr algn="ctr"/>
            <a:r>
              <a:rPr kumimoji="1" lang="en-US" altLang="ja-JP" dirty="0"/>
              <a:t>Al plating</a:t>
            </a:r>
            <a:endParaRPr lang="ja-JP" altLang="en-US" dirty="0"/>
          </a:p>
        </p:txBody>
      </p:sp>
      <p:sp>
        <p:nvSpPr>
          <p:cNvPr id="32" name="テキスト ボックス 31">
            <a:extLst>
              <a:ext uri="{FF2B5EF4-FFF2-40B4-BE49-F238E27FC236}">
                <a16:creationId xmlns:a16="http://schemas.microsoft.com/office/drawing/2014/main" id="{9E4C9302-D6D2-40E5-820C-AD7354708F1A}"/>
              </a:ext>
            </a:extLst>
          </p:cNvPr>
          <p:cNvSpPr txBox="1"/>
          <p:nvPr/>
        </p:nvSpPr>
        <p:spPr>
          <a:xfrm>
            <a:off x="2660556" y="4249760"/>
            <a:ext cx="4306665" cy="369332"/>
          </a:xfrm>
          <a:prstGeom prst="rect">
            <a:avLst/>
          </a:prstGeom>
          <a:noFill/>
        </p:spPr>
        <p:txBody>
          <a:bodyPr wrap="square">
            <a:spAutoFit/>
          </a:bodyPr>
          <a:lstStyle/>
          <a:p>
            <a:pPr algn="ctr"/>
            <a:r>
              <a:rPr kumimoji="1" lang="en-US" altLang="ja-JP" dirty="0"/>
              <a:t>Resist plating</a:t>
            </a:r>
            <a:endParaRPr lang="ja-JP" altLang="en-US" dirty="0"/>
          </a:p>
        </p:txBody>
      </p:sp>
      <p:sp>
        <p:nvSpPr>
          <p:cNvPr id="33" name="テキスト ボックス 32">
            <a:extLst>
              <a:ext uri="{FF2B5EF4-FFF2-40B4-BE49-F238E27FC236}">
                <a16:creationId xmlns:a16="http://schemas.microsoft.com/office/drawing/2014/main" id="{82A5902B-AFC4-0AC2-8E95-91ACEF5341FE}"/>
              </a:ext>
            </a:extLst>
          </p:cNvPr>
          <p:cNvSpPr txBox="1"/>
          <p:nvPr/>
        </p:nvSpPr>
        <p:spPr>
          <a:xfrm>
            <a:off x="5147888" y="4249760"/>
            <a:ext cx="4306665" cy="369332"/>
          </a:xfrm>
          <a:prstGeom prst="rect">
            <a:avLst/>
          </a:prstGeom>
          <a:noFill/>
        </p:spPr>
        <p:txBody>
          <a:bodyPr wrap="square">
            <a:spAutoFit/>
          </a:bodyPr>
          <a:lstStyle/>
          <a:p>
            <a:pPr algn="ctr"/>
            <a:r>
              <a:rPr kumimoji="1" lang="en-US" altLang="ja-JP" b="1" dirty="0">
                <a:solidFill>
                  <a:srgbClr val="FF0000"/>
                </a:solidFill>
              </a:rPr>
              <a:t>Etching</a:t>
            </a:r>
            <a:endParaRPr lang="ja-JP" altLang="en-US" b="1" dirty="0">
              <a:solidFill>
                <a:srgbClr val="FF0000"/>
              </a:solidFill>
            </a:endParaRPr>
          </a:p>
        </p:txBody>
      </p:sp>
      <p:sp>
        <p:nvSpPr>
          <p:cNvPr id="34" name="テキスト ボックス 33">
            <a:extLst>
              <a:ext uri="{FF2B5EF4-FFF2-40B4-BE49-F238E27FC236}">
                <a16:creationId xmlns:a16="http://schemas.microsoft.com/office/drawing/2014/main" id="{702E74ED-4F70-8F3B-3AF0-5EB753A7376B}"/>
              </a:ext>
            </a:extLst>
          </p:cNvPr>
          <p:cNvSpPr txBox="1"/>
          <p:nvPr/>
        </p:nvSpPr>
        <p:spPr>
          <a:xfrm>
            <a:off x="10457234" y="4731060"/>
            <a:ext cx="1734766" cy="369332"/>
          </a:xfrm>
          <a:prstGeom prst="rect">
            <a:avLst/>
          </a:prstGeom>
          <a:noFill/>
        </p:spPr>
        <p:txBody>
          <a:bodyPr wrap="square">
            <a:spAutoFit/>
          </a:bodyPr>
          <a:lstStyle/>
          <a:p>
            <a:pPr algn="r"/>
            <a:r>
              <a:rPr kumimoji="1" lang="en-US" altLang="ja-JP" dirty="0"/>
              <a:t>Resist remove</a:t>
            </a:r>
            <a:endParaRPr lang="ja-JP" altLang="en-US" dirty="0"/>
          </a:p>
        </p:txBody>
      </p:sp>
      <p:sp>
        <p:nvSpPr>
          <p:cNvPr id="36" name="正方形/長方形 35">
            <a:extLst>
              <a:ext uri="{FF2B5EF4-FFF2-40B4-BE49-F238E27FC236}">
                <a16:creationId xmlns:a16="http://schemas.microsoft.com/office/drawing/2014/main" id="{AB524F77-869F-DDE4-9407-143F5D57A16E}"/>
              </a:ext>
            </a:extLst>
          </p:cNvPr>
          <p:cNvSpPr/>
          <p:nvPr/>
        </p:nvSpPr>
        <p:spPr>
          <a:xfrm>
            <a:off x="173225" y="3582368"/>
            <a:ext cx="1819333" cy="287982"/>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93DC46C4-0D0E-BDBE-971A-896FD4124D1D}"/>
              </a:ext>
            </a:extLst>
          </p:cNvPr>
          <p:cNvSpPr/>
          <p:nvPr/>
        </p:nvSpPr>
        <p:spPr>
          <a:xfrm>
            <a:off x="907722" y="3582369"/>
            <a:ext cx="350335" cy="287982"/>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FB697CEA-E1B8-0DD8-33F3-3923C196D2BB}"/>
              </a:ext>
            </a:extLst>
          </p:cNvPr>
          <p:cNvSpPr/>
          <p:nvPr/>
        </p:nvSpPr>
        <p:spPr>
          <a:xfrm>
            <a:off x="2660557" y="330578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A0E0BCC6-7E13-1045-E55F-C9352D4FCDD1}"/>
              </a:ext>
            </a:extLst>
          </p:cNvPr>
          <p:cNvSpPr/>
          <p:nvPr/>
        </p:nvSpPr>
        <p:spPr>
          <a:xfrm>
            <a:off x="3395055" y="3596087"/>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0184F432-8F72-E21C-C25B-8C22154187E7}"/>
              </a:ext>
            </a:extLst>
          </p:cNvPr>
          <p:cNvSpPr/>
          <p:nvPr/>
        </p:nvSpPr>
        <p:spPr>
          <a:xfrm>
            <a:off x="2660555" y="3305781"/>
            <a:ext cx="1819332"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86F1DC53-259C-9CF6-A579-6A95D846A225}"/>
              </a:ext>
            </a:extLst>
          </p:cNvPr>
          <p:cNvSpPr/>
          <p:nvPr/>
        </p:nvSpPr>
        <p:spPr>
          <a:xfrm>
            <a:off x="5437762" y="3002005"/>
            <a:ext cx="1420237"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FB6218FB-268C-56CE-34F5-1230710F9855}"/>
              </a:ext>
            </a:extLst>
          </p:cNvPr>
          <p:cNvSpPr/>
          <p:nvPr/>
        </p:nvSpPr>
        <p:spPr>
          <a:xfrm>
            <a:off x="7947833" y="2986666"/>
            <a:ext cx="1420237"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1036C433-09FE-9482-B936-07C093B85121}"/>
              </a:ext>
            </a:extLst>
          </p:cNvPr>
          <p:cNvSpPr/>
          <p:nvPr/>
        </p:nvSpPr>
        <p:spPr>
          <a:xfrm>
            <a:off x="5147883" y="5093804"/>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9CD3302D-9127-0A4A-2809-E7DD518C562A}"/>
              </a:ext>
            </a:extLst>
          </p:cNvPr>
          <p:cNvSpPr/>
          <p:nvPr/>
        </p:nvSpPr>
        <p:spPr>
          <a:xfrm>
            <a:off x="5882382" y="5384110"/>
            <a:ext cx="350335" cy="274263"/>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6F2C43F4-2778-5DEE-FA6B-5E4CE0C42FF0}"/>
              </a:ext>
            </a:extLst>
          </p:cNvPr>
          <p:cNvSpPr/>
          <p:nvPr/>
        </p:nvSpPr>
        <p:spPr>
          <a:xfrm>
            <a:off x="5147883" y="5643738"/>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91886E32-4E90-8E4F-6882-F5359AEB56FF}"/>
              </a:ext>
            </a:extLst>
          </p:cNvPr>
          <p:cNvSpPr/>
          <p:nvPr/>
        </p:nvSpPr>
        <p:spPr>
          <a:xfrm>
            <a:off x="5540013" y="5093804"/>
            <a:ext cx="1261207" cy="319115"/>
          </a:xfrm>
          <a:prstGeom prst="rect">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矢印: U ターン 48">
            <a:extLst>
              <a:ext uri="{FF2B5EF4-FFF2-40B4-BE49-F238E27FC236}">
                <a16:creationId xmlns:a16="http://schemas.microsoft.com/office/drawing/2014/main" id="{91998C68-75C0-8F41-222F-121AF7669381}"/>
              </a:ext>
            </a:extLst>
          </p:cNvPr>
          <p:cNvSpPr/>
          <p:nvPr/>
        </p:nvSpPr>
        <p:spPr>
          <a:xfrm rot="5400000">
            <a:off x="9036585" y="4275139"/>
            <a:ext cx="2171925" cy="1053583"/>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0" name="テキスト ボックス 49">
            <a:extLst>
              <a:ext uri="{FF2B5EF4-FFF2-40B4-BE49-F238E27FC236}">
                <a16:creationId xmlns:a16="http://schemas.microsoft.com/office/drawing/2014/main" id="{F14C9315-2733-3AEA-C9DB-3883AD793AB8}"/>
              </a:ext>
            </a:extLst>
          </p:cNvPr>
          <p:cNvSpPr txBox="1"/>
          <p:nvPr/>
        </p:nvSpPr>
        <p:spPr>
          <a:xfrm>
            <a:off x="5147887" y="6136432"/>
            <a:ext cx="4306665" cy="369332"/>
          </a:xfrm>
          <a:prstGeom prst="rect">
            <a:avLst/>
          </a:prstGeom>
          <a:noFill/>
        </p:spPr>
        <p:txBody>
          <a:bodyPr wrap="square">
            <a:spAutoFit/>
          </a:bodyPr>
          <a:lstStyle/>
          <a:p>
            <a:pPr algn="ctr"/>
            <a:r>
              <a:rPr kumimoji="1" lang="en-US" altLang="ja-JP" dirty="0"/>
              <a:t>Interlayer material (Insulator) plating</a:t>
            </a:r>
            <a:endParaRPr lang="ja-JP" altLang="en-US" dirty="0"/>
          </a:p>
        </p:txBody>
      </p:sp>
      <p:sp>
        <p:nvSpPr>
          <p:cNvPr id="52" name="矢印: 右 51">
            <a:extLst>
              <a:ext uri="{FF2B5EF4-FFF2-40B4-BE49-F238E27FC236}">
                <a16:creationId xmlns:a16="http://schemas.microsoft.com/office/drawing/2014/main" id="{9CFD5430-8982-0544-232B-C6369BCF9BA8}"/>
              </a:ext>
            </a:extLst>
          </p:cNvPr>
          <p:cNvSpPr/>
          <p:nvPr/>
        </p:nvSpPr>
        <p:spPr>
          <a:xfrm>
            <a:off x="2124625" y="3465338"/>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矢印: 右 52">
            <a:extLst>
              <a:ext uri="{FF2B5EF4-FFF2-40B4-BE49-F238E27FC236}">
                <a16:creationId xmlns:a16="http://schemas.microsoft.com/office/drawing/2014/main" id="{63FB5916-C59B-489C-7816-8FE16C8C6686}"/>
              </a:ext>
            </a:extLst>
          </p:cNvPr>
          <p:cNvSpPr/>
          <p:nvPr/>
        </p:nvSpPr>
        <p:spPr>
          <a:xfrm>
            <a:off x="4611952" y="3456050"/>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矢印: 右 53">
            <a:extLst>
              <a:ext uri="{FF2B5EF4-FFF2-40B4-BE49-F238E27FC236}">
                <a16:creationId xmlns:a16="http://schemas.microsoft.com/office/drawing/2014/main" id="{11B43BB8-2F8C-02C8-B971-78147483BE45}"/>
              </a:ext>
            </a:extLst>
          </p:cNvPr>
          <p:cNvSpPr/>
          <p:nvPr/>
        </p:nvSpPr>
        <p:spPr>
          <a:xfrm>
            <a:off x="7099283" y="3465338"/>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矢印: 右 54">
            <a:extLst>
              <a:ext uri="{FF2B5EF4-FFF2-40B4-BE49-F238E27FC236}">
                <a16:creationId xmlns:a16="http://schemas.microsoft.com/office/drawing/2014/main" id="{84E9D8AD-C2D3-20B8-0621-95B6DB8A1E7D}"/>
              </a:ext>
            </a:extLst>
          </p:cNvPr>
          <p:cNvSpPr/>
          <p:nvPr/>
        </p:nvSpPr>
        <p:spPr>
          <a:xfrm rot="10800000">
            <a:off x="7099283" y="5266240"/>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コンテンツ プレースホルダー 4">
            <a:extLst>
              <a:ext uri="{FF2B5EF4-FFF2-40B4-BE49-F238E27FC236}">
                <a16:creationId xmlns:a16="http://schemas.microsoft.com/office/drawing/2014/main" id="{CD27571D-53ED-B348-671D-A37B85559210}"/>
              </a:ext>
            </a:extLst>
          </p:cNvPr>
          <p:cNvSpPr>
            <a:spLocks noGrp="1"/>
          </p:cNvSpPr>
          <p:nvPr>
            <p:ph sz="quarter" idx="13"/>
          </p:nvPr>
        </p:nvSpPr>
        <p:spPr>
          <a:xfrm>
            <a:off x="490728" y="1286144"/>
            <a:ext cx="11210543" cy="1764753"/>
          </a:xfrm>
        </p:spPr>
        <p:txBody>
          <a:bodyPr/>
          <a:lstStyle/>
          <a:p>
            <a:pPr marL="285750" indent="-285750">
              <a:buFont typeface="Arial" panose="020B0604020202020204" pitchFamily="34" charset="0"/>
              <a:buChar char="•"/>
            </a:pPr>
            <a:r>
              <a:rPr lang="en-US" altLang="ja-JP" sz="2000" dirty="0"/>
              <a:t>Al</a:t>
            </a:r>
            <a:r>
              <a:rPr lang="ja-JP" altLang="en-US" sz="2000" dirty="0"/>
              <a:t>と</a:t>
            </a:r>
            <a:r>
              <a:rPr lang="en-US" altLang="ja-JP" sz="2000" dirty="0"/>
              <a:t>Cu</a:t>
            </a:r>
            <a:r>
              <a:rPr lang="ja-JP" altLang="en-US" sz="2000" dirty="0"/>
              <a:t>でデザインルールが異なるのは、（一般論として）作り方が違うため</a:t>
            </a:r>
            <a:r>
              <a:rPr kumimoji="1" lang="ja-JP" altLang="en-US" sz="2000" dirty="0"/>
              <a:t>。</a:t>
            </a:r>
            <a:endParaRPr kumimoji="1" lang="en-US" altLang="ja-JP" sz="2000" dirty="0"/>
          </a:p>
          <a:p>
            <a:pPr marL="285750" indent="-285750">
              <a:buFont typeface="Arial" panose="020B0604020202020204" pitchFamily="34" charset="0"/>
              <a:buChar char="•"/>
            </a:pPr>
            <a:r>
              <a:rPr kumimoji="1" lang="ja-JP" altLang="en-US" sz="2000" b="1" dirty="0"/>
              <a:t>サブトラクティブプロセス：金属めっきにレジストを堆積してエッチング　（</a:t>
            </a:r>
            <a:r>
              <a:rPr kumimoji="1" lang="en-US" altLang="ja-JP" sz="2000" b="1" dirty="0"/>
              <a:t>Al</a:t>
            </a:r>
            <a:r>
              <a:rPr kumimoji="1" lang="ja-JP" altLang="en-US" sz="2000" b="1" dirty="0"/>
              <a:t>配線層）</a:t>
            </a:r>
            <a:endParaRPr kumimoji="1" lang="en-US" altLang="ja-JP" sz="2000" b="1" dirty="0"/>
          </a:p>
          <a:p>
            <a:pPr marL="285750" indent="-285750">
              <a:buFont typeface="Arial" panose="020B0604020202020204" pitchFamily="34" charset="0"/>
              <a:buChar char="•"/>
            </a:pPr>
            <a:r>
              <a:rPr kumimoji="1" lang="ja-JP" altLang="en-US" sz="2000" dirty="0"/>
              <a:t>ダマシンプロセス：絶縁物で型を</a:t>
            </a:r>
            <a:r>
              <a:rPr lang="ja-JP" altLang="en-US" sz="2000" dirty="0"/>
              <a:t>作って金属を流し込む　（</a:t>
            </a:r>
            <a:r>
              <a:rPr lang="en-US" altLang="ja-JP" sz="2000" dirty="0"/>
              <a:t>Cu</a:t>
            </a:r>
            <a:r>
              <a:rPr lang="ja-JP" altLang="en-US" sz="2000" dirty="0"/>
              <a:t>配線層）</a:t>
            </a:r>
            <a:endParaRPr lang="en-US" altLang="ja-JP" sz="2000" dirty="0"/>
          </a:p>
        </p:txBody>
      </p:sp>
    </p:spTree>
    <p:extLst>
      <p:ext uri="{BB962C8B-B14F-4D97-AF65-F5344CB8AC3E}">
        <p14:creationId xmlns:p14="http://schemas.microsoft.com/office/powerpoint/2010/main" val="23474900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F5BD-626D-2B77-026E-18CF6B316F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886B7D-BC5C-F3B9-4CA7-A84C1DDF48DC}"/>
              </a:ext>
            </a:extLst>
          </p:cNvPr>
          <p:cNvSpPr>
            <a:spLocks noGrp="1"/>
          </p:cNvSpPr>
          <p:nvPr>
            <p:ph type="title"/>
          </p:nvPr>
        </p:nvSpPr>
        <p:spPr/>
        <p:txBody>
          <a:bodyPr/>
          <a:lstStyle/>
          <a:p>
            <a:r>
              <a:rPr kumimoji="1" lang="ja-JP" altLang="en-US" dirty="0"/>
              <a:t>配線層ができるまで</a:t>
            </a:r>
            <a:endParaRPr lang="en-US" altLang="ja-JP" sz="2800" dirty="0"/>
          </a:p>
        </p:txBody>
      </p:sp>
      <p:sp>
        <p:nvSpPr>
          <p:cNvPr id="3" name="日付プレースホルダー 2">
            <a:extLst>
              <a:ext uri="{FF2B5EF4-FFF2-40B4-BE49-F238E27FC236}">
                <a16:creationId xmlns:a16="http://schemas.microsoft.com/office/drawing/2014/main" id="{6F05F51D-C8C2-DDC0-2F1F-31533AEEB1A1}"/>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3CE43CB6-EC73-CC28-354A-C2B303C2DE7F}"/>
              </a:ext>
            </a:extLst>
          </p:cNvPr>
          <p:cNvSpPr>
            <a:spLocks noGrp="1"/>
          </p:cNvSpPr>
          <p:nvPr>
            <p:ph type="sldNum" sz="quarter" idx="12"/>
          </p:nvPr>
        </p:nvSpPr>
        <p:spPr/>
        <p:txBody>
          <a:bodyPr/>
          <a:lstStyle/>
          <a:p>
            <a:pPr rtl="0"/>
            <a:fld id="{9860EDB8-5305-433F-BE41-D7A86D811DB3}" type="slidenum">
              <a:rPr lang="en-US" altLang="ja-JP" noProof="0" smtClean="0"/>
              <a:pPr rtl="0"/>
              <a:t>88</a:t>
            </a:fld>
            <a:endParaRPr lang="ja-JP" altLang="en-US" noProof="0"/>
          </a:p>
        </p:txBody>
      </p:sp>
      <p:sp>
        <p:nvSpPr>
          <p:cNvPr id="9" name="正方形/長方形 8">
            <a:extLst>
              <a:ext uri="{FF2B5EF4-FFF2-40B4-BE49-F238E27FC236}">
                <a16:creationId xmlns:a16="http://schemas.microsoft.com/office/drawing/2014/main" id="{50061B9A-9A05-2F4F-C4FB-93AE457F8F80}"/>
              </a:ext>
            </a:extLst>
          </p:cNvPr>
          <p:cNvSpPr/>
          <p:nvPr/>
        </p:nvSpPr>
        <p:spPr>
          <a:xfrm>
            <a:off x="2660560" y="3324224"/>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55E6A6AB-131D-DB08-3668-F0356CC21DF8}"/>
              </a:ext>
            </a:extLst>
          </p:cNvPr>
          <p:cNvSpPr/>
          <p:nvPr/>
        </p:nvSpPr>
        <p:spPr>
          <a:xfrm>
            <a:off x="2660559" y="3874158"/>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6ED42171-C374-A269-C7ED-46C09B8A0346}"/>
              </a:ext>
            </a:extLst>
          </p:cNvPr>
          <p:cNvSpPr/>
          <p:nvPr/>
        </p:nvSpPr>
        <p:spPr>
          <a:xfrm>
            <a:off x="173227" y="3868818"/>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bottom</a:t>
            </a:r>
            <a:endParaRPr kumimoji="1" lang="ja-JP" altLang="en-US" dirty="0"/>
          </a:p>
        </p:txBody>
      </p:sp>
      <p:sp>
        <p:nvSpPr>
          <p:cNvPr id="13" name="正方形/長方形 12">
            <a:extLst>
              <a:ext uri="{FF2B5EF4-FFF2-40B4-BE49-F238E27FC236}">
                <a16:creationId xmlns:a16="http://schemas.microsoft.com/office/drawing/2014/main" id="{4C4A5B72-BA0A-24AD-C17E-F2BA81168786}"/>
              </a:ext>
            </a:extLst>
          </p:cNvPr>
          <p:cNvSpPr/>
          <p:nvPr/>
        </p:nvSpPr>
        <p:spPr>
          <a:xfrm>
            <a:off x="7635554" y="510676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6E1263E3-A8A4-7B2A-3A3E-D9168FE394DE}"/>
              </a:ext>
            </a:extLst>
          </p:cNvPr>
          <p:cNvSpPr/>
          <p:nvPr/>
        </p:nvSpPr>
        <p:spPr>
          <a:xfrm>
            <a:off x="8370052" y="5397067"/>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924569DF-8399-C376-0C17-16EE673BF188}"/>
              </a:ext>
            </a:extLst>
          </p:cNvPr>
          <p:cNvSpPr/>
          <p:nvPr/>
        </p:nvSpPr>
        <p:spPr>
          <a:xfrm>
            <a:off x="7635553" y="565669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F6ED7DA7-7F9D-1B3C-6DBF-3B6D97D1B6F6}"/>
              </a:ext>
            </a:extLst>
          </p:cNvPr>
          <p:cNvSpPr/>
          <p:nvPr/>
        </p:nvSpPr>
        <p:spPr>
          <a:xfrm>
            <a:off x="8027684" y="5106761"/>
            <a:ext cx="1261207" cy="319115"/>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3E849F9-6963-962A-8F5B-60CB67603E82}"/>
              </a:ext>
            </a:extLst>
          </p:cNvPr>
          <p:cNvSpPr/>
          <p:nvPr/>
        </p:nvSpPr>
        <p:spPr>
          <a:xfrm>
            <a:off x="5156180" y="5106759"/>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C3BCDBE-0358-4859-9000-4B4C14B08DE0}"/>
              </a:ext>
            </a:extLst>
          </p:cNvPr>
          <p:cNvSpPr/>
          <p:nvPr/>
        </p:nvSpPr>
        <p:spPr>
          <a:xfrm>
            <a:off x="5890678" y="5397065"/>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890EFE99-9C71-B9E1-9AF1-146014A9457B}"/>
              </a:ext>
            </a:extLst>
          </p:cNvPr>
          <p:cNvSpPr/>
          <p:nvPr/>
        </p:nvSpPr>
        <p:spPr>
          <a:xfrm>
            <a:off x="5156179" y="5656693"/>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741679F-8830-226D-90A4-5901ED1BC497}"/>
              </a:ext>
            </a:extLst>
          </p:cNvPr>
          <p:cNvSpPr/>
          <p:nvPr/>
        </p:nvSpPr>
        <p:spPr>
          <a:xfrm>
            <a:off x="5548309" y="5106759"/>
            <a:ext cx="1261207" cy="319115"/>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リーフォーム: 図形 21">
            <a:extLst>
              <a:ext uri="{FF2B5EF4-FFF2-40B4-BE49-F238E27FC236}">
                <a16:creationId xmlns:a16="http://schemas.microsoft.com/office/drawing/2014/main" id="{B2FBCC0A-EABA-C8D4-9F8A-7C2C1F03BCB5}"/>
              </a:ext>
            </a:extLst>
          </p:cNvPr>
          <p:cNvSpPr/>
          <p:nvPr/>
        </p:nvSpPr>
        <p:spPr>
          <a:xfrm>
            <a:off x="5156176" y="4618996"/>
            <a:ext cx="1819332" cy="526374"/>
          </a:xfrm>
          <a:custGeom>
            <a:avLst/>
            <a:gdLst>
              <a:gd name="connsiteX0" fmla="*/ 0 w 2064190"/>
              <a:gd name="connsiteY0" fmla="*/ 679010 h 679010"/>
              <a:gd name="connsiteX1" fmla="*/ 27160 w 2064190"/>
              <a:gd name="connsiteY1" fmla="*/ 633743 h 679010"/>
              <a:gd name="connsiteX2" fmla="*/ 126748 w 2064190"/>
              <a:gd name="connsiteY2" fmla="*/ 543208 h 679010"/>
              <a:gd name="connsiteX3" fmla="*/ 162962 w 2064190"/>
              <a:gd name="connsiteY3" fmla="*/ 506994 h 679010"/>
              <a:gd name="connsiteX4" fmla="*/ 217283 w 2064190"/>
              <a:gd name="connsiteY4" fmla="*/ 488887 h 679010"/>
              <a:gd name="connsiteX5" fmla="*/ 316871 w 2064190"/>
              <a:gd name="connsiteY5" fmla="*/ 425513 h 679010"/>
              <a:gd name="connsiteX6" fmla="*/ 416459 w 2064190"/>
              <a:gd name="connsiteY6" fmla="*/ 289711 h 679010"/>
              <a:gd name="connsiteX7" fmla="*/ 479833 w 2064190"/>
              <a:gd name="connsiteY7" fmla="*/ 217283 h 679010"/>
              <a:gd name="connsiteX8" fmla="*/ 516047 w 2064190"/>
              <a:gd name="connsiteY8" fmla="*/ 172016 h 679010"/>
              <a:gd name="connsiteX9" fmla="*/ 552261 w 2064190"/>
              <a:gd name="connsiteY9" fmla="*/ 144855 h 679010"/>
              <a:gd name="connsiteX10" fmla="*/ 579422 w 2064190"/>
              <a:gd name="connsiteY10" fmla="*/ 117695 h 679010"/>
              <a:gd name="connsiteX11" fmla="*/ 633742 w 2064190"/>
              <a:gd name="connsiteY11" fmla="*/ 99588 h 679010"/>
              <a:gd name="connsiteX12" fmla="*/ 733331 w 2064190"/>
              <a:gd name="connsiteY12" fmla="*/ 54321 h 679010"/>
              <a:gd name="connsiteX13" fmla="*/ 823865 w 2064190"/>
              <a:gd name="connsiteY13" fmla="*/ 36214 h 679010"/>
              <a:gd name="connsiteX14" fmla="*/ 860079 w 2064190"/>
              <a:gd name="connsiteY14" fmla="*/ 27160 h 679010"/>
              <a:gd name="connsiteX15" fmla="*/ 905346 w 2064190"/>
              <a:gd name="connsiteY15" fmla="*/ 9054 h 679010"/>
              <a:gd name="connsiteX16" fmla="*/ 986828 w 2064190"/>
              <a:gd name="connsiteY16" fmla="*/ 0 h 679010"/>
              <a:gd name="connsiteX17" fmla="*/ 1195057 w 2064190"/>
              <a:gd name="connsiteY17" fmla="*/ 18107 h 679010"/>
              <a:gd name="connsiteX18" fmla="*/ 1321806 w 2064190"/>
              <a:gd name="connsiteY18" fmla="*/ 36214 h 679010"/>
              <a:gd name="connsiteX19" fmla="*/ 1394233 w 2064190"/>
              <a:gd name="connsiteY19" fmla="*/ 54321 h 679010"/>
              <a:gd name="connsiteX20" fmla="*/ 1511929 w 2064190"/>
              <a:gd name="connsiteY20" fmla="*/ 99588 h 679010"/>
              <a:gd name="connsiteX21" fmla="*/ 1548142 w 2064190"/>
              <a:gd name="connsiteY21" fmla="*/ 117695 h 679010"/>
              <a:gd name="connsiteX22" fmla="*/ 1620570 w 2064190"/>
              <a:gd name="connsiteY22" fmla="*/ 162962 h 679010"/>
              <a:gd name="connsiteX23" fmla="*/ 1656784 w 2064190"/>
              <a:gd name="connsiteY23" fmla="*/ 190123 h 679010"/>
              <a:gd name="connsiteX24" fmla="*/ 1683944 w 2064190"/>
              <a:gd name="connsiteY24" fmla="*/ 208230 h 679010"/>
              <a:gd name="connsiteX25" fmla="*/ 1756372 w 2064190"/>
              <a:gd name="connsiteY25" fmla="*/ 262551 h 679010"/>
              <a:gd name="connsiteX26" fmla="*/ 1783532 w 2064190"/>
              <a:gd name="connsiteY26" fmla="*/ 316871 h 679010"/>
              <a:gd name="connsiteX27" fmla="*/ 1810693 w 2064190"/>
              <a:gd name="connsiteY27" fmla="*/ 344032 h 679010"/>
              <a:gd name="connsiteX28" fmla="*/ 1819746 w 2064190"/>
              <a:gd name="connsiteY28" fmla="*/ 380246 h 679010"/>
              <a:gd name="connsiteX29" fmla="*/ 1837853 w 2064190"/>
              <a:gd name="connsiteY29" fmla="*/ 407406 h 679010"/>
              <a:gd name="connsiteX30" fmla="*/ 1846907 w 2064190"/>
              <a:gd name="connsiteY30" fmla="*/ 461727 h 679010"/>
              <a:gd name="connsiteX31" fmla="*/ 1910281 w 2064190"/>
              <a:gd name="connsiteY31" fmla="*/ 506994 h 679010"/>
              <a:gd name="connsiteX32" fmla="*/ 1937441 w 2064190"/>
              <a:gd name="connsiteY32" fmla="*/ 534155 h 679010"/>
              <a:gd name="connsiteX33" fmla="*/ 2000816 w 2064190"/>
              <a:gd name="connsiteY33" fmla="*/ 543208 h 679010"/>
              <a:gd name="connsiteX34" fmla="*/ 2046083 w 2064190"/>
              <a:gd name="connsiteY34" fmla="*/ 597529 h 679010"/>
              <a:gd name="connsiteX35" fmla="*/ 2064190 w 2064190"/>
              <a:gd name="connsiteY35" fmla="*/ 651850 h 6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064190" h="679010">
                <a:moveTo>
                  <a:pt x="0" y="679010"/>
                </a:moveTo>
                <a:cubicBezTo>
                  <a:pt x="9053" y="663921"/>
                  <a:pt x="16017" y="647362"/>
                  <a:pt x="27160" y="633743"/>
                </a:cubicBezTo>
                <a:cubicBezTo>
                  <a:pt x="72883" y="577859"/>
                  <a:pt x="78284" y="586287"/>
                  <a:pt x="126748" y="543208"/>
                </a:cubicBezTo>
                <a:cubicBezTo>
                  <a:pt x="139507" y="531866"/>
                  <a:pt x="148323" y="515777"/>
                  <a:pt x="162962" y="506994"/>
                </a:cubicBezTo>
                <a:cubicBezTo>
                  <a:pt x="179328" y="497174"/>
                  <a:pt x="199665" y="496228"/>
                  <a:pt x="217283" y="488887"/>
                </a:cubicBezTo>
                <a:cubicBezTo>
                  <a:pt x="262025" y="470245"/>
                  <a:pt x="281436" y="457995"/>
                  <a:pt x="316871" y="425513"/>
                </a:cubicBezTo>
                <a:cubicBezTo>
                  <a:pt x="418679" y="332188"/>
                  <a:pt x="349403" y="398676"/>
                  <a:pt x="416459" y="289711"/>
                </a:cubicBezTo>
                <a:cubicBezTo>
                  <a:pt x="444535" y="244088"/>
                  <a:pt x="449702" y="251719"/>
                  <a:pt x="479833" y="217283"/>
                </a:cubicBezTo>
                <a:cubicBezTo>
                  <a:pt x="492558" y="202741"/>
                  <a:pt x="502383" y="185680"/>
                  <a:pt x="516047" y="172016"/>
                </a:cubicBezTo>
                <a:cubicBezTo>
                  <a:pt x="526717" y="161346"/>
                  <a:pt x="540804" y="154675"/>
                  <a:pt x="552261" y="144855"/>
                </a:cubicBezTo>
                <a:cubicBezTo>
                  <a:pt x="561982" y="136523"/>
                  <a:pt x="568230" y="123913"/>
                  <a:pt x="579422" y="117695"/>
                </a:cubicBezTo>
                <a:cubicBezTo>
                  <a:pt x="596106" y="108426"/>
                  <a:pt x="616124" y="106929"/>
                  <a:pt x="633742" y="99588"/>
                </a:cubicBezTo>
                <a:cubicBezTo>
                  <a:pt x="707620" y="68806"/>
                  <a:pt x="665236" y="77020"/>
                  <a:pt x="733331" y="54321"/>
                </a:cubicBezTo>
                <a:cubicBezTo>
                  <a:pt x="764883" y="43803"/>
                  <a:pt x="790420" y="42903"/>
                  <a:pt x="823865" y="36214"/>
                </a:cubicBezTo>
                <a:cubicBezTo>
                  <a:pt x="836066" y="33774"/>
                  <a:pt x="848275" y="31095"/>
                  <a:pt x="860079" y="27160"/>
                </a:cubicBezTo>
                <a:cubicBezTo>
                  <a:pt x="875496" y="22021"/>
                  <a:pt x="889455" y="12459"/>
                  <a:pt x="905346" y="9054"/>
                </a:cubicBezTo>
                <a:cubicBezTo>
                  <a:pt x="932067" y="3328"/>
                  <a:pt x="959667" y="3018"/>
                  <a:pt x="986828" y="0"/>
                </a:cubicBezTo>
                <a:cubicBezTo>
                  <a:pt x="1212785" y="13292"/>
                  <a:pt x="1070854" y="-523"/>
                  <a:pt x="1195057" y="18107"/>
                </a:cubicBezTo>
                <a:cubicBezTo>
                  <a:pt x="1237263" y="24438"/>
                  <a:pt x="1280402" y="25863"/>
                  <a:pt x="1321806" y="36214"/>
                </a:cubicBezTo>
                <a:cubicBezTo>
                  <a:pt x="1345948" y="42250"/>
                  <a:pt x="1370624" y="46452"/>
                  <a:pt x="1394233" y="54321"/>
                </a:cubicBezTo>
                <a:cubicBezTo>
                  <a:pt x="1443476" y="70734"/>
                  <a:pt x="1442347" y="69767"/>
                  <a:pt x="1511929" y="99588"/>
                </a:cubicBezTo>
                <a:cubicBezTo>
                  <a:pt x="1524334" y="104904"/>
                  <a:pt x="1536344" y="111141"/>
                  <a:pt x="1548142" y="117695"/>
                </a:cubicBezTo>
                <a:cubicBezTo>
                  <a:pt x="1567180" y="128272"/>
                  <a:pt x="1600757" y="148809"/>
                  <a:pt x="1620570" y="162962"/>
                </a:cubicBezTo>
                <a:cubicBezTo>
                  <a:pt x="1632849" y="171733"/>
                  <a:pt x="1644505" y="181352"/>
                  <a:pt x="1656784" y="190123"/>
                </a:cubicBezTo>
                <a:cubicBezTo>
                  <a:pt x="1665638" y="196447"/>
                  <a:pt x="1675239" y="201702"/>
                  <a:pt x="1683944" y="208230"/>
                </a:cubicBezTo>
                <a:cubicBezTo>
                  <a:pt x="1769966" y="272747"/>
                  <a:pt x="1694970" y="221616"/>
                  <a:pt x="1756372" y="262551"/>
                </a:cubicBezTo>
                <a:cubicBezTo>
                  <a:pt x="1765425" y="280658"/>
                  <a:pt x="1772303" y="300027"/>
                  <a:pt x="1783532" y="316871"/>
                </a:cubicBezTo>
                <a:cubicBezTo>
                  <a:pt x="1790634" y="327524"/>
                  <a:pt x="1804341" y="332915"/>
                  <a:pt x="1810693" y="344032"/>
                </a:cubicBezTo>
                <a:cubicBezTo>
                  <a:pt x="1816866" y="354835"/>
                  <a:pt x="1814845" y="368809"/>
                  <a:pt x="1819746" y="380246"/>
                </a:cubicBezTo>
                <a:cubicBezTo>
                  <a:pt x="1824032" y="390247"/>
                  <a:pt x="1831817" y="398353"/>
                  <a:pt x="1837853" y="407406"/>
                </a:cubicBezTo>
                <a:cubicBezTo>
                  <a:pt x="1840871" y="425513"/>
                  <a:pt x="1837992" y="445680"/>
                  <a:pt x="1846907" y="461727"/>
                </a:cubicBezTo>
                <a:cubicBezTo>
                  <a:pt x="1852530" y="471848"/>
                  <a:pt x="1898903" y="497512"/>
                  <a:pt x="1910281" y="506994"/>
                </a:cubicBezTo>
                <a:cubicBezTo>
                  <a:pt x="1920117" y="515191"/>
                  <a:pt x="1925553" y="529400"/>
                  <a:pt x="1937441" y="534155"/>
                </a:cubicBezTo>
                <a:cubicBezTo>
                  <a:pt x="1957254" y="542080"/>
                  <a:pt x="1979691" y="540190"/>
                  <a:pt x="2000816" y="543208"/>
                </a:cubicBezTo>
                <a:cubicBezTo>
                  <a:pt x="2014907" y="557299"/>
                  <a:pt x="2038520" y="577361"/>
                  <a:pt x="2046083" y="597529"/>
                </a:cubicBezTo>
                <a:cubicBezTo>
                  <a:pt x="2069820" y="660828"/>
                  <a:pt x="2040415" y="628075"/>
                  <a:pt x="2064190" y="651850"/>
                </a:cubicBezTo>
              </a:path>
            </a:pathLst>
          </a:custGeom>
          <a:solidFill>
            <a:srgbClr val="D24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F07B5A76-0F01-5784-C71A-AF5EFDCF2B47}"/>
              </a:ext>
            </a:extLst>
          </p:cNvPr>
          <p:cNvSpPr/>
          <p:nvPr/>
        </p:nvSpPr>
        <p:spPr>
          <a:xfrm>
            <a:off x="2660559" y="5094404"/>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577FB6A-DCCD-F029-86A0-96E755AE9DD5}"/>
              </a:ext>
            </a:extLst>
          </p:cNvPr>
          <p:cNvSpPr/>
          <p:nvPr/>
        </p:nvSpPr>
        <p:spPr>
          <a:xfrm>
            <a:off x="3395058" y="5384710"/>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94C11344-BA3D-337D-270B-4FE1E907155D}"/>
              </a:ext>
            </a:extLst>
          </p:cNvPr>
          <p:cNvSpPr/>
          <p:nvPr/>
        </p:nvSpPr>
        <p:spPr>
          <a:xfrm>
            <a:off x="2660559" y="5644338"/>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8388AF40-0A3C-C457-FF36-B411091E9A6F}"/>
              </a:ext>
            </a:extLst>
          </p:cNvPr>
          <p:cNvSpPr/>
          <p:nvPr/>
        </p:nvSpPr>
        <p:spPr>
          <a:xfrm>
            <a:off x="3052689" y="5094404"/>
            <a:ext cx="1261207" cy="319115"/>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0AC68FA0-0153-7BF7-B4EF-48A2C13A6C2E}"/>
              </a:ext>
            </a:extLst>
          </p:cNvPr>
          <p:cNvSpPr txBox="1"/>
          <p:nvPr/>
        </p:nvSpPr>
        <p:spPr>
          <a:xfrm>
            <a:off x="173227" y="4272709"/>
            <a:ext cx="4306665" cy="369332"/>
          </a:xfrm>
          <a:prstGeom prst="rect">
            <a:avLst/>
          </a:prstGeom>
          <a:noFill/>
        </p:spPr>
        <p:txBody>
          <a:bodyPr wrap="square">
            <a:spAutoFit/>
          </a:bodyPr>
          <a:lstStyle/>
          <a:p>
            <a:pPr algn="ctr"/>
            <a:r>
              <a:rPr kumimoji="1" lang="en-US" altLang="ja-JP" dirty="0"/>
              <a:t>Insulator plating</a:t>
            </a:r>
            <a:endParaRPr lang="ja-JP" altLang="en-US" dirty="0"/>
          </a:p>
        </p:txBody>
      </p:sp>
      <p:sp>
        <p:nvSpPr>
          <p:cNvPr id="32" name="テキスト ボックス 31">
            <a:extLst>
              <a:ext uri="{FF2B5EF4-FFF2-40B4-BE49-F238E27FC236}">
                <a16:creationId xmlns:a16="http://schemas.microsoft.com/office/drawing/2014/main" id="{91A16D08-D972-1645-8C5F-F16C7567B8B8}"/>
              </a:ext>
            </a:extLst>
          </p:cNvPr>
          <p:cNvSpPr txBox="1"/>
          <p:nvPr/>
        </p:nvSpPr>
        <p:spPr>
          <a:xfrm>
            <a:off x="2660559" y="4267004"/>
            <a:ext cx="4306665" cy="369332"/>
          </a:xfrm>
          <a:prstGeom prst="rect">
            <a:avLst/>
          </a:prstGeom>
          <a:noFill/>
        </p:spPr>
        <p:txBody>
          <a:bodyPr wrap="square">
            <a:spAutoFit/>
          </a:bodyPr>
          <a:lstStyle/>
          <a:p>
            <a:pPr algn="ctr"/>
            <a:r>
              <a:rPr kumimoji="1" lang="en-US" altLang="ja-JP" dirty="0"/>
              <a:t>Resist plating</a:t>
            </a:r>
            <a:endParaRPr lang="ja-JP" altLang="en-US" dirty="0"/>
          </a:p>
        </p:txBody>
      </p:sp>
      <p:sp>
        <p:nvSpPr>
          <p:cNvPr id="35" name="正方形/長方形 34">
            <a:extLst>
              <a:ext uri="{FF2B5EF4-FFF2-40B4-BE49-F238E27FC236}">
                <a16:creationId xmlns:a16="http://schemas.microsoft.com/office/drawing/2014/main" id="{07988DA0-FFE1-4D7A-31C7-D0A3FA3AE42F}"/>
              </a:ext>
            </a:extLst>
          </p:cNvPr>
          <p:cNvSpPr/>
          <p:nvPr/>
        </p:nvSpPr>
        <p:spPr>
          <a:xfrm>
            <a:off x="5147874" y="332290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D82DC2CA-B3D1-F780-B1F5-365862E32338}"/>
              </a:ext>
            </a:extLst>
          </p:cNvPr>
          <p:cNvSpPr/>
          <p:nvPr/>
        </p:nvSpPr>
        <p:spPr>
          <a:xfrm>
            <a:off x="5882372" y="3613207"/>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2A1CD4E3-4D3A-A961-32FF-72F18C921FD1}"/>
              </a:ext>
            </a:extLst>
          </p:cNvPr>
          <p:cNvSpPr/>
          <p:nvPr/>
        </p:nvSpPr>
        <p:spPr>
          <a:xfrm>
            <a:off x="5147873" y="387283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9E6D140B-ED50-6CFC-F5F4-C05CD1E35355}"/>
              </a:ext>
            </a:extLst>
          </p:cNvPr>
          <p:cNvSpPr/>
          <p:nvPr/>
        </p:nvSpPr>
        <p:spPr>
          <a:xfrm>
            <a:off x="5147873" y="3006006"/>
            <a:ext cx="392131"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7AA13BED-D49A-405F-CBE1-4FCFB9A11758}"/>
              </a:ext>
            </a:extLst>
          </p:cNvPr>
          <p:cNvSpPr/>
          <p:nvPr/>
        </p:nvSpPr>
        <p:spPr>
          <a:xfrm>
            <a:off x="6801211" y="3014468"/>
            <a:ext cx="165995"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96B0C012-D7D7-05E2-A01C-434D9C308737}"/>
              </a:ext>
            </a:extLst>
          </p:cNvPr>
          <p:cNvSpPr/>
          <p:nvPr/>
        </p:nvSpPr>
        <p:spPr>
          <a:xfrm>
            <a:off x="7635204" y="3306171"/>
            <a:ext cx="1819333" cy="564569"/>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EA83550F-E685-8FC8-9350-3942C8A74BFD}"/>
              </a:ext>
            </a:extLst>
          </p:cNvPr>
          <p:cNvSpPr/>
          <p:nvPr/>
        </p:nvSpPr>
        <p:spPr>
          <a:xfrm>
            <a:off x="8369702" y="3596477"/>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4BFC87B3-B16A-2AD9-3916-56CB9E1B5D23}"/>
              </a:ext>
            </a:extLst>
          </p:cNvPr>
          <p:cNvSpPr/>
          <p:nvPr/>
        </p:nvSpPr>
        <p:spPr>
          <a:xfrm>
            <a:off x="7635203" y="3856105"/>
            <a:ext cx="1819333" cy="410899"/>
          </a:xfrm>
          <a:prstGeom prst="rect">
            <a:avLst/>
          </a:prstGeom>
          <a:solidFill>
            <a:schemeClr val="tx1">
              <a:lumMod val="50000"/>
              <a:lumOff val="50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0EA44903-DE03-99B1-C367-7851240F14EE}"/>
              </a:ext>
            </a:extLst>
          </p:cNvPr>
          <p:cNvSpPr/>
          <p:nvPr/>
        </p:nvSpPr>
        <p:spPr>
          <a:xfrm>
            <a:off x="8027334" y="3306171"/>
            <a:ext cx="1261207" cy="319115"/>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C5341628-86D3-208F-57A5-046D734CA12A}"/>
              </a:ext>
            </a:extLst>
          </p:cNvPr>
          <p:cNvSpPr/>
          <p:nvPr/>
        </p:nvSpPr>
        <p:spPr>
          <a:xfrm>
            <a:off x="7627235" y="3001149"/>
            <a:ext cx="392131"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FD579C40-9D24-E111-F019-41B61786C9C0}"/>
              </a:ext>
            </a:extLst>
          </p:cNvPr>
          <p:cNvSpPr/>
          <p:nvPr/>
        </p:nvSpPr>
        <p:spPr>
          <a:xfrm>
            <a:off x="9280573" y="3009611"/>
            <a:ext cx="165995" cy="319115"/>
          </a:xfrm>
          <a:prstGeom prst="rect">
            <a:avLst/>
          </a:prstGeom>
          <a:solidFill>
            <a:srgbClr val="0070C0"/>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矢印: 右 70">
            <a:extLst>
              <a:ext uri="{FF2B5EF4-FFF2-40B4-BE49-F238E27FC236}">
                <a16:creationId xmlns:a16="http://schemas.microsoft.com/office/drawing/2014/main" id="{58428894-6BA6-B3CF-2187-538C184B7026}"/>
              </a:ext>
            </a:extLst>
          </p:cNvPr>
          <p:cNvSpPr/>
          <p:nvPr/>
        </p:nvSpPr>
        <p:spPr>
          <a:xfrm>
            <a:off x="2124625" y="3475848"/>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矢印: 右 71">
            <a:extLst>
              <a:ext uri="{FF2B5EF4-FFF2-40B4-BE49-F238E27FC236}">
                <a16:creationId xmlns:a16="http://schemas.microsoft.com/office/drawing/2014/main" id="{AA7475E8-9000-4559-C561-67ABF34FE1E2}"/>
              </a:ext>
            </a:extLst>
          </p:cNvPr>
          <p:cNvSpPr/>
          <p:nvPr/>
        </p:nvSpPr>
        <p:spPr>
          <a:xfrm>
            <a:off x="4611952" y="3466560"/>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矢印: 右 72">
            <a:extLst>
              <a:ext uri="{FF2B5EF4-FFF2-40B4-BE49-F238E27FC236}">
                <a16:creationId xmlns:a16="http://schemas.microsoft.com/office/drawing/2014/main" id="{50E00C27-FA52-567E-BEB2-AD6139D5CF3A}"/>
              </a:ext>
            </a:extLst>
          </p:cNvPr>
          <p:cNvSpPr/>
          <p:nvPr/>
        </p:nvSpPr>
        <p:spPr>
          <a:xfrm rot="10800000">
            <a:off x="4612287" y="5140219"/>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矢印: 右 75">
            <a:extLst>
              <a:ext uri="{FF2B5EF4-FFF2-40B4-BE49-F238E27FC236}">
                <a16:creationId xmlns:a16="http://schemas.microsoft.com/office/drawing/2014/main" id="{C83F92FB-44B3-48CF-EC25-72FF1CBAD76E}"/>
              </a:ext>
            </a:extLst>
          </p:cNvPr>
          <p:cNvSpPr/>
          <p:nvPr/>
        </p:nvSpPr>
        <p:spPr>
          <a:xfrm rot="10800000">
            <a:off x="7099283" y="5131647"/>
            <a:ext cx="403862" cy="54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2291F10-F523-1F83-5961-04AF77E2066B}"/>
              </a:ext>
            </a:extLst>
          </p:cNvPr>
          <p:cNvSpPr txBox="1"/>
          <p:nvPr/>
        </p:nvSpPr>
        <p:spPr>
          <a:xfrm>
            <a:off x="5156176" y="6065499"/>
            <a:ext cx="4306665" cy="369332"/>
          </a:xfrm>
          <a:prstGeom prst="rect">
            <a:avLst/>
          </a:prstGeom>
          <a:noFill/>
        </p:spPr>
        <p:txBody>
          <a:bodyPr wrap="square">
            <a:spAutoFit/>
          </a:bodyPr>
          <a:lstStyle/>
          <a:p>
            <a:pPr algn="ctr"/>
            <a:r>
              <a:rPr kumimoji="1" lang="en-US" altLang="ja-JP" dirty="0"/>
              <a:t>Cu</a:t>
            </a:r>
            <a:r>
              <a:rPr kumimoji="1" lang="ja-JP" altLang="en-US" dirty="0"/>
              <a:t> </a:t>
            </a:r>
            <a:r>
              <a:rPr kumimoji="1" lang="en-US" altLang="ja-JP" dirty="0"/>
              <a:t>plating</a:t>
            </a:r>
            <a:endParaRPr lang="ja-JP" altLang="en-US" dirty="0"/>
          </a:p>
        </p:txBody>
      </p:sp>
      <p:sp>
        <p:nvSpPr>
          <p:cNvPr id="11" name="テキスト ボックス 10">
            <a:extLst>
              <a:ext uri="{FF2B5EF4-FFF2-40B4-BE49-F238E27FC236}">
                <a16:creationId xmlns:a16="http://schemas.microsoft.com/office/drawing/2014/main" id="{52C249B2-FA24-4769-156D-EB2DD3287211}"/>
              </a:ext>
            </a:extLst>
          </p:cNvPr>
          <p:cNvSpPr txBox="1"/>
          <p:nvPr/>
        </p:nvSpPr>
        <p:spPr>
          <a:xfrm>
            <a:off x="2660559" y="6061016"/>
            <a:ext cx="4306665" cy="369332"/>
          </a:xfrm>
          <a:prstGeom prst="rect">
            <a:avLst/>
          </a:prstGeom>
          <a:noFill/>
        </p:spPr>
        <p:txBody>
          <a:bodyPr wrap="square">
            <a:spAutoFit/>
          </a:bodyPr>
          <a:lstStyle/>
          <a:p>
            <a:pPr algn="ctr"/>
            <a:r>
              <a:rPr kumimoji="1" lang="en-US" altLang="ja-JP" dirty="0"/>
              <a:t>Polishing (CMP)</a:t>
            </a:r>
            <a:endParaRPr lang="ja-JP" altLang="en-US" dirty="0"/>
          </a:p>
        </p:txBody>
      </p:sp>
      <p:sp>
        <p:nvSpPr>
          <p:cNvPr id="12" name="テキスト ボックス 11">
            <a:extLst>
              <a:ext uri="{FF2B5EF4-FFF2-40B4-BE49-F238E27FC236}">
                <a16:creationId xmlns:a16="http://schemas.microsoft.com/office/drawing/2014/main" id="{BF55DD03-5461-9987-6F37-7CE2F7A6116E}"/>
              </a:ext>
            </a:extLst>
          </p:cNvPr>
          <p:cNvSpPr txBox="1"/>
          <p:nvPr/>
        </p:nvSpPr>
        <p:spPr>
          <a:xfrm>
            <a:off x="5147891" y="4302162"/>
            <a:ext cx="4298678" cy="369332"/>
          </a:xfrm>
          <a:prstGeom prst="rect">
            <a:avLst/>
          </a:prstGeom>
          <a:noFill/>
        </p:spPr>
        <p:txBody>
          <a:bodyPr wrap="square">
            <a:spAutoFit/>
          </a:bodyPr>
          <a:lstStyle/>
          <a:p>
            <a:pPr algn="ctr"/>
            <a:r>
              <a:rPr kumimoji="1" lang="en-US" altLang="ja-JP" b="1" dirty="0">
                <a:solidFill>
                  <a:srgbClr val="FF0000"/>
                </a:solidFill>
              </a:rPr>
              <a:t>Etching</a:t>
            </a:r>
            <a:endParaRPr lang="ja-JP" altLang="en-US" b="1" dirty="0">
              <a:solidFill>
                <a:srgbClr val="FF0000"/>
              </a:solidFill>
            </a:endParaRPr>
          </a:p>
        </p:txBody>
      </p:sp>
      <p:sp>
        <p:nvSpPr>
          <p:cNvPr id="30" name="正方形/長方形 29">
            <a:extLst>
              <a:ext uri="{FF2B5EF4-FFF2-40B4-BE49-F238E27FC236}">
                <a16:creationId xmlns:a16="http://schemas.microsoft.com/office/drawing/2014/main" id="{20C3E7E0-8CF5-8973-5B46-BEFDAF2BC7ED}"/>
              </a:ext>
            </a:extLst>
          </p:cNvPr>
          <p:cNvSpPr/>
          <p:nvPr/>
        </p:nvSpPr>
        <p:spPr>
          <a:xfrm>
            <a:off x="166737" y="3602376"/>
            <a:ext cx="1819333" cy="274263"/>
          </a:xfrm>
          <a:prstGeom prst="rect">
            <a:avLst/>
          </a:prstGeom>
          <a:solidFill>
            <a:srgbClr val="9FCDB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CACEF822-1470-BDD2-3614-3ED9BB4DB324}"/>
              </a:ext>
            </a:extLst>
          </p:cNvPr>
          <p:cNvSpPr/>
          <p:nvPr/>
        </p:nvSpPr>
        <p:spPr>
          <a:xfrm>
            <a:off x="901236" y="3602376"/>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9815F91E-2C5D-BB59-8935-3F3782450779}"/>
              </a:ext>
            </a:extLst>
          </p:cNvPr>
          <p:cNvSpPr/>
          <p:nvPr/>
        </p:nvSpPr>
        <p:spPr>
          <a:xfrm>
            <a:off x="3403016" y="3599895"/>
            <a:ext cx="350335" cy="274263"/>
          </a:xfrm>
          <a:prstGeom prst="rect">
            <a:avLst/>
          </a:prstGeom>
          <a:solidFill>
            <a:srgbClr val="D2472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14379BEF-2C3A-6A1F-29F6-36B3996E2563}"/>
              </a:ext>
            </a:extLst>
          </p:cNvPr>
          <p:cNvSpPr txBox="1"/>
          <p:nvPr/>
        </p:nvSpPr>
        <p:spPr>
          <a:xfrm>
            <a:off x="10457234" y="4731060"/>
            <a:ext cx="1734766" cy="369332"/>
          </a:xfrm>
          <a:prstGeom prst="rect">
            <a:avLst/>
          </a:prstGeom>
          <a:noFill/>
        </p:spPr>
        <p:txBody>
          <a:bodyPr wrap="square">
            <a:spAutoFit/>
          </a:bodyPr>
          <a:lstStyle/>
          <a:p>
            <a:pPr algn="r"/>
            <a:r>
              <a:rPr kumimoji="1" lang="en-US" altLang="ja-JP" dirty="0"/>
              <a:t>Resist remove</a:t>
            </a:r>
            <a:endParaRPr lang="ja-JP" altLang="en-US" dirty="0"/>
          </a:p>
        </p:txBody>
      </p:sp>
      <p:sp>
        <p:nvSpPr>
          <p:cNvPr id="51" name="矢印: U ターン 50">
            <a:extLst>
              <a:ext uri="{FF2B5EF4-FFF2-40B4-BE49-F238E27FC236}">
                <a16:creationId xmlns:a16="http://schemas.microsoft.com/office/drawing/2014/main" id="{8B350948-B9B1-F805-B83F-5732CBF24874}"/>
              </a:ext>
            </a:extLst>
          </p:cNvPr>
          <p:cNvSpPr/>
          <p:nvPr/>
        </p:nvSpPr>
        <p:spPr>
          <a:xfrm rot="5400000">
            <a:off x="9036585" y="4275139"/>
            <a:ext cx="2171925" cy="1053583"/>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6" name="コンテンツ プレースホルダー 4">
            <a:extLst>
              <a:ext uri="{FF2B5EF4-FFF2-40B4-BE49-F238E27FC236}">
                <a16:creationId xmlns:a16="http://schemas.microsoft.com/office/drawing/2014/main" id="{7AFD2E22-78CF-B0C1-016E-03C1007889FA}"/>
              </a:ext>
            </a:extLst>
          </p:cNvPr>
          <p:cNvSpPr>
            <a:spLocks noGrp="1"/>
          </p:cNvSpPr>
          <p:nvPr>
            <p:ph sz="quarter" idx="13"/>
          </p:nvPr>
        </p:nvSpPr>
        <p:spPr>
          <a:xfrm>
            <a:off x="490728" y="1286144"/>
            <a:ext cx="11210543" cy="1764753"/>
          </a:xfrm>
        </p:spPr>
        <p:txBody>
          <a:bodyPr/>
          <a:lstStyle/>
          <a:p>
            <a:pPr marL="285750" indent="-285750">
              <a:buFont typeface="Arial" panose="020B0604020202020204" pitchFamily="34" charset="0"/>
              <a:buChar char="•"/>
            </a:pPr>
            <a:r>
              <a:rPr lang="en-US" altLang="ja-JP" sz="2000" dirty="0"/>
              <a:t>Al</a:t>
            </a:r>
            <a:r>
              <a:rPr lang="ja-JP" altLang="en-US" sz="2000" dirty="0"/>
              <a:t>と</a:t>
            </a:r>
            <a:r>
              <a:rPr lang="en-US" altLang="ja-JP" sz="2000" dirty="0"/>
              <a:t>Cu</a:t>
            </a:r>
            <a:r>
              <a:rPr lang="ja-JP" altLang="en-US" sz="2000" dirty="0"/>
              <a:t>でデザインルールが異なるのは、（一般論として）作り方が違うため</a:t>
            </a:r>
            <a:r>
              <a:rPr kumimoji="1" lang="ja-JP" altLang="en-US" sz="2000" dirty="0"/>
              <a:t>。</a:t>
            </a:r>
            <a:endParaRPr kumimoji="1" lang="en-US" altLang="ja-JP" sz="2000" dirty="0"/>
          </a:p>
          <a:p>
            <a:pPr marL="285750" indent="-285750">
              <a:buFont typeface="Arial" panose="020B0604020202020204" pitchFamily="34" charset="0"/>
              <a:buChar char="•"/>
            </a:pPr>
            <a:r>
              <a:rPr kumimoji="1" lang="ja-JP" altLang="en-US" sz="2000" dirty="0"/>
              <a:t>サブトラクティブプロセス：金属めっきにレジストを堆積してエッチング　（</a:t>
            </a:r>
            <a:r>
              <a:rPr kumimoji="1" lang="en-US" altLang="ja-JP" sz="2000" dirty="0"/>
              <a:t>Al</a:t>
            </a:r>
            <a:r>
              <a:rPr kumimoji="1" lang="ja-JP" altLang="en-US" sz="2000" dirty="0"/>
              <a:t>配線層）</a:t>
            </a:r>
            <a:endParaRPr kumimoji="1" lang="en-US" altLang="ja-JP" sz="2000" dirty="0"/>
          </a:p>
          <a:p>
            <a:pPr marL="285750" indent="-285750">
              <a:buFont typeface="Arial" panose="020B0604020202020204" pitchFamily="34" charset="0"/>
              <a:buChar char="•"/>
            </a:pPr>
            <a:r>
              <a:rPr kumimoji="1" lang="ja-JP" altLang="en-US" sz="2000" b="1" dirty="0"/>
              <a:t>ダマシンプロセス：絶縁物で型を</a:t>
            </a:r>
            <a:r>
              <a:rPr lang="ja-JP" altLang="en-US" sz="2000" b="1" dirty="0"/>
              <a:t>作って金属を流し込む　（</a:t>
            </a:r>
            <a:r>
              <a:rPr lang="en-US" altLang="ja-JP" sz="2000" b="1" dirty="0"/>
              <a:t>Cu</a:t>
            </a:r>
            <a:r>
              <a:rPr lang="ja-JP" altLang="en-US" sz="2000" b="1" dirty="0"/>
              <a:t>配線層）</a:t>
            </a:r>
            <a:endParaRPr lang="en-US" altLang="ja-JP" sz="2000" b="1" dirty="0"/>
          </a:p>
        </p:txBody>
      </p:sp>
    </p:spTree>
    <p:extLst>
      <p:ext uri="{BB962C8B-B14F-4D97-AF65-F5344CB8AC3E}">
        <p14:creationId xmlns:p14="http://schemas.microsoft.com/office/powerpoint/2010/main" val="17114763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E799E38D-0A82-4095-BE6B-85157473E4AE}"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89</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b="1" dirty="0">
                <a:solidFill>
                  <a:schemeClr val="accent2"/>
                </a:solidFill>
              </a:rPr>
              <a:t>回路図を基にレイアウトを描く</a:t>
            </a:r>
            <a:endParaRPr kumimoji="1" lang="en-US" altLang="ja-JP" sz="2000" b="1" dirty="0">
              <a:solidFill>
                <a:schemeClr val="accent2"/>
              </a:solidFill>
            </a:endParaRPr>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1028225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B8E3A5-518A-F74F-0B42-0CBB4FD86534}"/>
              </a:ext>
            </a:extLst>
          </p:cNvPr>
          <p:cNvSpPr>
            <a:spLocks noGrp="1"/>
          </p:cNvSpPr>
          <p:nvPr>
            <p:ph type="title"/>
          </p:nvPr>
        </p:nvSpPr>
        <p:spPr/>
        <p:txBody>
          <a:bodyPr/>
          <a:lstStyle/>
          <a:p>
            <a:r>
              <a:rPr kumimoji="1" lang="en-US" altLang="ja-JP" dirty="0" err="1"/>
              <a:t>Klayout</a:t>
            </a:r>
            <a:r>
              <a:rPr kumimoji="1" lang="ja-JP" altLang="en-US" dirty="0"/>
              <a:t>：</a:t>
            </a:r>
            <a:r>
              <a:rPr lang="ja-JP" altLang="en-US" dirty="0"/>
              <a:t>テンプレートを開く </a:t>
            </a:r>
            <a:r>
              <a:rPr lang="en-US" altLang="ja-JP" dirty="0"/>
              <a:t>1/2</a:t>
            </a:r>
            <a:endParaRPr kumimoji="1" lang="ja-JP" altLang="en-US" dirty="0"/>
          </a:p>
        </p:txBody>
      </p:sp>
      <p:sp>
        <p:nvSpPr>
          <p:cNvPr id="3" name="日付プレースホルダー 2">
            <a:extLst>
              <a:ext uri="{FF2B5EF4-FFF2-40B4-BE49-F238E27FC236}">
                <a16:creationId xmlns:a16="http://schemas.microsoft.com/office/drawing/2014/main" id="{5C360578-0551-5F91-F7DB-B93B84EF0111}"/>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5869E32-3473-D77E-6CE4-E784C15AD21C}"/>
              </a:ext>
            </a:extLst>
          </p:cNvPr>
          <p:cNvSpPr>
            <a:spLocks noGrp="1"/>
          </p:cNvSpPr>
          <p:nvPr>
            <p:ph type="sldNum" sz="quarter" idx="12"/>
          </p:nvPr>
        </p:nvSpPr>
        <p:spPr/>
        <p:txBody>
          <a:bodyPr/>
          <a:lstStyle/>
          <a:p>
            <a:pPr rtl="0"/>
            <a:fld id="{9860EDB8-5305-433F-BE41-D7A86D811DB3}" type="slidenum">
              <a:rPr lang="en-US" altLang="ja-JP" noProof="0" smtClean="0"/>
              <a:pPr rtl="0"/>
              <a:t>90</a:t>
            </a:fld>
            <a:endParaRPr lang="ja-JP" altLang="en-US" noProof="0"/>
          </a:p>
        </p:txBody>
      </p:sp>
      <p:sp>
        <p:nvSpPr>
          <p:cNvPr id="5" name="コンテンツ プレースホルダー 4">
            <a:extLst>
              <a:ext uri="{FF2B5EF4-FFF2-40B4-BE49-F238E27FC236}">
                <a16:creationId xmlns:a16="http://schemas.microsoft.com/office/drawing/2014/main" id="{7C86C403-917E-3A7B-2F2C-8146F3969DEB}"/>
              </a:ext>
            </a:extLst>
          </p:cNvPr>
          <p:cNvSpPr>
            <a:spLocks noGrp="1"/>
          </p:cNvSpPr>
          <p:nvPr>
            <p:ph sz="quarter" idx="13"/>
          </p:nvPr>
        </p:nvSpPr>
        <p:spPr/>
        <p:txBody>
          <a:bodyPr>
            <a:normAutofit/>
          </a:bodyPr>
          <a:lstStyle/>
          <a:p>
            <a:pPr marL="457200" lvl="1" indent="-457200">
              <a:buFont typeface="+mj-lt"/>
              <a:buAutoNum type="arabicPeriod"/>
            </a:pPr>
            <a:r>
              <a:rPr lang="en-US" altLang="ja-JP" sz="2000" dirty="0"/>
              <a:t>WSL</a:t>
            </a:r>
            <a:r>
              <a:rPr lang="ja-JP" altLang="en-US" sz="2000" dirty="0"/>
              <a:t>のコマンドラインでテンプレートファイルを作業用ディレクトリにコピーする</a:t>
            </a:r>
            <a:endParaRPr lang="en-US" altLang="ja-JP" sz="2000" dirty="0"/>
          </a:p>
          <a:p>
            <a:pPr marL="914400" lvl="2" indent="-457200">
              <a:buFont typeface="+mj-lt"/>
              <a:buAutoNum type="arabicPeriod"/>
            </a:pPr>
            <a:r>
              <a:rPr lang="en-US" altLang="ja-JP" sz="2000" dirty="0"/>
              <a:t>cp ~/sample/</a:t>
            </a:r>
            <a:r>
              <a:rPr lang="en-US" altLang="ja-JP" sz="2000" dirty="0" err="1"/>
              <a:t>inv_dut_NNN.gds</a:t>
            </a:r>
            <a:r>
              <a:rPr lang="en-US" altLang="ja-JP" sz="2000" dirty="0"/>
              <a:t> ~/inverter/</a:t>
            </a:r>
            <a:r>
              <a:rPr lang="en-US" altLang="ja-JP" sz="2000" dirty="0" err="1"/>
              <a:t>inv_dut</a:t>
            </a:r>
            <a:r>
              <a:rPr lang="en-US" altLang="ja-JP" sz="2000" dirty="0"/>
              <a:t>_[</a:t>
            </a:r>
            <a:r>
              <a:rPr lang="ja-JP" altLang="en-US" sz="2000" dirty="0"/>
              <a:t>配布された</a:t>
            </a:r>
            <a:r>
              <a:rPr lang="en-US" altLang="ja-JP" sz="2000" dirty="0"/>
              <a:t>DUT</a:t>
            </a:r>
            <a:r>
              <a:rPr lang="ja-JP" altLang="en-US" sz="2000" dirty="0"/>
              <a:t>番号</a:t>
            </a:r>
            <a:r>
              <a:rPr lang="en-US" altLang="ja-JP" sz="2000" dirty="0"/>
              <a:t>].</a:t>
            </a:r>
            <a:r>
              <a:rPr lang="en-US" altLang="ja-JP" sz="2000" dirty="0" err="1"/>
              <a:t>gds</a:t>
            </a:r>
            <a:endParaRPr lang="en-US" altLang="ja-JP" sz="2000" dirty="0"/>
          </a:p>
          <a:p>
            <a:pPr marL="457200" lvl="1" indent="-457200">
              <a:buFont typeface="+mj-lt"/>
              <a:buAutoNum type="arabicPeriod"/>
            </a:pPr>
            <a:r>
              <a:rPr lang="en-US" altLang="ja-JP" sz="2000" dirty="0" err="1"/>
              <a:t>klayout</a:t>
            </a:r>
            <a:r>
              <a:rPr lang="ja-JP" altLang="en-US" sz="2000" dirty="0"/>
              <a:t>を起動する</a:t>
            </a:r>
            <a:endParaRPr lang="en-US" altLang="ja-JP" sz="2000" dirty="0"/>
          </a:p>
          <a:p>
            <a:pPr marL="914400" lvl="2" indent="-457200">
              <a:buFont typeface="+mj-lt"/>
              <a:buAutoNum type="arabicPeriod"/>
            </a:pPr>
            <a:r>
              <a:rPr lang="en-US" altLang="ja-JP" sz="2000" dirty="0"/>
              <a:t>cd ~/inverter/</a:t>
            </a:r>
          </a:p>
          <a:p>
            <a:pPr marL="914400" lvl="2" indent="-457200">
              <a:buFont typeface="+mj-lt"/>
              <a:buAutoNum type="arabicPeriod"/>
            </a:pPr>
            <a:r>
              <a:rPr lang="en-US" altLang="ja-JP" sz="2000" dirty="0" err="1"/>
              <a:t>klayout</a:t>
            </a:r>
            <a:r>
              <a:rPr lang="en-US" altLang="ja-JP" sz="2000" dirty="0"/>
              <a:t> &amp;</a:t>
            </a:r>
          </a:p>
          <a:p>
            <a:pPr marL="512064" lvl="1" indent="-457200">
              <a:buFont typeface="+mj-lt"/>
              <a:buAutoNum type="arabicPeriod"/>
            </a:pPr>
            <a:endParaRPr lang="en-US" altLang="ja-JP" sz="2000" dirty="0"/>
          </a:p>
        </p:txBody>
      </p:sp>
    </p:spTree>
    <p:extLst>
      <p:ext uri="{BB962C8B-B14F-4D97-AF65-F5344CB8AC3E}">
        <p14:creationId xmlns:p14="http://schemas.microsoft.com/office/powerpoint/2010/main" val="5660169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55E612-C092-7C2D-02E3-B2A620B263D4}"/>
              </a:ext>
            </a:extLst>
          </p:cNvPr>
          <p:cNvSpPr>
            <a:spLocks noGrp="1"/>
          </p:cNvSpPr>
          <p:nvPr>
            <p:ph type="title"/>
          </p:nvPr>
        </p:nvSpPr>
        <p:spPr/>
        <p:txBody>
          <a:bodyPr/>
          <a:lstStyle/>
          <a:p>
            <a:r>
              <a:rPr lang="en-US" altLang="ja-JP" dirty="0" err="1"/>
              <a:t>klayout</a:t>
            </a:r>
            <a:r>
              <a:rPr lang="ja-JP" altLang="en-US" dirty="0"/>
              <a:t>の起動画面</a:t>
            </a:r>
            <a:r>
              <a:rPr lang="en-US" altLang="ja-JP" dirty="0"/>
              <a:t>(</a:t>
            </a:r>
            <a:r>
              <a:rPr lang="ja-JP" altLang="en-US" dirty="0"/>
              <a:t>この画面以外はインストールに失敗しています</a:t>
            </a:r>
            <a:r>
              <a:rPr lang="en-US" altLang="ja-JP" dirty="0"/>
              <a:t>)</a:t>
            </a:r>
            <a:endParaRPr kumimoji="1" lang="ja-JP" altLang="en-US" dirty="0"/>
          </a:p>
        </p:txBody>
      </p:sp>
      <p:sp>
        <p:nvSpPr>
          <p:cNvPr id="3" name="日付プレースホルダー 2">
            <a:extLst>
              <a:ext uri="{FF2B5EF4-FFF2-40B4-BE49-F238E27FC236}">
                <a16:creationId xmlns:a16="http://schemas.microsoft.com/office/drawing/2014/main" id="{CE59AF44-CD38-3C07-43F8-C6B2ACACCE78}"/>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B71001C9-5455-BF08-B210-ECF216B12A45}"/>
              </a:ext>
            </a:extLst>
          </p:cNvPr>
          <p:cNvSpPr>
            <a:spLocks noGrp="1"/>
          </p:cNvSpPr>
          <p:nvPr>
            <p:ph type="sldNum" sz="quarter" idx="12"/>
          </p:nvPr>
        </p:nvSpPr>
        <p:spPr/>
        <p:txBody>
          <a:bodyPr/>
          <a:lstStyle/>
          <a:p>
            <a:pPr rtl="0"/>
            <a:fld id="{9860EDB8-5305-433F-BE41-D7A86D811DB3}" type="slidenum">
              <a:rPr lang="en-US" altLang="ja-JP" noProof="0" smtClean="0"/>
              <a:pPr rtl="0"/>
              <a:t>91</a:t>
            </a:fld>
            <a:endParaRPr lang="ja-JP" altLang="en-US" noProof="0"/>
          </a:p>
        </p:txBody>
      </p:sp>
      <p:pic>
        <p:nvPicPr>
          <p:cNvPr id="7" name="コンテンツ プレースホルダー 6">
            <a:extLst>
              <a:ext uri="{FF2B5EF4-FFF2-40B4-BE49-F238E27FC236}">
                <a16:creationId xmlns:a16="http://schemas.microsoft.com/office/drawing/2014/main" id="{A8CD229A-ADCC-BB3A-5C38-82192ECBF013}"/>
              </a:ext>
            </a:extLst>
          </p:cNvPr>
          <p:cNvPicPr>
            <a:picLocks noGrp="1" noChangeAspect="1"/>
          </p:cNvPicPr>
          <p:nvPr>
            <p:ph sz="quarter" idx="13"/>
          </p:nvPr>
        </p:nvPicPr>
        <p:blipFill>
          <a:blip r:embed="rId2"/>
          <a:stretch>
            <a:fillRect/>
          </a:stretch>
        </p:blipFill>
        <p:spPr>
          <a:xfrm>
            <a:off x="2945626" y="1875287"/>
            <a:ext cx="5894714" cy="4600575"/>
          </a:xfrm>
          <a:prstGeom prst="rect">
            <a:avLst/>
          </a:prstGeom>
        </p:spPr>
      </p:pic>
      <p:sp>
        <p:nvSpPr>
          <p:cNvPr id="9" name="吹き出し: 角を丸めた四角形 8">
            <a:extLst>
              <a:ext uri="{FF2B5EF4-FFF2-40B4-BE49-F238E27FC236}">
                <a16:creationId xmlns:a16="http://schemas.microsoft.com/office/drawing/2014/main" id="{16D98DF5-FB07-BADB-A594-2D9B68B7EB21}"/>
              </a:ext>
            </a:extLst>
          </p:cNvPr>
          <p:cNvSpPr/>
          <p:nvPr/>
        </p:nvSpPr>
        <p:spPr>
          <a:xfrm>
            <a:off x="7763102" y="1161640"/>
            <a:ext cx="3373599" cy="647665"/>
          </a:xfrm>
          <a:prstGeom prst="wedgeRoundRectCallout">
            <a:avLst>
              <a:gd name="adj1" fmla="val -37411"/>
              <a:gd name="adj2" fmla="val 11812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gf180mcu</a:t>
            </a:r>
            <a:r>
              <a:rPr kumimoji="1" lang="ja-JP" altLang="en-US" dirty="0"/>
              <a:t>となっている</a:t>
            </a:r>
            <a:endParaRPr kumimoji="1" lang="en-US" altLang="ja-JP" dirty="0"/>
          </a:p>
        </p:txBody>
      </p:sp>
    </p:spTree>
    <p:extLst>
      <p:ext uri="{BB962C8B-B14F-4D97-AF65-F5344CB8AC3E}">
        <p14:creationId xmlns:p14="http://schemas.microsoft.com/office/powerpoint/2010/main" val="9916398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0CA1FE-2A0A-1BBD-F1D1-5597175C4E8A}"/>
              </a:ext>
            </a:extLst>
          </p:cNvPr>
          <p:cNvSpPr>
            <a:spLocks noGrp="1"/>
          </p:cNvSpPr>
          <p:nvPr>
            <p:ph type="title"/>
          </p:nvPr>
        </p:nvSpPr>
        <p:spPr/>
        <p:txBody>
          <a:bodyPr/>
          <a:lstStyle/>
          <a:p>
            <a:r>
              <a:rPr lang="en-US" altLang="ja-JP" dirty="0" err="1"/>
              <a:t>Klayout</a:t>
            </a:r>
            <a:r>
              <a:rPr lang="ja-JP" altLang="en-US" dirty="0"/>
              <a:t>：テンプレートを開く </a:t>
            </a:r>
            <a:r>
              <a:rPr lang="en-US" altLang="ja-JP" dirty="0"/>
              <a:t>2/2</a:t>
            </a:r>
            <a:endParaRPr kumimoji="1" lang="ja-JP" altLang="en-US" dirty="0"/>
          </a:p>
        </p:txBody>
      </p:sp>
      <p:sp>
        <p:nvSpPr>
          <p:cNvPr id="3" name="日付プレースホルダー 2">
            <a:extLst>
              <a:ext uri="{FF2B5EF4-FFF2-40B4-BE49-F238E27FC236}">
                <a16:creationId xmlns:a16="http://schemas.microsoft.com/office/drawing/2014/main" id="{532F4A34-3012-E6FE-E54A-5AC03CE7C789}"/>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C0341868-1D74-1F6E-EE59-8272FE138963}"/>
              </a:ext>
            </a:extLst>
          </p:cNvPr>
          <p:cNvSpPr>
            <a:spLocks noGrp="1"/>
          </p:cNvSpPr>
          <p:nvPr>
            <p:ph type="sldNum" sz="quarter" idx="12"/>
          </p:nvPr>
        </p:nvSpPr>
        <p:spPr/>
        <p:txBody>
          <a:bodyPr/>
          <a:lstStyle/>
          <a:p>
            <a:pPr rtl="0"/>
            <a:fld id="{9860EDB8-5305-433F-BE41-D7A86D811DB3}" type="slidenum">
              <a:rPr lang="en-US" altLang="ja-JP" noProof="0" smtClean="0"/>
              <a:pPr rtl="0"/>
              <a:t>92</a:t>
            </a:fld>
            <a:endParaRPr lang="ja-JP" altLang="en-US" noProof="0"/>
          </a:p>
        </p:txBody>
      </p:sp>
      <p:sp>
        <p:nvSpPr>
          <p:cNvPr id="5" name="コンテンツ プレースホルダー 4">
            <a:extLst>
              <a:ext uri="{FF2B5EF4-FFF2-40B4-BE49-F238E27FC236}">
                <a16:creationId xmlns:a16="http://schemas.microsoft.com/office/drawing/2014/main" id="{D6193E8F-C3F0-2D1F-D23C-9FC30E305DBA}"/>
              </a:ext>
            </a:extLst>
          </p:cNvPr>
          <p:cNvSpPr>
            <a:spLocks noGrp="1"/>
          </p:cNvSpPr>
          <p:nvPr>
            <p:ph sz="quarter" idx="13"/>
          </p:nvPr>
        </p:nvSpPr>
        <p:spPr/>
        <p:txBody>
          <a:bodyPr/>
          <a:lstStyle/>
          <a:p>
            <a:pPr marL="342900" indent="-342900">
              <a:buFont typeface="+mj-lt"/>
              <a:buAutoNum type="arabicPeriod"/>
            </a:pPr>
            <a:r>
              <a:rPr kumimoji="1" lang="en-US" altLang="ja-JP" dirty="0"/>
              <a:t>File</a:t>
            </a:r>
            <a:r>
              <a:rPr kumimoji="1" lang="ja-JP" altLang="en-US" dirty="0"/>
              <a:t> </a:t>
            </a:r>
            <a:r>
              <a:rPr kumimoji="1" lang="en-US" altLang="ja-JP" dirty="0"/>
              <a:t>-&gt; Open </a:t>
            </a:r>
            <a:r>
              <a:rPr kumimoji="1" lang="ja-JP" altLang="en-US" dirty="0"/>
              <a:t>を選択する</a:t>
            </a:r>
            <a:endParaRPr kumimoji="1" lang="en-US" altLang="ja-JP" dirty="0"/>
          </a:p>
          <a:p>
            <a:pPr marL="626364" lvl="1" indent="-342900">
              <a:buFont typeface="+mj-lt"/>
              <a:buAutoNum type="arabicPeriod"/>
            </a:pPr>
            <a:r>
              <a:rPr lang="en-US" altLang="ja-JP" dirty="0"/>
              <a:t>Open</a:t>
            </a:r>
            <a:r>
              <a:rPr lang="ja-JP" altLang="en-US" dirty="0"/>
              <a:t> </a:t>
            </a:r>
            <a:r>
              <a:rPr lang="en-US" altLang="ja-JP" dirty="0"/>
              <a:t>Layout</a:t>
            </a:r>
            <a:r>
              <a:rPr lang="ja-JP" altLang="en-US" dirty="0"/>
              <a:t> </a:t>
            </a:r>
            <a:r>
              <a:rPr lang="en-US" altLang="ja-JP" dirty="0"/>
              <a:t>Files</a:t>
            </a:r>
            <a:r>
              <a:rPr lang="ja-JP" altLang="en-US" dirty="0"/>
              <a:t>ダイアログが表示される。</a:t>
            </a:r>
            <a:endParaRPr lang="en-US" altLang="ja-JP" dirty="0"/>
          </a:p>
          <a:p>
            <a:pPr marL="342900" indent="-342900">
              <a:buFont typeface="+mj-lt"/>
              <a:buAutoNum type="arabicPeriod"/>
            </a:pPr>
            <a:r>
              <a:rPr lang="en-US" altLang="ja-JP" dirty="0" err="1"/>
              <a:t>inv_dut</a:t>
            </a:r>
            <a:r>
              <a:rPr lang="en-US" altLang="ja-JP" dirty="0"/>
              <a:t>_[</a:t>
            </a:r>
            <a:r>
              <a:rPr lang="ja-JP" altLang="en-US" dirty="0"/>
              <a:t>配布された</a:t>
            </a:r>
            <a:r>
              <a:rPr lang="en-US" altLang="ja-JP" dirty="0"/>
              <a:t>DUT</a:t>
            </a:r>
            <a:r>
              <a:rPr lang="ja-JP" altLang="en-US" dirty="0"/>
              <a:t>番号</a:t>
            </a:r>
            <a:r>
              <a:rPr lang="en-US" altLang="ja-JP" dirty="0"/>
              <a:t>].</a:t>
            </a:r>
            <a:r>
              <a:rPr lang="en-US" altLang="ja-JP" dirty="0" err="1"/>
              <a:t>gds</a:t>
            </a:r>
            <a:r>
              <a:rPr lang="ja-JP" altLang="en-US" dirty="0"/>
              <a:t>を選択する</a:t>
            </a:r>
            <a:endParaRPr lang="en-US" altLang="ja-JP" dirty="0"/>
          </a:p>
          <a:p>
            <a:pPr marL="342900" indent="-342900">
              <a:buFont typeface="+mj-lt"/>
              <a:buAutoNum type="arabicPeriod"/>
            </a:pPr>
            <a:r>
              <a:rPr kumimoji="1" lang="en-US" altLang="ja-JP" dirty="0"/>
              <a:t>Open</a:t>
            </a:r>
            <a:r>
              <a:rPr kumimoji="1" lang="ja-JP" altLang="en-US" dirty="0"/>
              <a:t>をクリックする</a:t>
            </a:r>
            <a:endParaRPr kumimoji="1" lang="en-US" altLang="ja-JP" dirty="0"/>
          </a:p>
          <a:p>
            <a:pPr marL="342900" indent="-342900">
              <a:buFont typeface="+mj-lt"/>
              <a:buAutoNum type="arabicPeriod"/>
            </a:pPr>
            <a:r>
              <a:rPr lang="ja-JP" altLang="en-US" dirty="0"/>
              <a:t>下記の画面が出れば</a:t>
            </a:r>
            <a:r>
              <a:rPr lang="en-US" altLang="ja-JP" dirty="0"/>
              <a:t>OK</a:t>
            </a:r>
            <a:r>
              <a:rPr lang="ja-JP" altLang="en-US" dirty="0"/>
              <a:t>です</a:t>
            </a:r>
            <a:endParaRPr kumimoji="1" lang="en-US" altLang="ja-JP" dirty="0"/>
          </a:p>
          <a:p>
            <a:pPr marL="342900" indent="-342900">
              <a:buFont typeface="+mj-lt"/>
              <a:buAutoNum type="arabicPeriod"/>
            </a:pPr>
            <a:endParaRPr kumimoji="1" lang="ja-JP" altLang="en-US" dirty="0"/>
          </a:p>
        </p:txBody>
      </p:sp>
      <p:pic>
        <p:nvPicPr>
          <p:cNvPr id="7" name="図 6">
            <a:extLst>
              <a:ext uri="{FF2B5EF4-FFF2-40B4-BE49-F238E27FC236}">
                <a16:creationId xmlns:a16="http://schemas.microsoft.com/office/drawing/2014/main" id="{3A02FE37-D7E8-5AA0-A854-7898D42E3D27}"/>
              </a:ext>
            </a:extLst>
          </p:cNvPr>
          <p:cNvPicPr>
            <a:picLocks noChangeAspect="1"/>
          </p:cNvPicPr>
          <p:nvPr/>
        </p:nvPicPr>
        <p:blipFill>
          <a:blip r:embed="rId2"/>
          <a:stretch>
            <a:fillRect/>
          </a:stretch>
        </p:blipFill>
        <p:spPr>
          <a:xfrm>
            <a:off x="8233409" y="112065"/>
            <a:ext cx="2713866" cy="2210044"/>
          </a:xfrm>
          <a:prstGeom prst="rect">
            <a:avLst/>
          </a:prstGeom>
        </p:spPr>
      </p:pic>
      <p:pic>
        <p:nvPicPr>
          <p:cNvPr id="9" name="図 8">
            <a:extLst>
              <a:ext uri="{FF2B5EF4-FFF2-40B4-BE49-F238E27FC236}">
                <a16:creationId xmlns:a16="http://schemas.microsoft.com/office/drawing/2014/main" id="{5E356A30-167F-10AC-F05B-6BE03D6C2511}"/>
              </a:ext>
            </a:extLst>
          </p:cNvPr>
          <p:cNvPicPr>
            <a:picLocks noChangeAspect="1"/>
          </p:cNvPicPr>
          <p:nvPr/>
        </p:nvPicPr>
        <p:blipFill>
          <a:blip r:embed="rId3"/>
          <a:stretch>
            <a:fillRect/>
          </a:stretch>
        </p:blipFill>
        <p:spPr>
          <a:xfrm>
            <a:off x="6752998" y="2742339"/>
            <a:ext cx="5313419" cy="3742679"/>
          </a:xfrm>
          <a:prstGeom prst="rect">
            <a:avLst/>
          </a:prstGeom>
        </p:spPr>
      </p:pic>
      <p:sp>
        <p:nvSpPr>
          <p:cNvPr id="11" name="楕円 10">
            <a:extLst>
              <a:ext uri="{FF2B5EF4-FFF2-40B4-BE49-F238E27FC236}">
                <a16:creationId xmlns:a16="http://schemas.microsoft.com/office/drawing/2014/main" id="{83FBDE3D-F302-8B23-2A1D-1A6B4E1787B7}"/>
              </a:ext>
            </a:extLst>
          </p:cNvPr>
          <p:cNvSpPr/>
          <p:nvPr/>
        </p:nvSpPr>
        <p:spPr>
          <a:xfrm>
            <a:off x="8043697" y="835993"/>
            <a:ext cx="1410855"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D3C062F5-394F-3714-BA6E-0A272E58210C}"/>
              </a:ext>
            </a:extLst>
          </p:cNvPr>
          <p:cNvSpPr/>
          <p:nvPr/>
        </p:nvSpPr>
        <p:spPr>
          <a:xfrm>
            <a:off x="7290200" y="3429000"/>
            <a:ext cx="2358644"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149BFADE-C90A-613C-10E5-6C4D47121914}"/>
              </a:ext>
            </a:extLst>
          </p:cNvPr>
          <p:cNvSpPr/>
          <p:nvPr/>
        </p:nvSpPr>
        <p:spPr>
          <a:xfrm>
            <a:off x="11192569" y="5817703"/>
            <a:ext cx="934027"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D2B1EFD5-DAF9-E2B2-74FF-8913FD5DD4DD}"/>
              </a:ext>
            </a:extLst>
          </p:cNvPr>
          <p:cNvPicPr>
            <a:picLocks noChangeAspect="1"/>
          </p:cNvPicPr>
          <p:nvPr/>
        </p:nvPicPr>
        <p:blipFill>
          <a:blip r:embed="rId4"/>
          <a:stretch>
            <a:fillRect/>
          </a:stretch>
        </p:blipFill>
        <p:spPr>
          <a:xfrm>
            <a:off x="1169887" y="3962002"/>
            <a:ext cx="3959387" cy="2577433"/>
          </a:xfrm>
          <a:prstGeom prst="rect">
            <a:avLst/>
          </a:prstGeom>
        </p:spPr>
      </p:pic>
    </p:spTree>
    <p:extLst>
      <p:ext uri="{BB962C8B-B14F-4D97-AF65-F5344CB8AC3E}">
        <p14:creationId xmlns:p14="http://schemas.microsoft.com/office/powerpoint/2010/main" val="42250761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CC901C-9138-9E5B-1CEB-171F57E0051C}"/>
              </a:ext>
            </a:extLst>
          </p:cNvPr>
          <p:cNvSpPr>
            <a:spLocks noGrp="1"/>
          </p:cNvSpPr>
          <p:nvPr>
            <p:ph type="title"/>
          </p:nvPr>
        </p:nvSpPr>
        <p:spPr/>
        <p:txBody>
          <a:bodyPr/>
          <a:lstStyle/>
          <a:p>
            <a:r>
              <a:rPr lang="en-US" altLang="ja-JP" dirty="0" err="1"/>
              <a:t>Klayout</a:t>
            </a:r>
            <a:r>
              <a:rPr lang="ja-JP" altLang="en-US" dirty="0"/>
              <a:t>：</a:t>
            </a:r>
            <a:r>
              <a:rPr lang="en-US" altLang="ja-JP" dirty="0"/>
              <a:t>TOP</a:t>
            </a:r>
            <a:r>
              <a:rPr lang="ja-JP" altLang="en-US" dirty="0"/>
              <a:t>セルの名前を変更する</a:t>
            </a:r>
            <a:endParaRPr kumimoji="1" lang="ja-JP" altLang="en-US" dirty="0"/>
          </a:p>
        </p:txBody>
      </p:sp>
      <p:sp>
        <p:nvSpPr>
          <p:cNvPr id="3" name="日付プレースホルダー 2">
            <a:extLst>
              <a:ext uri="{FF2B5EF4-FFF2-40B4-BE49-F238E27FC236}">
                <a16:creationId xmlns:a16="http://schemas.microsoft.com/office/drawing/2014/main" id="{AC24F5A2-6B87-23BA-29DB-EF42B23924F1}"/>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F811BC8D-B5E5-A9A8-EF84-F58D72D3EA93}"/>
              </a:ext>
            </a:extLst>
          </p:cNvPr>
          <p:cNvSpPr>
            <a:spLocks noGrp="1"/>
          </p:cNvSpPr>
          <p:nvPr>
            <p:ph type="sldNum" sz="quarter" idx="12"/>
          </p:nvPr>
        </p:nvSpPr>
        <p:spPr/>
        <p:txBody>
          <a:bodyPr/>
          <a:lstStyle/>
          <a:p>
            <a:pPr rtl="0"/>
            <a:fld id="{9860EDB8-5305-433F-BE41-D7A86D811DB3}" type="slidenum">
              <a:rPr lang="en-US" altLang="ja-JP" noProof="0" smtClean="0"/>
              <a:pPr rtl="0"/>
              <a:t>93</a:t>
            </a:fld>
            <a:endParaRPr lang="ja-JP" altLang="en-US" noProof="0"/>
          </a:p>
        </p:txBody>
      </p:sp>
      <p:sp>
        <p:nvSpPr>
          <p:cNvPr id="5" name="コンテンツ プレースホルダー 4">
            <a:extLst>
              <a:ext uri="{FF2B5EF4-FFF2-40B4-BE49-F238E27FC236}">
                <a16:creationId xmlns:a16="http://schemas.microsoft.com/office/drawing/2014/main" id="{A3AC13D6-74DC-0A79-07A8-5CA6FC5236E6}"/>
              </a:ext>
            </a:extLst>
          </p:cNvPr>
          <p:cNvSpPr>
            <a:spLocks noGrp="1"/>
          </p:cNvSpPr>
          <p:nvPr>
            <p:ph sz="quarter" idx="13"/>
          </p:nvPr>
        </p:nvSpPr>
        <p:spPr/>
        <p:txBody>
          <a:bodyPr/>
          <a:lstStyle/>
          <a:p>
            <a:pPr marL="342900" indent="-342900">
              <a:buFont typeface="+mj-lt"/>
              <a:buAutoNum type="arabicPeriod"/>
            </a:pPr>
            <a:r>
              <a:rPr kumimoji="1" lang="ja-JP" altLang="en-US" dirty="0"/>
              <a:t>左ペインの「</a:t>
            </a:r>
            <a:r>
              <a:rPr kumimoji="1" lang="en-US" altLang="ja-JP" dirty="0"/>
              <a:t>Cells</a:t>
            </a:r>
            <a:r>
              <a:rPr kumimoji="1" lang="ja-JP" altLang="en-US" dirty="0"/>
              <a:t>」の「</a:t>
            </a:r>
            <a:r>
              <a:rPr kumimoji="1" lang="en-US" altLang="ja-JP" dirty="0" err="1"/>
              <a:t>inv_dut_NNN</a:t>
            </a:r>
            <a:r>
              <a:rPr kumimoji="1" lang="ja-JP" altLang="en-US" dirty="0"/>
              <a:t>」を選択する</a:t>
            </a:r>
            <a:endParaRPr kumimoji="1" lang="en-US" altLang="ja-JP" dirty="0"/>
          </a:p>
          <a:p>
            <a:pPr marL="342900" indent="-342900">
              <a:buFont typeface="+mj-lt"/>
              <a:buAutoNum type="arabicPeriod"/>
            </a:pPr>
            <a:r>
              <a:rPr kumimoji="1" lang="ja-JP" altLang="en-US" dirty="0"/>
              <a:t>右クリックすると表示されるメニューの「</a:t>
            </a:r>
            <a:r>
              <a:rPr kumimoji="1" lang="en-US" altLang="ja-JP" dirty="0"/>
              <a:t>Rename Cell</a:t>
            </a:r>
            <a:r>
              <a:rPr kumimoji="1" lang="ja-JP" altLang="en-US" dirty="0"/>
              <a:t>」を選択する</a:t>
            </a:r>
            <a:endParaRPr kumimoji="1" lang="en-US" altLang="ja-JP" dirty="0"/>
          </a:p>
          <a:p>
            <a:pPr marL="626364" lvl="1" indent="-342900">
              <a:buFont typeface="+mj-lt"/>
              <a:buAutoNum type="arabicPeriod"/>
            </a:pPr>
            <a:r>
              <a:rPr kumimoji="1" lang="en-US" altLang="ja-JP" dirty="0"/>
              <a:t>Rename Cell</a:t>
            </a:r>
            <a:r>
              <a:rPr kumimoji="1" lang="ja-JP" altLang="en-US" dirty="0"/>
              <a:t>ダイアログが表示される</a:t>
            </a:r>
            <a:endParaRPr kumimoji="1" lang="en-US" altLang="ja-JP" dirty="0"/>
          </a:p>
          <a:p>
            <a:pPr marL="342900" indent="-342900">
              <a:buFont typeface="+mj-lt"/>
              <a:buAutoNum type="arabicPeriod"/>
            </a:pPr>
            <a:r>
              <a:rPr lang="ja-JP" altLang="en-US" dirty="0"/>
              <a:t>「</a:t>
            </a:r>
            <a:r>
              <a:rPr lang="en-US" altLang="ja-JP" dirty="0"/>
              <a:t>New cell name</a:t>
            </a:r>
            <a:r>
              <a:rPr lang="ja-JP" altLang="en-US" dirty="0"/>
              <a:t>」を「</a:t>
            </a:r>
            <a:r>
              <a:rPr lang="en-US" altLang="ja-JP" dirty="0" err="1"/>
              <a:t>inv_dut</a:t>
            </a:r>
            <a:r>
              <a:rPr lang="en-US" altLang="ja-JP" dirty="0"/>
              <a:t>_[</a:t>
            </a:r>
            <a:r>
              <a:rPr lang="ja-JP" altLang="en-US" dirty="0"/>
              <a:t>配布された</a:t>
            </a:r>
            <a:r>
              <a:rPr lang="en-US" altLang="ja-JP" dirty="0"/>
              <a:t>DUT</a:t>
            </a:r>
            <a:r>
              <a:rPr lang="ja-JP" altLang="en-US" dirty="0"/>
              <a:t>番号</a:t>
            </a:r>
            <a:r>
              <a:rPr lang="en-US" altLang="ja-JP" dirty="0"/>
              <a:t>]</a:t>
            </a:r>
            <a:r>
              <a:rPr lang="ja-JP" altLang="en-US" dirty="0"/>
              <a:t>」に変更する</a:t>
            </a:r>
            <a:endParaRPr lang="en-US" altLang="ja-JP" dirty="0"/>
          </a:p>
          <a:p>
            <a:pPr marL="342900" indent="-342900">
              <a:buFont typeface="+mj-lt"/>
              <a:buAutoNum type="arabicPeriod"/>
            </a:pPr>
            <a:r>
              <a:rPr kumimoji="1" lang="en-US" altLang="ja-JP" dirty="0"/>
              <a:t>OK</a:t>
            </a:r>
            <a:r>
              <a:rPr kumimoji="1" lang="ja-JP" altLang="en-US" dirty="0"/>
              <a:t>をクリックする</a:t>
            </a:r>
          </a:p>
        </p:txBody>
      </p:sp>
      <p:pic>
        <p:nvPicPr>
          <p:cNvPr id="11" name="図 10">
            <a:extLst>
              <a:ext uri="{FF2B5EF4-FFF2-40B4-BE49-F238E27FC236}">
                <a16:creationId xmlns:a16="http://schemas.microsoft.com/office/drawing/2014/main" id="{6BD3424F-3D37-1536-4D2D-857616F4F16C}"/>
              </a:ext>
            </a:extLst>
          </p:cNvPr>
          <p:cNvPicPr>
            <a:picLocks noChangeAspect="1"/>
          </p:cNvPicPr>
          <p:nvPr/>
        </p:nvPicPr>
        <p:blipFill>
          <a:blip r:embed="rId2"/>
          <a:stretch>
            <a:fillRect/>
          </a:stretch>
        </p:blipFill>
        <p:spPr>
          <a:xfrm>
            <a:off x="7860702" y="1204424"/>
            <a:ext cx="3356502" cy="4972597"/>
          </a:xfrm>
          <a:prstGeom prst="rect">
            <a:avLst/>
          </a:prstGeom>
        </p:spPr>
      </p:pic>
      <p:pic>
        <p:nvPicPr>
          <p:cNvPr id="13" name="図 12">
            <a:extLst>
              <a:ext uri="{FF2B5EF4-FFF2-40B4-BE49-F238E27FC236}">
                <a16:creationId xmlns:a16="http://schemas.microsoft.com/office/drawing/2014/main" id="{49FEBBFF-66C7-2167-52B4-B161FEEF5B7D}"/>
              </a:ext>
            </a:extLst>
          </p:cNvPr>
          <p:cNvPicPr>
            <a:picLocks noChangeAspect="1"/>
          </p:cNvPicPr>
          <p:nvPr/>
        </p:nvPicPr>
        <p:blipFill>
          <a:blip r:embed="rId3"/>
          <a:stretch>
            <a:fillRect/>
          </a:stretch>
        </p:blipFill>
        <p:spPr>
          <a:xfrm>
            <a:off x="1459989" y="4615094"/>
            <a:ext cx="4636011" cy="1371751"/>
          </a:xfrm>
          <a:prstGeom prst="rect">
            <a:avLst/>
          </a:prstGeom>
        </p:spPr>
      </p:pic>
      <p:sp>
        <p:nvSpPr>
          <p:cNvPr id="15" name="楕円 14">
            <a:extLst>
              <a:ext uri="{FF2B5EF4-FFF2-40B4-BE49-F238E27FC236}">
                <a16:creationId xmlns:a16="http://schemas.microsoft.com/office/drawing/2014/main" id="{3562D90E-4A4B-4885-AB46-BB8038D5ED33}"/>
              </a:ext>
            </a:extLst>
          </p:cNvPr>
          <p:cNvSpPr/>
          <p:nvPr/>
        </p:nvSpPr>
        <p:spPr>
          <a:xfrm>
            <a:off x="7757211" y="2064350"/>
            <a:ext cx="1410855"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4A573FE2-7B3F-6FA5-F236-3C23D0AA6744}"/>
              </a:ext>
            </a:extLst>
          </p:cNvPr>
          <p:cNvSpPr/>
          <p:nvPr/>
        </p:nvSpPr>
        <p:spPr>
          <a:xfrm>
            <a:off x="8710201" y="3064434"/>
            <a:ext cx="1410855"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8CB5AC4F-75AA-5FE5-84AF-478937A0D571}"/>
              </a:ext>
            </a:extLst>
          </p:cNvPr>
          <p:cNvSpPr/>
          <p:nvPr/>
        </p:nvSpPr>
        <p:spPr>
          <a:xfrm>
            <a:off x="1389260" y="5148569"/>
            <a:ext cx="2146547"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E0F995AF-23AC-DEF0-3D7C-DF723CE23537}"/>
              </a:ext>
            </a:extLst>
          </p:cNvPr>
          <p:cNvSpPr/>
          <p:nvPr/>
        </p:nvSpPr>
        <p:spPr>
          <a:xfrm>
            <a:off x="4363351" y="5618851"/>
            <a:ext cx="1177992" cy="304800"/>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963457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en-US" altLang="ja-JP" dirty="0" err="1"/>
              <a:t>Klayout</a:t>
            </a:r>
            <a:r>
              <a:rPr kumimoji="1" lang="ja-JP" altLang="en-US" dirty="0"/>
              <a:t>：公式</a:t>
            </a:r>
            <a:r>
              <a:rPr kumimoji="1" lang="en-US" altLang="ja-JP" dirty="0"/>
              <a:t>PDK</a:t>
            </a:r>
            <a:r>
              <a:rPr kumimoji="1" lang="ja-JP" altLang="en-US" dirty="0"/>
              <a:t>のレイアウト画面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AE4924DA-8DD3-4A81-8E7F-C675E22BB926}"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94</a:t>
            </a:fld>
            <a:endParaRPr lang="ja-JP" altLang="en-US" noProof="0"/>
          </a:p>
        </p:txBody>
      </p:sp>
      <p:pic>
        <p:nvPicPr>
          <p:cNvPr id="8" name="コンテンツ プレースホルダー 7">
            <a:extLst>
              <a:ext uri="{FF2B5EF4-FFF2-40B4-BE49-F238E27FC236}">
                <a16:creationId xmlns:a16="http://schemas.microsoft.com/office/drawing/2014/main" id="{B1FDCE73-FACB-D3FD-FB6F-F491D9BFA754}"/>
              </a:ext>
            </a:extLst>
          </p:cNvPr>
          <p:cNvPicPr>
            <a:picLocks noGrp="1" noChangeAspect="1"/>
          </p:cNvPicPr>
          <p:nvPr>
            <p:ph sz="quarter" idx="13"/>
          </p:nvPr>
        </p:nvPicPr>
        <p:blipFill>
          <a:blip r:embed="rId2"/>
          <a:stretch>
            <a:fillRect/>
          </a:stretch>
        </p:blipFill>
        <p:spPr>
          <a:xfrm>
            <a:off x="1740720" y="1463675"/>
            <a:ext cx="8618485" cy="4600575"/>
          </a:xfrm>
          <a:prstGeom prst="rect">
            <a:avLst/>
          </a:prstGeom>
        </p:spPr>
      </p:pic>
    </p:spTree>
    <p:extLst>
      <p:ext uri="{BB962C8B-B14F-4D97-AF65-F5344CB8AC3E}">
        <p14:creationId xmlns:p14="http://schemas.microsoft.com/office/powerpoint/2010/main" val="4514339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en-US" altLang="ja-JP" dirty="0" err="1"/>
              <a:t>Klayout</a:t>
            </a:r>
            <a:r>
              <a:rPr kumimoji="1" lang="ja-JP" altLang="en-US" dirty="0"/>
              <a:t>：</a:t>
            </a:r>
            <a:r>
              <a:rPr lang="ja-JP" altLang="en-US" dirty="0"/>
              <a:t>バッググラウンドが「黒」の</a:t>
            </a:r>
            <a:r>
              <a:rPr kumimoji="1" lang="ja-JP" altLang="en-US" dirty="0"/>
              <a:t>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08955E9F-0CD8-420D-9776-FE8768DFF11B}"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95</a:t>
            </a:fld>
            <a:endParaRPr lang="ja-JP" altLang="en-US" noProof="0"/>
          </a:p>
        </p:txBody>
      </p:sp>
      <p:pic>
        <p:nvPicPr>
          <p:cNvPr id="8" name="コンテンツ プレースホルダー 7">
            <a:extLst>
              <a:ext uri="{FF2B5EF4-FFF2-40B4-BE49-F238E27FC236}">
                <a16:creationId xmlns:a16="http://schemas.microsoft.com/office/drawing/2014/main" id="{4D831BC1-FFF2-5C93-627F-985C3C1C2970}"/>
              </a:ext>
            </a:extLst>
          </p:cNvPr>
          <p:cNvPicPr>
            <a:picLocks noGrp="1" noChangeAspect="1"/>
          </p:cNvPicPr>
          <p:nvPr>
            <p:ph sz="quarter" idx="13"/>
          </p:nvPr>
        </p:nvPicPr>
        <p:blipFill>
          <a:blip r:embed="rId2"/>
          <a:stretch>
            <a:fillRect/>
          </a:stretch>
        </p:blipFill>
        <p:spPr>
          <a:xfrm>
            <a:off x="1737064" y="1463675"/>
            <a:ext cx="8625797" cy="4600575"/>
          </a:xfrm>
          <a:prstGeom prst="rect">
            <a:avLst/>
          </a:prstGeom>
        </p:spPr>
      </p:pic>
    </p:spTree>
    <p:extLst>
      <p:ext uri="{BB962C8B-B14F-4D97-AF65-F5344CB8AC3E}">
        <p14:creationId xmlns:p14="http://schemas.microsoft.com/office/powerpoint/2010/main" val="42286738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BEA0C6-D2F0-5DBA-B34B-795FB5AEFFC4}"/>
              </a:ext>
            </a:extLst>
          </p:cNvPr>
          <p:cNvSpPr>
            <a:spLocks noGrp="1"/>
          </p:cNvSpPr>
          <p:nvPr>
            <p:ph type="title"/>
          </p:nvPr>
        </p:nvSpPr>
        <p:spPr/>
        <p:txBody>
          <a:bodyPr/>
          <a:lstStyle/>
          <a:p>
            <a:r>
              <a:rPr kumimoji="1" lang="en-US" altLang="ja-JP" dirty="0" err="1"/>
              <a:t>Klayout</a:t>
            </a:r>
            <a:r>
              <a:rPr kumimoji="1" lang="ja-JP" altLang="en-US" dirty="0"/>
              <a:t>：バックグラウンドを「黒」にする</a:t>
            </a:r>
          </a:p>
        </p:txBody>
      </p:sp>
      <p:sp>
        <p:nvSpPr>
          <p:cNvPr id="3" name="日付プレースホルダー 2">
            <a:extLst>
              <a:ext uri="{FF2B5EF4-FFF2-40B4-BE49-F238E27FC236}">
                <a16:creationId xmlns:a16="http://schemas.microsoft.com/office/drawing/2014/main" id="{19901914-6B58-845C-4C85-D9E9DC532C4F}"/>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A483D8FE-1E11-B227-19D3-6C618E59F4C7}"/>
              </a:ext>
            </a:extLst>
          </p:cNvPr>
          <p:cNvSpPr>
            <a:spLocks noGrp="1"/>
          </p:cNvSpPr>
          <p:nvPr>
            <p:ph type="sldNum" sz="quarter" idx="12"/>
          </p:nvPr>
        </p:nvSpPr>
        <p:spPr/>
        <p:txBody>
          <a:bodyPr/>
          <a:lstStyle/>
          <a:p>
            <a:pPr rtl="0"/>
            <a:fld id="{9860EDB8-5305-433F-BE41-D7A86D811DB3}" type="slidenum">
              <a:rPr lang="en-US" altLang="ja-JP" noProof="0" smtClean="0"/>
              <a:pPr rtl="0"/>
              <a:t>96</a:t>
            </a:fld>
            <a:endParaRPr lang="ja-JP" altLang="en-US" noProof="0"/>
          </a:p>
        </p:txBody>
      </p:sp>
      <p:pic>
        <p:nvPicPr>
          <p:cNvPr id="7" name="コンテンツ プレースホルダー 6" descr="グラフィカル ユーザー インターフェイス, アプリケーション&#10;&#10;自動的に生成された説明">
            <a:extLst>
              <a:ext uri="{FF2B5EF4-FFF2-40B4-BE49-F238E27FC236}">
                <a16:creationId xmlns:a16="http://schemas.microsoft.com/office/drawing/2014/main" id="{BDFA98D1-A03E-E0B1-A7A0-6EE9C7EBD10F}"/>
              </a:ext>
            </a:extLst>
          </p:cNvPr>
          <p:cNvPicPr>
            <a:picLocks noGrp="1" noChangeAspect="1"/>
          </p:cNvPicPr>
          <p:nvPr>
            <p:ph sz="quarter" idx="13"/>
          </p:nvPr>
        </p:nvPicPr>
        <p:blipFill rotWithShape="1">
          <a:blip r:embed="rId2"/>
          <a:srcRect t="3166"/>
          <a:stretch/>
        </p:blipFill>
        <p:spPr>
          <a:xfrm>
            <a:off x="1682496" y="1103290"/>
            <a:ext cx="9025128" cy="5462102"/>
          </a:xfrm>
        </p:spPr>
      </p:pic>
    </p:spTree>
    <p:extLst>
      <p:ext uri="{BB962C8B-B14F-4D97-AF65-F5344CB8AC3E}">
        <p14:creationId xmlns:p14="http://schemas.microsoft.com/office/powerpoint/2010/main" val="30378691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92B8C-304A-7A1E-47CC-95E100EBAA9C}"/>
              </a:ext>
            </a:extLst>
          </p:cNvPr>
          <p:cNvSpPr>
            <a:spLocks noGrp="1"/>
          </p:cNvSpPr>
          <p:nvPr>
            <p:ph type="title"/>
          </p:nvPr>
        </p:nvSpPr>
        <p:spPr/>
        <p:txBody>
          <a:bodyPr/>
          <a:lstStyle/>
          <a:p>
            <a:r>
              <a:rPr kumimoji="1" lang="en-US" altLang="ja-JP" dirty="0" err="1"/>
              <a:t>Klayout</a:t>
            </a:r>
            <a:r>
              <a:rPr kumimoji="1" lang="ja-JP" altLang="en-US" dirty="0"/>
              <a:t>：</a:t>
            </a:r>
            <a:r>
              <a:rPr lang="ja-JP" altLang="en-US" dirty="0"/>
              <a:t>デザインルールの場所</a:t>
            </a:r>
            <a:endParaRPr kumimoji="1" lang="ja-JP" altLang="en-US" dirty="0"/>
          </a:p>
        </p:txBody>
      </p:sp>
      <p:sp>
        <p:nvSpPr>
          <p:cNvPr id="3" name="日付プレースホルダー 2">
            <a:extLst>
              <a:ext uri="{FF2B5EF4-FFF2-40B4-BE49-F238E27FC236}">
                <a16:creationId xmlns:a16="http://schemas.microsoft.com/office/drawing/2014/main" id="{9B7E0E03-6DEB-81D9-AD89-27B9C0831CE6}"/>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077003E-7301-B1D5-6423-420A77F99D15}"/>
              </a:ext>
            </a:extLst>
          </p:cNvPr>
          <p:cNvSpPr>
            <a:spLocks noGrp="1"/>
          </p:cNvSpPr>
          <p:nvPr>
            <p:ph type="sldNum" sz="quarter" idx="12"/>
          </p:nvPr>
        </p:nvSpPr>
        <p:spPr/>
        <p:txBody>
          <a:bodyPr/>
          <a:lstStyle/>
          <a:p>
            <a:pPr rtl="0"/>
            <a:fld id="{9860EDB8-5305-433F-BE41-D7A86D811DB3}" type="slidenum">
              <a:rPr lang="en-US" altLang="ja-JP" noProof="0" smtClean="0"/>
              <a:pPr rtl="0"/>
              <a:t>97</a:t>
            </a:fld>
            <a:endParaRPr lang="ja-JP" altLang="en-US" noProof="0"/>
          </a:p>
        </p:txBody>
      </p:sp>
      <p:sp>
        <p:nvSpPr>
          <p:cNvPr id="5" name="コンテンツ プレースホルダー 4">
            <a:extLst>
              <a:ext uri="{FF2B5EF4-FFF2-40B4-BE49-F238E27FC236}">
                <a16:creationId xmlns:a16="http://schemas.microsoft.com/office/drawing/2014/main" id="{54E28E9B-7F13-E717-67F9-7826A8451B6C}"/>
              </a:ext>
            </a:extLst>
          </p:cNvPr>
          <p:cNvSpPr>
            <a:spLocks noGrp="1"/>
          </p:cNvSpPr>
          <p:nvPr>
            <p:ph sz="quarter" idx="13"/>
          </p:nvPr>
        </p:nvSpPr>
        <p:spPr>
          <a:xfrm>
            <a:off x="444499" y="1463039"/>
            <a:ext cx="10449811" cy="4964351"/>
          </a:xfrm>
        </p:spPr>
        <p:txBody>
          <a:bodyPr>
            <a:normAutofit/>
          </a:bodyPr>
          <a:lstStyle/>
          <a:p>
            <a:pPr marL="285750" indent="-285750"/>
            <a:r>
              <a:rPr lang="ja-JP" altLang="en-US" sz="2400" dirty="0"/>
              <a:t>デザインルールマニュアル</a:t>
            </a:r>
            <a:endParaRPr lang="en-US" altLang="ja-JP" sz="2400" dirty="0"/>
          </a:p>
          <a:p>
            <a:pPr marL="569214" lvl="1" indent="-285750"/>
            <a:r>
              <a:rPr lang="en-US" altLang="ja-JP" sz="2400" dirty="0">
                <a:hlinkClick r:id="rId2"/>
              </a:rPr>
              <a:t>https://gf180mcu-pdk.readthedocs.io/en/latest/</a:t>
            </a:r>
            <a:endParaRPr lang="en-US" altLang="ja-JP" sz="2400" dirty="0"/>
          </a:p>
        </p:txBody>
      </p:sp>
    </p:spTree>
    <p:extLst>
      <p:ext uri="{BB962C8B-B14F-4D97-AF65-F5344CB8AC3E}">
        <p14:creationId xmlns:p14="http://schemas.microsoft.com/office/powerpoint/2010/main" val="27938092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65C413-EF83-3179-CCAB-7BE402EB460B}"/>
              </a:ext>
            </a:extLst>
          </p:cNvPr>
          <p:cNvSpPr>
            <a:spLocks noGrp="1"/>
          </p:cNvSpPr>
          <p:nvPr>
            <p:ph type="title"/>
          </p:nvPr>
        </p:nvSpPr>
        <p:spPr/>
        <p:txBody>
          <a:bodyPr/>
          <a:lstStyle/>
          <a:p>
            <a:r>
              <a:rPr kumimoji="1" lang="en-US" altLang="ja-JP" dirty="0" err="1"/>
              <a:t>Klayout</a:t>
            </a:r>
            <a:r>
              <a:rPr kumimoji="1" lang="ja-JP" altLang="en-US" dirty="0"/>
              <a:t>：完成サンプル</a:t>
            </a:r>
          </a:p>
        </p:txBody>
      </p:sp>
      <p:sp>
        <p:nvSpPr>
          <p:cNvPr id="3" name="日付プレースホルダー 2">
            <a:extLst>
              <a:ext uri="{FF2B5EF4-FFF2-40B4-BE49-F238E27FC236}">
                <a16:creationId xmlns:a16="http://schemas.microsoft.com/office/drawing/2014/main" id="{8F98E7B9-0EBF-1E9D-F45C-317BD9E36A43}"/>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475CC39-3DA1-C1B0-6E0C-724C2D7E7146}"/>
              </a:ext>
            </a:extLst>
          </p:cNvPr>
          <p:cNvSpPr>
            <a:spLocks noGrp="1"/>
          </p:cNvSpPr>
          <p:nvPr>
            <p:ph type="sldNum" sz="quarter" idx="12"/>
          </p:nvPr>
        </p:nvSpPr>
        <p:spPr/>
        <p:txBody>
          <a:bodyPr/>
          <a:lstStyle/>
          <a:p>
            <a:pPr rtl="0"/>
            <a:fld id="{9860EDB8-5305-433F-BE41-D7A86D811DB3}" type="slidenum">
              <a:rPr lang="en-US" altLang="ja-JP" noProof="0" smtClean="0"/>
              <a:pPr rtl="0"/>
              <a:t>98</a:t>
            </a:fld>
            <a:endParaRPr lang="ja-JP" altLang="en-US" noProof="0"/>
          </a:p>
        </p:txBody>
      </p:sp>
      <p:pic>
        <p:nvPicPr>
          <p:cNvPr id="13" name="コンテンツ プレースホルダー 12">
            <a:extLst>
              <a:ext uri="{FF2B5EF4-FFF2-40B4-BE49-F238E27FC236}">
                <a16:creationId xmlns:a16="http://schemas.microsoft.com/office/drawing/2014/main" id="{8C1417FD-148F-92F4-D4E4-6DD3DDFB6DCB}"/>
              </a:ext>
            </a:extLst>
          </p:cNvPr>
          <p:cNvPicPr>
            <a:picLocks noGrp="1" noChangeAspect="1"/>
          </p:cNvPicPr>
          <p:nvPr>
            <p:ph sz="quarter" idx="13"/>
          </p:nvPr>
        </p:nvPicPr>
        <p:blipFill>
          <a:blip r:embed="rId2"/>
          <a:stretch>
            <a:fillRect/>
          </a:stretch>
        </p:blipFill>
        <p:spPr>
          <a:xfrm>
            <a:off x="1745331" y="1463675"/>
            <a:ext cx="8609263" cy="4600575"/>
          </a:xfrm>
          <a:prstGeom prst="rect">
            <a:avLst/>
          </a:prstGeom>
        </p:spPr>
      </p:pic>
    </p:spTree>
    <p:extLst>
      <p:ext uri="{BB962C8B-B14F-4D97-AF65-F5344CB8AC3E}">
        <p14:creationId xmlns:p14="http://schemas.microsoft.com/office/powerpoint/2010/main" val="38481246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99</a:t>
            </a:fld>
            <a:endParaRPr lang="ja-JP" altLang="en-US" noProof="0"/>
          </a:p>
        </p:txBody>
      </p:sp>
      <p:sp>
        <p:nvSpPr>
          <p:cNvPr id="5" name="コンテンツ プレースホルダー 4">
            <a:extLst>
              <a:ext uri="{FF2B5EF4-FFF2-40B4-BE49-F238E27FC236}">
                <a16:creationId xmlns:a16="http://schemas.microsoft.com/office/drawing/2014/main" id="{9113F80F-46E2-6936-2FFE-0C90F52D4466}"/>
              </a:ext>
            </a:extLst>
          </p:cNvPr>
          <p:cNvSpPr>
            <a:spLocks noGrp="1"/>
          </p:cNvSpPr>
          <p:nvPr>
            <p:ph sz="quarter" idx="13"/>
          </p:nvPr>
        </p:nvSpPr>
        <p:spPr/>
        <p:txBody>
          <a:bodyPr/>
          <a:lstStyle/>
          <a:p>
            <a:pPr marL="285750" indent="-285750">
              <a:buFont typeface="Arial" panose="020B0604020202020204" pitchFamily="34" charset="0"/>
              <a:buChar char="•"/>
            </a:pPr>
            <a:r>
              <a:rPr kumimoji="1" lang="en-US" altLang="ja-JP" dirty="0"/>
              <a:t>P-Cell</a:t>
            </a:r>
            <a:r>
              <a:rPr kumimoji="1" lang="ja-JP" altLang="en-US" dirty="0"/>
              <a:t>（パラメータ化セル）とは、</a:t>
            </a:r>
            <a:r>
              <a:rPr kumimoji="1" lang="en-US" altLang="ja-JP" dirty="0"/>
              <a:t>EDA</a:t>
            </a:r>
            <a:r>
              <a:rPr kumimoji="1" lang="ja-JP" altLang="en-US" dirty="0"/>
              <a:t>で使用される再利用可能で構成可能なブロックのことです。</a:t>
            </a:r>
            <a:r>
              <a:rPr kumimoji="1" lang="en-US" altLang="ja-JP" dirty="0"/>
              <a:t>P-Cell</a:t>
            </a:r>
            <a:r>
              <a:rPr kumimoji="1" lang="ja-JP" altLang="en-US" dirty="0"/>
              <a:t>は、集積回路のレイアウトパターンを特定の設計要件に応じて調整可能なパラメータで作成することができます。これにより、各プロジェクトごとにレイアウト全体を再設計する必要がなくなり、設計プロセスの効率と柔軟性が大幅に向上します。</a:t>
            </a:r>
          </a:p>
        </p:txBody>
      </p:sp>
      <p:pic>
        <p:nvPicPr>
          <p:cNvPr id="12" name="図 11">
            <a:extLst>
              <a:ext uri="{FF2B5EF4-FFF2-40B4-BE49-F238E27FC236}">
                <a16:creationId xmlns:a16="http://schemas.microsoft.com/office/drawing/2014/main" id="{2A097B3E-FC67-5B83-7E58-11D09C52EA5E}"/>
              </a:ext>
            </a:extLst>
          </p:cNvPr>
          <p:cNvPicPr>
            <a:picLocks noChangeAspect="1"/>
          </p:cNvPicPr>
          <p:nvPr/>
        </p:nvPicPr>
        <p:blipFill>
          <a:blip r:embed="rId2"/>
          <a:stretch>
            <a:fillRect/>
          </a:stretch>
        </p:blipFill>
        <p:spPr>
          <a:xfrm>
            <a:off x="2506768" y="2291811"/>
            <a:ext cx="7860700" cy="4190598"/>
          </a:xfrm>
          <a:prstGeom prst="rect">
            <a:avLst/>
          </a:prstGeom>
        </p:spPr>
      </p:pic>
      <p:sp>
        <p:nvSpPr>
          <p:cNvPr id="7" name="吹き出し: 角を丸めた四角形 6">
            <a:extLst>
              <a:ext uri="{FF2B5EF4-FFF2-40B4-BE49-F238E27FC236}">
                <a16:creationId xmlns:a16="http://schemas.microsoft.com/office/drawing/2014/main" id="{9D56DEA5-10A4-A088-09A3-57794B57E59B}"/>
              </a:ext>
            </a:extLst>
          </p:cNvPr>
          <p:cNvSpPr/>
          <p:nvPr/>
        </p:nvSpPr>
        <p:spPr>
          <a:xfrm>
            <a:off x="3562099" y="2596896"/>
            <a:ext cx="3373599" cy="832104"/>
          </a:xfrm>
          <a:prstGeom prst="wedgeRoundRectCallout">
            <a:avLst>
              <a:gd name="adj1" fmla="val -51835"/>
              <a:gd name="adj2" fmla="val 9558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Gf180mcu – GF180MCU </a:t>
            </a:r>
            <a:r>
              <a:rPr kumimoji="1" lang="en-US" altLang="ja-JP" dirty="0" err="1"/>
              <a:t>PCells</a:t>
            </a:r>
            <a:r>
              <a:rPr kumimoji="1" lang="ja-JP" altLang="en-US" dirty="0"/>
              <a:t>を選択する</a:t>
            </a:r>
            <a:endParaRPr kumimoji="1" lang="en-US" altLang="ja-JP" dirty="0"/>
          </a:p>
        </p:txBody>
      </p:sp>
      <p:sp>
        <p:nvSpPr>
          <p:cNvPr id="8" name="楕円 7">
            <a:extLst>
              <a:ext uri="{FF2B5EF4-FFF2-40B4-BE49-F238E27FC236}">
                <a16:creationId xmlns:a16="http://schemas.microsoft.com/office/drawing/2014/main" id="{4B35D778-A45E-ECFC-C0A5-0EC587D07FDA}"/>
              </a:ext>
            </a:extLst>
          </p:cNvPr>
          <p:cNvSpPr/>
          <p:nvPr/>
        </p:nvSpPr>
        <p:spPr>
          <a:xfrm>
            <a:off x="2262511" y="3735649"/>
            <a:ext cx="1299588"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22988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100</a:t>
            </a:fld>
            <a:endParaRPr lang="ja-JP" altLang="en-US" noProof="0"/>
          </a:p>
        </p:txBody>
      </p:sp>
      <p:pic>
        <p:nvPicPr>
          <p:cNvPr id="6" name="図 5">
            <a:extLst>
              <a:ext uri="{FF2B5EF4-FFF2-40B4-BE49-F238E27FC236}">
                <a16:creationId xmlns:a16="http://schemas.microsoft.com/office/drawing/2014/main" id="{BB1CCE25-3F9D-BB31-07C2-422EED88967C}"/>
              </a:ext>
            </a:extLst>
          </p:cNvPr>
          <p:cNvPicPr>
            <a:picLocks noChangeAspect="1"/>
          </p:cNvPicPr>
          <p:nvPr/>
        </p:nvPicPr>
        <p:blipFill>
          <a:blip r:embed="rId2"/>
          <a:stretch>
            <a:fillRect/>
          </a:stretch>
        </p:blipFill>
        <p:spPr>
          <a:xfrm>
            <a:off x="839835" y="1162749"/>
            <a:ext cx="9872735" cy="5270098"/>
          </a:xfrm>
          <a:prstGeom prst="rect">
            <a:avLst/>
          </a:prstGeom>
        </p:spPr>
      </p:pic>
      <p:sp>
        <p:nvSpPr>
          <p:cNvPr id="8" name="楕円 7">
            <a:extLst>
              <a:ext uri="{FF2B5EF4-FFF2-40B4-BE49-F238E27FC236}">
                <a16:creationId xmlns:a16="http://schemas.microsoft.com/office/drawing/2014/main" id="{2773B07F-A7C1-DFFF-393F-EE4F660F7673}"/>
              </a:ext>
            </a:extLst>
          </p:cNvPr>
          <p:cNvSpPr/>
          <p:nvPr/>
        </p:nvSpPr>
        <p:spPr>
          <a:xfrm>
            <a:off x="1043814" y="4929903"/>
            <a:ext cx="805070" cy="23531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CE2FD96A-6F24-21AF-5810-CD60A5477C17}"/>
              </a:ext>
            </a:extLst>
          </p:cNvPr>
          <p:cNvSpPr/>
          <p:nvPr/>
        </p:nvSpPr>
        <p:spPr>
          <a:xfrm>
            <a:off x="3568741" y="1262713"/>
            <a:ext cx="516835" cy="58640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E202D0D7-8208-36A3-389B-28E63600A6D6}"/>
              </a:ext>
            </a:extLst>
          </p:cNvPr>
          <p:cNvSpPr/>
          <p:nvPr/>
        </p:nvSpPr>
        <p:spPr>
          <a:xfrm>
            <a:off x="4591387" y="2605493"/>
            <a:ext cx="1299588" cy="290766"/>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吹き出し: 角を丸めた四角形 15">
            <a:extLst>
              <a:ext uri="{FF2B5EF4-FFF2-40B4-BE49-F238E27FC236}">
                <a16:creationId xmlns:a16="http://schemas.microsoft.com/office/drawing/2014/main" id="{195E69B4-F569-D532-12FB-6959A5B1CE4E}"/>
              </a:ext>
            </a:extLst>
          </p:cNvPr>
          <p:cNvSpPr/>
          <p:nvPr/>
        </p:nvSpPr>
        <p:spPr>
          <a:xfrm>
            <a:off x="42685" y="3501339"/>
            <a:ext cx="2711298" cy="832104"/>
          </a:xfrm>
          <a:prstGeom prst="wedgeRoundRectCallout">
            <a:avLst>
              <a:gd name="adj1" fmla="val 8196"/>
              <a:gd name="adj2" fmla="val 12100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２，虫眼鏡をクリック</a:t>
            </a:r>
            <a:endParaRPr kumimoji="1" lang="en-US" altLang="ja-JP" dirty="0"/>
          </a:p>
        </p:txBody>
      </p:sp>
      <p:sp>
        <p:nvSpPr>
          <p:cNvPr id="18" name="吹き出し: 角を丸めた四角形 17">
            <a:extLst>
              <a:ext uri="{FF2B5EF4-FFF2-40B4-BE49-F238E27FC236}">
                <a16:creationId xmlns:a16="http://schemas.microsoft.com/office/drawing/2014/main" id="{5C7BC45C-11EC-37B0-C83E-45800B759D4A}"/>
              </a:ext>
            </a:extLst>
          </p:cNvPr>
          <p:cNvSpPr/>
          <p:nvPr/>
        </p:nvSpPr>
        <p:spPr>
          <a:xfrm>
            <a:off x="7415719" y="1517804"/>
            <a:ext cx="2829648" cy="832104"/>
          </a:xfrm>
          <a:prstGeom prst="wedgeRoundRectCallout">
            <a:avLst>
              <a:gd name="adj1" fmla="val -115616"/>
              <a:gd name="adj2" fmla="val 8464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３，目当ての</a:t>
            </a:r>
            <a:r>
              <a:rPr kumimoji="1" lang="en-US" altLang="ja-JP" dirty="0" err="1"/>
              <a:t>Pcell</a:t>
            </a:r>
            <a:r>
              <a:rPr kumimoji="1" lang="ja-JP" altLang="en-US" dirty="0"/>
              <a:t>の名前を入力する</a:t>
            </a:r>
            <a:endParaRPr kumimoji="1" lang="en-US" altLang="ja-JP" dirty="0"/>
          </a:p>
        </p:txBody>
      </p:sp>
      <p:sp>
        <p:nvSpPr>
          <p:cNvPr id="20" name="吹き出し: 角を丸めた四角形 19">
            <a:extLst>
              <a:ext uri="{FF2B5EF4-FFF2-40B4-BE49-F238E27FC236}">
                <a16:creationId xmlns:a16="http://schemas.microsoft.com/office/drawing/2014/main" id="{2E21395C-2FA5-9EEC-9047-9487C395E872}"/>
              </a:ext>
            </a:extLst>
          </p:cNvPr>
          <p:cNvSpPr/>
          <p:nvPr/>
        </p:nvSpPr>
        <p:spPr>
          <a:xfrm>
            <a:off x="6923948" y="3975325"/>
            <a:ext cx="2829648" cy="832104"/>
          </a:xfrm>
          <a:prstGeom prst="wedgeRoundRectCallout">
            <a:avLst>
              <a:gd name="adj1" fmla="val -68900"/>
              <a:gd name="adj2" fmla="val 679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４，</a:t>
            </a:r>
            <a:r>
              <a:rPr kumimoji="1" lang="en-US" altLang="ja-JP" dirty="0"/>
              <a:t>OK</a:t>
            </a:r>
            <a:r>
              <a:rPr kumimoji="1" lang="ja-JP" altLang="en-US" dirty="0"/>
              <a:t>をクリック</a:t>
            </a:r>
            <a:endParaRPr kumimoji="1" lang="en-US" altLang="ja-JP" dirty="0"/>
          </a:p>
        </p:txBody>
      </p:sp>
      <p:sp>
        <p:nvSpPr>
          <p:cNvPr id="14" name="吹き出し: 角を丸めた四角形 13">
            <a:extLst>
              <a:ext uri="{FF2B5EF4-FFF2-40B4-BE49-F238E27FC236}">
                <a16:creationId xmlns:a16="http://schemas.microsoft.com/office/drawing/2014/main" id="{7B0EC8ED-2D03-677D-79EA-853C40E6E8C4}"/>
              </a:ext>
            </a:extLst>
          </p:cNvPr>
          <p:cNvSpPr/>
          <p:nvPr/>
        </p:nvSpPr>
        <p:spPr>
          <a:xfrm>
            <a:off x="4740351" y="243467"/>
            <a:ext cx="2711298" cy="832104"/>
          </a:xfrm>
          <a:prstGeom prst="wedgeRoundRectCallout">
            <a:avLst>
              <a:gd name="adj1" fmla="val -75172"/>
              <a:gd name="adj2" fmla="val 9810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a:t>Instance</a:t>
            </a:r>
            <a:r>
              <a:rPr kumimoji="1" lang="ja-JP" altLang="en-US" dirty="0"/>
              <a:t>をクリック</a:t>
            </a:r>
            <a:endParaRPr kumimoji="1" lang="en-US" altLang="ja-JP" dirty="0"/>
          </a:p>
        </p:txBody>
      </p:sp>
    </p:spTree>
    <p:extLst>
      <p:ext uri="{BB962C8B-B14F-4D97-AF65-F5344CB8AC3E}">
        <p14:creationId xmlns:p14="http://schemas.microsoft.com/office/powerpoint/2010/main" val="5528139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F7037264-ADDA-DBFA-ACF1-0F23BB644AFA}"/>
              </a:ext>
            </a:extLst>
          </p:cNvPr>
          <p:cNvPicPr>
            <a:picLocks noChangeAspect="1"/>
          </p:cNvPicPr>
          <p:nvPr/>
        </p:nvPicPr>
        <p:blipFill>
          <a:blip r:embed="rId2"/>
          <a:stretch>
            <a:fillRect/>
          </a:stretch>
        </p:blipFill>
        <p:spPr>
          <a:xfrm>
            <a:off x="1121042" y="1101639"/>
            <a:ext cx="10225655" cy="5464334"/>
          </a:xfrm>
          <a:prstGeom prst="rect">
            <a:avLst/>
          </a:prstGeom>
        </p:spPr>
      </p:pic>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101</a:t>
            </a:fld>
            <a:endParaRPr lang="ja-JP" altLang="en-US" noProof="0"/>
          </a:p>
        </p:txBody>
      </p:sp>
      <p:sp>
        <p:nvSpPr>
          <p:cNvPr id="12" name="楕円 11">
            <a:extLst>
              <a:ext uri="{FF2B5EF4-FFF2-40B4-BE49-F238E27FC236}">
                <a16:creationId xmlns:a16="http://schemas.microsoft.com/office/drawing/2014/main" id="{A827C668-CA2E-9930-C72D-CB20147AC627}"/>
              </a:ext>
            </a:extLst>
          </p:cNvPr>
          <p:cNvSpPr/>
          <p:nvPr/>
        </p:nvSpPr>
        <p:spPr>
          <a:xfrm flipH="1" flipV="1">
            <a:off x="1121044" y="3928849"/>
            <a:ext cx="1543761" cy="368747"/>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吹き出し: 角を丸めた四角形 13">
            <a:extLst>
              <a:ext uri="{FF2B5EF4-FFF2-40B4-BE49-F238E27FC236}">
                <a16:creationId xmlns:a16="http://schemas.microsoft.com/office/drawing/2014/main" id="{B7601615-BC96-35E3-3144-498EF6BB2649}"/>
              </a:ext>
            </a:extLst>
          </p:cNvPr>
          <p:cNvSpPr/>
          <p:nvPr/>
        </p:nvSpPr>
        <p:spPr>
          <a:xfrm>
            <a:off x="0" y="2439749"/>
            <a:ext cx="2953037" cy="832104"/>
          </a:xfrm>
          <a:prstGeom prst="wedgeRoundRectCallout">
            <a:avLst>
              <a:gd name="adj1" fmla="val 24911"/>
              <a:gd name="adj2" fmla="val 10156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err="1"/>
              <a:t>PCell</a:t>
            </a:r>
            <a:r>
              <a:rPr kumimoji="1" lang="ja-JP" altLang="en-US" dirty="0"/>
              <a:t>タブをクリック</a:t>
            </a:r>
            <a:endParaRPr kumimoji="1" lang="en-US" altLang="ja-JP" dirty="0"/>
          </a:p>
        </p:txBody>
      </p:sp>
      <p:sp>
        <p:nvSpPr>
          <p:cNvPr id="16" name="吹き出し: 角を丸めた四角形 15">
            <a:extLst>
              <a:ext uri="{FF2B5EF4-FFF2-40B4-BE49-F238E27FC236}">
                <a16:creationId xmlns:a16="http://schemas.microsoft.com/office/drawing/2014/main" id="{9BA1408F-AE3F-EC67-C490-E8B94711889A}"/>
              </a:ext>
            </a:extLst>
          </p:cNvPr>
          <p:cNvSpPr/>
          <p:nvPr/>
        </p:nvSpPr>
        <p:spPr>
          <a:xfrm>
            <a:off x="3466338" y="3624820"/>
            <a:ext cx="2953037" cy="832104"/>
          </a:xfrm>
          <a:prstGeom prst="wedgeRoundRectCallout">
            <a:avLst>
              <a:gd name="adj1" fmla="val -76219"/>
              <a:gd name="adj2" fmla="val -44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２，作りたい値を入力</a:t>
            </a:r>
            <a:endParaRPr kumimoji="1" lang="en-US" altLang="ja-JP" dirty="0"/>
          </a:p>
        </p:txBody>
      </p:sp>
      <p:sp>
        <p:nvSpPr>
          <p:cNvPr id="18" name="正方形/長方形 17">
            <a:extLst>
              <a:ext uri="{FF2B5EF4-FFF2-40B4-BE49-F238E27FC236}">
                <a16:creationId xmlns:a16="http://schemas.microsoft.com/office/drawing/2014/main" id="{EDAB9BA9-BCF2-A524-EEBA-FE4CC24A60A4}"/>
              </a:ext>
            </a:extLst>
          </p:cNvPr>
          <p:cNvSpPr/>
          <p:nvPr/>
        </p:nvSpPr>
        <p:spPr>
          <a:xfrm>
            <a:off x="6023487" y="4154118"/>
            <a:ext cx="3137452" cy="711659"/>
          </a:xfrm>
          <a:prstGeom prst="rect">
            <a:avLst/>
          </a:prstGeom>
        </p:spPr>
        <p:style>
          <a:lnRef idx="1">
            <a:schemeClr val="accent4"/>
          </a:lnRef>
          <a:fillRef idx="2">
            <a:schemeClr val="accent4"/>
          </a:fillRef>
          <a:effectRef idx="1">
            <a:schemeClr val="accent4"/>
          </a:effectRef>
          <a:fontRef idx="minor">
            <a:schemeClr val="dk1"/>
          </a:fontRef>
        </p:style>
        <p:txBody>
          <a:bodyPr rtlCol="0" anchor="t"/>
          <a:lstStyle/>
          <a:p>
            <a:pPr marL="285750" indent="-285750">
              <a:buFont typeface="Arial" panose="020B0604020202020204" pitchFamily="34" charset="0"/>
              <a:buChar char="•"/>
            </a:pPr>
            <a:r>
              <a:rPr kumimoji="1" lang="ja-JP" altLang="en-US" dirty="0"/>
              <a:t>この場合は、設計した</a:t>
            </a:r>
            <a:r>
              <a:rPr kumimoji="1" lang="en-US" altLang="ja-JP" dirty="0"/>
              <a:t>W</a:t>
            </a:r>
            <a:r>
              <a:rPr kumimoji="1" lang="ja-JP" altLang="en-US" dirty="0"/>
              <a:t>と</a:t>
            </a:r>
            <a:r>
              <a:rPr kumimoji="1" lang="en-US" altLang="ja-JP" dirty="0"/>
              <a:t>L</a:t>
            </a:r>
            <a:r>
              <a:rPr kumimoji="1" lang="ja-JP" altLang="en-US" dirty="0"/>
              <a:t>の値を入力する</a:t>
            </a:r>
          </a:p>
        </p:txBody>
      </p:sp>
    </p:spTree>
    <p:extLst>
      <p:ext uri="{BB962C8B-B14F-4D97-AF65-F5344CB8AC3E}">
        <p14:creationId xmlns:p14="http://schemas.microsoft.com/office/powerpoint/2010/main" val="10793690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1C6685-0BBE-1EAB-D93A-26CA2C3C46EF}"/>
              </a:ext>
            </a:extLst>
          </p:cNvPr>
          <p:cNvSpPr>
            <a:spLocks noGrp="1"/>
          </p:cNvSpPr>
          <p:nvPr>
            <p:ph type="title"/>
          </p:nvPr>
        </p:nvSpPr>
        <p:spPr/>
        <p:txBody>
          <a:bodyPr/>
          <a:lstStyle/>
          <a:p>
            <a:r>
              <a:rPr kumimoji="1" lang="en-US" altLang="ja-JP" dirty="0" err="1"/>
              <a:t>Klayout</a:t>
            </a:r>
            <a:r>
              <a:rPr kumimoji="1" lang="ja-JP" altLang="en-US" dirty="0"/>
              <a:t>：</a:t>
            </a:r>
            <a:r>
              <a:rPr kumimoji="1" lang="en-US" altLang="ja-JP" dirty="0"/>
              <a:t>P-Cell</a:t>
            </a:r>
            <a:r>
              <a:rPr kumimoji="1" lang="ja-JP" altLang="en-US" dirty="0"/>
              <a:t>の使い方</a:t>
            </a:r>
          </a:p>
        </p:txBody>
      </p:sp>
      <p:sp>
        <p:nvSpPr>
          <p:cNvPr id="3" name="日付プレースホルダー 2">
            <a:extLst>
              <a:ext uri="{FF2B5EF4-FFF2-40B4-BE49-F238E27FC236}">
                <a16:creationId xmlns:a16="http://schemas.microsoft.com/office/drawing/2014/main" id="{78AC0C93-A203-F5C2-C45A-0B836857307C}"/>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4ABF472-B63F-0E32-0878-67CCBD4DB842}"/>
              </a:ext>
            </a:extLst>
          </p:cNvPr>
          <p:cNvSpPr>
            <a:spLocks noGrp="1"/>
          </p:cNvSpPr>
          <p:nvPr>
            <p:ph type="sldNum" sz="quarter" idx="12"/>
          </p:nvPr>
        </p:nvSpPr>
        <p:spPr/>
        <p:txBody>
          <a:bodyPr/>
          <a:lstStyle/>
          <a:p>
            <a:pPr rtl="0"/>
            <a:fld id="{9860EDB8-5305-433F-BE41-D7A86D811DB3}" type="slidenum">
              <a:rPr lang="en-US" altLang="ja-JP" noProof="0" smtClean="0"/>
              <a:pPr rtl="0"/>
              <a:t>102</a:t>
            </a:fld>
            <a:endParaRPr lang="ja-JP" altLang="en-US" noProof="0"/>
          </a:p>
        </p:txBody>
      </p:sp>
      <p:pic>
        <p:nvPicPr>
          <p:cNvPr id="9" name="図 8">
            <a:extLst>
              <a:ext uri="{FF2B5EF4-FFF2-40B4-BE49-F238E27FC236}">
                <a16:creationId xmlns:a16="http://schemas.microsoft.com/office/drawing/2014/main" id="{1A5B3AF7-F142-9ECC-7019-727215596AF0}"/>
              </a:ext>
            </a:extLst>
          </p:cNvPr>
          <p:cNvPicPr>
            <a:picLocks noChangeAspect="1"/>
          </p:cNvPicPr>
          <p:nvPr/>
        </p:nvPicPr>
        <p:blipFill>
          <a:blip r:embed="rId2"/>
          <a:stretch>
            <a:fillRect/>
          </a:stretch>
        </p:blipFill>
        <p:spPr>
          <a:xfrm>
            <a:off x="0" y="1137313"/>
            <a:ext cx="7425598" cy="3952303"/>
          </a:xfrm>
          <a:prstGeom prst="rect">
            <a:avLst/>
          </a:prstGeom>
        </p:spPr>
      </p:pic>
      <p:sp>
        <p:nvSpPr>
          <p:cNvPr id="8" name="吹き出し: 角を丸めた四角形 7">
            <a:extLst>
              <a:ext uri="{FF2B5EF4-FFF2-40B4-BE49-F238E27FC236}">
                <a16:creationId xmlns:a16="http://schemas.microsoft.com/office/drawing/2014/main" id="{8EF94F8F-6104-A08C-9B81-2EF3EAD2808E}"/>
              </a:ext>
            </a:extLst>
          </p:cNvPr>
          <p:cNvSpPr/>
          <p:nvPr/>
        </p:nvSpPr>
        <p:spPr>
          <a:xfrm>
            <a:off x="176288" y="1137313"/>
            <a:ext cx="3552128" cy="832104"/>
          </a:xfrm>
          <a:prstGeom prst="wedgeRoundRectCallout">
            <a:avLst>
              <a:gd name="adj1" fmla="val 43725"/>
              <a:gd name="adj2" fmla="val 8904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置きたい場所をクリックすると配置される</a:t>
            </a:r>
            <a:endParaRPr kumimoji="1" lang="en-US" altLang="ja-JP" dirty="0"/>
          </a:p>
        </p:txBody>
      </p:sp>
      <p:pic>
        <p:nvPicPr>
          <p:cNvPr id="12" name="図 11">
            <a:extLst>
              <a:ext uri="{FF2B5EF4-FFF2-40B4-BE49-F238E27FC236}">
                <a16:creationId xmlns:a16="http://schemas.microsoft.com/office/drawing/2014/main" id="{F80094CA-0001-45FF-ABDE-F65BA6E4BE84}"/>
              </a:ext>
            </a:extLst>
          </p:cNvPr>
          <p:cNvPicPr>
            <a:picLocks noChangeAspect="1"/>
          </p:cNvPicPr>
          <p:nvPr/>
        </p:nvPicPr>
        <p:blipFill>
          <a:blip r:embed="rId3"/>
          <a:stretch>
            <a:fillRect/>
          </a:stretch>
        </p:blipFill>
        <p:spPr>
          <a:xfrm>
            <a:off x="5584512" y="3428498"/>
            <a:ext cx="6607488" cy="3520666"/>
          </a:xfrm>
          <a:prstGeom prst="rect">
            <a:avLst/>
          </a:prstGeom>
        </p:spPr>
      </p:pic>
      <p:sp>
        <p:nvSpPr>
          <p:cNvPr id="10" name="吹き出し: 角を丸めた四角形 9">
            <a:extLst>
              <a:ext uri="{FF2B5EF4-FFF2-40B4-BE49-F238E27FC236}">
                <a16:creationId xmlns:a16="http://schemas.microsoft.com/office/drawing/2014/main" id="{CEDA5142-F820-2235-6171-2C373CD3175C}"/>
              </a:ext>
            </a:extLst>
          </p:cNvPr>
          <p:cNvSpPr/>
          <p:nvPr/>
        </p:nvSpPr>
        <p:spPr>
          <a:xfrm>
            <a:off x="6144636" y="2777185"/>
            <a:ext cx="2257252" cy="1080444"/>
          </a:xfrm>
          <a:prstGeom prst="wedgeRoundRectCallout">
            <a:avLst>
              <a:gd name="adj1" fmla="val -49257"/>
              <a:gd name="adj2" fmla="val 113892"/>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中身を見る場合はここのレイヤーの数字を増やす</a:t>
            </a:r>
            <a:endParaRPr kumimoji="1" lang="en-US" altLang="ja-JP" dirty="0"/>
          </a:p>
        </p:txBody>
      </p:sp>
    </p:spTree>
    <p:extLst>
      <p:ext uri="{BB962C8B-B14F-4D97-AF65-F5344CB8AC3E}">
        <p14:creationId xmlns:p14="http://schemas.microsoft.com/office/powerpoint/2010/main" val="3281572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433B56-9CAF-7B5F-6502-C3C06C740F05}"/>
              </a:ext>
            </a:extLst>
          </p:cNvPr>
          <p:cNvSpPr>
            <a:spLocks noGrp="1"/>
          </p:cNvSpPr>
          <p:nvPr>
            <p:ph type="title"/>
          </p:nvPr>
        </p:nvSpPr>
        <p:spPr/>
        <p:txBody>
          <a:bodyPr/>
          <a:lstStyle/>
          <a:p>
            <a:r>
              <a:rPr kumimoji="1" lang="en-US" altLang="ja-JP" dirty="0" err="1"/>
              <a:t>Pcell</a:t>
            </a:r>
            <a:r>
              <a:rPr kumimoji="1" lang="ja-JP" altLang="en-US" dirty="0"/>
              <a:t>のパラメータ</a:t>
            </a:r>
          </a:p>
        </p:txBody>
      </p:sp>
      <p:sp>
        <p:nvSpPr>
          <p:cNvPr id="3" name="日付プレースホルダー 2">
            <a:extLst>
              <a:ext uri="{FF2B5EF4-FFF2-40B4-BE49-F238E27FC236}">
                <a16:creationId xmlns:a16="http://schemas.microsoft.com/office/drawing/2014/main" id="{BDDC70D5-20FF-5BB6-BD35-67D40C41EFC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FE39DE84-4928-4DA9-7AD9-85BB238DC092}"/>
              </a:ext>
            </a:extLst>
          </p:cNvPr>
          <p:cNvSpPr>
            <a:spLocks noGrp="1"/>
          </p:cNvSpPr>
          <p:nvPr>
            <p:ph type="sldNum" sz="quarter" idx="12"/>
          </p:nvPr>
        </p:nvSpPr>
        <p:spPr/>
        <p:txBody>
          <a:bodyPr/>
          <a:lstStyle/>
          <a:p>
            <a:pPr rtl="0"/>
            <a:fld id="{9860EDB8-5305-433F-BE41-D7A86D811DB3}" type="slidenum">
              <a:rPr lang="en-US" altLang="ja-JP" noProof="0" smtClean="0"/>
              <a:pPr rtl="0"/>
              <a:t>103</a:t>
            </a:fld>
            <a:endParaRPr lang="ja-JP" altLang="en-US" noProof="0"/>
          </a:p>
        </p:txBody>
      </p:sp>
      <p:pic>
        <p:nvPicPr>
          <p:cNvPr id="9" name="図 8">
            <a:extLst>
              <a:ext uri="{FF2B5EF4-FFF2-40B4-BE49-F238E27FC236}">
                <a16:creationId xmlns:a16="http://schemas.microsoft.com/office/drawing/2014/main" id="{C0C07EC3-480D-9F21-2EB0-41202705FD29}"/>
              </a:ext>
            </a:extLst>
          </p:cNvPr>
          <p:cNvPicPr>
            <a:picLocks noChangeAspect="1"/>
          </p:cNvPicPr>
          <p:nvPr/>
        </p:nvPicPr>
        <p:blipFill>
          <a:blip r:embed="rId2"/>
          <a:srcRect r="24779"/>
          <a:stretch>
            <a:fillRect/>
          </a:stretch>
        </p:blipFill>
        <p:spPr>
          <a:xfrm>
            <a:off x="7874206" y="1461196"/>
            <a:ext cx="4193519" cy="4600575"/>
          </a:xfrm>
          <a:prstGeom prst="rect">
            <a:avLst/>
          </a:prstGeom>
        </p:spPr>
      </p:pic>
      <p:sp>
        <p:nvSpPr>
          <p:cNvPr id="10" name="コンテンツ プレースホルダー 1">
            <a:extLst>
              <a:ext uri="{FF2B5EF4-FFF2-40B4-BE49-F238E27FC236}">
                <a16:creationId xmlns:a16="http://schemas.microsoft.com/office/drawing/2014/main" id="{E8C9C14E-EF22-D38A-24CF-FC006FE4326A}"/>
              </a:ext>
            </a:extLst>
          </p:cNvPr>
          <p:cNvSpPr txBox="1">
            <a:spLocks/>
          </p:cNvSpPr>
          <p:nvPr/>
        </p:nvSpPr>
        <p:spPr>
          <a:xfrm>
            <a:off x="444500" y="1173415"/>
            <a:ext cx="11210543" cy="5166847"/>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a:lstStyle>
          <a:p>
            <a:r>
              <a:rPr lang="en-US" altLang="ja-JP" sz="1800" dirty="0"/>
              <a:t>Deep NWELL		</a:t>
            </a:r>
            <a:r>
              <a:rPr lang="ja-JP" altLang="en-US" sz="1800" dirty="0"/>
              <a:t>トリプルウェル用（今回は利用しない）</a:t>
            </a:r>
          </a:p>
          <a:p>
            <a:r>
              <a:rPr lang="en-US" altLang="ja-JP" sz="1800" dirty="0"/>
              <a:t>Operating Voltage	</a:t>
            </a:r>
            <a:r>
              <a:rPr lang="ja-JP" altLang="en-US" sz="1800" dirty="0"/>
              <a:t>耐圧（設計値にする）</a:t>
            </a:r>
          </a:p>
          <a:p>
            <a:r>
              <a:rPr lang="en-US" altLang="ja-JP" sz="1800" dirty="0"/>
              <a:t>Bulk Type		Body</a:t>
            </a:r>
            <a:r>
              <a:rPr lang="ja-JP" altLang="en-US" sz="1800" dirty="0"/>
              <a:t>端子の設置方法</a:t>
            </a:r>
          </a:p>
          <a:p>
            <a:r>
              <a:rPr lang="en-US" altLang="ja-JP" sz="1800" dirty="0"/>
              <a:t>Width			W</a:t>
            </a:r>
            <a:r>
              <a:rPr lang="ja-JP" altLang="en-US" sz="1800" dirty="0"/>
              <a:t>値（設計値にする）</a:t>
            </a:r>
          </a:p>
          <a:p>
            <a:r>
              <a:rPr lang="en-US" altLang="ja-JP" sz="1800" dirty="0"/>
              <a:t>Length			L</a:t>
            </a:r>
            <a:r>
              <a:rPr lang="ja-JP" altLang="en-US" sz="1800" dirty="0"/>
              <a:t>値（設計値にする）</a:t>
            </a:r>
          </a:p>
          <a:p>
            <a:r>
              <a:rPr lang="en-US" altLang="ja-JP" sz="1800" dirty="0"/>
              <a:t>Diffusion Length		</a:t>
            </a:r>
            <a:r>
              <a:rPr lang="ja-JP" altLang="en-US" sz="1800" dirty="0"/>
              <a:t>拡散層の長さ（デフォルト値）</a:t>
            </a:r>
          </a:p>
          <a:p>
            <a:r>
              <a:rPr lang="en-US" altLang="ja-JP" sz="1800" dirty="0"/>
              <a:t>Number of Fingers	</a:t>
            </a:r>
            <a:r>
              <a:rPr lang="en-US" altLang="ja-JP" sz="1800" dirty="0" err="1"/>
              <a:t>nf</a:t>
            </a:r>
            <a:r>
              <a:rPr lang="ja-JP" altLang="en-US" sz="1800" dirty="0"/>
              <a:t>値（フィンガー数）</a:t>
            </a:r>
            <a:endParaRPr lang="en-US" altLang="ja-JP" sz="1800" dirty="0"/>
          </a:p>
          <a:p>
            <a:r>
              <a:rPr lang="en-US" altLang="ja-JP" sz="1800" dirty="0"/>
              <a:t>Gurad Ring Width</a:t>
            </a:r>
            <a:r>
              <a:rPr lang="ja-JP" altLang="en-US" sz="1800" dirty="0"/>
              <a:t>	ガードリングのサイズ</a:t>
            </a:r>
            <a:endParaRPr lang="en-US" altLang="ja-JP" sz="1800" dirty="0"/>
          </a:p>
          <a:p>
            <a:r>
              <a:rPr lang="en-US" altLang="ja-JP" sz="1800" dirty="0"/>
              <a:t>Gate Contact </a:t>
            </a:r>
            <a:r>
              <a:rPr lang="en-US" altLang="ja-JP" sz="1800" dirty="0" err="1"/>
              <a:t>Positon</a:t>
            </a:r>
            <a:r>
              <a:rPr lang="en-US" altLang="ja-JP" sz="1800" dirty="0"/>
              <a:t>	</a:t>
            </a:r>
            <a:r>
              <a:rPr lang="ja-JP" altLang="en-US" sz="1800" dirty="0"/>
              <a:t>ゲートのコンタクトの配置</a:t>
            </a:r>
            <a:endParaRPr lang="en-US" altLang="ja-JP" sz="1800" dirty="0"/>
          </a:p>
          <a:p>
            <a:r>
              <a:rPr lang="en-US" altLang="ja-JP" sz="1800" dirty="0"/>
              <a:t>Contact Between Fingers	</a:t>
            </a:r>
            <a:r>
              <a:rPr lang="ja-JP" altLang="en-US" sz="1800" dirty="0"/>
              <a:t>フィンガー間の拡散層にコンタクトを設置する</a:t>
            </a:r>
            <a:endParaRPr lang="en-US" altLang="ja-JP" sz="1800" dirty="0"/>
          </a:p>
          <a:p>
            <a:r>
              <a:rPr lang="ja-JP" altLang="en-US" sz="1800" dirty="0"/>
              <a:t>これ以降はすべてデフォルトで</a:t>
            </a:r>
            <a:r>
              <a:rPr lang="en-US" altLang="ja-JP" sz="1800" dirty="0"/>
              <a:t>OK</a:t>
            </a:r>
            <a:endParaRPr lang="ja-JP" altLang="en-US" sz="1800" dirty="0"/>
          </a:p>
        </p:txBody>
      </p:sp>
    </p:spTree>
    <p:extLst>
      <p:ext uri="{BB962C8B-B14F-4D97-AF65-F5344CB8AC3E}">
        <p14:creationId xmlns:p14="http://schemas.microsoft.com/office/powerpoint/2010/main" val="130554892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7750-4EF6-BA8C-BE14-9E8AFB33D2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146D2A-E28E-A51D-1E30-A48299A4A4DA}"/>
              </a:ext>
            </a:extLst>
          </p:cNvPr>
          <p:cNvSpPr>
            <a:spLocks noGrp="1"/>
          </p:cNvSpPr>
          <p:nvPr>
            <p:ph type="title"/>
          </p:nvPr>
        </p:nvSpPr>
        <p:spPr/>
        <p:txBody>
          <a:bodyPr/>
          <a:lstStyle/>
          <a:p>
            <a:r>
              <a:rPr kumimoji="1" lang="ja-JP" altLang="en-US" dirty="0"/>
              <a:t>セルの共通パラメータ（</a:t>
            </a:r>
            <a:r>
              <a:rPr kumimoji="1" lang="en-US" altLang="ja-JP" dirty="0"/>
              <a:t>Geometry</a:t>
            </a:r>
            <a:r>
              <a:rPr kumimoji="1" lang="ja-JP" altLang="en-US" dirty="0"/>
              <a:t>）</a:t>
            </a:r>
          </a:p>
        </p:txBody>
      </p:sp>
      <p:sp>
        <p:nvSpPr>
          <p:cNvPr id="3" name="日付プレースホルダー 2">
            <a:extLst>
              <a:ext uri="{FF2B5EF4-FFF2-40B4-BE49-F238E27FC236}">
                <a16:creationId xmlns:a16="http://schemas.microsoft.com/office/drawing/2014/main" id="{984F96E3-202A-BBF7-709B-E355F4F76E51}"/>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5F2CBFF-0FB9-4566-2274-72B7EA0B96B1}"/>
              </a:ext>
            </a:extLst>
          </p:cNvPr>
          <p:cNvSpPr>
            <a:spLocks noGrp="1"/>
          </p:cNvSpPr>
          <p:nvPr>
            <p:ph type="sldNum" sz="quarter" idx="12"/>
          </p:nvPr>
        </p:nvSpPr>
        <p:spPr/>
        <p:txBody>
          <a:bodyPr/>
          <a:lstStyle/>
          <a:p>
            <a:pPr rtl="0"/>
            <a:fld id="{9860EDB8-5305-433F-BE41-D7A86D811DB3}" type="slidenum">
              <a:rPr lang="en-US" altLang="ja-JP" noProof="0" smtClean="0"/>
              <a:pPr rtl="0"/>
              <a:t>104</a:t>
            </a:fld>
            <a:endParaRPr lang="ja-JP" altLang="en-US" noProof="0"/>
          </a:p>
        </p:txBody>
      </p:sp>
      <p:sp>
        <p:nvSpPr>
          <p:cNvPr id="10" name="コンテンツ プレースホルダー 1">
            <a:extLst>
              <a:ext uri="{FF2B5EF4-FFF2-40B4-BE49-F238E27FC236}">
                <a16:creationId xmlns:a16="http://schemas.microsoft.com/office/drawing/2014/main" id="{A370FB38-7E8A-9694-FFA5-2450FC30CF00}"/>
              </a:ext>
            </a:extLst>
          </p:cNvPr>
          <p:cNvSpPr txBox="1">
            <a:spLocks/>
          </p:cNvSpPr>
          <p:nvPr/>
        </p:nvSpPr>
        <p:spPr>
          <a:xfrm>
            <a:off x="444500" y="1173415"/>
            <a:ext cx="11210543" cy="516684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a:lstStyle>
          <a:p>
            <a:r>
              <a:rPr lang="en-US" altLang="ja-JP" sz="1800" dirty="0"/>
              <a:t>Position of cell origin	</a:t>
            </a:r>
            <a:r>
              <a:rPr lang="ja-JP" altLang="en-US" sz="1800" dirty="0"/>
              <a:t>セルの座標</a:t>
            </a:r>
          </a:p>
          <a:p>
            <a:r>
              <a:rPr lang="en-US" altLang="ja-JP" sz="1800" dirty="0"/>
              <a:t>Rotation angle		</a:t>
            </a:r>
            <a:r>
              <a:rPr lang="ja-JP" altLang="en-US" sz="1800" dirty="0"/>
              <a:t>回転角度</a:t>
            </a:r>
            <a:r>
              <a:rPr lang="en-US" altLang="ja-JP" sz="1800" dirty="0"/>
              <a:t>(0, 90, 180, 270</a:t>
            </a:r>
            <a:r>
              <a:rPr lang="ja-JP" altLang="en-US" sz="1800" dirty="0"/>
              <a:t>のみ使用可能</a:t>
            </a:r>
            <a:r>
              <a:rPr lang="en-US" altLang="ja-JP" sz="1800" dirty="0"/>
              <a:t>)</a:t>
            </a:r>
            <a:endParaRPr lang="ja-JP" altLang="en-US" sz="1800" dirty="0"/>
          </a:p>
          <a:p>
            <a:r>
              <a:rPr lang="en-US" altLang="ja-JP" sz="1800" dirty="0" err="1"/>
              <a:t>Mirrorred</a:t>
            </a:r>
            <a:r>
              <a:rPr lang="en-US" altLang="ja-JP" sz="1800" dirty="0"/>
              <a:t>(at X-</a:t>
            </a:r>
            <a:r>
              <a:rPr lang="en-US" altLang="ja-JP" sz="1800" dirty="0" err="1"/>
              <a:t>asix</a:t>
            </a:r>
            <a:r>
              <a:rPr lang="en-US" altLang="ja-JP" sz="1800" dirty="0"/>
              <a:t>)	X</a:t>
            </a:r>
            <a:r>
              <a:rPr lang="ja-JP" altLang="en-US" sz="1800" dirty="0"/>
              <a:t>軸を軸に反転させる（フリップ機能）</a:t>
            </a:r>
            <a:endParaRPr lang="en-US" altLang="ja-JP" sz="1800" dirty="0"/>
          </a:p>
          <a:p>
            <a:r>
              <a:rPr lang="en-US" altLang="ja-JP" sz="1800" dirty="0"/>
              <a:t>Scaling factor		</a:t>
            </a:r>
            <a:r>
              <a:rPr lang="ja-JP" altLang="en-US" sz="1800" dirty="0"/>
              <a:t>サイズ倍率（正の整数のみ使用可能）</a:t>
            </a:r>
          </a:p>
        </p:txBody>
      </p:sp>
      <p:pic>
        <p:nvPicPr>
          <p:cNvPr id="6" name="図 5">
            <a:extLst>
              <a:ext uri="{FF2B5EF4-FFF2-40B4-BE49-F238E27FC236}">
                <a16:creationId xmlns:a16="http://schemas.microsoft.com/office/drawing/2014/main" id="{A53417CA-2F3E-DE09-E5A8-E1D52AC287FA}"/>
              </a:ext>
            </a:extLst>
          </p:cNvPr>
          <p:cNvPicPr>
            <a:picLocks noChangeAspect="1"/>
          </p:cNvPicPr>
          <p:nvPr/>
        </p:nvPicPr>
        <p:blipFill>
          <a:blip r:embed="rId2"/>
          <a:srcRect l="17692" r="12206"/>
          <a:stretch>
            <a:fillRect/>
          </a:stretch>
        </p:blipFill>
        <p:spPr>
          <a:xfrm>
            <a:off x="7924325" y="1213523"/>
            <a:ext cx="4267675" cy="4995847"/>
          </a:xfrm>
          <a:prstGeom prst="rect">
            <a:avLst/>
          </a:prstGeom>
        </p:spPr>
      </p:pic>
    </p:spTree>
    <p:extLst>
      <p:ext uri="{BB962C8B-B14F-4D97-AF65-F5344CB8AC3E}">
        <p14:creationId xmlns:p14="http://schemas.microsoft.com/office/powerpoint/2010/main" val="353848258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コンテンツ プレースホルダー 11">
            <a:extLst>
              <a:ext uri="{FF2B5EF4-FFF2-40B4-BE49-F238E27FC236}">
                <a16:creationId xmlns:a16="http://schemas.microsoft.com/office/drawing/2014/main" id="{46DFFB80-858F-4782-14D6-B3ED370361B0}"/>
              </a:ext>
            </a:extLst>
          </p:cNvPr>
          <p:cNvPicPr>
            <a:picLocks noGrp="1" noChangeAspect="1"/>
          </p:cNvPicPr>
          <p:nvPr>
            <p:ph sz="quarter" idx="13"/>
          </p:nvPr>
        </p:nvPicPr>
        <p:blipFill>
          <a:blip r:embed="rId2"/>
          <a:stretch>
            <a:fillRect/>
          </a:stretch>
        </p:blipFill>
        <p:spPr>
          <a:xfrm>
            <a:off x="477681" y="1634105"/>
            <a:ext cx="11144182" cy="4600575"/>
          </a:xfrm>
          <a:prstGeom prst="rect">
            <a:avLst/>
          </a:prstGeom>
        </p:spPr>
      </p:pic>
      <p:sp>
        <p:nvSpPr>
          <p:cNvPr id="2" name="タイトル 1">
            <a:extLst>
              <a:ext uri="{FF2B5EF4-FFF2-40B4-BE49-F238E27FC236}">
                <a16:creationId xmlns:a16="http://schemas.microsoft.com/office/drawing/2014/main" id="{359870D8-5A69-D38B-54FE-B6A5E554AFBF}"/>
              </a:ext>
            </a:extLst>
          </p:cNvPr>
          <p:cNvSpPr>
            <a:spLocks noGrp="1"/>
          </p:cNvSpPr>
          <p:nvPr>
            <p:ph type="title"/>
          </p:nvPr>
        </p:nvSpPr>
        <p:spPr/>
        <p:txBody>
          <a:bodyPr/>
          <a:lstStyle/>
          <a:p>
            <a:r>
              <a:rPr kumimoji="1" lang="en-US" altLang="ja-JP" dirty="0" err="1"/>
              <a:t>Klayout</a:t>
            </a:r>
            <a:r>
              <a:rPr kumimoji="1" lang="ja-JP" altLang="en-US" dirty="0"/>
              <a:t>：タップ付　</a:t>
            </a:r>
            <a:r>
              <a:rPr kumimoji="1" lang="en-US" altLang="ja-JP" dirty="0"/>
              <a:t>PFET </a:t>
            </a:r>
            <a:r>
              <a:rPr kumimoji="1" lang="ja-JP" altLang="en-US" dirty="0"/>
              <a:t>と </a:t>
            </a:r>
            <a:r>
              <a:rPr kumimoji="1" lang="en-US" altLang="ja-JP" dirty="0"/>
              <a:t>NFET</a:t>
            </a:r>
            <a:endParaRPr kumimoji="1" lang="ja-JP" altLang="en-US" dirty="0"/>
          </a:p>
        </p:txBody>
      </p:sp>
      <p:sp>
        <p:nvSpPr>
          <p:cNvPr id="3" name="日付プレースホルダー 2">
            <a:extLst>
              <a:ext uri="{FF2B5EF4-FFF2-40B4-BE49-F238E27FC236}">
                <a16:creationId xmlns:a16="http://schemas.microsoft.com/office/drawing/2014/main" id="{022670EC-30CF-186E-A615-C3008B63B250}"/>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8EFB7B8A-0DEF-5F76-37F0-52C7A051C549}"/>
              </a:ext>
            </a:extLst>
          </p:cNvPr>
          <p:cNvSpPr>
            <a:spLocks noGrp="1"/>
          </p:cNvSpPr>
          <p:nvPr>
            <p:ph type="sldNum" sz="quarter" idx="12"/>
          </p:nvPr>
        </p:nvSpPr>
        <p:spPr/>
        <p:txBody>
          <a:bodyPr/>
          <a:lstStyle/>
          <a:p>
            <a:pPr rtl="0"/>
            <a:fld id="{9860EDB8-5305-433F-BE41-D7A86D811DB3}" type="slidenum">
              <a:rPr lang="en-US" altLang="ja-JP" noProof="0" smtClean="0"/>
              <a:pPr rtl="0"/>
              <a:t>105</a:t>
            </a:fld>
            <a:endParaRPr lang="ja-JP" altLang="en-US" noProof="0"/>
          </a:p>
        </p:txBody>
      </p:sp>
      <p:sp>
        <p:nvSpPr>
          <p:cNvPr id="14" name="テキスト ボックス 13">
            <a:extLst>
              <a:ext uri="{FF2B5EF4-FFF2-40B4-BE49-F238E27FC236}">
                <a16:creationId xmlns:a16="http://schemas.microsoft.com/office/drawing/2014/main" id="{01A6FD7E-9ADE-3879-4878-9DFFA6B0266B}"/>
              </a:ext>
            </a:extLst>
          </p:cNvPr>
          <p:cNvSpPr txBox="1"/>
          <p:nvPr/>
        </p:nvSpPr>
        <p:spPr>
          <a:xfrm>
            <a:off x="2918175" y="2991732"/>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5" name="テキスト ボックス 14">
            <a:extLst>
              <a:ext uri="{FF2B5EF4-FFF2-40B4-BE49-F238E27FC236}">
                <a16:creationId xmlns:a16="http://schemas.microsoft.com/office/drawing/2014/main" id="{C4BEF5C8-C4CB-3532-2C93-4D6AE5C0FD7E}"/>
              </a:ext>
            </a:extLst>
          </p:cNvPr>
          <p:cNvSpPr txBox="1"/>
          <p:nvPr/>
        </p:nvSpPr>
        <p:spPr>
          <a:xfrm>
            <a:off x="4851531" y="4040765"/>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6" name="テキスト ボックス 15">
            <a:extLst>
              <a:ext uri="{FF2B5EF4-FFF2-40B4-BE49-F238E27FC236}">
                <a16:creationId xmlns:a16="http://schemas.microsoft.com/office/drawing/2014/main" id="{C8B124EB-573A-80A9-D6ED-70D14C074103}"/>
              </a:ext>
            </a:extLst>
          </p:cNvPr>
          <p:cNvSpPr txBox="1"/>
          <p:nvPr/>
        </p:nvSpPr>
        <p:spPr>
          <a:xfrm>
            <a:off x="10720748" y="4025069"/>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7" name="テキスト ボックス 16">
            <a:extLst>
              <a:ext uri="{FF2B5EF4-FFF2-40B4-BE49-F238E27FC236}">
                <a16:creationId xmlns:a16="http://schemas.microsoft.com/office/drawing/2014/main" id="{B5D56AF6-A240-647C-4358-4DB8E0DC46AD}"/>
              </a:ext>
            </a:extLst>
          </p:cNvPr>
          <p:cNvSpPr txBox="1"/>
          <p:nvPr/>
        </p:nvSpPr>
        <p:spPr>
          <a:xfrm>
            <a:off x="8853445" y="2991732"/>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8" name="テキスト ボックス 17">
            <a:extLst>
              <a:ext uri="{FF2B5EF4-FFF2-40B4-BE49-F238E27FC236}">
                <a16:creationId xmlns:a16="http://schemas.microsoft.com/office/drawing/2014/main" id="{386E4E06-CE6B-D61F-07DF-520B7C293882}"/>
              </a:ext>
            </a:extLst>
          </p:cNvPr>
          <p:cNvSpPr txBox="1"/>
          <p:nvPr/>
        </p:nvSpPr>
        <p:spPr>
          <a:xfrm>
            <a:off x="2071981" y="4025069"/>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19" name="テキスト ボックス 18">
            <a:extLst>
              <a:ext uri="{FF2B5EF4-FFF2-40B4-BE49-F238E27FC236}">
                <a16:creationId xmlns:a16="http://schemas.microsoft.com/office/drawing/2014/main" id="{422B65C8-9F47-1672-95FB-5641B333661E}"/>
              </a:ext>
            </a:extLst>
          </p:cNvPr>
          <p:cNvSpPr txBox="1"/>
          <p:nvPr/>
        </p:nvSpPr>
        <p:spPr>
          <a:xfrm>
            <a:off x="3755391" y="4025069"/>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0" name="テキスト ボックス 19">
            <a:extLst>
              <a:ext uri="{FF2B5EF4-FFF2-40B4-BE49-F238E27FC236}">
                <a16:creationId xmlns:a16="http://schemas.microsoft.com/office/drawing/2014/main" id="{F84DE20E-370D-5611-8E15-E68B7AF54B5E}"/>
              </a:ext>
            </a:extLst>
          </p:cNvPr>
          <p:cNvSpPr txBox="1"/>
          <p:nvPr/>
        </p:nvSpPr>
        <p:spPr>
          <a:xfrm>
            <a:off x="8038831" y="4021145"/>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1" name="テキスト ボックス 20">
            <a:extLst>
              <a:ext uri="{FF2B5EF4-FFF2-40B4-BE49-F238E27FC236}">
                <a16:creationId xmlns:a16="http://schemas.microsoft.com/office/drawing/2014/main" id="{5D56553A-E4D9-DDBF-68DE-A9A465A1F224}"/>
              </a:ext>
            </a:extLst>
          </p:cNvPr>
          <p:cNvSpPr txBox="1"/>
          <p:nvPr/>
        </p:nvSpPr>
        <p:spPr>
          <a:xfrm>
            <a:off x="9649006" y="4008370"/>
            <a:ext cx="34349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3" name="テキスト ボックス 22">
            <a:extLst>
              <a:ext uri="{FF2B5EF4-FFF2-40B4-BE49-F238E27FC236}">
                <a16:creationId xmlns:a16="http://schemas.microsoft.com/office/drawing/2014/main" id="{E95CD55B-B93D-BFB8-BDE0-17405ECFB9A6}"/>
              </a:ext>
            </a:extLst>
          </p:cNvPr>
          <p:cNvSpPr txBox="1"/>
          <p:nvPr/>
        </p:nvSpPr>
        <p:spPr>
          <a:xfrm>
            <a:off x="542167" y="1207582"/>
            <a:ext cx="7881642" cy="369332"/>
          </a:xfrm>
          <a:prstGeom prst="rect">
            <a:avLst/>
          </a:prstGeom>
          <a:noFill/>
        </p:spPr>
        <p:txBody>
          <a:bodyPr wrap="square">
            <a:spAutoFit/>
          </a:bodyPr>
          <a:lstStyle/>
          <a:p>
            <a:pPr marL="285750" indent="-285750">
              <a:buFont typeface="Arial" panose="020B0604020202020204" pitchFamily="34" charset="0"/>
              <a:buChar char="•"/>
            </a:pPr>
            <a:r>
              <a:rPr kumimoji="1" lang="en-US" altLang="ja-JP" sz="1800" dirty="0"/>
              <a:t>[*] </a:t>
            </a:r>
            <a:r>
              <a:rPr kumimoji="1" lang="ja-JP" altLang="en-US" sz="1800" dirty="0"/>
              <a:t>どちらをドレインにしてどちらをソースにするかは任意。</a:t>
            </a:r>
            <a:endParaRPr kumimoji="1" lang="en-US" altLang="ja-JP" sz="1800" dirty="0"/>
          </a:p>
        </p:txBody>
      </p:sp>
    </p:spTree>
    <p:extLst>
      <p:ext uri="{BB962C8B-B14F-4D97-AF65-F5344CB8AC3E}">
        <p14:creationId xmlns:p14="http://schemas.microsoft.com/office/powerpoint/2010/main" val="352188524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1F97A5-6BE0-910D-4FFD-556D91678AA2}"/>
              </a:ext>
            </a:extLst>
          </p:cNvPr>
          <p:cNvSpPr>
            <a:spLocks noGrp="1"/>
          </p:cNvSpPr>
          <p:nvPr>
            <p:ph type="title"/>
          </p:nvPr>
        </p:nvSpPr>
        <p:spPr/>
        <p:txBody>
          <a:bodyPr/>
          <a:lstStyle/>
          <a:p>
            <a:r>
              <a:rPr kumimoji="1" lang="en-US" altLang="ja-JP" dirty="0" err="1"/>
              <a:t>Klayout</a:t>
            </a:r>
            <a:r>
              <a:rPr kumimoji="1" lang="ja-JP" altLang="en-US" dirty="0"/>
              <a:t>：ネットリスト（ワイヤー）の引き方</a:t>
            </a:r>
          </a:p>
        </p:txBody>
      </p:sp>
      <p:sp>
        <p:nvSpPr>
          <p:cNvPr id="3" name="日付プレースホルダー 2">
            <a:extLst>
              <a:ext uri="{FF2B5EF4-FFF2-40B4-BE49-F238E27FC236}">
                <a16:creationId xmlns:a16="http://schemas.microsoft.com/office/drawing/2014/main" id="{B34EA2B6-16D2-A925-AD99-3E47A9F542D3}"/>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4809CEF-C793-C789-84C5-606A3B277596}"/>
              </a:ext>
            </a:extLst>
          </p:cNvPr>
          <p:cNvSpPr>
            <a:spLocks noGrp="1"/>
          </p:cNvSpPr>
          <p:nvPr>
            <p:ph type="sldNum" sz="quarter" idx="12"/>
          </p:nvPr>
        </p:nvSpPr>
        <p:spPr/>
        <p:txBody>
          <a:bodyPr/>
          <a:lstStyle/>
          <a:p>
            <a:pPr rtl="0"/>
            <a:fld id="{9860EDB8-5305-433F-BE41-D7A86D811DB3}" type="slidenum">
              <a:rPr lang="en-US" altLang="ja-JP" noProof="0" smtClean="0"/>
              <a:pPr rtl="0"/>
              <a:t>106</a:t>
            </a:fld>
            <a:endParaRPr lang="ja-JP" altLang="en-US" noProof="0"/>
          </a:p>
        </p:txBody>
      </p:sp>
      <p:pic>
        <p:nvPicPr>
          <p:cNvPr id="15" name="コンテンツ プレースホルダー 14">
            <a:extLst>
              <a:ext uri="{FF2B5EF4-FFF2-40B4-BE49-F238E27FC236}">
                <a16:creationId xmlns:a16="http://schemas.microsoft.com/office/drawing/2014/main" id="{9FE4897B-1ECB-E328-79F8-49195A609650}"/>
              </a:ext>
            </a:extLst>
          </p:cNvPr>
          <p:cNvPicPr>
            <a:picLocks noGrp="1" noChangeAspect="1"/>
          </p:cNvPicPr>
          <p:nvPr>
            <p:ph sz="quarter" idx="13"/>
          </p:nvPr>
        </p:nvPicPr>
        <p:blipFill>
          <a:blip r:embed="rId2"/>
          <a:stretch>
            <a:fillRect/>
          </a:stretch>
        </p:blipFill>
        <p:spPr>
          <a:xfrm>
            <a:off x="1055299" y="1203318"/>
            <a:ext cx="9704777" cy="5180441"/>
          </a:xfrm>
          <a:prstGeom prst="rect">
            <a:avLst/>
          </a:prstGeom>
        </p:spPr>
      </p:pic>
      <p:sp>
        <p:nvSpPr>
          <p:cNvPr id="10" name="楕円 9">
            <a:extLst>
              <a:ext uri="{FF2B5EF4-FFF2-40B4-BE49-F238E27FC236}">
                <a16:creationId xmlns:a16="http://schemas.microsoft.com/office/drawing/2014/main" id="{4BACBDD2-1AC7-5FF2-384F-06B4B6ECD1D5}"/>
              </a:ext>
            </a:extLst>
          </p:cNvPr>
          <p:cNvSpPr/>
          <p:nvPr/>
        </p:nvSpPr>
        <p:spPr>
          <a:xfrm flipH="1" flipV="1">
            <a:off x="1148143" y="4712590"/>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吹き出し: 角を丸めた四角形 12">
            <a:extLst>
              <a:ext uri="{FF2B5EF4-FFF2-40B4-BE49-F238E27FC236}">
                <a16:creationId xmlns:a16="http://schemas.microsoft.com/office/drawing/2014/main" id="{1BC91668-434E-ADAB-57CE-5CDACC57BA4B}"/>
              </a:ext>
            </a:extLst>
          </p:cNvPr>
          <p:cNvSpPr/>
          <p:nvPr/>
        </p:nvSpPr>
        <p:spPr>
          <a:xfrm>
            <a:off x="53914" y="3061970"/>
            <a:ext cx="2843933" cy="832104"/>
          </a:xfrm>
          <a:prstGeom prst="wedgeRoundRectCallout">
            <a:avLst>
              <a:gd name="adj1" fmla="val -7864"/>
              <a:gd name="adj2" fmla="val 15586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３，ワイヤーの幅を入力</a:t>
            </a:r>
            <a:endParaRPr kumimoji="1" lang="en-US" altLang="ja-JP" dirty="0"/>
          </a:p>
          <a:p>
            <a:pPr algn="ctr"/>
            <a:r>
              <a:rPr kumimoji="1" lang="en-US" altLang="ja-JP" dirty="0"/>
              <a:t>※</a:t>
            </a:r>
            <a:r>
              <a:rPr kumimoji="1" lang="ja-JP" altLang="en-US" dirty="0"/>
              <a:t>最低</a:t>
            </a:r>
            <a:r>
              <a:rPr kumimoji="1" lang="en-US" altLang="ja-JP" dirty="0"/>
              <a:t>0.23um</a:t>
            </a:r>
          </a:p>
        </p:txBody>
      </p:sp>
      <p:sp>
        <p:nvSpPr>
          <p:cNvPr id="8" name="楕円 7">
            <a:extLst>
              <a:ext uri="{FF2B5EF4-FFF2-40B4-BE49-F238E27FC236}">
                <a16:creationId xmlns:a16="http://schemas.microsoft.com/office/drawing/2014/main" id="{3F060474-27E8-2214-05E3-65ACF6D7E2DC}"/>
              </a:ext>
            </a:extLst>
          </p:cNvPr>
          <p:cNvSpPr/>
          <p:nvPr/>
        </p:nvSpPr>
        <p:spPr>
          <a:xfrm flipH="1" flipV="1">
            <a:off x="3404843" y="1345759"/>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B5DA96EF-5EFD-5C18-8716-69FFCABCE258}"/>
              </a:ext>
            </a:extLst>
          </p:cNvPr>
          <p:cNvSpPr/>
          <p:nvPr/>
        </p:nvSpPr>
        <p:spPr>
          <a:xfrm flipH="1" flipV="1">
            <a:off x="9937399" y="2217321"/>
            <a:ext cx="1010925" cy="345353"/>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4015A872-CD22-643D-9A0D-BC35139D966D}"/>
              </a:ext>
            </a:extLst>
          </p:cNvPr>
          <p:cNvSpPr/>
          <p:nvPr/>
        </p:nvSpPr>
        <p:spPr>
          <a:xfrm>
            <a:off x="6954568" y="271272"/>
            <a:ext cx="2711298" cy="832104"/>
          </a:xfrm>
          <a:prstGeom prst="wedgeRoundRectCallout">
            <a:avLst>
              <a:gd name="adj1" fmla="val -165668"/>
              <a:gd name="adj2" fmla="val 9553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１，</a:t>
            </a:r>
            <a:r>
              <a:rPr kumimoji="1" lang="en-US" altLang="ja-JP" dirty="0"/>
              <a:t>Path</a:t>
            </a:r>
            <a:r>
              <a:rPr kumimoji="1" lang="ja-JP" altLang="en-US" dirty="0"/>
              <a:t>をクリック</a:t>
            </a:r>
            <a:endParaRPr kumimoji="1" lang="en-US" altLang="ja-JP" dirty="0"/>
          </a:p>
        </p:txBody>
      </p:sp>
      <p:sp>
        <p:nvSpPr>
          <p:cNvPr id="12" name="吹き出し: 角を丸めた四角形 11">
            <a:extLst>
              <a:ext uri="{FF2B5EF4-FFF2-40B4-BE49-F238E27FC236}">
                <a16:creationId xmlns:a16="http://schemas.microsoft.com/office/drawing/2014/main" id="{40A43498-5200-9910-E3C2-E6AE71268CD7}"/>
              </a:ext>
            </a:extLst>
          </p:cNvPr>
          <p:cNvSpPr/>
          <p:nvPr/>
        </p:nvSpPr>
        <p:spPr>
          <a:xfrm>
            <a:off x="7731563" y="3462560"/>
            <a:ext cx="2711298" cy="592403"/>
          </a:xfrm>
          <a:prstGeom prst="wedgeRoundRectCallout">
            <a:avLst>
              <a:gd name="adj1" fmla="val 47025"/>
              <a:gd name="adj2" fmla="val -19902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２，</a:t>
            </a:r>
            <a:r>
              <a:rPr kumimoji="1" lang="en-US" altLang="ja-JP" dirty="0"/>
              <a:t>Metal1</a:t>
            </a:r>
            <a:r>
              <a:rPr kumimoji="1" lang="ja-JP" altLang="en-US" dirty="0"/>
              <a:t>を選択</a:t>
            </a:r>
            <a:endParaRPr kumimoji="1" lang="en-US" altLang="ja-JP" dirty="0"/>
          </a:p>
        </p:txBody>
      </p:sp>
      <p:sp>
        <p:nvSpPr>
          <p:cNvPr id="14" name="吹き出し: 角を丸めた四角形 13">
            <a:extLst>
              <a:ext uri="{FF2B5EF4-FFF2-40B4-BE49-F238E27FC236}">
                <a16:creationId xmlns:a16="http://schemas.microsoft.com/office/drawing/2014/main" id="{99BAC39B-BD3B-103D-F2C7-3A1F97046993}"/>
              </a:ext>
            </a:extLst>
          </p:cNvPr>
          <p:cNvSpPr/>
          <p:nvPr/>
        </p:nvSpPr>
        <p:spPr>
          <a:xfrm>
            <a:off x="5359184" y="1619371"/>
            <a:ext cx="2843933" cy="832104"/>
          </a:xfrm>
          <a:prstGeom prst="wedgeRoundRectCallout">
            <a:avLst>
              <a:gd name="adj1" fmla="val -57328"/>
              <a:gd name="adj2" fmla="val 12625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４，ワイヤーを引きたいところをクリック</a:t>
            </a:r>
            <a:endParaRPr kumimoji="1" lang="en-US" altLang="ja-JP" dirty="0"/>
          </a:p>
        </p:txBody>
      </p:sp>
    </p:spTree>
    <p:extLst>
      <p:ext uri="{BB962C8B-B14F-4D97-AF65-F5344CB8AC3E}">
        <p14:creationId xmlns:p14="http://schemas.microsoft.com/office/powerpoint/2010/main" val="19989000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5F8296-4575-6EF8-F4F9-737D0D713E0C}"/>
              </a:ext>
            </a:extLst>
          </p:cNvPr>
          <p:cNvSpPr>
            <a:spLocks noGrp="1"/>
          </p:cNvSpPr>
          <p:nvPr>
            <p:ph type="title"/>
          </p:nvPr>
        </p:nvSpPr>
        <p:spPr/>
        <p:txBody>
          <a:bodyPr/>
          <a:lstStyle/>
          <a:p>
            <a:r>
              <a:rPr kumimoji="1" lang="en-US" altLang="ja-JP" dirty="0" err="1"/>
              <a:t>Klayout</a:t>
            </a:r>
            <a:r>
              <a:rPr kumimoji="1" lang="ja-JP" altLang="en-US" dirty="0"/>
              <a:t>：ネットリスト（ワイヤー）の設定</a:t>
            </a:r>
          </a:p>
        </p:txBody>
      </p:sp>
      <p:sp>
        <p:nvSpPr>
          <p:cNvPr id="3" name="日付プレースホルダー 2">
            <a:extLst>
              <a:ext uri="{FF2B5EF4-FFF2-40B4-BE49-F238E27FC236}">
                <a16:creationId xmlns:a16="http://schemas.microsoft.com/office/drawing/2014/main" id="{92AAB2E9-5734-466E-B2BD-6B7663DF92E5}"/>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B92DB1B-DE6C-5A13-81E8-5B83BF533071}"/>
              </a:ext>
            </a:extLst>
          </p:cNvPr>
          <p:cNvSpPr>
            <a:spLocks noGrp="1"/>
          </p:cNvSpPr>
          <p:nvPr>
            <p:ph type="sldNum" sz="quarter" idx="12"/>
          </p:nvPr>
        </p:nvSpPr>
        <p:spPr/>
        <p:txBody>
          <a:bodyPr/>
          <a:lstStyle/>
          <a:p>
            <a:pPr rtl="0"/>
            <a:fld id="{9860EDB8-5305-433F-BE41-D7A86D811DB3}" type="slidenum">
              <a:rPr lang="en-US" altLang="ja-JP" noProof="0" smtClean="0"/>
              <a:pPr rtl="0"/>
              <a:t>107</a:t>
            </a:fld>
            <a:endParaRPr lang="ja-JP" altLang="en-US" noProof="0"/>
          </a:p>
        </p:txBody>
      </p:sp>
      <p:pic>
        <p:nvPicPr>
          <p:cNvPr id="8" name="コンテンツ プレースホルダー 7">
            <a:extLst>
              <a:ext uri="{FF2B5EF4-FFF2-40B4-BE49-F238E27FC236}">
                <a16:creationId xmlns:a16="http://schemas.microsoft.com/office/drawing/2014/main" id="{28836991-0828-8DF8-D415-7AE9F176CB4C}"/>
              </a:ext>
            </a:extLst>
          </p:cNvPr>
          <p:cNvPicPr>
            <a:picLocks noGrp="1" noChangeAspect="1"/>
          </p:cNvPicPr>
          <p:nvPr>
            <p:ph sz="quarter" idx="13"/>
          </p:nvPr>
        </p:nvPicPr>
        <p:blipFill>
          <a:blip r:embed="rId2"/>
          <a:stretch>
            <a:fillRect/>
          </a:stretch>
        </p:blipFill>
        <p:spPr>
          <a:xfrm>
            <a:off x="46564" y="1167973"/>
            <a:ext cx="8479681" cy="4522054"/>
          </a:xfrm>
          <a:prstGeom prst="rect">
            <a:avLst/>
          </a:prstGeom>
        </p:spPr>
      </p:pic>
      <p:sp>
        <p:nvSpPr>
          <p:cNvPr id="10" name="楕円 9">
            <a:extLst>
              <a:ext uri="{FF2B5EF4-FFF2-40B4-BE49-F238E27FC236}">
                <a16:creationId xmlns:a16="http://schemas.microsoft.com/office/drawing/2014/main" id="{C506E1F3-CF6C-8A56-F4F1-18779D907866}"/>
              </a:ext>
            </a:extLst>
          </p:cNvPr>
          <p:cNvSpPr/>
          <p:nvPr/>
        </p:nvSpPr>
        <p:spPr>
          <a:xfrm flipH="1" flipV="1">
            <a:off x="46564" y="4085797"/>
            <a:ext cx="567561"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0CBA521F-6C2B-7109-1379-6C7C684CD2EE}"/>
              </a:ext>
            </a:extLst>
          </p:cNvPr>
          <p:cNvSpPr/>
          <p:nvPr/>
        </p:nvSpPr>
        <p:spPr>
          <a:xfrm flipH="1" flipV="1">
            <a:off x="173159" y="4887912"/>
            <a:ext cx="1423358" cy="43660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5149EDBD-3ADB-41DE-46AC-B8FFF2F1FE53}"/>
              </a:ext>
            </a:extLst>
          </p:cNvPr>
          <p:cNvSpPr/>
          <p:nvPr/>
        </p:nvSpPr>
        <p:spPr>
          <a:xfrm>
            <a:off x="534645" y="1362220"/>
            <a:ext cx="3279880" cy="1010517"/>
          </a:xfrm>
          <a:prstGeom prst="wedgeRoundRectCallout">
            <a:avLst>
              <a:gd name="adj1" fmla="val 41796"/>
              <a:gd name="adj2" fmla="val 13856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自由配線のため</a:t>
            </a:r>
            <a:r>
              <a:rPr kumimoji="1" lang="en-US" altLang="ja-JP" dirty="0"/>
              <a:t>DRC</a:t>
            </a:r>
            <a:r>
              <a:rPr kumimoji="1" lang="ja-JP" altLang="en-US" dirty="0"/>
              <a:t>エラーが</a:t>
            </a:r>
            <a:endParaRPr kumimoji="1" lang="en-US" altLang="ja-JP" dirty="0"/>
          </a:p>
          <a:p>
            <a:pPr algn="ctr"/>
            <a:r>
              <a:rPr kumimoji="1" lang="ja-JP" altLang="en-US" dirty="0"/>
              <a:t>出るような角度で配線される</a:t>
            </a:r>
            <a:endParaRPr kumimoji="1" lang="en-US" altLang="ja-JP" dirty="0"/>
          </a:p>
        </p:txBody>
      </p:sp>
      <p:sp>
        <p:nvSpPr>
          <p:cNvPr id="13" name="吹き出し: 角を丸めた四角形 12">
            <a:extLst>
              <a:ext uri="{FF2B5EF4-FFF2-40B4-BE49-F238E27FC236}">
                <a16:creationId xmlns:a16="http://schemas.microsoft.com/office/drawing/2014/main" id="{4729665B-DC28-73E1-A159-B419CE467D5B}"/>
              </a:ext>
            </a:extLst>
          </p:cNvPr>
          <p:cNvSpPr/>
          <p:nvPr/>
        </p:nvSpPr>
        <p:spPr>
          <a:xfrm>
            <a:off x="2444427" y="5211674"/>
            <a:ext cx="4643154" cy="1215717"/>
          </a:xfrm>
          <a:prstGeom prst="wedgeRoundRectCallout">
            <a:avLst>
              <a:gd name="adj1" fmla="val -82084"/>
              <a:gd name="adj2" fmla="val -4888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a:t>
            </a:r>
            <a:r>
              <a:rPr kumimoji="1" lang="en-US" altLang="ja-JP" dirty="0"/>
              <a:t>Basic</a:t>
            </a:r>
            <a:r>
              <a:rPr kumimoji="1" lang="ja-JP" altLang="en-US" dirty="0"/>
              <a:t> </a:t>
            </a:r>
            <a:r>
              <a:rPr kumimoji="1" lang="en-US" altLang="ja-JP" dirty="0"/>
              <a:t>Editing</a:t>
            </a:r>
            <a:r>
              <a:rPr kumimoji="1" lang="ja-JP" altLang="en-US" dirty="0"/>
              <a:t>」の</a:t>
            </a:r>
            <a:endParaRPr kumimoji="1" lang="en-US" altLang="ja-JP" dirty="0"/>
          </a:p>
          <a:p>
            <a:pPr algn="ctr"/>
            <a:r>
              <a:rPr kumimoji="1" lang="ja-JP" altLang="en-US" dirty="0"/>
              <a:t>「</a:t>
            </a:r>
            <a:r>
              <a:rPr kumimoji="1" lang="en-US" altLang="ja-JP" dirty="0"/>
              <a:t>Connections</a:t>
            </a:r>
            <a:r>
              <a:rPr kumimoji="1" lang="ja-JP" altLang="en-US" dirty="0"/>
              <a:t>」と「</a:t>
            </a:r>
            <a:r>
              <a:rPr kumimoji="1" lang="en-US" altLang="ja-JP" dirty="0"/>
              <a:t>Movements</a:t>
            </a:r>
            <a:r>
              <a:rPr kumimoji="1" lang="ja-JP" altLang="en-US" dirty="0"/>
              <a:t>」を</a:t>
            </a:r>
            <a:endParaRPr kumimoji="1" lang="en-US" altLang="ja-JP" dirty="0"/>
          </a:p>
          <a:p>
            <a:pPr algn="ctr"/>
            <a:r>
              <a:rPr kumimoji="1" lang="ja-JP" altLang="en-US" dirty="0"/>
              <a:t>「</a:t>
            </a:r>
            <a:r>
              <a:rPr kumimoji="1" lang="en-US" altLang="ja-JP" dirty="0"/>
              <a:t>Any</a:t>
            </a:r>
            <a:r>
              <a:rPr kumimoji="1" lang="ja-JP" altLang="en-US" dirty="0"/>
              <a:t> </a:t>
            </a:r>
            <a:r>
              <a:rPr kumimoji="1" lang="en-US" altLang="ja-JP" dirty="0"/>
              <a:t>Angle</a:t>
            </a:r>
            <a:r>
              <a:rPr kumimoji="1" lang="ja-JP" altLang="en-US" dirty="0"/>
              <a:t>」から「</a:t>
            </a:r>
            <a:r>
              <a:rPr kumimoji="1" lang="en-US" altLang="ja-JP" dirty="0"/>
              <a:t>Manhattan</a:t>
            </a:r>
            <a:r>
              <a:rPr kumimoji="1" lang="ja-JP" altLang="en-US" dirty="0"/>
              <a:t>」に変更</a:t>
            </a:r>
            <a:endParaRPr kumimoji="1" lang="en-US" altLang="ja-JP" dirty="0"/>
          </a:p>
        </p:txBody>
      </p:sp>
      <p:pic>
        <p:nvPicPr>
          <p:cNvPr id="16" name="図 15">
            <a:extLst>
              <a:ext uri="{FF2B5EF4-FFF2-40B4-BE49-F238E27FC236}">
                <a16:creationId xmlns:a16="http://schemas.microsoft.com/office/drawing/2014/main" id="{92178CD3-5070-D2F6-BA97-E3B1E138E1E1}"/>
              </a:ext>
            </a:extLst>
          </p:cNvPr>
          <p:cNvPicPr>
            <a:picLocks noChangeAspect="1"/>
          </p:cNvPicPr>
          <p:nvPr/>
        </p:nvPicPr>
        <p:blipFill>
          <a:blip r:embed="rId3"/>
          <a:srcRect l="29968" r="21556" b="29626"/>
          <a:stretch>
            <a:fillRect/>
          </a:stretch>
        </p:blipFill>
        <p:spPr>
          <a:xfrm>
            <a:off x="7240635" y="2859677"/>
            <a:ext cx="5169038" cy="3998323"/>
          </a:xfrm>
          <a:prstGeom prst="rect">
            <a:avLst/>
          </a:prstGeom>
        </p:spPr>
      </p:pic>
      <p:sp>
        <p:nvSpPr>
          <p:cNvPr id="15" name="吹き出し: 角を丸めた四角形 14">
            <a:extLst>
              <a:ext uri="{FF2B5EF4-FFF2-40B4-BE49-F238E27FC236}">
                <a16:creationId xmlns:a16="http://schemas.microsoft.com/office/drawing/2014/main" id="{8183BF20-3297-3A45-5A39-0AAC50BFED88}"/>
              </a:ext>
            </a:extLst>
          </p:cNvPr>
          <p:cNvSpPr/>
          <p:nvPr/>
        </p:nvSpPr>
        <p:spPr>
          <a:xfrm>
            <a:off x="7240635" y="2372737"/>
            <a:ext cx="3279880" cy="791261"/>
          </a:xfrm>
          <a:prstGeom prst="wedgeRoundRectCallout">
            <a:avLst>
              <a:gd name="adj1" fmla="val 1287"/>
              <a:gd name="adj2" fmla="val 15626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直線</a:t>
            </a:r>
            <a:r>
              <a:rPr kumimoji="1" lang="en-US" altLang="ja-JP" dirty="0"/>
              <a:t>or</a:t>
            </a:r>
            <a:r>
              <a:rPr kumimoji="1" lang="ja-JP" altLang="en-US" dirty="0"/>
              <a:t>直角で配線される</a:t>
            </a:r>
            <a:endParaRPr kumimoji="1" lang="en-US" altLang="ja-JP" dirty="0"/>
          </a:p>
        </p:txBody>
      </p:sp>
    </p:spTree>
    <p:extLst>
      <p:ext uri="{BB962C8B-B14F-4D97-AF65-F5344CB8AC3E}">
        <p14:creationId xmlns:p14="http://schemas.microsoft.com/office/powerpoint/2010/main" val="28949332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DBBD7590-56EA-4C2E-8847-39D08940E649}"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108</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b="1" dirty="0">
                <a:solidFill>
                  <a:schemeClr val="accent2"/>
                </a:solidFill>
              </a:rPr>
              <a:t>レイアウトを検証する</a:t>
            </a:r>
            <a:endParaRPr lang="en-US" altLang="ja-JP" sz="2000" b="1" dirty="0">
              <a:solidFill>
                <a:schemeClr val="accent2"/>
              </a:solidFill>
            </a:endParaRPr>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21985447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en-US" altLang="ja-JP" dirty="0" err="1"/>
              <a:t>Klayout</a:t>
            </a:r>
            <a:r>
              <a:rPr lang="ja-JP" altLang="en-US" dirty="0"/>
              <a:t>：レイアウト検証</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11210543" cy="5115749"/>
          </a:xfrm>
        </p:spPr>
        <p:txBody>
          <a:bodyPr>
            <a:normAutofit/>
          </a:bodyPr>
          <a:lstStyle/>
          <a:p>
            <a:r>
              <a:rPr kumimoji="1" lang="en-US" altLang="ja-JP" sz="2000" dirty="0"/>
              <a:t>Design Rules Check (DRC)</a:t>
            </a:r>
          </a:p>
          <a:p>
            <a:pPr lvl="1"/>
            <a:r>
              <a:rPr lang="ja-JP" altLang="en-US" sz="2000" dirty="0"/>
              <a:t>指定されたデザインルールから違反していないか検証</a:t>
            </a:r>
            <a:endParaRPr lang="en-US" altLang="ja-JP" sz="2000" dirty="0"/>
          </a:p>
          <a:p>
            <a:pPr lvl="2"/>
            <a:r>
              <a:rPr lang="en-US" altLang="ja-JP" sz="2000" dirty="0" err="1"/>
              <a:t>Klayout</a:t>
            </a:r>
            <a:r>
              <a:rPr lang="en-US" altLang="ja-JP" sz="2000" dirty="0"/>
              <a:t> DRC</a:t>
            </a:r>
            <a:r>
              <a:rPr lang="ja-JP" altLang="en-US" sz="2000" dirty="0"/>
              <a:t>と</a:t>
            </a:r>
            <a:r>
              <a:rPr lang="en-US" altLang="ja-JP" sz="2000" dirty="0"/>
              <a:t>Magic DRC</a:t>
            </a:r>
            <a:r>
              <a:rPr lang="ja-JP" altLang="en-US" sz="2000" dirty="0"/>
              <a:t>の</a:t>
            </a:r>
            <a:r>
              <a:rPr lang="en-US" altLang="ja-JP" sz="2000" dirty="0"/>
              <a:t>2</a:t>
            </a:r>
            <a:r>
              <a:rPr lang="ja-JP" altLang="en-US" sz="2000" dirty="0"/>
              <a:t>種類あるので注意</a:t>
            </a:r>
            <a:endParaRPr lang="en-US" altLang="ja-JP" sz="2000" dirty="0"/>
          </a:p>
          <a:p>
            <a:endParaRPr kumimoji="1" lang="en-US" altLang="ja-JP" sz="2000" dirty="0"/>
          </a:p>
          <a:p>
            <a:r>
              <a:rPr kumimoji="1" lang="en-US" altLang="ja-JP" sz="2000" dirty="0"/>
              <a:t>Layout Versus Schematic (LVS)</a:t>
            </a:r>
          </a:p>
          <a:p>
            <a:pPr lvl="1"/>
            <a:r>
              <a:rPr kumimoji="1" lang="ja-JP" altLang="en-US" sz="2000" dirty="0"/>
              <a:t>レイアウトが回路図通りに描けているか検証</a:t>
            </a:r>
            <a:endParaRPr kumimoji="1"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B036865C-2FD5-432B-AD74-ED9D0A99CF69}"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109</a:t>
            </a:fld>
            <a:endParaRPr kumimoji="1" lang="ja-JP" altLang="en-US"/>
          </a:p>
        </p:txBody>
      </p:sp>
      <p:pic>
        <p:nvPicPr>
          <p:cNvPr id="7" name="図 6">
            <a:extLst>
              <a:ext uri="{FF2B5EF4-FFF2-40B4-BE49-F238E27FC236}">
                <a16:creationId xmlns:a16="http://schemas.microsoft.com/office/drawing/2014/main" id="{048C0C32-4FC4-D855-90DF-512E95B444D9}"/>
              </a:ext>
            </a:extLst>
          </p:cNvPr>
          <p:cNvPicPr>
            <a:picLocks noChangeAspect="1"/>
          </p:cNvPicPr>
          <p:nvPr/>
        </p:nvPicPr>
        <p:blipFill>
          <a:blip r:embed="rId3"/>
          <a:stretch>
            <a:fillRect/>
          </a:stretch>
        </p:blipFill>
        <p:spPr>
          <a:xfrm>
            <a:off x="8106651" y="564437"/>
            <a:ext cx="3433844" cy="2626152"/>
          </a:xfrm>
          <a:prstGeom prst="rect">
            <a:avLst/>
          </a:prstGeom>
        </p:spPr>
      </p:pic>
      <p:cxnSp>
        <p:nvCxnSpPr>
          <p:cNvPr id="12" name="直線矢印コネクタ 11">
            <a:extLst>
              <a:ext uri="{FF2B5EF4-FFF2-40B4-BE49-F238E27FC236}">
                <a16:creationId xmlns:a16="http://schemas.microsoft.com/office/drawing/2014/main" id="{D6E345EB-913C-0370-30FA-600630EDFDD4}"/>
              </a:ext>
            </a:extLst>
          </p:cNvPr>
          <p:cNvCxnSpPr>
            <a:cxnSpLocks/>
          </p:cNvCxnSpPr>
          <p:nvPr/>
        </p:nvCxnSpPr>
        <p:spPr>
          <a:xfrm>
            <a:off x="6989805" y="1519499"/>
            <a:ext cx="1867300"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62175F3-FE06-B016-2BF5-376EBCAC2858}"/>
              </a:ext>
            </a:extLst>
          </p:cNvPr>
          <p:cNvCxnSpPr>
            <a:cxnSpLocks/>
          </p:cNvCxnSpPr>
          <p:nvPr/>
        </p:nvCxnSpPr>
        <p:spPr>
          <a:xfrm>
            <a:off x="6989805" y="2174230"/>
            <a:ext cx="1867300"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4" name="図 13">
            <a:extLst>
              <a:ext uri="{FF2B5EF4-FFF2-40B4-BE49-F238E27FC236}">
                <a16:creationId xmlns:a16="http://schemas.microsoft.com/office/drawing/2014/main" id="{9A30F270-A399-9D04-5959-1A237DF2849F}"/>
              </a:ext>
            </a:extLst>
          </p:cNvPr>
          <p:cNvPicPr>
            <a:picLocks noChangeAspect="1"/>
          </p:cNvPicPr>
          <p:nvPr/>
        </p:nvPicPr>
        <p:blipFill>
          <a:blip r:embed="rId4"/>
          <a:stretch>
            <a:fillRect/>
          </a:stretch>
        </p:blipFill>
        <p:spPr>
          <a:xfrm>
            <a:off x="8282176" y="3689392"/>
            <a:ext cx="3258319" cy="2737999"/>
          </a:xfrm>
          <a:prstGeom prst="rect">
            <a:avLst/>
          </a:prstGeom>
        </p:spPr>
      </p:pic>
      <p:cxnSp>
        <p:nvCxnSpPr>
          <p:cNvPr id="13" name="直線矢印コネクタ 12">
            <a:extLst>
              <a:ext uri="{FF2B5EF4-FFF2-40B4-BE49-F238E27FC236}">
                <a16:creationId xmlns:a16="http://schemas.microsoft.com/office/drawing/2014/main" id="{1BF9CB9F-9579-026C-B992-176FE08F8BB5}"/>
              </a:ext>
            </a:extLst>
          </p:cNvPr>
          <p:cNvCxnSpPr>
            <a:cxnSpLocks/>
          </p:cNvCxnSpPr>
          <p:nvPr/>
        </p:nvCxnSpPr>
        <p:spPr>
          <a:xfrm>
            <a:off x="6762180" y="5689653"/>
            <a:ext cx="1867300"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98144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A5A753-D9B0-7D6E-81C4-2F486FC0853D}"/>
              </a:ext>
            </a:extLst>
          </p:cNvPr>
          <p:cNvSpPr>
            <a:spLocks noGrp="1"/>
          </p:cNvSpPr>
          <p:nvPr>
            <p:ph type="title"/>
          </p:nvPr>
        </p:nvSpPr>
        <p:spPr/>
        <p:txBody>
          <a:bodyPr/>
          <a:lstStyle/>
          <a:p>
            <a:r>
              <a:rPr lang="en-US" altLang="ja-JP" dirty="0" err="1"/>
              <a:t>Klayout</a:t>
            </a:r>
            <a:r>
              <a:rPr lang="ja-JP" altLang="en-US" dirty="0"/>
              <a:t>：</a:t>
            </a:r>
            <a:r>
              <a:rPr lang="en-US" altLang="ja-JP" dirty="0"/>
              <a:t>DRC</a:t>
            </a:r>
            <a:r>
              <a:rPr lang="ja-JP" altLang="en-US" dirty="0"/>
              <a:t>エラー</a:t>
            </a:r>
            <a:endParaRPr kumimoji="1" lang="ja-JP" altLang="en-US" dirty="0"/>
          </a:p>
        </p:txBody>
      </p:sp>
      <p:sp>
        <p:nvSpPr>
          <p:cNvPr id="4" name="日付プレースホルダー 3">
            <a:extLst>
              <a:ext uri="{FF2B5EF4-FFF2-40B4-BE49-F238E27FC236}">
                <a16:creationId xmlns:a16="http://schemas.microsoft.com/office/drawing/2014/main" id="{B4B69148-4FD2-95AC-66B5-0D9DE197AC2E}"/>
              </a:ext>
            </a:extLst>
          </p:cNvPr>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9658F9F4-E4E2-1636-527E-40D077F29BD2}"/>
              </a:ext>
            </a:extLst>
          </p:cNvPr>
          <p:cNvSpPr>
            <a:spLocks noGrp="1"/>
          </p:cNvSpPr>
          <p:nvPr>
            <p:ph type="sldNum" sz="quarter" idx="12"/>
          </p:nvPr>
        </p:nvSpPr>
        <p:spPr/>
        <p:txBody>
          <a:bodyPr/>
          <a:lstStyle/>
          <a:p>
            <a:fld id="{66E89953-8AEA-4BDF-A508-664B12926AB4}" type="slidenum">
              <a:rPr kumimoji="1" lang="ja-JP" altLang="en-US" smtClean="0"/>
              <a:t>110</a:t>
            </a:fld>
            <a:endParaRPr kumimoji="1" lang="ja-JP" altLang="en-US"/>
          </a:p>
        </p:txBody>
      </p:sp>
      <p:pic>
        <p:nvPicPr>
          <p:cNvPr id="12" name="コンテンツ プレースホルダー 11">
            <a:extLst>
              <a:ext uri="{FF2B5EF4-FFF2-40B4-BE49-F238E27FC236}">
                <a16:creationId xmlns:a16="http://schemas.microsoft.com/office/drawing/2014/main" id="{37F74FC4-F68B-96E7-5487-2B3A0D2241BC}"/>
              </a:ext>
            </a:extLst>
          </p:cNvPr>
          <p:cNvPicPr>
            <a:picLocks noGrp="1" noChangeAspect="1"/>
          </p:cNvPicPr>
          <p:nvPr>
            <p:ph idx="1"/>
          </p:nvPr>
        </p:nvPicPr>
        <p:blipFill>
          <a:blip r:embed="rId2"/>
          <a:stretch>
            <a:fillRect/>
          </a:stretch>
        </p:blipFill>
        <p:spPr>
          <a:xfrm>
            <a:off x="1833392" y="1093127"/>
            <a:ext cx="9715478" cy="5186154"/>
          </a:xfrm>
          <a:prstGeom prst="rect">
            <a:avLst/>
          </a:prstGeom>
        </p:spPr>
      </p:pic>
      <p:sp>
        <p:nvSpPr>
          <p:cNvPr id="8" name="楕円 7">
            <a:extLst>
              <a:ext uri="{FF2B5EF4-FFF2-40B4-BE49-F238E27FC236}">
                <a16:creationId xmlns:a16="http://schemas.microsoft.com/office/drawing/2014/main" id="{10EB95B5-05CB-5471-EBDA-67E40184D173}"/>
              </a:ext>
            </a:extLst>
          </p:cNvPr>
          <p:cNvSpPr/>
          <p:nvPr/>
        </p:nvSpPr>
        <p:spPr>
          <a:xfrm>
            <a:off x="3293250" y="3841908"/>
            <a:ext cx="3060456" cy="624131"/>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吹き出し: 角を丸めた四角形 25">
            <a:extLst>
              <a:ext uri="{FF2B5EF4-FFF2-40B4-BE49-F238E27FC236}">
                <a16:creationId xmlns:a16="http://schemas.microsoft.com/office/drawing/2014/main" id="{70C51065-8F4A-A2CB-7F90-296C1CED7889}"/>
              </a:ext>
            </a:extLst>
          </p:cNvPr>
          <p:cNvSpPr/>
          <p:nvPr/>
        </p:nvSpPr>
        <p:spPr>
          <a:xfrm>
            <a:off x="0" y="5019473"/>
            <a:ext cx="4434645" cy="1490799"/>
          </a:xfrm>
          <a:prstGeom prst="wedgeRoundRectCallout">
            <a:avLst>
              <a:gd name="adj1" fmla="val 33554"/>
              <a:gd name="adj2" fmla="val -106445"/>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エラー番号をレファレンス</a:t>
            </a:r>
            <a:endParaRPr kumimoji="1" lang="en-US" altLang="ja-JP" dirty="0"/>
          </a:p>
          <a:p>
            <a:pPr algn="ctr"/>
            <a:r>
              <a:rPr kumimoji="1" lang="ja-JP" altLang="en-US" dirty="0"/>
              <a:t>マニュアルで検索すると</a:t>
            </a:r>
            <a:endParaRPr kumimoji="1" lang="en-US" altLang="ja-JP" dirty="0"/>
          </a:p>
          <a:p>
            <a:pPr algn="ctr"/>
            <a:r>
              <a:rPr kumimoji="1" lang="ja-JP" altLang="en-US" dirty="0"/>
              <a:t>エラー内容が解説されている。</a:t>
            </a:r>
            <a:endParaRPr kumimoji="1" lang="en-US" altLang="ja-JP" dirty="0"/>
          </a:p>
          <a:p>
            <a:pPr algn="ctr"/>
            <a:r>
              <a:rPr kumimoji="1" lang="ja-JP" altLang="en-US" dirty="0"/>
              <a:t>わからない場合はこの画面キャプチャを</a:t>
            </a:r>
            <a:r>
              <a:rPr kumimoji="1" lang="en-US" altLang="ja-JP" dirty="0"/>
              <a:t>AI</a:t>
            </a:r>
            <a:r>
              <a:rPr kumimoji="1" lang="ja-JP" altLang="en-US" dirty="0"/>
              <a:t>に投げると答えてくれる</a:t>
            </a:r>
            <a:endParaRPr kumimoji="1" lang="en-US" altLang="ja-JP" dirty="0"/>
          </a:p>
        </p:txBody>
      </p:sp>
      <p:sp>
        <p:nvSpPr>
          <p:cNvPr id="6" name="楕円 5">
            <a:extLst>
              <a:ext uri="{FF2B5EF4-FFF2-40B4-BE49-F238E27FC236}">
                <a16:creationId xmlns:a16="http://schemas.microsoft.com/office/drawing/2014/main" id="{F3077059-FF3A-4917-5136-EE409340F590}"/>
              </a:ext>
            </a:extLst>
          </p:cNvPr>
          <p:cNvSpPr/>
          <p:nvPr/>
        </p:nvSpPr>
        <p:spPr>
          <a:xfrm>
            <a:off x="3443512" y="2505955"/>
            <a:ext cx="2588388" cy="255069"/>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吹き出し: 角を丸めた四角形 23">
            <a:extLst>
              <a:ext uri="{FF2B5EF4-FFF2-40B4-BE49-F238E27FC236}">
                <a16:creationId xmlns:a16="http://schemas.microsoft.com/office/drawing/2014/main" id="{F9B5D797-7920-21BE-9889-787184153AF1}"/>
              </a:ext>
            </a:extLst>
          </p:cNvPr>
          <p:cNvSpPr/>
          <p:nvPr/>
        </p:nvSpPr>
        <p:spPr>
          <a:xfrm>
            <a:off x="6699025" y="1204439"/>
            <a:ext cx="2581192" cy="870665"/>
          </a:xfrm>
          <a:prstGeom prst="wedgeRoundRectCallout">
            <a:avLst>
              <a:gd name="adj1" fmla="val -32773"/>
              <a:gd name="adj2" fmla="val 20287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旗をクリックすると</a:t>
            </a:r>
            <a:endParaRPr kumimoji="1" lang="en-US" altLang="ja-JP" dirty="0"/>
          </a:p>
          <a:p>
            <a:pPr algn="ctr"/>
            <a:r>
              <a:rPr kumimoji="1" lang="ja-JP" altLang="en-US" dirty="0"/>
              <a:t>白いでエラー箇所が</a:t>
            </a:r>
            <a:endParaRPr kumimoji="1" lang="en-US" altLang="ja-JP" dirty="0"/>
          </a:p>
          <a:p>
            <a:pPr algn="ctr"/>
            <a:r>
              <a:rPr kumimoji="1" lang="ja-JP" altLang="en-US" dirty="0"/>
              <a:t>強調される</a:t>
            </a:r>
            <a:endParaRPr kumimoji="1" lang="en-US" altLang="ja-JP" dirty="0"/>
          </a:p>
        </p:txBody>
      </p:sp>
      <p:sp>
        <p:nvSpPr>
          <p:cNvPr id="3" name="吹き出し: 角を丸めた四角形 2">
            <a:extLst>
              <a:ext uri="{FF2B5EF4-FFF2-40B4-BE49-F238E27FC236}">
                <a16:creationId xmlns:a16="http://schemas.microsoft.com/office/drawing/2014/main" id="{6D285955-B500-F72E-69AA-E42F0178FD7D}"/>
              </a:ext>
            </a:extLst>
          </p:cNvPr>
          <p:cNvSpPr/>
          <p:nvPr/>
        </p:nvSpPr>
        <p:spPr>
          <a:xfrm>
            <a:off x="6691131" y="1204439"/>
            <a:ext cx="2581192" cy="870665"/>
          </a:xfrm>
          <a:prstGeom prst="wedgeRoundRectCallout">
            <a:avLst>
              <a:gd name="adj1" fmla="val -93301"/>
              <a:gd name="adj2" fmla="val 11265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旗をクリックすると</a:t>
            </a:r>
            <a:endParaRPr kumimoji="1" lang="en-US" altLang="ja-JP" dirty="0"/>
          </a:p>
          <a:p>
            <a:pPr algn="ctr"/>
            <a:r>
              <a:rPr kumimoji="1" lang="ja-JP" altLang="en-US" dirty="0"/>
              <a:t>白いでエラー箇所が</a:t>
            </a:r>
            <a:endParaRPr kumimoji="1" lang="en-US" altLang="ja-JP" dirty="0"/>
          </a:p>
          <a:p>
            <a:pPr algn="ctr"/>
            <a:r>
              <a:rPr kumimoji="1" lang="ja-JP" altLang="en-US" dirty="0"/>
              <a:t>強調される</a:t>
            </a:r>
            <a:endParaRPr kumimoji="1" lang="en-US" altLang="ja-JP" dirty="0"/>
          </a:p>
        </p:txBody>
      </p:sp>
    </p:spTree>
    <p:extLst>
      <p:ext uri="{BB962C8B-B14F-4D97-AF65-F5344CB8AC3E}">
        <p14:creationId xmlns:p14="http://schemas.microsoft.com/office/powerpoint/2010/main" val="295329026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A5A753-D9B0-7D6E-81C4-2F486FC0853D}"/>
              </a:ext>
            </a:extLst>
          </p:cNvPr>
          <p:cNvSpPr>
            <a:spLocks noGrp="1"/>
          </p:cNvSpPr>
          <p:nvPr>
            <p:ph type="title"/>
          </p:nvPr>
        </p:nvSpPr>
        <p:spPr/>
        <p:txBody>
          <a:bodyPr/>
          <a:lstStyle/>
          <a:p>
            <a:r>
              <a:rPr lang="en-US" altLang="ja-JP" dirty="0" err="1"/>
              <a:t>Klayout</a:t>
            </a:r>
            <a:r>
              <a:rPr lang="ja-JP" altLang="en-US" dirty="0"/>
              <a:t>：</a:t>
            </a:r>
            <a:r>
              <a:rPr lang="en-US" altLang="ja-JP" dirty="0"/>
              <a:t>DRC</a:t>
            </a:r>
            <a:r>
              <a:rPr lang="ja-JP" altLang="en-US" dirty="0"/>
              <a:t> </a:t>
            </a:r>
            <a:r>
              <a:rPr lang="en-US" altLang="ja-JP" dirty="0"/>
              <a:t>OK</a:t>
            </a:r>
            <a:endParaRPr kumimoji="1" lang="ja-JP" altLang="en-US" dirty="0"/>
          </a:p>
        </p:txBody>
      </p:sp>
      <p:sp>
        <p:nvSpPr>
          <p:cNvPr id="4" name="日付プレースホルダー 3">
            <a:extLst>
              <a:ext uri="{FF2B5EF4-FFF2-40B4-BE49-F238E27FC236}">
                <a16:creationId xmlns:a16="http://schemas.microsoft.com/office/drawing/2014/main" id="{B4B69148-4FD2-95AC-66B5-0D9DE197AC2E}"/>
              </a:ext>
            </a:extLst>
          </p:cNvPr>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9658F9F4-E4E2-1636-527E-40D077F29BD2}"/>
              </a:ext>
            </a:extLst>
          </p:cNvPr>
          <p:cNvSpPr>
            <a:spLocks noGrp="1"/>
          </p:cNvSpPr>
          <p:nvPr>
            <p:ph type="sldNum" sz="quarter" idx="12"/>
          </p:nvPr>
        </p:nvSpPr>
        <p:spPr/>
        <p:txBody>
          <a:bodyPr/>
          <a:lstStyle/>
          <a:p>
            <a:fld id="{66E89953-8AEA-4BDF-A508-664B12926AB4}" type="slidenum">
              <a:rPr kumimoji="1" lang="ja-JP" altLang="en-US" smtClean="0"/>
              <a:t>111</a:t>
            </a:fld>
            <a:endParaRPr kumimoji="1" lang="ja-JP" altLang="en-US"/>
          </a:p>
        </p:txBody>
      </p:sp>
      <p:pic>
        <p:nvPicPr>
          <p:cNvPr id="6" name="図 5">
            <a:extLst>
              <a:ext uri="{FF2B5EF4-FFF2-40B4-BE49-F238E27FC236}">
                <a16:creationId xmlns:a16="http://schemas.microsoft.com/office/drawing/2014/main" id="{E44166B3-25B8-F451-8C02-CAEE81DF9F13}"/>
              </a:ext>
            </a:extLst>
          </p:cNvPr>
          <p:cNvPicPr>
            <a:picLocks noChangeAspect="1"/>
          </p:cNvPicPr>
          <p:nvPr/>
        </p:nvPicPr>
        <p:blipFill>
          <a:blip r:embed="rId2"/>
          <a:stretch>
            <a:fillRect/>
          </a:stretch>
        </p:blipFill>
        <p:spPr>
          <a:xfrm>
            <a:off x="1448127" y="1286455"/>
            <a:ext cx="9724820" cy="5181672"/>
          </a:xfrm>
          <a:prstGeom prst="rect">
            <a:avLst/>
          </a:prstGeom>
        </p:spPr>
      </p:pic>
      <p:sp>
        <p:nvSpPr>
          <p:cNvPr id="14" name="吹き出し: 角を丸めた四角形 13">
            <a:extLst>
              <a:ext uri="{FF2B5EF4-FFF2-40B4-BE49-F238E27FC236}">
                <a16:creationId xmlns:a16="http://schemas.microsoft.com/office/drawing/2014/main" id="{62BE61AC-3859-7EE3-3BCF-AB8C85D1A786}"/>
              </a:ext>
            </a:extLst>
          </p:cNvPr>
          <p:cNvSpPr/>
          <p:nvPr/>
        </p:nvSpPr>
        <p:spPr>
          <a:xfrm>
            <a:off x="1249670" y="1671872"/>
            <a:ext cx="2981739" cy="832104"/>
          </a:xfrm>
          <a:prstGeom prst="wedgeRoundRectCallout">
            <a:avLst>
              <a:gd name="adj1" fmla="val 58792"/>
              <a:gd name="adj2" fmla="val 11091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何も表示されなければ</a:t>
            </a:r>
            <a:r>
              <a:rPr kumimoji="1" lang="en-US" altLang="ja-JP" dirty="0"/>
              <a:t>OK</a:t>
            </a:r>
          </a:p>
        </p:txBody>
      </p:sp>
    </p:spTree>
    <p:extLst>
      <p:ext uri="{BB962C8B-B14F-4D97-AF65-F5344CB8AC3E}">
        <p14:creationId xmlns:p14="http://schemas.microsoft.com/office/powerpoint/2010/main" val="33293737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1A4F72-361B-17BC-5D8B-8E88DE7A548D}"/>
              </a:ext>
            </a:extLst>
          </p:cNvPr>
          <p:cNvSpPr>
            <a:spLocks noGrp="1"/>
          </p:cNvSpPr>
          <p:nvPr>
            <p:ph type="title"/>
          </p:nvPr>
        </p:nvSpPr>
        <p:spPr/>
        <p:txBody>
          <a:bodyPr/>
          <a:lstStyle/>
          <a:p>
            <a:r>
              <a:rPr lang="en-US" altLang="ja-JP" dirty="0"/>
              <a:t>Magic</a:t>
            </a:r>
            <a:r>
              <a:rPr lang="ja-JP" altLang="en-US" dirty="0"/>
              <a:t>：</a:t>
            </a:r>
            <a:r>
              <a:rPr lang="en-US" altLang="ja-JP" dirty="0"/>
              <a:t>DRC</a:t>
            </a:r>
            <a:r>
              <a:rPr lang="ja-JP" altLang="en-US" dirty="0"/>
              <a:t> </a:t>
            </a:r>
            <a:r>
              <a:rPr lang="en-US" altLang="ja-JP" dirty="0"/>
              <a:t>OK</a:t>
            </a:r>
            <a:endParaRPr kumimoji="1" lang="ja-JP" altLang="en-US" dirty="0"/>
          </a:p>
        </p:txBody>
      </p:sp>
      <p:pic>
        <p:nvPicPr>
          <p:cNvPr id="7" name="コンテンツ プレースホルダー 6">
            <a:extLst>
              <a:ext uri="{FF2B5EF4-FFF2-40B4-BE49-F238E27FC236}">
                <a16:creationId xmlns:a16="http://schemas.microsoft.com/office/drawing/2014/main" id="{158AB271-B575-0C6B-603F-717BC7A08F69}"/>
              </a:ext>
            </a:extLst>
          </p:cNvPr>
          <p:cNvPicPr>
            <a:picLocks noGrp="1" noChangeAspect="1"/>
          </p:cNvPicPr>
          <p:nvPr>
            <p:ph idx="1"/>
          </p:nvPr>
        </p:nvPicPr>
        <p:blipFill>
          <a:blip r:embed="rId2"/>
          <a:stretch>
            <a:fillRect/>
          </a:stretch>
        </p:blipFill>
        <p:spPr>
          <a:xfrm>
            <a:off x="3021320" y="1581231"/>
            <a:ext cx="6056903" cy="3978275"/>
          </a:xfrm>
          <a:prstGeom prst="rect">
            <a:avLst/>
          </a:prstGeom>
        </p:spPr>
      </p:pic>
      <p:sp>
        <p:nvSpPr>
          <p:cNvPr id="4" name="日付プレースホルダー 3">
            <a:extLst>
              <a:ext uri="{FF2B5EF4-FFF2-40B4-BE49-F238E27FC236}">
                <a16:creationId xmlns:a16="http://schemas.microsoft.com/office/drawing/2014/main" id="{A1C55FD6-08DA-3D53-E43E-A3CDD54D9A05}"/>
              </a:ext>
            </a:extLst>
          </p:cNvPr>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8AABD031-1BF5-D640-140E-84EB745A65E2}"/>
              </a:ext>
            </a:extLst>
          </p:cNvPr>
          <p:cNvSpPr>
            <a:spLocks noGrp="1"/>
          </p:cNvSpPr>
          <p:nvPr>
            <p:ph type="sldNum" sz="quarter" idx="12"/>
          </p:nvPr>
        </p:nvSpPr>
        <p:spPr/>
        <p:txBody>
          <a:bodyPr/>
          <a:lstStyle/>
          <a:p>
            <a:fld id="{66E89953-8AEA-4BDF-A508-664B12926AB4}" type="slidenum">
              <a:rPr kumimoji="1" lang="ja-JP" altLang="en-US" smtClean="0"/>
              <a:t>112</a:t>
            </a:fld>
            <a:endParaRPr kumimoji="1" lang="ja-JP" altLang="en-US"/>
          </a:p>
        </p:txBody>
      </p:sp>
      <p:sp>
        <p:nvSpPr>
          <p:cNvPr id="9" name="吹き出し: 角を丸めた四角形 8">
            <a:extLst>
              <a:ext uri="{FF2B5EF4-FFF2-40B4-BE49-F238E27FC236}">
                <a16:creationId xmlns:a16="http://schemas.microsoft.com/office/drawing/2014/main" id="{27067A02-2CFB-C943-AAF9-4EC489FA0C99}"/>
              </a:ext>
            </a:extLst>
          </p:cNvPr>
          <p:cNvSpPr/>
          <p:nvPr/>
        </p:nvSpPr>
        <p:spPr>
          <a:xfrm>
            <a:off x="5953410" y="4191327"/>
            <a:ext cx="2441854" cy="608460"/>
          </a:xfrm>
          <a:prstGeom prst="wedgeRoundRectCallout">
            <a:avLst>
              <a:gd name="adj1" fmla="val -90481"/>
              <a:gd name="adj2" fmla="val 13286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dirty="0"/>
              <a:t>0</a:t>
            </a:r>
            <a:r>
              <a:rPr kumimoji="1" lang="ja-JP" altLang="en-US" dirty="0"/>
              <a:t>なら</a:t>
            </a:r>
            <a:r>
              <a:rPr kumimoji="1" lang="en-US" altLang="ja-JP" dirty="0"/>
              <a:t>OK</a:t>
            </a:r>
          </a:p>
        </p:txBody>
      </p:sp>
    </p:spTree>
    <p:extLst>
      <p:ext uri="{BB962C8B-B14F-4D97-AF65-F5344CB8AC3E}">
        <p14:creationId xmlns:p14="http://schemas.microsoft.com/office/powerpoint/2010/main" val="404738642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lang="en-US" altLang="ja-JP" dirty="0" err="1"/>
              <a:t>Klayout</a:t>
            </a:r>
            <a:r>
              <a:rPr lang="ja-JP" altLang="en-US" dirty="0"/>
              <a:t>：</a:t>
            </a:r>
            <a:r>
              <a:rPr kumimoji="1" lang="en-US" altLang="ja-JP" dirty="0"/>
              <a:t>LVS</a:t>
            </a:r>
            <a:r>
              <a:rPr kumimoji="1" lang="ja-JP" altLang="en-US" dirty="0"/>
              <a:t>用ネットリストの出力方法　</a:t>
            </a:r>
            <a:r>
              <a:rPr kumimoji="1" lang="en-US" altLang="ja-JP" dirty="0"/>
              <a:t>(1/2)</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113</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上であらかじめ</a:t>
            </a:r>
            <a:r>
              <a:rPr lang="en-US" altLang="ja-JP" sz="2000" dirty="0"/>
              <a:t>LVS</a:t>
            </a:r>
            <a:r>
              <a:rPr lang="ja-JP" altLang="en-US" sz="2000" dirty="0"/>
              <a:t>用の</a:t>
            </a:r>
            <a:r>
              <a:rPr kumimoji="1" lang="ja-JP" altLang="en-US" sz="2000" dirty="0"/>
              <a:t>回路図を作成しておく。</a:t>
            </a:r>
            <a:endParaRPr kumimoji="1" lang="en-US" altLang="ja-JP" sz="2000" dirty="0"/>
          </a:p>
          <a:p>
            <a:pPr marL="285750" indent="-285750">
              <a:buFont typeface="Arial" panose="020B0604020202020204" pitchFamily="34" charset="0"/>
              <a:buChar char="•"/>
            </a:pPr>
            <a:r>
              <a:rPr kumimoji="1" lang="ja-JP" altLang="en-US" sz="2000" dirty="0"/>
              <a:t>ピンは</a:t>
            </a:r>
            <a:r>
              <a:rPr kumimoji="1" lang="en-US" altLang="ja-JP" sz="2000" dirty="0" err="1"/>
              <a:t>ipin</a:t>
            </a:r>
            <a:r>
              <a:rPr kumimoji="1" lang="en-US" altLang="ja-JP" sz="2000" dirty="0"/>
              <a:t>, </a:t>
            </a:r>
            <a:r>
              <a:rPr kumimoji="1" lang="en-US" altLang="ja-JP" sz="2000" dirty="0" err="1"/>
              <a:t>iopin</a:t>
            </a:r>
            <a:r>
              <a:rPr kumimoji="1" lang="en-US" altLang="ja-JP" sz="2000" dirty="0"/>
              <a:t>, </a:t>
            </a:r>
            <a:r>
              <a:rPr kumimoji="1" lang="en-US" altLang="ja-JP" sz="2000" dirty="0" err="1"/>
              <a:t>opin</a:t>
            </a:r>
            <a:r>
              <a:rPr kumimoji="1" lang="en-US" altLang="ja-JP" sz="2000" dirty="0"/>
              <a:t> </a:t>
            </a:r>
            <a:r>
              <a:rPr kumimoji="1" lang="ja-JP" altLang="en-US" sz="2000" dirty="0"/>
              <a:t>のみを使用する。</a:t>
            </a:r>
            <a:endParaRPr kumimoji="1" lang="en-US" altLang="ja-JP" sz="2000" dirty="0"/>
          </a:p>
          <a:p>
            <a:pPr marL="569214" lvl="1" indent="-285750"/>
            <a:r>
              <a:rPr kumimoji="1" lang="en-US" altLang="ja-JP" sz="2000" dirty="0" err="1"/>
              <a:t>vdd.sym</a:t>
            </a:r>
            <a:r>
              <a:rPr kumimoji="1" lang="ja-JP" altLang="en-US" sz="2000" dirty="0"/>
              <a:t>や</a:t>
            </a:r>
            <a:r>
              <a:rPr kumimoji="1" lang="en-US" altLang="ja-JP" sz="2000" dirty="0" err="1"/>
              <a:t>gnd.sym</a:t>
            </a:r>
            <a:r>
              <a:rPr lang="ja-JP" altLang="en-US" sz="2000" dirty="0"/>
              <a:t>を使用するとうまく通らない。</a:t>
            </a:r>
            <a:endParaRPr lang="en-US" altLang="ja-JP" sz="2000" dirty="0"/>
          </a:p>
          <a:p>
            <a:pPr marL="285750" indent="-285750"/>
            <a:endParaRPr lang="en-US" altLang="ja-JP" sz="2000" dirty="0"/>
          </a:p>
          <a:p>
            <a:pPr marL="342900" indent="-342900">
              <a:buFont typeface="Arial" panose="020B0604020202020204" pitchFamily="34" charset="0"/>
              <a:buChar char="•"/>
            </a:pPr>
            <a:r>
              <a:rPr lang="ja-JP" altLang="en-US" sz="2000" dirty="0"/>
              <a:t>ファイルを同じ名前にする 例</a:t>
            </a:r>
            <a:r>
              <a:rPr lang="en-US" altLang="ja-JP" sz="2000" dirty="0"/>
              <a:t>: </a:t>
            </a:r>
            <a:r>
              <a:rPr lang="en-US" altLang="ja-JP" sz="2000" dirty="0" err="1"/>
              <a:t>nand.sch</a:t>
            </a:r>
            <a:r>
              <a:rPr lang="en-US" altLang="ja-JP" sz="2000" dirty="0"/>
              <a:t>, </a:t>
            </a:r>
            <a:r>
              <a:rPr lang="en-US" altLang="ja-JP" sz="2000" dirty="0" err="1"/>
              <a:t>nand.gds</a:t>
            </a:r>
            <a:endParaRPr lang="en-US" altLang="ja-JP" sz="2000" dirty="0"/>
          </a:p>
        </p:txBody>
      </p:sp>
      <p:pic>
        <p:nvPicPr>
          <p:cNvPr id="9" name="図 8">
            <a:extLst>
              <a:ext uri="{FF2B5EF4-FFF2-40B4-BE49-F238E27FC236}">
                <a16:creationId xmlns:a16="http://schemas.microsoft.com/office/drawing/2014/main" id="{B3AEACF2-26A1-6D4C-DCB5-7A0B0D230D9E}"/>
              </a:ext>
            </a:extLst>
          </p:cNvPr>
          <p:cNvPicPr>
            <a:picLocks noChangeAspect="1"/>
          </p:cNvPicPr>
          <p:nvPr/>
        </p:nvPicPr>
        <p:blipFill>
          <a:blip r:embed="rId2"/>
          <a:stretch>
            <a:fillRect/>
          </a:stretch>
        </p:blipFill>
        <p:spPr>
          <a:xfrm>
            <a:off x="6684169" y="1283299"/>
            <a:ext cx="5380702" cy="5144092"/>
          </a:xfrm>
          <a:prstGeom prst="rect">
            <a:avLst/>
          </a:prstGeom>
        </p:spPr>
      </p:pic>
    </p:spTree>
    <p:extLst>
      <p:ext uri="{BB962C8B-B14F-4D97-AF65-F5344CB8AC3E}">
        <p14:creationId xmlns:p14="http://schemas.microsoft.com/office/powerpoint/2010/main" val="146426567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lang="en-US" altLang="ja-JP" dirty="0" err="1"/>
              <a:t>Klayout</a:t>
            </a:r>
            <a:r>
              <a:rPr lang="ja-JP" altLang="en-US" dirty="0"/>
              <a:t>：</a:t>
            </a:r>
            <a:r>
              <a:rPr kumimoji="1" lang="en-US" altLang="ja-JP" dirty="0"/>
              <a:t>LVS</a:t>
            </a:r>
            <a:r>
              <a:rPr kumimoji="1" lang="ja-JP" altLang="en-US" dirty="0"/>
              <a:t>用ネットリストの出力</a:t>
            </a:r>
            <a:r>
              <a:rPr lang="ja-JP" altLang="en-US" dirty="0"/>
              <a:t>方法</a:t>
            </a:r>
            <a:r>
              <a:rPr kumimoji="1" lang="ja-JP" altLang="en-US" dirty="0"/>
              <a:t>　</a:t>
            </a:r>
            <a:r>
              <a:rPr kumimoji="1" lang="en-US" altLang="ja-JP" dirty="0"/>
              <a:t>(2/2)</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114</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a:t>
            </a:r>
            <a:r>
              <a:rPr lang="en-US" altLang="ja-JP" sz="2000" b="1" dirty="0">
                <a:solidFill>
                  <a:schemeClr val="accent2"/>
                </a:solidFill>
              </a:rPr>
              <a:t>LVS</a:t>
            </a:r>
            <a:r>
              <a:rPr lang="ja-JP" altLang="en-US" sz="2000" b="1" dirty="0">
                <a:solidFill>
                  <a:schemeClr val="accent2"/>
                </a:solidFill>
              </a:rPr>
              <a:t>用</a:t>
            </a:r>
            <a:r>
              <a:rPr lang="ja-JP" altLang="en-US" sz="2000" dirty="0"/>
              <a:t>のネットリストを出力する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Simulation &gt; LVS &gt; Use ‘</a:t>
            </a:r>
            <a:r>
              <a:rPr lang="en-US" altLang="ja-JP" sz="2000" dirty="0" err="1"/>
              <a:t>spiceprefix</a:t>
            </a:r>
            <a:r>
              <a:rPr lang="en-US" altLang="ja-JP" sz="2000" dirty="0"/>
              <a:t>’ attribute </a:t>
            </a:r>
            <a:r>
              <a:rPr lang="ja-JP" altLang="en-US" sz="2000" dirty="0"/>
              <a:t>の✓を外す</a:t>
            </a:r>
            <a:endParaRPr lang="en-US" altLang="ja-JP" sz="2000" dirty="0"/>
          </a:p>
          <a:p>
            <a:pPr marL="457200" indent="-457200">
              <a:buFont typeface="+mj-lt"/>
              <a:buAutoNum type="arabicPeriod"/>
            </a:pPr>
            <a:r>
              <a:rPr lang="ja-JP" altLang="en-US" sz="2000" dirty="0"/>
              <a:t>メニュー </a:t>
            </a:r>
            <a:r>
              <a:rPr lang="en-US" altLang="ja-JP" sz="2000" dirty="0"/>
              <a:t>Simulation &gt; LVS &gt; LVS netlist + Top level is a .</a:t>
            </a:r>
            <a:r>
              <a:rPr lang="en-US" altLang="ja-JP" sz="2000" dirty="0" err="1"/>
              <a:t>subckt</a:t>
            </a:r>
            <a:r>
              <a:rPr lang="en-US" altLang="ja-JP" sz="2000" dirty="0"/>
              <a:t> </a:t>
            </a:r>
            <a:r>
              <a:rPr lang="ja-JP" altLang="en-US" sz="2000" dirty="0"/>
              <a:t>に✓を入れる</a:t>
            </a:r>
            <a:endParaRPr lang="en-US" altLang="ja-JP" sz="2000" dirty="0"/>
          </a:p>
          <a:p>
            <a:pPr marL="457200" indent="-457200">
              <a:buFont typeface="+mj-lt"/>
              <a:buAutoNum type="arabicPeriod"/>
            </a:pPr>
            <a:r>
              <a:rPr lang="en-US" altLang="ja-JP" sz="2000" dirty="0"/>
              <a:t>Netlist</a:t>
            </a:r>
            <a:r>
              <a:rPr lang="ja-JP" altLang="en-US" sz="2000" dirty="0"/>
              <a:t>を押す</a:t>
            </a:r>
            <a:endParaRPr lang="en-US" altLang="ja-JP" sz="2000" dirty="0"/>
          </a:p>
          <a:p>
            <a:pPr marL="457200" indent="-457200">
              <a:buFont typeface="+mj-lt"/>
              <a:buAutoNum type="arabicPeriod"/>
            </a:pPr>
            <a:endParaRPr lang="en-US" altLang="ja-JP" sz="2000" dirty="0"/>
          </a:p>
          <a:p>
            <a:pPr marL="457200" indent="-457200">
              <a:buFont typeface="Arial" panose="020B0604020202020204" pitchFamily="34" charset="0"/>
              <a:buChar char="•"/>
            </a:pPr>
            <a:r>
              <a:rPr lang="ja-JP" altLang="en-US" sz="2000" dirty="0"/>
              <a:t>終わったら閉じて良い</a:t>
            </a:r>
            <a:endParaRPr lang="en-US" altLang="ja-JP" sz="2000" dirty="0"/>
          </a:p>
          <a:p>
            <a:pPr marL="457200" indent="-457200">
              <a:buFont typeface="+mj-lt"/>
              <a:buAutoNum type="arabicPeriod"/>
            </a:pPr>
            <a:endParaRPr kumimoji="1" lang="en-US" altLang="ja-JP" sz="2000" dirty="0"/>
          </a:p>
        </p:txBody>
      </p:sp>
      <p:pic>
        <p:nvPicPr>
          <p:cNvPr id="8" name="図 7">
            <a:extLst>
              <a:ext uri="{FF2B5EF4-FFF2-40B4-BE49-F238E27FC236}">
                <a16:creationId xmlns:a16="http://schemas.microsoft.com/office/drawing/2014/main" id="{272DD55B-B57B-EA97-B460-A8F1C50B97CC}"/>
              </a:ext>
            </a:extLst>
          </p:cNvPr>
          <p:cNvPicPr>
            <a:picLocks noChangeAspect="1"/>
          </p:cNvPicPr>
          <p:nvPr/>
        </p:nvPicPr>
        <p:blipFill>
          <a:blip r:embed="rId2"/>
          <a:stretch>
            <a:fillRect/>
          </a:stretch>
        </p:blipFill>
        <p:spPr>
          <a:xfrm>
            <a:off x="7515348" y="3140400"/>
            <a:ext cx="4115841" cy="3399036"/>
          </a:xfrm>
          <a:prstGeom prst="rect">
            <a:avLst/>
          </a:prstGeom>
        </p:spPr>
      </p:pic>
      <p:cxnSp>
        <p:nvCxnSpPr>
          <p:cNvPr id="10" name="直線矢印コネクタ 9">
            <a:extLst>
              <a:ext uri="{FF2B5EF4-FFF2-40B4-BE49-F238E27FC236}">
                <a16:creationId xmlns:a16="http://schemas.microsoft.com/office/drawing/2014/main" id="{D605E5C1-68C2-54B3-FEFA-948F5B5E7EC8}"/>
              </a:ext>
            </a:extLst>
          </p:cNvPr>
          <p:cNvCxnSpPr/>
          <p:nvPr/>
        </p:nvCxnSpPr>
        <p:spPr>
          <a:xfrm>
            <a:off x="8827744" y="5735558"/>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E484DBC-D68B-A2A7-8F0C-C6F9DFF50CF3}"/>
              </a:ext>
            </a:extLst>
          </p:cNvPr>
          <p:cNvCxnSpPr/>
          <p:nvPr/>
        </p:nvCxnSpPr>
        <p:spPr>
          <a:xfrm>
            <a:off x="8827744" y="6186217"/>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33759F27-B8D1-60A2-B3D2-5D5225C43D24}"/>
              </a:ext>
            </a:extLst>
          </p:cNvPr>
          <p:cNvCxnSpPr/>
          <p:nvPr/>
        </p:nvCxnSpPr>
        <p:spPr>
          <a:xfrm>
            <a:off x="6621542" y="5735558"/>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52725EF2-CB6B-C0B9-1EB8-5480F5303A39}"/>
              </a:ext>
            </a:extLst>
          </p:cNvPr>
          <p:cNvCxnSpPr/>
          <p:nvPr/>
        </p:nvCxnSpPr>
        <p:spPr>
          <a:xfrm>
            <a:off x="6574448" y="3337056"/>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AAD8B4DC-3122-DD76-124F-38A07B1A9D3D}"/>
              </a:ext>
            </a:extLst>
          </p:cNvPr>
          <p:cNvCxnSpPr>
            <a:cxnSpLocks/>
          </p:cNvCxnSpPr>
          <p:nvPr/>
        </p:nvCxnSpPr>
        <p:spPr>
          <a:xfrm flipH="1">
            <a:off x="9226414" y="3337056"/>
            <a:ext cx="1114547"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9770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の実行</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6450455" cy="5115749"/>
          </a:xfrm>
        </p:spPr>
        <p:txBody>
          <a:bodyPr>
            <a:normAutofit/>
          </a:bodyPr>
          <a:lstStyle/>
          <a:p>
            <a:pPr marL="285750" indent="-285750">
              <a:buFont typeface="Arial" panose="020B0604020202020204" pitchFamily="34" charset="0"/>
              <a:buChar char="•"/>
            </a:pPr>
            <a:r>
              <a:rPr lang="en-US" altLang="ja-JP" sz="2000" dirty="0" err="1"/>
              <a:t>klayout</a:t>
            </a:r>
            <a:r>
              <a:rPr lang="ja-JP" altLang="en-US" sz="2000" dirty="0"/>
              <a:t>上でネットリスト比較を実行する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gf180mcu PDK &gt; Make netlist for </a:t>
            </a:r>
            <a:r>
              <a:rPr lang="en-US" altLang="ja-JP" sz="2000" dirty="0" err="1"/>
              <a:t>Klayout</a:t>
            </a:r>
            <a:r>
              <a:rPr lang="en-US" altLang="ja-JP" sz="2000" dirty="0"/>
              <a:t> LVS</a:t>
            </a:r>
            <a:r>
              <a:rPr lang="ja-JP" altLang="en-US" sz="2000" dirty="0"/>
              <a:t>を実行する</a:t>
            </a:r>
            <a:endParaRPr lang="en-US" altLang="ja-JP" sz="2000" dirty="0"/>
          </a:p>
          <a:p>
            <a:pPr marL="740664" lvl="1" indent="-457200">
              <a:buFont typeface="+mj-lt"/>
              <a:buAutoNum type="arabicPeriod"/>
            </a:pPr>
            <a:r>
              <a:rPr lang="ja-JP" altLang="en-US" sz="2000" dirty="0"/>
              <a:t>下記のようなウィンドウが出れば</a:t>
            </a:r>
            <a:r>
              <a:rPr lang="en-US" altLang="ja-JP" sz="2000" dirty="0"/>
              <a:t>OK</a:t>
            </a:r>
            <a:r>
              <a:rPr lang="ja-JP" altLang="en-US" sz="2000" dirty="0"/>
              <a:t>。閉じてもよい。</a:t>
            </a:r>
            <a:endParaRPr lang="en-US" altLang="ja-JP" sz="2000" dirty="0"/>
          </a:p>
          <a:p>
            <a:pPr marL="457200" indent="-457200">
              <a:buFont typeface="+mj-lt"/>
              <a:buAutoNum type="arabicPeriod"/>
            </a:pPr>
            <a:endParaRPr kumimoji="1" lang="en-US" altLang="ja-JP" sz="2000" dirty="0"/>
          </a:p>
          <a:p>
            <a:pPr marL="457200" indent="-457200">
              <a:buFont typeface="+mj-lt"/>
              <a:buAutoNum type="arabicPeriod"/>
            </a:pPr>
            <a:endParaRPr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メニュー </a:t>
            </a:r>
            <a:r>
              <a:rPr lang="en-US" altLang="ja-JP" sz="2000" dirty="0"/>
              <a:t>gf180mcu PDK &gt; Run </a:t>
            </a:r>
            <a:r>
              <a:rPr lang="en-US" altLang="ja-JP" sz="2000" dirty="0" err="1"/>
              <a:t>Klayout</a:t>
            </a:r>
            <a:r>
              <a:rPr lang="en-US" altLang="ja-JP" sz="2000" dirty="0"/>
              <a:t> LVS </a:t>
            </a:r>
            <a:r>
              <a:rPr lang="ja-JP" altLang="en-US" sz="2000" dirty="0"/>
              <a:t>を実行する</a:t>
            </a:r>
            <a:endParaRPr lang="en-US" altLang="ja-JP" sz="2000" dirty="0"/>
          </a:p>
          <a:p>
            <a:pPr marL="457200" indent="-457200">
              <a:buFont typeface="+mj-lt"/>
              <a:buAutoNum type="arabicPeriod"/>
            </a:pPr>
            <a:endParaRPr kumimoji="1"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B036865C-2FD5-432B-AD74-ED9D0A99CF69}"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115</a:t>
            </a:fld>
            <a:endParaRPr kumimoji="1" lang="ja-JP" altLang="en-US"/>
          </a:p>
        </p:txBody>
      </p:sp>
      <p:pic>
        <p:nvPicPr>
          <p:cNvPr id="9" name="図 8">
            <a:extLst>
              <a:ext uri="{FF2B5EF4-FFF2-40B4-BE49-F238E27FC236}">
                <a16:creationId xmlns:a16="http://schemas.microsoft.com/office/drawing/2014/main" id="{EA7B4532-38D7-9353-E285-71AC161364DB}"/>
              </a:ext>
            </a:extLst>
          </p:cNvPr>
          <p:cNvPicPr>
            <a:picLocks noChangeAspect="1"/>
          </p:cNvPicPr>
          <p:nvPr/>
        </p:nvPicPr>
        <p:blipFill>
          <a:blip r:embed="rId3"/>
          <a:stretch>
            <a:fillRect/>
          </a:stretch>
        </p:blipFill>
        <p:spPr>
          <a:xfrm>
            <a:off x="7626803" y="818337"/>
            <a:ext cx="2781607" cy="2387863"/>
          </a:xfrm>
          <a:prstGeom prst="rect">
            <a:avLst/>
          </a:prstGeom>
        </p:spPr>
      </p:pic>
      <p:cxnSp>
        <p:nvCxnSpPr>
          <p:cNvPr id="13" name="直線矢印コネクタ 12">
            <a:extLst>
              <a:ext uri="{FF2B5EF4-FFF2-40B4-BE49-F238E27FC236}">
                <a16:creationId xmlns:a16="http://schemas.microsoft.com/office/drawing/2014/main" id="{1BF9CB9F-9579-026C-B992-176FE08F8BB5}"/>
              </a:ext>
            </a:extLst>
          </p:cNvPr>
          <p:cNvCxnSpPr>
            <a:cxnSpLocks/>
          </p:cNvCxnSpPr>
          <p:nvPr/>
        </p:nvCxnSpPr>
        <p:spPr>
          <a:xfrm>
            <a:off x="6368724" y="1496253"/>
            <a:ext cx="157597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32CCE2F6-8BDE-3F30-1BD9-4E0FE478A774}"/>
              </a:ext>
            </a:extLst>
          </p:cNvPr>
          <p:cNvPicPr>
            <a:picLocks noChangeAspect="1"/>
          </p:cNvPicPr>
          <p:nvPr/>
        </p:nvPicPr>
        <p:blipFill>
          <a:blip r:embed="rId4"/>
          <a:stretch>
            <a:fillRect/>
          </a:stretch>
        </p:blipFill>
        <p:spPr>
          <a:xfrm>
            <a:off x="7727295" y="3953560"/>
            <a:ext cx="3013962" cy="2517651"/>
          </a:xfrm>
          <a:prstGeom prst="rect">
            <a:avLst/>
          </a:prstGeom>
        </p:spPr>
      </p:pic>
      <p:cxnSp>
        <p:nvCxnSpPr>
          <p:cNvPr id="15" name="直線矢印コネクタ 14">
            <a:extLst>
              <a:ext uri="{FF2B5EF4-FFF2-40B4-BE49-F238E27FC236}">
                <a16:creationId xmlns:a16="http://schemas.microsoft.com/office/drawing/2014/main" id="{17EEA1AB-C46E-A208-39AD-5C335CA719D6}"/>
              </a:ext>
            </a:extLst>
          </p:cNvPr>
          <p:cNvCxnSpPr>
            <a:cxnSpLocks/>
          </p:cNvCxnSpPr>
          <p:nvPr/>
        </p:nvCxnSpPr>
        <p:spPr>
          <a:xfrm>
            <a:off x="6536822" y="5710473"/>
            <a:ext cx="157597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531CFA64-2175-EFA2-5825-63F9B5D662E1}"/>
              </a:ext>
            </a:extLst>
          </p:cNvPr>
          <p:cNvPicPr>
            <a:picLocks noChangeAspect="1"/>
          </p:cNvPicPr>
          <p:nvPr/>
        </p:nvPicPr>
        <p:blipFill>
          <a:blip r:embed="rId5"/>
          <a:stretch>
            <a:fillRect/>
          </a:stretch>
        </p:blipFill>
        <p:spPr>
          <a:xfrm>
            <a:off x="1668794" y="3389546"/>
            <a:ext cx="4732006" cy="1517934"/>
          </a:xfrm>
          <a:prstGeom prst="rect">
            <a:avLst/>
          </a:prstGeom>
        </p:spPr>
      </p:pic>
    </p:spTree>
    <p:extLst>
      <p:ext uri="{BB962C8B-B14F-4D97-AF65-F5344CB8AC3E}">
        <p14:creationId xmlns:p14="http://schemas.microsoft.com/office/powerpoint/2010/main" val="35363163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4C8EA4-0CFF-B0F7-6116-A707E40CA1AE}"/>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 </a:t>
            </a:r>
            <a:r>
              <a:rPr lang="en-US" altLang="ja-JP" dirty="0"/>
              <a:t>NG</a:t>
            </a:r>
            <a:endParaRPr kumimoji="1" lang="ja-JP" altLang="en-US" dirty="0"/>
          </a:p>
        </p:txBody>
      </p:sp>
      <p:sp>
        <p:nvSpPr>
          <p:cNvPr id="4" name="日付プレースホルダー 3">
            <a:extLst>
              <a:ext uri="{FF2B5EF4-FFF2-40B4-BE49-F238E27FC236}">
                <a16:creationId xmlns:a16="http://schemas.microsoft.com/office/drawing/2014/main" id="{D536BA0F-11D8-7C09-87C5-379C73ADFD91}"/>
              </a:ext>
            </a:extLst>
          </p:cNvPr>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C76D82C4-8AFD-C70A-3660-DF28F5D127DF}"/>
              </a:ext>
            </a:extLst>
          </p:cNvPr>
          <p:cNvSpPr>
            <a:spLocks noGrp="1"/>
          </p:cNvSpPr>
          <p:nvPr>
            <p:ph type="sldNum" sz="quarter" idx="12"/>
          </p:nvPr>
        </p:nvSpPr>
        <p:spPr/>
        <p:txBody>
          <a:bodyPr/>
          <a:lstStyle/>
          <a:p>
            <a:fld id="{66E89953-8AEA-4BDF-A508-664B12926AB4}" type="slidenum">
              <a:rPr kumimoji="1" lang="ja-JP" altLang="en-US" smtClean="0"/>
              <a:t>116</a:t>
            </a:fld>
            <a:endParaRPr kumimoji="1" lang="ja-JP" altLang="en-US"/>
          </a:p>
        </p:txBody>
      </p:sp>
      <p:pic>
        <p:nvPicPr>
          <p:cNvPr id="14" name="コンテンツ プレースホルダー 13">
            <a:extLst>
              <a:ext uri="{FF2B5EF4-FFF2-40B4-BE49-F238E27FC236}">
                <a16:creationId xmlns:a16="http://schemas.microsoft.com/office/drawing/2014/main" id="{7B0F7EE9-19CC-4CAC-A154-ADCAC09E28EC}"/>
              </a:ext>
            </a:extLst>
          </p:cNvPr>
          <p:cNvPicPr>
            <a:picLocks noGrp="1" noChangeAspect="1"/>
          </p:cNvPicPr>
          <p:nvPr>
            <p:ph idx="1"/>
          </p:nvPr>
        </p:nvPicPr>
        <p:blipFill>
          <a:blip r:embed="rId2"/>
          <a:stretch>
            <a:fillRect/>
          </a:stretch>
        </p:blipFill>
        <p:spPr>
          <a:xfrm>
            <a:off x="1055289" y="1200612"/>
            <a:ext cx="9804363" cy="5226779"/>
          </a:xfrm>
          <a:prstGeom prst="rect">
            <a:avLst/>
          </a:prstGeom>
        </p:spPr>
      </p:pic>
      <p:sp>
        <p:nvSpPr>
          <p:cNvPr id="3" name="吹き出し: 角を丸めた四角形 2">
            <a:extLst>
              <a:ext uri="{FF2B5EF4-FFF2-40B4-BE49-F238E27FC236}">
                <a16:creationId xmlns:a16="http://schemas.microsoft.com/office/drawing/2014/main" id="{9914D9EA-6EF6-A540-00E5-1C13FBAE9F0B}"/>
              </a:ext>
            </a:extLst>
          </p:cNvPr>
          <p:cNvSpPr/>
          <p:nvPr/>
        </p:nvSpPr>
        <p:spPr>
          <a:xfrm>
            <a:off x="1717705" y="3841816"/>
            <a:ext cx="2581192" cy="832104"/>
          </a:xfrm>
          <a:prstGeom prst="wedgeRoundRectCallout">
            <a:avLst>
              <a:gd name="adj1" fmla="val 84195"/>
              <a:gd name="adj2" fmla="val 10375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エラーマーク</a:t>
            </a:r>
            <a:endParaRPr kumimoji="1" lang="en-US" altLang="ja-JP" dirty="0"/>
          </a:p>
        </p:txBody>
      </p:sp>
      <p:sp>
        <p:nvSpPr>
          <p:cNvPr id="6" name="楕円 5">
            <a:extLst>
              <a:ext uri="{FF2B5EF4-FFF2-40B4-BE49-F238E27FC236}">
                <a16:creationId xmlns:a16="http://schemas.microsoft.com/office/drawing/2014/main" id="{5EED88C7-C023-A9CA-48A3-96BF9EF9D430}"/>
              </a:ext>
            </a:extLst>
          </p:cNvPr>
          <p:cNvSpPr/>
          <p:nvPr/>
        </p:nvSpPr>
        <p:spPr>
          <a:xfrm>
            <a:off x="5015464" y="5043389"/>
            <a:ext cx="590400"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DBA41C12-4722-56B3-2478-6976C602051F}"/>
              </a:ext>
            </a:extLst>
          </p:cNvPr>
          <p:cNvSpPr/>
          <p:nvPr/>
        </p:nvSpPr>
        <p:spPr>
          <a:xfrm>
            <a:off x="8048141" y="5043389"/>
            <a:ext cx="944217"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角を丸めた四角形 10">
            <a:extLst>
              <a:ext uri="{FF2B5EF4-FFF2-40B4-BE49-F238E27FC236}">
                <a16:creationId xmlns:a16="http://schemas.microsoft.com/office/drawing/2014/main" id="{F541511C-722B-72FA-BCB1-0AB30E54E3DB}"/>
              </a:ext>
            </a:extLst>
          </p:cNvPr>
          <p:cNvSpPr/>
          <p:nvPr/>
        </p:nvSpPr>
        <p:spPr>
          <a:xfrm>
            <a:off x="7134484" y="3979538"/>
            <a:ext cx="2196548" cy="714203"/>
          </a:xfrm>
          <a:prstGeom prst="wedgeRoundRectCallout">
            <a:avLst>
              <a:gd name="adj1" fmla="val -74638"/>
              <a:gd name="adj2" fmla="val 11190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
        <p:nvSpPr>
          <p:cNvPr id="12" name="吹き出し: 角を丸めた四角形 11">
            <a:extLst>
              <a:ext uri="{FF2B5EF4-FFF2-40B4-BE49-F238E27FC236}">
                <a16:creationId xmlns:a16="http://schemas.microsoft.com/office/drawing/2014/main" id="{E03417E2-68AB-94B4-AA5A-275629F43C2E}"/>
              </a:ext>
            </a:extLst>
          </p:cNvPr>
          <p:cNvSpPr/>
          <p:nvPr/>
        </p:nvSpPr>
        <p:spPr>
          <a:xfrm>
            <a:off x="7134484" y="3979538"/>
            <a:ext cx="2196548" cy="714203"/>
          </a:xfrm>
          <a:prstGeom prst="wedgeRoundRectCallout">
            <a:avLst>
              <a:gd name="adj1" fmla="val 17870"/>
              <a:gd name="adj2" fmla="val 99158"/>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W</a:t>
            </a:r>
            <a:r>
              <a:rPr kumimoji="1" lang="ja-JP" altLang="en-US" dirty="0"/>
              <a:t>のサイズが違う</a:t>
            </a:r>
          </a:p>
        </p:txBody>
      </p:sp>
      <p:sp>
        <p:nvSpPr>
          <p:cNvPr id="16" name="楕円 15">
            <a:extLst>
              <a:ext uri="{FF2B5EF4-FFF2-40B4-BE49-F238E27FC236}">
                <a16:creationId xmlns:a16="http://schemas.microsoft.com/office/drawing/2014/main" id="{CF25CA8A-AB10-3030-2C00-95E42B10E46A}"/>
              </a:ext>
            </a:extLst>
          </p:cNvPr>
          <p:cNvSpPr/>
          <p:nvPr/>
        </p:nvSpPr>
        <p:spPr>
          <a:xfrm>
            <a:off x="5708738" y="5043389"/>
            <a:ext cx="944217"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8023151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4C8EA4-0CFF-B0F7-6116-A707E40CA1AE}"/>
              </a:ext>
            </a:extLst>
          </p:cNvPr>
          <p:cNvSpPr>
            <a:spLocks noGrp="1"/>
          </p:cNvSpPr>
          <p:nvPr>
            <p:ph type="title"/>
          </p:nvPr>
        </p:nvSpPr>
        <p:spPr/>
        <p:txBody>
          <a:bodyPr/>
          <a:lstStyle/>
          <a:p>
            <a:r>
              <a:rPr lang="en-US" altLang="ja-JP" dirty="0" err="1"/>
              <a:t>Klayout</a:t>
            </a:r>
            <a:r>
              <a:rPr lang="ja-JP" altLang="en-US" dirty="0"/>
              <a:t>：</a:t>
            </a:r>
            <a:r>
              <a:rPr lang="en-US" altLang="ja-JP" dirty="0"/>
              <a:t>LVS</a:t>
            </a:r>
            <a:r>
              <a:rPr lang="ja-JP" altLang="en-US" dirty="0"/>
              <a:t> </a:t>
            </a:r>
            <a:r>
              <a:rPr lang="en-US" altLang="ja-JP" dirty="0"/>
              <a:t>OK</a:t>
            </a:r>
            <a:endParaRPr kumimoji="1" lang="ja-JP" altLang="en-US" dirty="0"/>
          </a:p>
        </p:txBody>
      </p:sp>
      <p:sp>
        <p:nvSpPr>
          <p:cNvPr id="4" name="日付プレースホルダー 3">
            <a:extLst>
              <a:ext uri="{FF2B5EF4-FFF2-40B4-BE49-F238E27FC236}">
                <a16:creationId xmlns:a16="http://schemas.microsoft.com/office/drawing/2014/main" id="{D536BA0F-11D8-7C09-87C5-379C73ADFD91}"/>
              </a:ext>
            </a:extLst>
          </p:cNvPr>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C76D82C4-8AFD-C70A-3660-DF28F5D127DF}"/>
              </a:ext>
            </a:extLst>
          </p:cNvPr>
          <p:cNvSpPr>
            <a:spLocks noGrp="1"/>
          </p:cNvSpPr>
          <p:nvPr>
            <p:ph type="sldNum" sz="quarter" idx="12"/>
          </p:nvPr>
        </p:nvSpPr>
        <p:spPr/>
        <p:txBody>
          <a:bodyPr/>
          <a:lstStyle/>
          <a:p>
            <a:fld id="{66E89953-8AEA-4BDF-A508-664B12926AB4}" type="slidenum">
              <a:rPr kumimoji="1" lang="ja-JP" altLang="en-US" smtClean="0"/>
              <a:t>117</a:t>
            </a:fld>
            <a:endParaRPr kumimoji="1" lang="ja-JP" altLang="en-US"/>
          </a:p>
        </p:txBody>
      </p:sp>
      <p:pic>
        <p:nvPicPr>
          <p:cNvPr id="6" name="図 5">
            <a:extLst>
              <a:ext uri="{FF2B5EF4-FFF2-40B4-BE49-F238E27FC236}">
                <a16:creationId xmlns:a16="http://schemas.microsoft.com/office/drawing/2014/main" id="{21EA2B58-48D3-CC14-F496-ABF058487693}"/>
              </a:ext>
            </a:extLst>
          </p:cNvPr>
          <p:cNvPicPr>
            <a:picLocks noChangeAspect="1"/>
          </p:cNvPicPr>
          <p:nvPr/>
        </p:nvPicPr>
        <p:blipFill>
          <a:blip r:embed="rId2"/>
          <a:stretch>
            <a:fillRect/>
          </a:stretch>
        </p:blipFill>
        <p:spPr>
          <a:xfrm>
            <a:off x="1000949" y="1132980"/>
            <a:ext cx="10097645" cy="5387696"/>
          </a:xfrm>
          <a:prstGeom prst="rect">
            <a:avLst/>
          </a:prstGeom>
        </p:spPr>
      </p:pic>
      <p:sp>
        <p:nvSpPr>
          <p:cNvPr id="10" name="吹き出し: 角を丸めた四角形 9">
            <a:extLst>
              <a:ext uri="{FF2B5EF4-FFF2-40B4-BE49-F238E27FC236}">
                <a16:creationId xmlns:a16="http://schemas.microsoft.com/office/drawing/2014/main" id="{F2CAAFB3-F6F7-D89B-40E7-C329E875A206}"/>
              </a:ext>
            </a:extLst>
          </p:cNvPr>
          <p:cNvSpPr/>
          <p:nvPr/>
        </p:nvSpPr>
        <p:spPr>
          <a:xfrm>
            <a:off x="6642804" y="1671250"/>
            <a:ext cx="2581192" cy="832104"/>
          </a:xfrm>
          <a:prstGeom prst="wedgeRoundRectCallout">
            <a:avLst>
              <a:gd name="adj1" fmla="val -109076"/>
              <a:gd name="adj2" fmla="val 19277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オールグリーンになる</a:t>
            </a:r>
            <a:endParaRPr kumimoji="1" lang="en-US" altLang="ja-JP" dirty="0"/>
          </a:p>
        </p:txBody>
      </p:sp>
    </p:spTree>
    <p:extLst>
      <p:ext uri="{BB962C8B-B14F-4D97-AF65-F5344CB8AC3E}">
        <p14:creationId xmlns:p14="http://schemas.microsoft.com/office/powerpoint/2010/main" val="349231639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0C808038-00C4-4C87-8CF2-E3F965DBAA4A}"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118</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回路図（ベンチマーク）を描く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b="1" dirty="0">
                <a:solidFill>
                  <a:schemeClr val="accent2"/>
                </a:solidFill>
              </a:rPr>
              <a:t>レイアウトを基に寄生成分を考慮したシミュレーションをする</a:t>
            </a: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
        <p:nvSpPr>
          <p:cNvPr id="7" name="吹き出し: 角を丸めた四角形 6">
            <a:extLst>
              <a:ext uri="{FF2B5EF4-FFF2-40B4-BE49-F238E27FC236}">
                <a16:creationId xmlns:a16="http://schemas.microsoft.com/office/drawing/2014/main" id="{6EFAA252-0165-2327-2082-F634886151EA}"/>
              </a:ext>
            </a:extLst>
          </p:cNvPr>
          <p:cNvSpPr/>
          <p:nvPr/>
        </p:nvSpPr>
        <p:spPr>
          <a:xfrm>
            <a:off x="6399488" y="2864287"/>
            <a:ext cx="2581192" cy="832104"/>
          </a:xfrm>
          <a:prstGeom prst="wedgeRoundRectCallout">
            <a:avLst>
              <a:gd name="adj1" fmla="val -58903"/>
              <a:gd name="adj2" fmla="val 8053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今回は割愛</a:t>
            </a:r>
            <a:endParaRPr kumimoji="1" lang="en-US" altLang="ja-JP" dirty="0"/>
          </a:p>
        </p:txBody>
      </p:sp>
    </p:spTree>
    <p:extLst>
      <p:ext uri="{BB962C8B-B14F-4D97-AF65-F5344CB8AC3E}">
        <p14:creationId xmlns:p14="http://schemas.microsoft.com/office/powerpoint/2010/main" val="41016403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ja-JP" altLang="en-US" dirty="0"/>
              <a:t>レイアウト検証 </a:t>
            </a:r>
            <a:r>
              <a:rPr lang="en-US" altLang="ja-JP" dirty="0"/>
              <a:t>: PEX, Parasitic Extraction</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sz="half" idx="1"/>
          </p:nvPr>
        </p:nvSpPr>
        <p:spPr>
          <a:xfrm>
            <a:off x="838200" y="1274617"/>
            <a:ext cx="5257800" cy="4902345"/>
          </a:xfrm>
        </p:spPr>
        <p:txBody>
          <a:bodyPr/>
          <a:lstStyle/>
          <a:p>
            <a:r>
              <a:rPr kumimoji="1" lang="en-US" altLang="ja-JP" sz="2000" dirty="0"/>
              <a:t>RC</a:t>
            </a:r>
            <a:r>
              <a:rPr kumimoji="1" lang="ja-JP" altLang="en-US" sz="2000" dirty="0"/>
              <a:t>抽出</a:t>
            </a:r>
            <a:endParaRPr kumimoji="1" lang="en-US" altLang="ja-JP" sz="2000" dirty="0"/>
          </a:p>
          <a:p>
            <a:pPr lvl="1"/>
            <a:r>
              <a:rPr lang="ja-JP" altLang="en-US" sz="2000" dirty="0"/>
              <a:t>寄生抵抗と寄生容量を含むネットリストを抽出</a:t>
            </a:r>
            <a:endParaRPr lang="en-US" altLang="ja-JP" sz="2000" dirty="0"/>
          </a:p>
          <a:p>
            <a:pPr lvl="2"/>
            <a:r>
              <a:rPr kumimoji="1" lang="en-US" altLang="ja-JP" sz="2000" dirty="0"/>
              <a:t>Magic</a:t>
            </a:r>
            <a:r>
              <a:rPr kumimoji="1" lang="ja-JP" altLang="en-US" sz="2000" dirty="0"/>
              <a:t>側のバグで一部のみしか動作</a:t>
            </a:r>
            <a:endParaRPr kumimoji="1" lang="en-US" altLang="ja-JP" sz="2000" dirty="0"/>
          </a:p>
        </p:txBody>
      </p:sp>
      <p:sp>
        <p:nvSpPr>
          <p:cNvPr id="9" name="コンテンツ プレースホルダー 8">
            <a:extLst>
              <a:ext uri="{FF2B5EF4-FFF2-40B4-BE49-F238E27FC236}">
                <a16:creationId xmlns:a16="http://schemas.microsoft.com/office/drawing/2014/main" id="{3952830A-845F-0594-3A55-F1E23689E6F4}"/>
              </a:ext>
            </a:extLst>
          </p:cNvPr>
          <p:cNvSpPr>
            <a:spLocks noGrp="1"/>
          </p:cNvSpPr>
          <p:nvPr>
            <p:ph sz="half" idx="2"/>
          </p:nvPr>
        </p:nvSpPr>
        <p:spPr/>
        <p:txBody>
          <a:bodyPr/>
          <a:lstStyle/>
          <a:p>
            <a:r>
              <a:rPr kumimoji="1" lang="en-US" altLang="ja-JP" sz="2000" dirty="0"/>
              <a:t>C</a:t>
            </a:r>
            <a:r>
              <a:rPr kumimoji="1" lang="ja-JP" altLang="en-US" sz="2000" dirty="0"/>
              <a:t>抽出</a:t>
            </a:r>
            <a:endParaRPr kumimoji="1" lang="en-US" altLang="ja-JP" sz="2000" dirty="0"/>
          </a:p>
          <a:p>
            <a:pPr lvl="1"/>
            <a:r>
              <a:rPr lang="ja-JP" altLang="en-US" sz="2000" dirty="0"/>
              <a:t>寄生容量のみを含むネットリストを抽出</a:t>
            </a:r>
            <a:endParaRPr lang="en-US" altLang="ja-JP" sz="2000" dirty="0"/>
          </a:p>
          <a:p>
            <a:pPr lvl="2"/>
            <a:r>
              <a:rPr lang="ja-JP" altLang="en-US" sz="2000" dirty="0"/>
              <a:t>厳密解を求めない場合はこちらを利用</a:t>
            </a:r>
            <a:endParaRPr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C36BB9B4-E276-412A-A378-A999AD0476DE}"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119</a:t>
            </a:fld>
            <a:endParaRPr kumimoji="1" lang="ja-JP" altLang="en-US"/>
          </a:p>
        </p:txBody>
      </p:sp>
      <p:pic>
        <p:nvPicPr>
          <p:cNvPr id="12" name="図 11">
            <a:extLst>
              <a:ext uri="{FF2B5EF4-FFF2-40B4-BE49-F238E27FC236}">
                <a16:creationId xmlns:a16="http://schemas.microsoft.com/office/drawing/2014/main" id="{A7FFC080-6A2C-51B4-D31A-D33D5477E23F}"/>
              </a:ext>
            </a:extLst>
          </p:cNvPr>
          <p:cNvPicPr>
            <a:picLocks noChangeAspect="1"/>
          </p:cNvPicPr>
          <p:nvPr/>
        </p:nvPicPr>
        <p:blipFill>
          <a:blip r:embed="rId2"/>
          <a:stretch>
            <a:fillRect/>
          </a:stretch>
        </p:blipFill>
        <p:spPr>
          <a:xfrm>
            <a:off x="424375" y="2931884"/>
            <a:ext cx="5510239" cy="3636312"/>
          </a:xfrm>
          <a:prstGeom prst="rect">
            <a:avLst/>
          </a:prstGeom>
        </p:spPr>
      </p:pic>
      <p:pic>
        <p:nvPicPr>
          <p:cNvPr id="16" name="図 15">
            <a:extLst>
              <a:ext uri="{FF2B5EF4-FFF2-40B4-BE49-F238E27FC236}">
                <a16:creationId xmlns:a16="http://schemas.microsoft.com/office/drawing/2014/main" id="{5B954E46-7227-7613-A1D5-E3DC664A5BF5}"/>
              </a:ext>
            </a:extLst>
          </p:cNvPr>
          <p:cNvPicPr>
            <a:picLocks noChangeAspect="1"/>
          </p:cNvPicPr>
          <p:nvPr/>
        </p:nvPicPr>
        <p:blipFill>
          <a:blip r:embed="rId3"/>
          <a:stretch>
            <a:fillRect/>
          </a:stretch>
        </p:blipFill>
        <p:spPr>
          <a:xfrm>
            <a:off x="6308714" y="2956242"/>
            <a:ext cx="5458911" cy="3607307"/>
          </a:xfrm>
          <a:prstGeom prst="rect">
            <a:avLst/>
          </a:prstGeom>
        </p:spPr>
      </p:pic>
    </p:spTree>
    <p:extLst>
      <p:ext uri="{BB962C8B-B14F-4D97-AF65-F5344CB8AC3E}">
        <p14:creationId xmlns:p14="http://schemas.microsoft.com/office/powerpoint/2010/main" val="8311598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F32C7D-2B6D-AF8B-2FD9-1438F2352469}"/>
              </a:ext>
            </a:extLst>
          </p:cNvPr>
          <p:cNvSpPr>
            <a:spLocks noGrp="1"/>
          </p:cNvSpPr>
          <p:nvPr>
            <p:ph type="title"/>
          </p:nvPr>
        </p:nvSpPr>
        <p:spPr/>
        <p:txBody>
          <a:bodyPr/>
          <a:lstStyle/>
          <a:p>
            <a:r>
              <a:rPr kumimoji="1" lang="en-US" altLang="ja-JP" dirty="0"/>
              <a:t>PEX</a:t>
            </a:r>
            <a:r>
              <a:rPr kumimoji="1" lang="ja-JP" altLang="en-US" dirty="0"/>
              <a:t>前の下準備 </a:t>
            </a:r>
            <a:r>
              <a:rPr kumimoji="1" lang="en-US" altLang="ja-JP" dirty="0"/>
              <a:t>: Flatten</a:t>
            </a:r>
            <a:endParaRPr kumimoji="1" lang="ja-JP" altLang="en-US" dirty="0"/>
          </a:p>
        </p:txBody>
      </p:sp>
      <p:sp>
        <p:nvSpPr>
          <p:cNvPr id="8" name="コンテンツ プレースホルダー 7">
            <a:extLst>
              <a:ext uri="{FF2B5EF4-FFF2-40B4-BE49-F238E27FC236}">
                <a16:creationId xmlns:a16="http://schemas.microsoft.com/office/drawing/2014/main" id="{1EC5B754-DB78-DDCE-B53A-2E943D4713E0}"/>
              </a:ext>
            </a:extLst>
          </p:cNvPr>
          <p:cNvSpPr>
            <a:spLocks noGrp="1"/>
          </p:cNvSpPr>
          <p:nvPr>
            <p:ph idx="1"/>
          </p:nvPr>
        </p:nvSpPr>
        <p:spPr>
          <a:xfrm>
            <a:off x="448056" y="1447799"/>
            <a:ext cx="11210543" cy="5115750"/>
          </a:xfrm>
        </p:spPr>
        <p:txBody>
          <a:bodyPr>
            <a:normAutofit/>
          </a:bodyPr>
          <a:lstStyle/>
          <a:p>
            <a:pPr marL="342900" indent="-342900">
              <a:buFont typeface="+mj-lt"/>
              <a:buAutoNum type="arabicPeriod"/>
            </a:pPr>
            <a:r>
              <a:rPr lang="ja-JP" altLang="en-US" sz="2000" dirty="0"/>
              <a:t>コピーを保存する</a:t>
            </a:r>
            <a:endParaRPr lang="en-US" altLang="ja-JP" sz="2000" dirty="0"/>
          </a:p>
          <a:p>
            <a:pPr lvl="1"/>
            <a:r>
              <a:rPr lang="ja-JP" altLang="en-US" sz="2000" dirty="0"/>
              <a:t>ファイル名で大文字を使うとエラーが出てしまう（不具合）</a:t>
            </a:r>
            <a:endParaRPr lang="en-US" altLang="ja-JP" sz="2000" dirty="0"/>
          </a:p>
          <a:p>
            <a:pPr lvl="2"/>
            <a:r>
              <a:rPr lang="ja-JP" altLang="en-US" sz="2000" dirty="0"/>
              <a:t>拡張子がデフォルトだと</a:t>
            </a:r>
            <a:r>
              <a:rPr lang="en-US" altLang="ja-JP" sz="2000" dirty="0"/>
              <a:t>.GDS</a:t>
            </a:r>
            <a:r>
              <a:rPr lang="ja-JP" altLang="en-US" sz="2000" dirty="0"/>
              <a:t>なので</a:t>
            </a:r>
            <a:r>
              <a:rPr lang="en-US" altLang="ja-JP" sz="2000" dirty="0"/>
              <a:t>.</a:t>
            </a:r>
            <a:r>
              <a:rPr lang="en-US" altLang="ja-JP" sz="2000" dirty="0" err="1"/>
              <a:t>gds</a:t>
            </a:r>
            <a:r>
              <a:rPr lang="ja-JP" altLang="en-US" sz="2000" dirty="0"/>
              <a:t>に直す</a:t>
            </a:r>
            <a:endParaRPr lang="en-US" altLang="ja-JP" sz="2000" dirty="0"/>
          </a:p>
          <a:p>
            <a:pPr marL="342900" indent="-342900">
              <a:buFont typeface="+mj-lt"/>
              <a:buAutoNum type="arabicPeriod"/>
            </a:pPr>
            <a:r>
              <a:rPr lang="ja-JP" altLang="en-US" sz="2000" dirty="0"/>
              <a:t>ドラッグでレイアウト全体を選択する</a:t>
            </a:r>
            <a:endParaRPr lang="en-US" altLang="ja-JP" sz="2000" dirty="0"/>
          </a:p>
          <a:p>
            <a:pPr marL="342900" indent="-342900">
              <a:buFont typeface="+mj-lt"/>
              <a:buAutoNum type="arabicPeriod"/>
            </a:pPr>
            <a:r>
              <a:rPr lang="en-US" altLang="ja-JP" sz="2000" dirty="0"/>
              <a:t>Edit -&gt; Flatten Cell -&gt; Flatten Instances </a:t>
            </a:r>
            <a:r>
              <a:rPr lang="ja-JP" altLang="en-US" sz="2000" dirty="0"/>
              <a:t>を </a:t>
            </a:r>
            <a:r>
              <a:rPr lang="en-US" altLang="ja-JP" sz="2000" dirty="0"/>
              <a:t>All hierarchy levels </a:t>
            </a:r>
            <a:r>
              <a:rPr lang="ja-JP" altLang="en-US" sz="2000" dirty="0"/>
              <a:t>で実行</a:t>
            </a:r>
            <a:endParaRPr lang="en-US" altLang="ja-JP" sz="2000" dirty="0"/>
          </a:p>
          <a:p>
            <a:pPr marL="342900" indent="-342900">
              <a:buFont typeface="+mj-lt"/>
              <a:buAutoNum type="arabicPeriod"/>
            </a:pPr>
            <a:r>
              <a:rPr lang="ja-JP" altLang="en-US" sz="2000" dirty="0"/>
              <a:t>左ペインの一番上の </a:t>
            </a:r>
            <a:r>
              <a:rPr lang="en-US" altLang="ja-JP" sz="2000" dirty="0"/>
              <a:t>Cells </a:t>
            </a:r>
            <a:r>
              <a:rPr lang="ja-JP" altLang="en-US" sz="2000" dirty="0"/>
              <a:t>が </a:t>
            </a:r>
            <a:r>
              <a:rPr lang="en-US" altLang="ja-JP" sz="2000" dirty="0"/>
              <a:t>[TOP</a:t>
            </a:r>
            <a:r>
              <a:rPr lang="ja-JP" altLang="en-US" sz="2000" dirty="0"/>
              <a:t>セル名</a:t>
            </a:r>
            <a:r>
              <a:rPr lang="en-US" altLang="ja-JP" sz="2000" dirty="0"/>
              <a:t>]</a:t>
            </a:r>
            <a:r>
              <a:rPr lang="ja-JP" altLang="en-US" sz="2000" dirty="0"/>
              <a:t> のみになっていることを確認して </a:t>
            </a:r>
            <a:r>
              <a:rPr lang="en-US" altLang="ja-JP" sz="2000" dirty="0"/>
              <a:t>Save</a:t>
            </a:r>
          </a:p>
          <a:p>
            <a:pPr marL="626364" lvl="1" indent="-342900">
              <a:buFont typeface="+mj-lt"/>
              <a:buAutoNum type="arabicPeriod"/>
            </a:pPr>
            <a:r>
              <a:rPr lang="ja-JP" altLang="en-US" sz="2000" dirty="0"/>
              <a:t>デフォルトでは</a:t>
            </a:r>
            <a:r>
              <a:rPr lang="en-US" altLang="ja-JP" sz="2000" dirty="0"/>
              <a:t>TOP</a:t>
            </a:r>
            <a:r>
              <a:rPr lang="ja-JP" altLang="en-US" sz="2000" dirty="0"/>
              <a:t>セル名は「</a:t>
            </a:r>
            <a:r>
              <a:rPr lang="en-US" altLang="ja-JP" sz="2000" dirty="0"/>
              <a:t>TOP</a:t>
            </a:r>
            <a:r>
              <a:rPr lang="ja-JP" altLang="en-US" sz="2000" dirty="0"/>
              <a:t>」。インバータ編をやっている場合は「</a:t>
            </a:r>
            <a:r>
              <a:rPr lang="en-US" altLang="ja-JP" sz="2000" dirty="0"/>
              <a:t>inverter</a:t>
            </a:r>
            <a:r>
              <a:rPr lang="ja-JP" altLang="en-US" sz="2000" dirty="0"/>
              <a:t>」。</a:t>
            </a:r>
            <a:endParaRPr lang="en-US" altLang="ja-JP" sz="2000" dirty="0"/>
          </a:p>
          <a:p>
            <a:pPr marL="626364" lvl="1" indent="-342900">
              <a:buFont typeface="+mj-lt"/>
              <a:buAutoNum type="arabicPeriod"/>
            </a:pPr>
            <a:r>
              <a:rPr lang="ja-JP" altLang="en-US" sz="2000" dirty="0"/>
              <a:t>今後は、</a:t>
            </a:r>
            <a:r>
              <a:rPr lang="en-US" altLang="ja-JP" sz="2000" dirty="0"/>
              <a:t>TOP</a:t>
            </a:r>
            <a:r>
              <a:rPr lang="ja-JP" altLang="en-US" sz="2000" dirty="0"/>
              <a:t>セル名は「</a:t>
            </a:r>
            <a:r>
              <a:rPr lang="en-US" altLang="ja-JP" sz="2000" dirty="0"/>
              <a:t>inverter</a:t>
            </a:r>
            <a:r>
              <a:rPr lang="ja-JP" altLang="en-US" sz="2000" dirty="0"/>
              <a:t>」として扱う。</a:t>
            </a:r>
            <a:endParaRPr lang="en-US" altLang="ja-JP" sz="2000" dirty="0"/>
          </a:p>
        </p:txBody>
      </p:sp>
      <p:sp>
        <p:nvSpPr>
          <p:cNvPr id="5" name="日付プレースホルダー 4">
            <a:extLst>
              <a:ext uri="{FF2B5EF4-FFF2-40B4-BE49-F238E27FC236}">
                <a16:creationId xmlns:a16="http://schemas.microsoft.com/office/drawing/2014/main" id="{C09EC931-CD1D-02C4-4CAA-349048542DBD}"/>
              </a:ext>
            </a:extLst>
          </p:cNvPr>
          <p:cNvSpPr>
            <a:spLocks noGrp="1"/>
          </p:cNvSpPr>
          <p:nvPr>
            <p:ph type="dt" sz="half" idx="10"/>
          </p:nvPr>
        </p:nvSpPr>
        <p:spPr/>
        <p:txBody>
          <a:bodyPr/>
          <a:lstStyle/>
          <a:p>
            <a:fld id="{70195C96-026F-424B-B5B9-6A34EDF6587B}" type="datetime1">
              <a:rPr kumimoji="1" lang="ja-JP" altLang="en-US" smtClean="0"/>
              <a:t>2026/10/24</a:t>
            </a:fld>
            <a:endParaRPr kumimoji="1" lang="ja-JP" altLang="en-US"/>
          </a:p>
        </p:txBody>
      </p:sp>
      <p:sp>
        <p:nvSpPr>
          <p:cNvPr id="7" name="スライド番号プレースホルダー 6">
            <a:extLst>
              <a:ext uri="{FF2B5EF4-FFF2-40B4-BE49-F238E27FC236}">
                <a16:creationId xmlns:a16="http://schemas.microsoft.com/office/drawing/2014/main" id="{F00CD41C-4F21-AB17-1C5E-7A67E181D469}"/>
              </a:ext>
            </a:extLst>
          </p:cNvPr>
          <p:cNvSpPr>
            <a:spLocks noGrp="1"/>
          </p:cNvSpPr>
          <p:nvPr>
            <p:ph type="sldNum" sz="quarter" idx="12"/>
          </p:nvPr>
        </p:nvSpPr>
        <p:spPr/>
        <p:txBody>
          <a:bodyPr/>
          <a:lstStyle/>
          <a:p>
            <a:fld id="{66E89953-8AEA-4BDF-A508-664B12926AB4}" type="slidenum">
              <a:rPr kumimoji="1" lang="ja-JP" altLang="en-US" smtClean="0"/>
              <a:t>120</a:t>
            </a:fld>
            <a:endParaRPr kumimoji="1" lang="ja-JP" altLang="en-US"/>
          </a:p>
        </p:txBody>
      </p:sp>
    </p:spTree>
    <p:extLst>
      <p:ext uri="{BB962C8B-B14F-4D97-AF65-F5344CB8AC3E}">
        <p14:creationId xmlns:p14="http://schemas.microsoft.com/office/powerpoint/2010/main" val="7342139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ja-JP" altLang="en-US" dirty="0"/>
              <a:t>寄生抽出</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11210543" cy="4979591"/>
          </a:xfrm>
        </p:spPr>
        <p:txBody>
          <a:bodyPr>
            <a:normAutofit/>
          </a:bodyPr>
          <a:lstStyle/>
          <a:p>
            <a:r>
              <a:rPr kumimoji="1" lang="en-US" altLang="ja-JP" sz="2000" dirty="0"/>
              <a:t>Magic PEX </a:t>
            </a:r>
            <a:r>
              <a:rPr kumimoji="1" lang="ja-JP" altLang="en-US" sz="2000" dirty="0"/>
              <a:t>を用いて寄生容量抽出を行う</a:t>
            </a:r>
            <a:endParaRPr kumimoji="1" lang="en-US" altLang="ja-JP" sz="2000" dirty="0"/>
          </a:p>
          <a:p>
            <a:pPr lvl="1"/>
            <a:r>
              <a:rPr lang="en-US" altLang="ja-JP" sz="2000" dirty="0"/>
              <a:t>Run Magic PEX (C extraction) </a:t>
            </a:r>
            <a:r>
              <a:rPr lang="ja-JP" altLang="en-US" sz="2000" dirty="0"/>
              <a:t>を実行</a:t>
            </a:r>
            <a:endParaRPr lang="en-US" altLang="ja-JP" sz="2000" dirty="0"/>
          </a:p>
          <a:p>
            <a:endParaRPr lang="en-US" altLang="ja-JP" sz="2000" dirty="0"/>
          </a:p>
          <a:p>
            <a:r>
              <a:rPr lang="ja-JP" altLang="en-US" sz="2000" dirty="0"/>
              <a:t>実行すると寄生容量付きネットリストが生成される</a:t>
            </a:r>
            <a:endParaRPr lang="en-US" altLang="ja-JP" sz="2000" dirty="0"/>
          </a:p>
          <a:p>
            <a:pPr lvl="1"/>
            <a:r>
              <a:rPr lang="ja-JP" altLang="en-US" sz="2000" dirty="0"/>
              <a:t>ファイル名：</a:t>
            </a:r>
            <a:r>
              <a:rPr lang="en-US" altLang="ja-JP" sz="2000" dirty="0"/>
              <a:t>[TOP</a:t>
            </a:r>
            <a:r>
              <a:rPr lang="ja-JP" altLang="en-US" sz="2000" dirty="0"/>
              <a:t>セル名</a:t>
            </a:r>
            <a:r>
              <a:rPr lang="en-US" altLang="ja-JP" sz="2000" dirty="0"/>
              <a:t>]_</a:t>
            </a:r>
            <a:r>
              <a:rPr lang="en-US" altLang="ja-JP" sz="2000" dirty="0" err="1"/>
              <a:t>pex_extracted.spice</a:t>
            </a:r>
            <a:endParaRPr lang="en-US" altLang="ja-JP" sz="2000" dirty="0"/>
          </a:p>
          <a:p>
            <a:pPr lvl="2"/>
            <a:r>
              <a:rPr lang="ja-JP" altLang="en-US" sz="2000" dirty="0"/>
              <a:t>今回は、</a:t>
            </a:r>
            <a:r>
              <a:rPr lang="en-US" altLang="ja-JP" sz="2000" dirty="0" err="1"/>
              <a:t>inverter_pex_extracted.spice</a:t>
            </a:r>
            <a:endParaRPr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586FB286-B2CA-4BB0-8D9A-70F913F2344F}"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121</a:t>
            </a:fld>
            <a:endParaRPr kumimoji="1" lang="ja-JP" altLang="en-US"/>
          </a:p>
        </p:txBody>
      </p:sp>
      <p:pic>
        <p:nvPicPr>
          <p:cNvPr id="7" name="図 6">
            <a:extLst>
              <a:ext uri="{FF2B5EF4-FFF2-40B4-BE49-F238E27FC236}">
                <a16:creationId xmlns:a16="http://schemas.microsoft.com/office/drawing/2014/main" id="{6E8A069E-5705-7059-72FB-DCD8C56E77E2}"/>
              </a:ext>
            </a:extLst>
          </p:cNvPr>
          <p:cNvPicPr>
            <a:picLocks noChangeAspect="1"/>
          </p:cNvPicPr>
          <p:nvPr/>
        </p:nvPicPr>
        <p:blipFill>
          <a:blip r:embed="rId2"/>
          <a:stretch>
            <a:fillRect/>
          </a:stretch>
        </p:blipFill>
        <p:spPr>
          <a:xfrm>
            <a:off x="8887940" y="2895442"/>
            <a:ext cx="3077865" cy="2634123"/>
          </a:xfrm>
          <a:prstGeom prst="rect">
            <a:avLst/>
          </a:prstGeom>
        </p:spPr>
      </p:pic>
      <p:cxnSp>
        <p:nvCxnSpPr>
          <p:cNvPr id="9" name="直線矢印コネクタ 8">
            <a:extLst>
              <a:ext uri="{FF2B5EF4-FFF2-40B4-BE49-F238E27FC236}">
                <a16:creationId xmlns:a16="http://schemas.microsoft.com/office/drawing/2014/main" id="{D6A6EAED-2B5F-CE0C-3CB5-5BD1D5A14A71}"/>
              </a:ext>
            </a:extLst>
          </p:cNvPr>
          <p:cNvCxnSpPr/>
          <p:nvPr/>
        </p:nvCxnSpPr>
        <p:spPr>
          <a:xfrm>
            <a:off x="8444594" y="4273106"/>
            <a:ext cx="886691" cy="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987211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6077E232-B139-F406-545D-B0C5B9F1F07E}"/>
              </a:ext>
            </a:extLst>
          </p:cNvPr>
          <p:cNvSpPr>
            <a:spLocks noGrp="1"/>
          </p:cNvSpPr>
          <p:nvPr>
            <p:ph type="title"/>
          </p:nvPr>
        </p:nvSpPr>
        <p:spPr/>
        <p:txBody>
          <a:bodyPr/>
          <a:lstStyle/>
          <a:p>
            <a:r>
              <a:rPr lang="ja-JP" altLang="en-US" dirty="0"/>
              <a:t>寄生容量を考慮したベンチマークに変更する</a:t>
            </a:r>
          </a:p>
        </p:txBody>
      </p:sp>
      <p:sp>
        <p:nvSpPr>
          <p:cNvPr id="8" name="コンテンツ プレースホルダー 7">
            <a:extLst>
              <a:ext uri="{FF2B5EF4-FFF2-40B4-BE49-F238E27FC236}">
                <a16:creationId xmlns:a16="http://schemas.microsoft.com/office/drawing/2014/main" id="{18DCEA60-D627-7B2E-8474-A5C1B6ACB326}"/>
              </a:ext>
            </a:extLst>
          </p:cNvPr>
          <p:cNvSpPr>
            <a:spLocks noGrp="1"/>
          </p:cNvSpPr>
          <p:nvPr>
            <p:ph idx="1"/>
          </p:nvPr>
        </p:nvSpPr>
        <p:spPr/>
        <p:txBody>
          <a:bodyPr>
            <a:normAutofit/>
          </a:bodyPr>
          <a:lstStyle/>
          <a:p>
            <a:r>
              <a:rPr lang="ja-JP" altLang="en-US" sz="2000" dirty="0"/>
              <a:t>ポストシミュレーションの際は以下２点の変更が必要</a:t>
            </a:r>
            <a:endParaRPr lang="en-US" altLang="ja-JP" sz="2000" dirty="0"/>
          </a:p>
          <a:p>
            <a:endParaRPr lang="en-US" altLang="ja-JP" sz="2000" dirty="0"/>
          </a:p>
          <a:p>
            <a:pPr marL="514350" indent="-514350">
              <a:buFont typeface="+mj-lt"/>
              <a:buAutoNum type="arabicPeriod"/>
            </a:pPr>
            <a:r>
              <a:rPr lang="ja-JP" altLang="en-US" sz="2000" dirty="0"/>
              <a:t>外部ネットリストへのパス</a:t>
            </a:r>
            <a:endParaRPr lang="en-US" altLang="ja-JP" sz="2000" dirty="0"/>
          </a:p>
          <a:p>
            <a:pPr marL="514350" indent="-514350">
              <a:buFont typeface="+mj-lt"/>
              <a:buAutoNum type="arabicPeriod"/>
            </a:pPr>
            <a:r>
              <a:rPr lang="ja-JP" altLang="en-US" sz="2000" dirty="0"/>
              <a:t>外部ネットリスト用のシンボル</a:t>
            </a:r>
            <a:endParaRPr lang="en-US" altLang="ja-JP" sz="2000" dirty="0"/>
          </a:p>
        </p:txBody>
      </p:sp>
      <p:sp>
        <p:nvSpPr>
          <p:cNvPr id="4" name="日付プレースホルダー 3">
            <a:extLst>
              <a:ext uri="{FF2B5EF4-FFF2-40B4-BE49-F238E27FC236}">
                <a16:creationId xmlns:a16="http://schemas.microsoft.com/office/drawing/2014/main" id="{68C68DA4-EF61-E429-53EA-A081A61D73C8}"/>
              </a:ext>
            </a:extLst>
          </p:cNvPr>
          <p:cNvSpPr>
            <a:spLocks noGrp="1"/>
          </p:cNvSpPr>
          <p:nvPr>
            <p:ph type="dt" sz="half" idx="10"/>
          </p:nvPr>
        </p:nvSpPr>
        <p:spPr/>
        <p:txBody>
          <a:bodyPr/>
          <a:lstStyle/>
          <a:p>
            <a:fld id="{692D2DCB-B1CE-456F-B3CA-812FFBB44FB2}"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017F85C5-4409-BA9D-0152-9FDF35C313DA}"/>
              </a:ext>
            </a:extLst>
          </p:cNvPr>
          <p:cNvSpPr>
            <a:spLocks noGrp="1"/>
          </p:cNvSpPr>
          <p:nvPr>
            <p:ph type="sldNum" sz="quarter" idx="12"/>
          </p:nvPr>
        </p:nvSpPr>
        <p:spPr/>
        <p:txBody>
          <a:bodyPr/>
          <a:lstStyle/>
          <a:p>
            <a:fld id="{66E89953-8AEA-4BDF-A508-664B12926AB4}" type="slidenum">
              <a:rPr kumimoji="1" lang="ja-JP" altLang="en-US" smtClean="0"/>
              <a:t>122</a:t>
            </a:fld>
            <a:endParaRPr kumimoji="1" lang="ja-JP" altLang="en-US"/>
          </a:p>
        </p:txBody>
      </p:sp>
    </p:spTree>
    <p:extLst>
      <p:ext uri="{BB962C8B-B14F-4D97-AF65-F5344CB8AC3E}">
        <p14:creationId xmlns:p14="http://schemas.microsoft.com/office/powerpoint/2010/main" val="19629110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BEEBEE-4FC0-F6EE-C501-E135BF78D521}"/>
              </a:ext>
            </a:extLst>
          </p:cNvPr>
          <p:cNvSpPr>
            <a:spLocks noGrp="1"/>
          </p:cNvSpPr>
          <p:nvPr>
            <p:ph type="title"/>
          </p:nvPr>
        </p:nvSpPr>
        <p:spPr/>
        <p:txBody>
          <a:bodyPr>
            <a:normAutofit/>
          </a:bodyPr>
          <a:lstStyle/>
          <a:p>
            <a:r>
              <a:rPr lang="ja-JP" altLang="en-US" dirty="0"/>
              <a:t>外部ネットリストへのパスを通す</a:t>
            </a:r>
            <a:endParaRPr kumimoji="1" lang="ja-JP" altLang="en-US" dirty="0"/>
          </a:p>
        </p:txBody>
      </p:sp>
      <p:sp>
        <p:nvSpPr>
          <p:cNvPr id="3" name="コンテンツ プレースホルダー 2">
            <a:extLst>
              <a:ext uri="{FF2B5EF4-FFF2-40B4-BE49-F238E27FC236}">
                <a16:creationId xmlns:a16="http://schemas.microsoft.com/office/drawing/2014/main" id="{0A34BC33-022C-9192-3B52-CFE57100FFD1}"/>
              </a:ext>
            </a:extLst>
          </p:cNvPr>
          <p:cNvSpPr>
            <a:spLocks noGrp="1"/>
          </p:cNvSpPr>
          <p:nvPr>
            <p:ph idx="1"/>
          </p:nvPr>
        </p:nvSpPr>
        <p:spPr>
          <a:xfrm>
            <a:off x="448056" y="1447800"/>
            <a:ext cx="11210543" cy="1182188"/>
          </a:xfrm>
        </p:spPr>
        <p:txBody>
          <a:bodyPr>
            <a:normAutofit/>
          </a:bodyPr>
          <a:lstStyle/>
          <a:p>
            <a:r>
              <a:rPr kumimoji="1" lang="ja-JP" altLang="en-US" sz="2000" dirty="0"/>
              <a:t>シミュレーションスクリプトに</a:t>
            </a:r>
            <a:r>
              <a:rPr kumimoji="1" lang="en-US" altLang="ja-JP" sz="2000" dirty="0"/>
              <a:t>.include</a:t>
            </a:r>
            <a:r>
              <a:rPr lang="ja-JP" altLang="en-US" sz="2000" dirty="0"/>
              <a:t>でパスを通す</a:t>
            </a:r>
            <a:endParaRPr lang="en-US" altLang="ja-JP" sz="2000" dirty="0"/>
          </a:p>
          <a:p>
            <a:pPr lvl="1"/>
            <a:r>
              <a:rPr lang="ja-JP" altLang="en-US" sz="2000" dirty="0"/>
              <a:t>レイアウトデータと同じ階層に </a:t>
            </a:r>
            <a:r>
              <a:rPr lang="en-US" altLang="ja-JP" sz="2000" dirty="0"/>
              <a:t>[TOP</a:t>
            </a:r>
            <a:r>
              <a:rPr lang="ja-JP" altLang="en-US" sz="2000" dirty="0"/>
              <a:t>セル名</a:t>
            </a:r>
            <a:r>
              <a:rPr lang="en-US" altLang="ja-JP" sz="2000" dirty="0"/>
              <a:t>]_</a:t>
            </a:r>
            <a:r>
              <a:rPr lang="en-US" altLang="ja-JP" sz="2000" dirty="0" err="1"/>
              <a:t>pex_extracted.spice</a:t>
            </a:r>
            <a:r>
              <a:rPr lang="en-US" altLang="ja-JP" sz="2000" dirty="0"/>
              <a:t> </a:t>
            </a:r>
            <a:r>
              <a:rPr lang="ja-JP" altLang="en-US" sz="2000" dirty="0"/>
              <a:t>が生成される</a:t>
            </a:r>
            <a:endParaRPr lang="en-US" altLang="ja-JP" sz="2000" dirty="0"/>
          </a:p>
        </p:txBody>
      </p:sp>
      <p:sp>
        <p:nvSpPr>
          <p:cNvPr id="4" name="日付プレースホルダー 3">
            <a:extLst>
              <a:ext uri="{FF2B5EF4-FFF2-40B4-BE49-F238E27FC236}">
                <a16:creationId xmlns:a16="http://schemas.microsoft.com/office/drawing/2014/main" id="{B89B4A9D-62BB-6311-EF59-F5067235A854}"/>
              </a:ext>
            </a:extLst>
          </p:cNvPr>
          <p:cNvSpPr>
            <a:spLocks noGrp="1"/>
          </p:cNvSpPr>
          <p:nvPr>
            <p:ph type="dt" sz="half" idx="10"/>
          </p:nvPr>
        </p:nvSpPr>
        <p:spPr/>
        <p:txBody>
          <a:bodyPr/>
          <a:lstStyle/>
          <a:p>
            <a:fld id="{481E20A7-DD1C-46BE-A6C6-771FAED35CC2}"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DAD11241-2769-3057-CD79-53EC1FC01350}"/>
              </a:ext>
            </a:extLst>
          </p:cNvPr>
          <p:cNvSpPr>
            <a:spLocks noGrp="1"/>
          </p:cNvSpPr>
          <p:nvPr>
            <p:ph type="sldNum" sz="quarter" idx="12"/>
          </p:nvPr>
        </p:nvSpPr>
        <p:spPr/>
        <p:txBody>
          <a:bodyPr/>
          <a:lstStyle/>
          <a:p>
            <a:fld id="{66E89953-8AEA-4BDF-A508-664B12926AB4}" type="slidenum">
              <a:rPr kumimoji="1" lang="ja-JP" altLang="en-US" smtClean="0"/>
              <a:t>123</a:t>
            </a:fld>
            <a:endParaRPr kumimoji="1" lang="ja-JP" altLang="en-US"/>
          </a:p>
        </p:txBody>
      </p:sp>
      <p:pic>
        <p:nvPicPr>
          <p:cNvPr id="7" name="図 6">
            <a:extLst>
              <a:ext uri="{FF2B5EF4-FFF2-40B4-BE49-F238E27FC236}">
                <a16:creationId xmlns:a16="http://schemas.microsoft.com/office/drawing/2014/main" id="{6581E761-B4FC-183B-1421-9F5727216E42}"/>
              </a:ext>
            </a:extLst>
          </p:cNvPr>
          <p:cNvPicPr>
            <a:picLocks noChangeAspect="1"/>
          </p:cNvPicPr>
          <p:nvPr/>
        </p:nvPicPr>
        <p:blipFill>
          <a:blip r:embed="rId2"/>
          <a:stretch>
            <a:fillRect/>
          </a:stretch>
        </p:blipFill>
        <p:spPr>
          <a:xfrm>
            <a:off x="2577115" y="2592754"/>
            <a:ext cx="7763856" cy="3784495"/>
          </a:xfrm>
          <a:prstGeom prst="rect">
            <a:avLst/>
          </a:prstGeom>
        </p:spPr>
      </p:pic>
      <p:cxnSp>
        <p:nvCxnSpPr>
          <p:cNvPr id="10" name="直線矢印コネクタ 9">
            <a:extLst>
              <a:ext uri="{FF2B5EF4-FFF2-40B4-BE49-F238E27FC236}">
                <a16:creationId xmlns:a16="http://schemas.microsoft.com/office/drawing/2014/main" id="{118C5A03-2B68-FEC5-BD13-3C69DC7544E0}"/>
              </a:ext>
            </a:extLst>
          </p:cNvPr>
          <p:cNvCxnSpPr/>
          <p:nvPr/>
        </p:nvCxnSpPr>
        <p:spPr>
          <a:xfrm>
            <a:off x="1894919" y="3486869"/>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84987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C312A5-E712-11A1-05D7-520B2ED9F69A}"/>
              </a:ext>
            </a:extLst>
          </p:cNvPr>
          <p:cNvSpPr>
            <a:spLocks noGrp="1"/>
          </p:cNvSpPr>
          <p:nvPr>
            <p:ph type="title"/>
          </p:nvPr>
        </p:nvSpPr>
        <p:spPr/>
        <p:txBody>
          <a:bodyPr>
            <a:normAutofit/>
          </a:bodyPr>
          <a:lstStyle/>
          <a:p>
            <a:r>
              <a:rPr lang="ja-JP" altLang="en-US" dirty="0"/>
              <a:t>外部ネットリスト用のシンボル作成</a:t>
            </a:r>
            <a:endParaRPr kumimoji="1" lang="ja-JP" altLang="en-US" dirty="0"/>
          </a:p>
        </p:txBody>
      </p:sp>
      <p:sp>
        <p:nvSpPr>
          <p:cNvPr id="3" name="コンテンツ プレースホルダー 2">
            <a:extLst>
              <a:ext uri="{FF2B5EF4-FFF2-40B4-BE49-F238E27FC236}">
                <a16:creationId xmlns:a16="http://schemas.microsoft.com/office/drawing/2014/main" id="{49254FD5-ECE4-89AF-5184-AF4DB459CACD}"/>
              </a:ext>
            </a:extLst>
          </p:cNvPr>
          <p:cNvSpPr>
            <a:spLocks noGrp="1"/>
          </p:cNvSpPr>
          <p:nvPr>
            <p:ph idx="1"/>
          </p:nvPr>
        </p:nvSpPr>
        <p:spPr>
          <a:xfrm>
            <a:off x="448056" y="1447800"/>
            <a:ext cx="11210543" cy="1094923"/>
          </a:xfrm>
        </p:spPr>
        <p:txBody>
          <a:bodyPr>
            <a:normAutofit/>
          </a:bodyPr>
          <a:lstStyle/>
          <a:p>
            <a:r>
              <a:rPr kumimoji="1" lang="en-US" altLang="ja-JP" sz="2000" dirty="0"/>
              <a:t>LVS</a:t>
            </a:r>
            <a:r>
              <a:rPr kumimoji="1" lang="ja-JP" altLang="en-US" sz="2000" dirty="0"/>
              <a:t>で使用した回路図からシンボルを作成する</a:t>
            </a:r>
            <a:endParaRPr kumimoji="1" lang="en-US" altLang="ja-JP" sz="2000" dirty="0"/>
          </a:p>
          <a:p>
            <a:pPr lvl="1"/>
            <a:r>
              <a:rPr kumimoji="1" lang="ja-JP" altLang="en-US" sz="2000" dirty="0"/>
              <a:t>メニュー </a:t>
            </a:r>
            <a:r>
              <a:rPr kumimoji="1" lang="en-US" altLang="ja-JP" sz="2000" dirty="0"/>
              <a:t>Symbol &gt; Make symbol from schematic</a:t>
            </a:r>
            <a:endParaRPr kumimoji="1" lang="ja-JP" altLang="en-US" sz="2000" dirty="0"/>
          </a:p>
        </p:txBody>
      </p:sp>
      <p:sp>
        <p:nvSpPr>
          <p:cNvPr id="4" name="日付プレースホルダー 3">
            <a:extLst>
              <a:ext uri="{FF2B5EF4-FFF2-40B4-BE49-F238E27FC236}">
                <a16:creationId xmlns:a16="http://schemas.microsoft.com/office/drawing/2014/main" id="{4A639673-C07A-48C2-0C2A-9EB36A91DE74}"/>
              </a:ext>
            </a:extLst>
          </p:cNvPr>
          <p:cNvSpPr>
            <a:spLocks noGrp="1"/>
          </p:cNvSpPr>
          <p:nvPr>
            <p:ph type="dt" sz="half" idx="10"/>
          </p:nvPr>
        </p:nvSpPr>
        <p:spPr/>
        <p:txBody>
          <a:bodyPr/>
          <a:lstStyle/>
          <a:p>
            <a:fld id="{54093D63-D02D-4C28-A154-7565C607C068}"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0F1A2D8B-78FF-A294-355F-9FB3676E9586}"/>
              </a:ext>
            </a:extLst>
          </p:cNvPr>
          <p:cNvSpPr>
            <a:spLocks noGrp="1"/>
          </p:cNvSpPr>
          <p:nvPr>
            <p:ph type="sldNum" sz="quarter" idx="12"/>
          </p:nvPr>
        </p:nvSpPr>
        <p:spPr/>
        <p:txBody>
          <a:bodyPr/>
          <a:lstStyle/>
          <a:p>
            <a:fld id="{66E89953-8AEA-4BDF-A508-664B12926AB4}" type="slidenum">
              <a:rPr kumimoji="1" lang="ja-JP" altLang="en-US" smtClean="0"/>
              <a:t>124</a:t>
            </a:fld>
            <a:endParaRPr kumimoji="1" lang="ja-JP" altLang="en-US"/>
          </a:p>
        </p:txBody>
      </p:sp>
      <p:pic>
        <p:nvPicPr>
          <p:cNvPr id="12" name="図 11">
            <a:extLst>
              <a:ext uri="{FF2B5EF4-FFF2-40B4-BE49-F238E27FC236}">
                <a16:creationId xmlns:a16="http://schemas.microsoft.com/office/drawing/2014/main" id="{6CA234A6-7AD0-5BC9-4292-7AA6F56F4624}"/>
              </a:ext>
            </a:extLst>
          </p:cNvPr>
          <p:cNvPicPr>
            <a:picLocks noChangeAspect="1"/>
          </p:cNvPicPr>
          <p:nvPr/>
        </p:nvPicPr>
        <p:blipFill>
          <a:blip r:embed="rId2"/>
          <a:srcRect/>
          <a:stretch/>
        </p:blipFill>
        <p:spPr>
          <a:xfrm>
            <a:off x="5842240" y="3179618"/>
            <a:ext cx="6204666" cy="1552553"/>
          </a:xfrm>
          <a:prstGeom prst="rect">
            <a:avLst/>
          </a:prstGeom>
        </p:spPr>
      </p:pic>
      <p:cxnSp>
        <p:nvCxnSpPr>
          <p:cNvPr id="14" name="直線矢印コネクタ 13">
            <a:extLst>
              <a:ext uri="{FF2B5EF4-FFF2-40B4-BE49-F238E27FC236}">
                <a16:creationId xmlns:a16="http://schemas.microsoft.com/office/drawing/2014/main" id="{5AD285E7-234E-D1D4-3561-DAC46AB7C420}"/>
              </a:ext>
            </a:extLst>
          </p:cNvPr>
          <p:cNvCxnSpPr/>
          <p:nvPr/>
        </p:nvCxnSpPr>
        <p:spPr>
          <a:xfrm>
            <a:off x="3906982" y="3955894"/>
            <a:ext cx="1699491"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F7A5C537-EA47-5305-7960-3BFF23A47A68}"/>
              </a:ext>
            </a:extLst>
          </p:cNvPr>
          <p:cNvSpPr txBox="1"/>
          <p:nvPr/>
        </p:nvSpPr>
        <p:spPr>
          <a:xfrm>
            <a:off x="5588635" y="5143778"/>
            <a:ext cx="6603365" cy="646331"/>
          </a:xfrm>
          <a:prstGeom prst="rect">
            <a:avLst/>
          </a:prstGeom>
          <a:noFill/>
        </p:spPr>
        <p:txBody>
          <a:bodyPr wrap="square" rtlCol="0">
            <a:spAutoFit/>
          </a:bodyPr>
          <a:lstStyle/>
          <a:p>
            <a:pPr algn="ctr"/>
            <a:r>
              <a:rPr kumimoji="1" lang="ja-JP" altLang="en-US" dirty="0"/>
              <a:t>このままだとシンボルは</a:t>
            </a:r>
            <a:r>
              <a:rPr kumimoji="1" lang="en-US" altLang="ja-JP" dirty="0"/>
              <a:t>LVS</a:t>
            </a:r>
            <a:r>
              <a:rPr kumimoji="1" lang="ja-JP" altLang="en-US" dirty="0"/>
              <a:t>で使用した回路図を参照するため</a:t>
            </a:r>
            <a:endParaRPr kumimoji="1" lang="en-US" altLang="ja-JP" dirty="0"/>
          </a:p>
          <a:p>
            <a:pPr algn="ctr"/>
            <a:r>
              <a:rPr kumimoji="1" lang="ja-JP" altLang="en-US" dirty="0"/>
              <a:t>ネットリストを参照するように改変する</a:t>
            </a:r>
          </a:p>
        </p:txBody>
      </p:sp>
      <p:pic>
        <p:nvPicPr>
          <p:cNvPr id="9" name="図 8">
            <a:extLst>
              <a:ext uri="{FF2B5EF4-FFF2-40B4-BE49-F238E27FC236}">
                <a16:creationId xmlns:a16="http://schemas.microsoft.com/office/drawing/2014/main" id="{1843E6B7-4918-8936-F927-717A1F878D0B}"/>
              </a:ext>
            </a:extLst>
          </p:cNvPr>
          <p:cNvPicPr>
            <a:picLocks noChangeAspect="1"/>
          </p:cNvPicPr>
          <p:nvPr/>
        </p:nvPicPr>
        <p:blipFill>
          <a:blip r:embed="rId3"/>
          <a:stretch>
            <a:fillRect/>
          </a:stretch>
        </p:blipFill>
        <p:spPr>
          <a:xfrm>
            <a:off x="336972" y="2602889"/>
            <a:ext cx="3159816" cy="3020867"/>
          </a:xfrm>
          <a:prstGeom prst="rect">
            <a:avLst/>
          </a:prstGeom>
        </p:spPr>
      </p:pic>
    </p:spTree>
    <p:extLst>
      <p:ext uri="{BB962C8B-B14F-4D97-AF65-F5344CB8AC3E}">
        <p14:creationId xmlns:p14="http://schemas.microsoft.com/office/powerpoint/2010/main" val="73584998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1F1C97-E110-4A67-3E6D-425C001C94B1}"/>
              </a:ext>
            </a:extLst>
          </p:cNvPr>
          <p:cNvSpPr>
            <a:spLocks noGrp="1"/>
          </p:cNvSpPr>
          <p:nvPr>
            <p:ph type="title"/>
          </p:nvPr>
        </p:nvSpPr>
        <p:spPr/>
        <p:txBody>
          <a:bodyPr/>
          <a:lstStyle/>
          <a:p>
            <a:r>
              <a:rPr lang="ja-JP" altLang="en-US" dirty="0"/>
              <a:t>外部ネットリスト用のシンボル作成　（基本形）</a:t>
            </a:r>
            <a:endParaRPr kumimoji="1" lang="ja-JP" altLang="en-US" dirty="0"/>
          </a:p>
        </p:txBody>
      </p:sp>
      <p:sp>
        <p:nvSpPr>
          <p:cNvPr id="3" name="コンテンツ プレースホルダー 2">
            <a:extLst>
              <a:ext uri="{FF2B5EF4-FFF2-40B4-BE49-F238E27FC236}">
                <a16:creationId xmlns:a16="http://schemas.microsoft.com/office/drawing/2014/main" id="{9895A6E3-D92C-1555-9DB1-F097DE4AF211}"/>
              </a:ext>
            </a:extLst>
          </p:cNvPr>
          <p:cNvSpPr>
            <a:spLocks noGrp="1"/>
          </p:cNvSpPr>
          <p:nvPr>
            <p:ph idx="1"/>
          </p:nvPr>
        </p:nvSpPr>
        <p:spPr>
          <a:xfrm>
            <a:off x="444501" y="1255438"/>
            <a:ext cx="11664372" cy="5302217"/>
          </a:xfrm>
        </p:spPr>
        <p:txBody>
          <a:bodyPr>
            <a:normAutofit/>
          </a:bodyPr>
          <a:lstStyle/>
          <a:p>
            <a:r>
              <a:rPr kumimoji="1" lang="ja-JP" altLang="en-US" sz="2000" dirty="0"/>
              <a:t>シンボルのプロパティを開いてこんな感じの中身にする　（</a:t>
            </a:r>
            <a:r>
              <a:rPr kumimoji="1" lang="en-US" altLang="ja-JP" sz="2000" dirty="0"/>
              <a:t>Q</a:t>
            </a:r>
            <a:r>
              <a:rPr kumimoji="1" lang="ja-JP" altLang="en-US" sz="2000" dirty="0"/>
              <a:t>キーでプロパティを開く）</a:t>
            </a:r>
            <a:endParaRPr lang="en-US" altLang="ja-JP" sz="2000" dirty="0"/>
          </a:p>
          <a:p>
            <a:pPr marL="0" indent="0">
              <a:buNone/>
            </a:pPr>
            <a:endParaRPr kumimoji="1" lang="en-US" altLang="ja-JP" sz="2000" dirty="0"/>
          </a:p>
          <a:p>
            <a:pPr marL="0" indent="0">
              <a:buNone/>
            </a:pPr>
            <a:r>
              <a:rPr kumimoji="1" lang="en-US" altLang="ja-JP" sz="2000" dirty="0"/>
              <a:t>type=primitive</a:t>
            </a:r>
          </a:p>
          <a:p>
            <a:pPr marL="0" indent="0">
              <a:buNone/>
            </a:pPr>
            <a:r>
              <a:rPr kumimoji="1" lang="en-US" altLang="ja-JP" sz="2000" dirty="0"/>
              <a:t>format=“@name </a:t>
            </a:r>
            <a:r>
              <a:rPr kumimoji="1" lang="en-US" altLang="ja-JP" sz="2000" dirty="0">
                <a:solidFill>
                  <a:schemeClr val="accent2"/>
                </a:solidFill>
              </a:rPr>
              <a:t>[</a:t>
            </a:r>
            <a:r>
              <a:rPr kumimoji="1" lang="ja-JP" altLang="en-US" sz="2000" dirty="0">
                <a:solidFill>
                  <a:schemeClr val="accent2"/>
                </a:solidFill>
              </a:rPr>
              <a:t>ネットリスト内のピン</a:t>
            </a:r>
            <a:r>
              <a:rPr kumimoji="1" lang="en-US" altLang="ja-JP" sz="2000" dirty="0">
                <a:solidFill>
                  <a:schemeClr val="accent2"/>
                </a:solidFill>
              </a:rPr>
              <a:t>] </a:t>
            </a:r>
            <a:r>
              <a:rPr kumimoji="1" lang="en-US" altLang="ja-JP" sz="2000" dirty="0"/>
              <a:t>@prefix“</a:t>
            </a:r>
          </a:p>
          <a:p>
            <a:pPr marL="0" indent="0">
              <a:buNone/>
            </a:pPr>
            <a:r>
              <a:rPr kumimoji="1" lang="en-US" altLang="ja-JP" sz="2000" dirty="0"/>
              <a:t>template=“name=x1 prefix=</a:t>
            </a:r>
            <a:r>
              <a:rPr kumimoji="1" lang="en-US" altLang="ja-JP" sz="2000" dirty="0">
                <a:solidFill>
                  <a:schemeClr val="accent2"/>
                </a:solidFill>
              </a:rPr>
              <a:t>[</a:t>
            </a:r>
            <a:r>
              <a:rPr kumimoji="1" lang="en-US" altLang="ja-JP" sz="2000" dirty="0" err="1">
                <a:solidFill>
                  <a:schemeClr val="accent2"/>
                </a:solidFill>
              </a:rPr>
              <a:t>subckt</a:t>
            </a:r>
            <a:r>
              <a:rPr kumimoji="1" lang="ja-JP" altLang="en-US" sz="2000" dirty="0">
                <a:solidFill>
                  <a:schemeClr val="accent2"/>
                </a:solidFill>
              </a:rPr>
              <a:t>の名前</a:t>
            </a:r>
            <a:r>
              <a:rPr kumimoji="1" lang="en-US" altLang="ja-JP" sz="2000" dirty="0">
                <a:solidFill>
                  <a:schemeClr val="accent2"/>
                </a:solidFill>
              </a:rPr>
              <a:t>]</a:t>
            </a:r>
            <a:r>
              <a:rPr kumimoji="1" lang="en-US" altLang="ja-JP" sz="2000" dirty="0"/>
              <a:t>“</a:t>
            </a:r>
          </a:p>
          <a:p>
            <a:pPr marL="0" indent="0">
              <a:buNone/>
            </a:pPr>
            <a:r>
              <a:rPr kumimoji="1" lang="en-US" altLang="ja-JP" sz="2000" dirty="0"/>
              <a:t>extra=“prefix“</a:t>
            </a:r>
          </a:p>
          <a:p>
            <a:pPr marL="0" indent="0">
              <a:buNone/>
            </a:pPr>
            <a:r>
              <a:rPr kumimoji="1" lang="en-US" altLang="ja-JP" sz="2000" dirty="0"/>
              <a:t>highlight=true</a:t>
            </a:r>
          </a:p>
          <a:p>
            <a:pPr marL="0" indent="0">
              <a:buNone/>
            </a:pPr>
            <a:endParaRPr lang="en-US" altLang="ja-JP" sz="2000" dirty="0"/>
          </a:p>
          <a:p>
            <a:pPr marL="0" indent="0">
              <a:buNone/>
            </a:pPr>
            <a:r>
              <a:rPr kumimoji="1" lang="ja-JP" altLang="en-US" sz="1800" dirty="0"/>
              <a:t>詳しくは　</a:t>
            </a:r>
            <a:r>
              <a:rPr kumimoji="1" lang="en-US" altLang="ja-JP" sz="1800" dirty="0">
                <a:solidFill>
                  <a:schemeClr val="accent1"/>
                </a:solidFill>
                <a:hlinkClick r:id="rId2">
                  <a:extLst>
                    <a:ext uri="{A12FA001-AC4F-418D-AE19-62706E023703}">
                      <ahyp:hlinkClr xmlns:ahyp="http://schemas.microsoft.com/office/drawing/2018/hyperlinkcolor" val="tx"/>
                    </a:ext>
                  </a:extLst>
                </a:hlinkClick>
              </a:rPr>
              <a:t>http://repo.hu/projects/xschem/xschem_man/symbol_property_syntax.html</a:t>
            </a:r>
            <a:r>
              <a:rPr kumimoji="1" lang="ja-JP" altLang="en-US" sz="1800" dirty="0"/>
              <a:t>　を参照</a:t>
            </a:r>
            <a:endParaRPr kumimoji="1" lang="en-US" altLang="ja-JP" sz="1800" dirty="0"/>
          </a:p>
          <a:p>
            <a:pPr marL="0" indent="0">
              <a:buNone/>
            </a:pPr>
            <a:endParaRPr kumimoji="1" lang="ja-JP" altLang="en-US" sz="1800" dirty="0"/>
          </a:p>
        </p:txBody>
      </p:sp>
      <p:sp>
        <p:nvSpPr>
          <p:cNvPr id="4" name="日付プレースホルダー 3">
            <a:extLst>
              <a:ext uri="{FF2B5EF4-FFF2-40B4-BE49-F238E27FC236}">
                <a16:creationId xmlns:a16="http://schemas.microsoft.com/office/drawing/2014/main" id="{F4519D3C-6189-914A-9382-227699C83D39}"/>
              </a:ext>
            </a:extLst>
          </p:cNvPr>
          <p:cNvSpPr>
            <a:spLocks noGrp="1"/>
          </p:cNvSpPr>
          <p:nvPr>
            <p:ph type="dt" sz="half" idx="10"/>
          </p:nvPr>
        </p:nvSpPr>
        <p:spPr/>
        <p:txBody>
          <a:bodyPr/>
          <a:lstStyle/>
          <a:p>
            <a:fld id="{74728F3F-E12C-4B68-A5C0-50C0B493B0B9}"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3206CEB9-50C7-821E-99E5-488C254DBC10}"/>
              </a:ext>
            </a:extLst>
          </p:cNvPr>
          <p:cNvSpPr>
            <a:spLocks noGrp="1"/>
          </p:cNvSpPr>
          <p:nvPr>
            <p:ph type="sldNum" sz="quarter" idx="12"/>
          </p:nvPr>
        </p:nvSpPr>
        <p:spPr/>
        <p:txBody>
          <a:bodyPr/>
          <a:lstStyle/>
          <a:p>
            <a:fld id="{66E89953-8AEA-4BDF-A508-664B12926AB4}" type="slidenum">
              <a:rPr kumimoji="1" lang="ja-JP" altLang="en-US" smtClean="0"/>
              <a:t>125</a:t>
            </a:fld>
            <a:endParaRPr kumimoji="1" lang="ja-JP" altLang="en-US"/>
          </a:p>
        </p:txBody>
      </p:sp>
    </p:spTree>
    <p:extLst>
      <p:ext uri="{BB962C8B-B14F-4D97-AF65-F5344CB8AC3E}">
        <p14:creationId xmlns:p14="http://schemas.microsoft.com/office/powerpoint/2010/main" val="277964126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1F1C97-E110-4A67-3E6D-425C001C94B1}"/>
              </a:ext>
            </a:extLst>
          </p:cNvPr>
          <p:cNvSpPr>
            <a:spLocks noGrp="1"/>
          </p:cNvSpPr>
          <p:nvPr>
            <p:ph type="title"/>
          </p:nvPr>
        </p:nvSpPr>
        <p:spPr/>
        <p:txBody>
          <a:bodyPr/>
          <a:lstStyle/>
          <a:p>
            <a:r>
              <a:rPr lang="ja-JP" altLang="en-US" dirty="0"/>
              <a:t>外部ネットリスト用のシンボル作成例　（インバータ）</a:t>
            </a:r>
            <a:endParaRPr kumimoji="1" lang="ja-JP" altLang="en-US" dirty="0"/>
          </a:p>
        </p:txBody>
      </p:sp>
      <p:sp>
        <p:nvSpPr>
          <p:cNvPr id="3" name="コンテンツ プレースホルダー 2">
            <a:extLst>
              <a:ext uri="{FF2B5EF4-FFF2-40B4-BE49-F238E27FC236}">
                <a16:creationId xmlns:a16="http://schemas.microsoft.com/office/drawing/2014/main" id="{9895A6E3-D92C-1555-9DB1-F097DE4AF211}"/>
              </a:ext>
            </a:extLst>
          </p:cNvPr>
          <p:cNvSpPr>
            <a:spLocks noGrp="1"/>
          </p:cNvSpPr>
          <p:nvPr>
            <p:ph idx="1"/>
          </p:nvPr>
        </p:nvSpPr>
        <p:spPr/>
        <p:txBody>
          <a:bodyPr>
            <a:normAutofit/>
          </a:bodyPr>
          <a:lstStyle/>
          <a:p>
            <a:pPr marL="0" indent="0">
              <a:buNone/>
            </a:pPr>
            <a:endParaRPr kumimoji="1" lang="en-US" altLang="ja-JP" sz="2000" dirty="0"/>
          </a:p>
          <a:p>
            <a:pPr marL="0" indent="0">
              <a:buNone/>
            </a:pPr>
            <a:r>
              <a:rPr kumimoji="1" lang="en-US" altLang="ja-JP" sz="2000" dirty="0"/>
              <a:t>type=primitive</a:t>
            </a:r>
          </a:p>
          <a:p>
            <a:pPr marL="0" indent="0">
              <a:buNone/>
            </a:pPr>
            <a:r>
              <a:rPr kumimoji="1" lang="en-US" altLang="ja-JP" sz="2000" dirty="0"/>
              <a:t>format="@name </a:t>
            </a:r>
            <a:r>
              <a:rPr kumimoji="1" lang="en-US" altLang="ja-JP" sz="2000" dirty="0">
                <a:solidFill>
                  <a:schemeClr val="accent2"/>
                </a:solidFill>
              </a:rPr>
              <a:t>@@A @@Q @@VDD @@GND </a:t>
            </a:r>
            <a:r>
              <a:rPr kumimoji="1" lang="en-US" altLang="ja-JP" sz="2000" dirty="0"/>
              <a:t>@prefix“</a:t>
            </a:r>
          </a:p>
          <a:p>
            <a:pPr marL="0" indent="0">
              <a:buNone/>
            </a:pPr>
            <a:r>
              <a:rPr kumimoji="1" lang="en-US" altLang="ja-JP" sz="2000" dirty="0"/>
              <a:t>template="name=x1 prefix=</a:t>
            </a:r>
            <a:r>
              <a:rPr lang="en-US" altLang="ja-JP" sz="2000" dirty="0">
                <a:solidFill>
                  <a:schemeClr val="accent2"/>
                </a:solidFill>
              </a:rPr>
              <a:t>inverter</a:t>
            </a:r>
            <a:r>
              <a:rPr kumimoji="1" lang="en-US" altLang="ja-JP" sz="2000" dirty="0"/>
              <a:t>“</a:t>
            </a:r>
          </a:p>
          <a:p>
            <a:pPr marL="0" indent="0">
              <a:buNone/>
            </a:pPr>
            <a:r>
              <a:rPr kumimoji="1" lang="en-US" altLang="ja-JP" sz="2000" dirty="0"/>
              <a:t>extra="prefix“</a:t>
            </a:r>
          </a:p>
          <a:p>
            <a:pPr marL="0" indent="0">
              <a:buNone/>
            </a:pPr>
            <a:r>
              <a:rPr kumimoji="1" lang="en-US" altLang="ja-JP" sz="2000" dirty="0"/>
              <a:t>highlight=true</a:t>
            </a:r>
            <a:endParaRPr kumimoji="1" lang="ja-JP" altLang="en-US" sz="2000" dirty="0"/>
          </a:p>
        </p:txBody>
      </p:sp>
      <p:sp>
        <p:nvSpPr>
          <p:cNvPr id="4" name="日付プレースホルダー 3">
            <a:extLst>
              <a:ext uri="{FF2B5EF4-FFF2-40B4-BE49-F238E27FC236}">
                <a16:creationId xmlns:a16="http://schemas.microsoft.com/office/drawing/2014/main" id="{F4519D3C-6189-914A-9382-227699C83D39}"/>
              </a:ext>
            </a:extLst>
          </p:cNvPr>
          <p:cNvSpPr>
            <a:spLocks noGrp="1"/>
          </p:cNvSpPr>
          <p:nvPr>
            <p:ph type="dt" sz="half" idx="10"/>
          </p:nvPr>
        </p:nvSpPr>
        <p:spPr/>
        <p:txBody>
          <a:bodyPr/>
          <a:lstStyle/>
          <a:p>
            <a:fld id="{1A94F519-8B2D-47F7-B1A2-064A0CDB9D90}"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3206CEB9-50C7-821E-99E5-488C254DBC10}"/>
              </a:ext>
            </a:extLst>
          </p:cNvPr>
          <p:cNvSpPr>
            <a:spLocks noGrp="1"/>
          </p:cNvSpPr>
          <p:nvPr>
            <p:ph type="sldNum" sz="quarter" idx="12"/>
          </p:nvPr>
        </p:nvSpPr>
        <p:spPr/>
        <p:txBody>
          <a:bodyPr/>
          <a:lstStyle/>
          <a:p>
            <a:fld id="{66E89953-8AEA-4BDF-A508-664B12926AB4}" type="slidenum">
              <a:rPr kumimoji="1" lang="ja-JP" altLang="en-US" smtClean="0"/>
              <a:t>126</a:t>
            </a:fld>
            <a:endParaRPr kumimoji="1" lang="ja-JP" altLang="en-US"/>
          </a:p>
        </p:txBody>
      </p:sp>
      <p:sp>
        <p:nvSpPr>
          <p:cNvPr id="9" name="テキスト ボックス 8">
            <a:extLst>
              <a:ext uri="{FF2B5EF4-FFF2-40B4-BE49-F238E27FC236}">
                <a16:creationId xmlns:a16="http://schemas.microsoft.com/office/drawing/2014/main" id="{8DAA0053-457B-9B06-69A2-588CB8340A5F}"/>
              </a:ext>
            </a:extLst>
          </p:cNvPr>
          <p:cNvSpPr txBox="1"/>
          <p:nvPr/>
        </p:nvSpPr>
        <p:spPr>
          <a:xfrm>
            <a:off x="263368" y="5507661"/>
            <a:ext cx="7365341" cy="461665"/>
          </a:xfrm>
          <a:prstGeom prst="rect">
            <a:avLst/>
          </a:prstGeom>
          <a:noFill/>
        </p:spPr>
        <p:txBody>
          <a:bodyPr wrap="square" rtlCol="0">
            <a:spAutoFit/>
          </a:bodyPr>
          <a:lstStyle/>
          <a:p>
            <a:pPr algn="ctr"/>
            <a:r>
              <a:rPr kumimoji="1" lang="ja-JP" altLang="en-US" sz="2400" dirty="0">
                <a:solidFill>
                  <a:schemeClr val="accent2"/>
                </a:solidFill>
              </a:rPr>
              <a:t>抽出したネットリストのピンと同じ並びで記述する</a:t>
            </a:r>
            <a:endParaRPr kumimoji="1" lang="en-US" altLang="ja-JP" sz="2400" dirty="0">
              <a:solidFill>
                <a:schemeClr val="accent2"/>
              </a:solidFill>
            </a:endParaRPr>
          </a:p>
        </p:txBody>
      </p:sp>
      <p:pic>
        <p:nvPicPr>
          <p:cNvPr id="7" name="図 6">
            <a:extLst>
              <a:ext uri="{FF2B5EF4-FFF2-40B4-BE49-F238E27FC236}">
                <a16:creationId xmlns:a16="http://schemas.microsoft.com/office/drawing/2014/main" id="{D5D3BB80-A522-6819-FB99-B4321A90D062}"/>
              </a:ext>
            </a:extLst>
          </p:cNvPr>
          <p:cNvPicPr>
            <a:picLocks noChangeAspect="1"/>
          </p:cNvPicPr>
          <p:nvPr/>
        </p:nvPicPr>
        <p:blipFill>
          <a:blip r:embed="rId2"/>
          <a:srcRect t="57462"/>
          <a:stretch>
            <a:fillRect/>
          </a:stretch>
        </p:blipFill>
        <p:spPr>
          <a:xfrm>
            <a:off x="5859242" y="3546688"/>
            <a:ext cx="6266024" cy="1750538"/>
          </a:xfrm>
          <a:prstGeom prst="rect">
            <a:avLst/>
          </a:prstGeom>
        </p:spPr>
      </p:pic>
      <p:sp>
        <p:nvSpPr>
          <p:cNvPr id="11" name="楕円 10">
            <a:extLst>
              <a:ext uri="{FF2B5EF4-FFF2-40B4-BE49-F238E27FC236}">
                <a16:creationId xmlns:a16="http://schemas.microsoft.com/office/drawing/2014/main" id="{7E3A94ED-385D-C14D-6221-29BD69EB69D5}"/>
              </a:ext>
            </a:extLst>
          </p:cNvPr>
          <p:cNvSpPr/>
          <p:nvPr/>
        </p:nvSpPr>
        <p:spPr>
          <a:xfrm>
            <a:off x="5891844" y="3464467"/>
            <a:ext cx="2313442" cy="427385"/>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7254170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1F1C97-E110-4A67-3E6D-425C001C94B1}"/>
              </a:ext>
            </a:extLst>
          </p:cNvPr>
          <p:cNvSpPr>
            <a:spLocks noGrp="1"/>
          </p:cNvSpPr>
          <p:nvPr>
            <p:ph type="title"/>
          </p:nvPr>
        </p:nvSpPr>
        <p:spPr/>
        <p:txBody>
          <a:bodyPr/>
          <a:lstStyle/>
          <a:p>
            <a:r>
              <a:rPr lang="ja-JP" altLang="en-US" dirty="0"/>
              <a:t>外部ネットリスト用のシンボル作成例　（インバータ）</a:t>
            </a:r>
            <a:endParaRPr kumimoji="1" lang="ja-JP" altLang="en-US" dirty="0"/>
          </a:p>
        </p:txBody>
      </p:sp>
      <p:sp>
        <p:nvSpPr>
          <p:cNvPr id="3" name="コンテンツ プレースホルダー 2">
            <a:extLst>
              <a:ext uri="{FF2B5EF4-FFF2-40B4-BE49-F238E27FC236}">
                <a16:creationId xmlns:a16="http://schemas.microsoft.com/office/drawing/2014/main" id="{9895A6E3-D92C-1555-9DB1-F097DE4AF211}"/>
              </a:ext>
            </a:extLst>
          </p:cNvPr>
          <p:cNvSpPr>
            <a:spLocks noGrp="1"/>
          </p:cNvSpPr>
          <p:nvPr>
            <p:ph idx="1"/>
          </p:nvPr>
        </p:nvSpPr>
        <p:spPr/>
        <p:txBody>
          <a:bodyPr/>
          <a:lstStyle/>
          <a:p>
            <a:pPr marL="0" indent="0">
              <a:buNone/>
            </a:pPr>
            <a:endParaRPr kumimoji="1" lang="en-US" altLang="ja-JP" sz="2000" dirty="0"/>
          </a:p>
          <a:p>
            <a:pPr marL="0" indent="0">
              <a:buNone/>
            </a:pPr>
            <a:r>
              <a:rPr kumimoji="1" lang="en-US" altLang="ja-JP" sz="2000" dirty="0"/>
              <a:t>type=primitive</a:t>
            </a:r>
          </a:p>
          <a:p>
            <a:pPr marL="0" indent="0">
              <a:buNone/>
            </a:pPr>
            <a:r>
              <a:rPr kumimoji="1" lang="en-US" altLang="ja-JP" sz="2000" dirty="0"/>
              <a:t>format="@name </a:t>
            </a:r>
            <a:r>
              <a:rPr kumimoji="1" lang="en-US" altLang="ja-JP" sz="2000" dirty="0">
                <a:solidFill>
                  <a:schemeClr val="accent2"/>
                </a:solidFill>
              </a:rPr>
              <a:t>@@A @@Q @@VDD @@GND</a:t>
            </a:r>
            <a:r>
              <a:rPr kumimoji="1" lang="en-US" altLang="ja-JP" sz="2000" dirty="0">
                <a:solidFill>
                  <a:schemeClr val="accent1"/>
                </a:solidFill>
              </a:rPr>
              <a:t> </a:t>
            </a:r>
            <a:r>
              <a:rPr kumimoji="1" lang="en-US" altLang="ja-JP" sz="2000" dirty="0"/>
              <a:t>@prefix“</a:t>
            </a:r>
          </a:p>
          <a:p>
            <a:r>
              <a:rPr kumimoji="1" lang="en-US" altLang="ja-JP" sz="2000" dirty="0"/>
              <a:t>template="name=x1 prefix=</a:t>
            </a:r>
            <a:r>
              <a:rPr lang="en-US" altLang="ja-JP" sz="2000" dirty="0">
                <a:solidFill>
                  <a:schemeClr val="accent2"/>
                </a:solidFill>
              </a:rPr>
              <a:t>inverter</a:t>
            </a:r>
            <a:r>
              <a:rPr kumimoji="1" lang="en-US" altLang="ja-JP" sz="2000" dirty="0"/>
              <a:t>“</a:t>
            </a:r>
          </a:p>
          <a:p>
            <a:pPr marL="0" indent="0">
              <a:buNone/>
            </a:pPr>
            <a:r>
              <a:rPr kumimoji="1" lang="en-US" altLang="ja-JP" sz="2000" dirty="0"/>
              <a:t>extra="prefix“</a:t>
            </a:r>
          </a:p>
          <a:p>
            <a:pPr marL="0" indent="0">
              <a:buNone/>
            </a:pPr>
            <a:r>
              <a:rPr kumimoji="1" lang="en-US" altLang="ja-JP" sz="2000" dirty="0"/>
              <a:t>highlight=true</a:t>
            </a:r>
            <a:endParaRPr kumimoji="1" lang="ja-JP" altLang="en-US" sz="2000" dirty="0"/>
          </a:p>
        </p:txBody>
      </p:sp>
      <p:sp>
        <p:nvSpPr>
          <p:cNvPr id="4" name="日付プレースホルダー 3">
            <a:extLst>
              <a:ext uri="{FF2B5EF4-FFF2-40B4-BE49-F238E27FC236}">
                <a16:creationId xmlns:a16="http://schemas.microsoft.com/office/drawing/2014/main" id="{F4519D3C-6189-914A-9382-227699C83D39}"/>
              </a:ext>
            </a:extLst>
          </p:cNvPr>
          <p:cNvSpPr>
            <a:spLocks noGrp="1"/>
          </p:cNvSpPr>
          <p:nvPr>
            <p:ph type="dt" sz="half" idx="10"/>
          </p:nvPr>
        </p:nvSpPr>
        <p:spPr/>
        <p:txBody>
          <a:bodyPr/>
          <a:lstStyle/>
          <a:p>
            <a:fld id="{F29C7633-0DDC-440D-853B-F87A0ED43379}"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3206CEB9-50C7-821E-99E5-488C254DBC10}"/>
              </a:ext>
            </a:extLst>
          </p:cNvPr>
          <p:cNvSpPr>
            <a:spLocks noGrp="1"/>
          </p:cNvSpPr>
          <p:nvPr>
            <p:ph type="sldNum" sz="quarter" idx="12"/>
          </p:nvPr>
        </p:nvSpPr>
        <p:spPr/>
        <p:txBody>
          <a:bodyPr/>
          <a:lstStyle/>
          <a:p>
            <a:fld id="{66E89953-8AEA-4BDF-A508-664B12926AB4}" type="slidenum">
              <a:rPr kumimoji="1" lang="ja-JP" altLang="en-US" smtClean="0"/>
              <a:t>127</a:t>
            </a:fld>
            <a:endParaRPr kumimoji="1" lang="ja-JP" altLang="en-US"/>
          </a:p>
        </p:txBody>
      </p:sp>
      <p:sp>
        <p:nvSpPr>
          <p:cNvPr id="10" name="テキスト ボックス 9">
            <a:extLst>
              <a:ext uri="{FF2B5EF4-FFF2-40B4-BE49-F238E27FC236}">
                <a16:creationId xmlns:a16="http://schemas.microsoft.com/office/drawing/2014/main" id="{98073512-42AE-F0E8-D6DA-7749A33D8C88}"/>
              </a:ext>
            </a:extLst>
          </p:cNvPr>
          <p:cNvSpPr txBox="1"/>
          <p:nvPr/>
        </p:nvSpPr>
        <p:spPr>
          <a:xfrm>
            <a:off x="1273438" y="5243803"/>
            <a:ext cx="9645124" cy="954107"/>
          </a:xfrm>
          <a:prstGeom prst="rect">
            <a:avLst/>
          </a:prstGeom>
          <a:noFill/>
        </p:spPr>
        <p:txBody>
          <a:bodyPr wrap="square" rtlCol="0">
            <a:spAutoFit/>
          </a:bodyPr>
          <a:lstStyle/>
          <a:p>
            <a:pPr algn="ctr"/>
            <a:r>
              <a:rPr kumimoji="1" lang="ja-JP" altLang="en-US" sz="2800" dirty="0">
                <a:solidFill>
                  <a:schemeClr val="accent2"/>
                </a:solidFill>
              </a:rPr>
              <a:t>シンボルから出ているピンには</a:t>
            </a:r>
            <a:r>
              <a:rPr kumimoji="1" lang="en-US" altLang="ja-JP" sz="2800" dirty="0">
                <a:solidFill>
                  <a:schemeClr val="accent2"/>
                </a:solidFill>
              </a:rPr>
              <a:t>”@@”</a:t>
            </a:r>
            <a:r>
              <a:rPr kumimoji="1" lang="ja-JP" altLang="en-US" sz="2800" dirty="0">
                <a:solidFill>
                  <a:schemeClr val="accent2"/>
                </a:solidFill>
              </a:rPr>
              <a:t>の</a:t>
            </a:r>
            <a:r>
              <a:rPr kumimoji="1" lang="en-US" altLang="ja-JP" sz="2800" dirty="0">
                <a:solidFill>
                  <a:schemeClr val="accent2"/>
                </a:solidFill>
              </a:rPr>
              <a:t>prefix</a:t>
            </a:r>
            <a:r>
              <a:rPr kumimoji="1" lang="ja-JP" altLang="en-US" sz="2800" dirty="0">
                <a:solidFill>
                  <a:schemeClr val="accent2"/>
                </a:solidFill>
              </a:rPr>
              <a:t>をつける</a:t>
            </a:r>
            <a:endParaRPr kumimoji="1" lang="en-US" altLang="ja-JP" sz="2800" dirty="0">
              <a:solidFill>
                <a:schemeClr val="accent2"/>
              </a:solidFill>
            </a:endParaRPr>
          </a:p>
          <a:p>
            <a:pPr algn="ctr"/>
            <a:r>
              <a:rPr kumimoji="1" lang="ja-JP" altLang="en-US" sz="2800" dirty="0"/>
              <a:t>これで一応完成</a:t>
            </a:r>
            <a:endParaRPr kumimoji="1" lang="en-US" altLang="ja-JP" sz="2800" dirty="0"/>
          </a:p>
        </p:txBody>
      </p:sp>
      <p:pic>
        <p:nvPicPr>
          <p:cNvPr id="8" name="図 7">
            <a:extLst>
              <a:ext uri="{FF2B5EF4-FFF2-40B4-BE49-F238E27FC236}">
                <a16:creationId xmlns:a16="http://schemas.microsoft.com/office/drawing/2014/main" id="{43723991-3C70-17E3-0F53-1C4AB8B7CC00}"/>
              </a:ext>
            </a:extLst>
          </p:cNvPr>
          <p:cNvPicPr>
            <a:picLocks noChangeAspect="1"/>
          </p:cNvPicPr>
          <p:nvPr/>
        </p:nvPicPr>
        <p:blipFill>
          <a:blip r:embed="rId2"/>
          <a:stretch>
            <a:fillRect/>
          </a:stretch>
        </p:blipFill>
        <p:spPr>
          <a:xfrm>
            <a:off x="5721868" y="1175474"/>
            <a:ext cx="6360248" cy="1383920"/>
          </a:xfrm>
          <a:prstGeom prst="rect">
            <a:avLst/>
          </a:prstGeom>
        </p:spPr>
      </p:pic>
    </p:spTree>
    <p:extLst>
      <p:ext uri="{BB962C8B-B14F-4D97-AF65-F5344CB8AC3E}">
        <p14:creationId xmlns:p14="http://schemas.microsoft.com/office/powerpoint/2010/main" val="365060556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39BDB5-2E46-9107-9DF1-E2130952F347}"/>
              </a:ext>
            </a:extLst>
          </p:cNvPr>
          <p:cNvSpPr>
            <a:spLocks noGrp="1"/>
          </p:cNvSpPr>
          <p:nvPr>
            <p:ph type="title"/>
          </p:nvPr>
        </p:nvSpPr>
        <p:spPr/>
        <p:txBody>
          <a:bodyPr/>
          <a:lstStyle/>
          <a:p>
            <a:r>
              <a:rPr lang="ja-JP" altLang="en-US" dirty="0"/>
              <a:t>ベンチマーク例</a:t>
            </a:r>
            <a:endParaRPr kumimoji="1" lang="ja-JP" altLang="en-US" dirty="0"/>
          </a:p>
        </p:txBody>
      </p:sp>
      <p:sp>
        <p:nvSpPr>
          <p:cNvPr id="4" name="日付プレースホルダー 3">
            <a:extLst>
              <a:ext uri="{FF2B5EF4-FFF2-40B4-BE49-F238E27FC236}">
                <a16:creationId xmlns:a16="http://schemas.microsoft.com/office/drawing/2014/main" id="{ACFE62CC-5864-07EC-31E8-7F4EC235241E}"/>
              </a:ext>
            </a:extLst>
          </p:cNvPr>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95B79425-5E05-00EC-AA22-86954BF70F0E}"/>
              </a:ext>
            </a:extLst>
          </p:cNvPr>
          <p:cNvSpPr>
            <a:spLocks noGrp="1"/>
          </p:cNvSpPr>
          <p:nvPr>
            <p:ph type="sldNum" sz="quarter" idx="12"/>
          </p:nvPr>
        </p:nvSpPr>
        <p:spPr/>
        <p:txBody>
          <a:bodyPr/>
          <a:lstStyle/>
          <a:p>
            <a:fld id="{66E89953-8AEA-4BDF-A508-664B12926AB4}" type="slidenum">
              <a:rPr kumimoji="1" lang="ja-JP" altLang="en-US" smtClean="0"/>
              <a:t>128</a:t>
            </a:fld>
            <a:endParaRPr kumimoji="1" lang="ja-JP" altLang="en-US"/>
          </a:p>
        </p:txBody>
      </p:sp>
      <p:pic>
        <p:nvPicPr>
          <p:cNvPr id="16" name="コンテンツ プレースホルダー 15">
            <a:extLst>
              <a:ext uri="{FF2B5EF4-FFF2-40B4-BE49-F238E27FC236}">
                <a16:creationId xmlns:a16="http://schemas.microsoft.com/office/drawing/2014/main" id="{35F35094-4C10-1689-BFF4-4740CBF1D940}"/>
              </a:ext>
            </a:extLst>
          </p:cNvPr>
          <p:cNvPicPr>
            <a:picLocks noGrp="1" noChangeAspect="1"/>
          </p:cNvPicPr>
          <p:nvPr>
            <p:ph idx="1"/>
          </p:nvPr>
        </p:nvPicPr>
        <p:blipFill>
          <a:blip r:embed="rId2"/>
          <a:stretch>
            <a:fillRect/>
          </a:stretch>
        </p:blipFill>
        <p:spPr>
          <a:xfrm>
            <a:off x="885419" y="1236785"/>
            <a:ext cx="10769625" cy="5190606"/>
          </a:xfrm>
          <a:prstGeom prst="rect">
            <a:avLst/>
          </a:prstGeom>
        </p:spPr>
      </p:pic>
      <p:sp>
        <p:nvSpPr>
          <p:cNvPr id="8" name="テキスト ボックス 7">
            <a:extLst>
              <a:ext uri="{FF2B5EF4-FFF2-40B4-BE49-F238E27FC236}">
                <a16:creationId xmlns:a16="http://schemas.microsoft.com/office/drawing/2014/main" id="{0B2435D6-A14A-A474-6C7B-0CDCBE484434}"/>
              </a:ext>
            </a:extLst>
          </p:cNvPr>
          <p:cNvSpPr txBox="1"/>
          <p:nvPr/>
        </p:nvSpPr>
        <p:spPr>
          <a:xfrm>
            <a:off x="6535462" y="3508922"/>
            <a:ext cx="3011055" cy="646331"/>
          </a:xfrm>
          <a:prstGeom prst="rect">
            <a:avLst/>
          </a:prstGeom>
          <a:solidFill>
            <a:schemeClr val="tx1"/>
          </a:solidFill>
          <a:ln w="38100">
            <a:solidFill>
              <a:schemeClr val="bg1"/>
            </a:solidFill>
          </a:ln>
        </p:spPr>
        <p:txBody>
          <a:bodyPr wrap="square" rtlCol="0">
            <a:spAutoFit/>
          </a:bodyPr>
          <a:lstStyle/>
          <a:p>
            <a:pPr algn="ctr"/>
            <a:r>
              <a:rPr kumimoji="1" lang="ja-JP" altLang="en-US" dirty="0">
                <a:solidFill>
                  <a:schemeClr val="bg1"/>
                </a:solidFill>
              </a:rPr>
              <a:t>寄生成分の有無による</a:t>
            </a:r>
            <a:br>
              <a:rPr kumimoji="1" lang="en-US" altLang="ja-JP" dirty="0">
                <a:solidFill>
                  <a:schemeClr val="bg1"/>
                </a:solidFill>
              </a:rPr>
            </a:br>
            <a:r>
              <a:rPr kumimoji="1" lang="ja-JP" altLang="en-US" dirty="0">
                <a:solidFill>
                  <a:schemeClr val="bg1"/>
                </a:solidFill>
              </a:rPr>
              <a:t>過渡応答の変化を見る</a:t>
            </a:r>
          </a:p>
        </p:txBody>
      </p:sp>
    </p:spTree>
    <p:extLst>
      <p:ext uri="{BB962C8B-B14F-4D97-AF65-F5344CB8AC3E}">
        <p14:creationId xmlns:p14="http://schemas.microsoft.com/office/powerpoint/2010/main" val="23405925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DA0DAD-8FC4-F9EF-B6B6-D1D38C5F1090}"/>
              </a:ext>
            </a:extLst>
          </p:cNvPr>
          <p:cNvSpPr>
            <a:spLocks noGrp="1"/>
          </p:cNvSpPr>
          <p:nvPr>
            <p:ph type="title"/>
          </p:nvPr>
        </p:nvSpPr>
        <p:spPr/>
        <p:txBody>
          <a:bodyPr/>
          <a:lstStyle/>
          <a:p>
            <a:r>
              <a:rPr kumimoji="1" lang="ja-JP" altLang="en-US" dirty="0"/>
              <a:t>シミュレーション結果</a:t>
            </a:r>
          </a:p>
        </p:txBody>
      </p:sp>
      <p:pic>
        <p:nvPicPr>
          <p:cNvPr id="7" name="コンテンツ プレースホルダー 6">
            <a:extLst>
              <a:ext uri="{FF2B5EF4-FFF2-40B4-BE49-F238E27FC236}">
                <a16:creationId xmlns:a16="http://schemas.microsoft.com/office/drawing/2014/main" id="{7ED71E6E-C857-AD71-0939-F3B05D0782FE}"/>
              </a:ext>
            </a:extLst>
          </p:cNvPr>
          <p:cNvPicPr>
            <a:picLocks noGrp="1" noChangeAspect="1"/>
          </p:cNvPicPr>
          <p:nvPr>
            <p:ph idx="1"/>
          </p:nvPr>
        </p:nvPicPr>
        <p:blipFill>
          <a:blip r:embed="rId2"/>
          <a:stretch>
            <a:fillRect/>
          </a:stretch>
        </p:blipFill>
        <p:spPr>
          <a:xfrm>
            <a:off x="1445312" y="1254686"/>
            <a:ext cx="9301376" cy="5172705"/>
          </a:xfrm>
        </p:spPr>
      </p:pic>
      <p:sp>
        <p:nvSpPr>
          <p:cNvPr id="4" name="日付プレースホルダー 3">
            <a:extLst>
              <a:ext uri="{FF2B5EF4-FFF2-40B4-BE49-F238E27FC236}">
                <a16:creationId xmlns:a16="http://schemas.microsoft.com/office/drawing/2014/main" id="{C69C21A7-7825-124D-14DB-A2BA099919AF}"/>
              </a:ext>
            </a:extLst>
          </p:cNvPr>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7C30F724-B879-EDB5-C162-6751654CDF6E}"/>
              </a:ext>
            </a:extLst>
          </p:cNvPr>
          <p:cNvSpPr>
            <a:spLocks noGrp="1"/>
          </p:cNvSpPr>
          <p:nvPr>
            <p:ph type="sldNum" sz="quarter" idx="12"/>
          </p:nvPr>
        </p:nvSpPr>
        <p:spPr/>
        <p:txBody>
          <a:bodyPr/>
          <a:lstStyle/>
          <a:p>
            <a:fld id="{66E89953-8AEA-4BDF-A508-664B12926AB4}" type="slidenum">
              <a:rPr kumimoji="1" lang="ja-JP" altLang="en-US" smtClean="0"/>
              <a:t>129</a:t>
            </a:fld>
            <a:endParaRPr kumimoji="1" lang="ja-JP" altLang="en-US"/>
          </a:p>
        </p:txBody>
      </p:sp>
      <p:sp>
        <p:nvSpPr>
          <p:cNvPr id="9" name="テキスト ボックス 8">
            <a:extLst>
              <a:ext uri="{FF2B5EF4-FFF2-40B4-BE49-F238E27FC236}">
                <a16:creationId xmlns:a16="http://schemas.microsoft.com/office/drawing/2014/main" id="{6BC2F86F-7E22-6358-C8DD-681DD42A27FB}"/>
              </a:ext>
            </a:extLst>
          </p:cNvPr>
          <p:cNvSpPr txBox="1"/>
          <p:nvPr/>
        </p:nvSpPr>
        <p:spPr>
          <a:xfrm>
            <a:off x="8397150" y="5105028"/>
            <a:ext cx="2114803" cy="646331"/>
          </a:xfrm>
          <a:prstGeom prst="rect">
            <a:avLst/>
          </a:prstGeom>
          <a:solidFill>
            <a:schemeClr val="tx1"/>
          </a:solidFill>
          <a:ln w="38100">
            <a:solidFill>
              <a:schemeClr val="bg1"/>
            </a:solidFill>
          </a:ln>
        </p:spPr>
        <p:txBody>
          <a:bodyPr wrap="square" rtlCol="0">
            <a:spAutoFit/>
          </a:bodyPr>
          <a:lstStyle/>
          <a:p>
            <a:pPr algn="ctr"/>
            <a:r>
              <a:rPr kumimoji="1" lang="ja-JP" altLang="en-US" dirty="0">
                <a:solidFill>
                  <a:schemeClr val="bg1"/>
                </a:solidFill>
              </a:rPr>
              <a:t>寄生成分による</a:t>
            </a:r>
            <a:br>
              <a:rPr kumimoji="1" lang="en-US" altLang="ja-JP" dirty="0">
                <a:solidFill>
                  <a:schemeClr val="bg1"/>
                </a:solidFill>
              </a:rPr>
            </a:br>
            <a:r>
              <a:rPr kumimoji="1" lang="ja-JP" altLang="en-US" dirty="0">
                <a:solidFill>
                  <a:schemeClr val="bg1"/>
                </a:solidFill>
              </a:rPr>
              <a:t>遅延時間増加</a:t>
            </a:r>
          </a:p>
        </p:txBody>
      </p:sp>
    </p:spTree>
    <p:extLst>
      <p:ext uri="{BB962C8B-B14F-4D97-AF65-F5344CB8AC3E}">
        <p14:creationId xmlns:p14="http://schemas.microsoft.com/office/powerpoint/2010/main" val="821367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3A1CA-14E2-7712-C43C-F42F7C08A23E}"/>
              </a:ext>
            </a:extLst>
          </p:cNvPr>
          <p:cNvSpPr>
            <a:spLocks noGrp="1"/>
          </p:cNvSpPr>
          <p:nvPr>
            <p:ph type="title"/>
          </p:nvPr>
        </p:nvSpPr>
        <p:spPr/>
        <p:txBody>
          <a:bodyPr/>
          <a:lstStyle/>
          <a:p>
            <a:r>
              <a:rPr kumimoji="1" lang="ja-JP" altLang="en-US" dirty="0"/>
              <a:t>シミュレーション結果</a:t>
            </a:r>
          </a:p>
        </p:txBody>
      </p:sp>
      <p:pic>
        <p:nvPicPr>
          <p:cNvPr id="7" name="コンテンツ プレースホルダー 6">
            <a:extLst>
              <a:ext uri="{FF2B5EF4-FFF2-40B4-BE49-F238E27FC236}">
                <a16:creationId xmlns:a16="http://schemas.microsoft.com/office/drawing/2014/main" id="{E02EF390-2566-BF07-B42A-8A2F5978EE79}"/>
              </a:ext>
            </a:extLst>
          </p:cNvPr>
          <p:cNvPicPr>
            <a:picLocks noGrp="1" noChangeAspect="1"/>
          </p:cNvPicPr>
          <p:nvPr>
            <p:ph idx="1"/>
          </p:nvPr>
        </p:nvPicPr>
        <p:blipFill>
          <a:blip r:embed="rId2"/>
          <a:stretch>
            <a:fillRect/>
          </a:stretch>
        </p:blipFill>
        <p:spPr>
          <a:xfrm>
            <a:off x="1694163" y="1240410"/>
            <a:ext cx="9960881" cy="5120993"/>
          </a:xfrm>
        </p:spPr>
      </p:pic>
      <p:sp>
        <p:nvSpPr>
          <p:cNvPr id="4" name="日付プレースホルダー 3">
            <a:extLst>
              <a:ext uri="{FF2B5EF4-FFF2-40B4-BE49-F238E27FC236}">
                <a16:creationId xmlns:a16="http://schemas.microsoft.com/office/drawing/2014/main" id="{249D009B-97A3-C112-982C-05F4BB7F5E67}"/>
              </a:ext>
            </a:extLst>
          </p:cNvPr>
          <p:cNvSpPr>
            <a:spLocks noGrp="1"/>
          </p:cNvSpPr>
          <p:nvPr>
            <p:ph type="dt" sz="half" idx="10"/>
          </p:nvPr>
        </p:nvSpPr>
        <p:spPr/>
        <p:txBody>
          <a:bodyPr/>
          <a:lstStyle/>
          <a:p>
            <a:fld id="{758110A4-CB0A-40E2-8713-C065AE40ADCD}" type="datetime1">
              <a:rPr kumimoji="1" lang="ja-JP" altLang="en-US" smtClean="0"/>
              <a:t>2026/10/24</a:t>
            </a:fld>
            <a:endParaRPr kumimoji="1" lang="ja-JP" altLang="en-US"/>
          </a:p>
        </p:txBody>
      </p:sp>
      <p:sp>
        <p:nvSpPr>
          <p:cNvPr id="5" name="スライド番号プレースホルダー 4">
            <a:extLst>
              <a:ext uri="{FF2B5EF4-FFF2-40B4-BE49-F238E27FC236}">
                <a16:creationId xmlns:a16="http://schemas.microsoft.com/office/drawing/2014/main" id="{A8748E03-8454-8079-EC64-6B81813A3E5B}"/>
              </a:ext>
            </a:extLst>
          </p:cNvPr>
          <p:cNvSpPr>
            <a:spLocks noGrp="1"/>
          </p:cNvSpPr>
          <p:nvPr>
            <p:ph type="sldNum" sz="quarter" idx="12"/>
          </p:nvPr>
        </p:nvSpPr>
        <p:spPr/>
        <p:txBody>
          <a:bodyPr/>
          <a:lstStyle/>
          <a:p>
            <a:fld id="{66E89953-8AEA-4BDF-A508-664B12926AB4}" type="slidenum">
              <a:rPr kumimoji="1" lang="ja-JP" altLang="en-US" smtClean="0"/>
              <a:t>130</a:t>
            </a:fld>
            <a:endParaRPr kumimoji="1" lang="ja-JP" altLang="en-US"/>
          </a:p>
        </p:txBody>
      </p:sp>
      <p:sp>
        <p:nvSpPr>
          <p:cNvPr id="8" name="テキスト ボックス 7">
            <a:extLst>
              <a:ext uri="{FF2B5EF4-FFF2-40B4-BE49-F238E27FC236}">
                <a16:creationId xmlns:a16="http://schemas.microsoft.com/office/drawing/2014/main" id="{9484D92E-C4EA-92D4-7B84-E453334F5D95}"/>
              </a:ext>
            </a:extLst>
          </p:cNvPr>
          <p:cNvSpPr txBox="1"/>
          <p:nvPr/>
        </p:nvSpPr>
        <p:spPr>
          <a:xfrm>
            <a:off x="5559905" y="3508657"/>
            <a:ext cx="2229395" cy="1200329"/>
          </a:xfrm>
          <a:prstGeom prst="rect">
            <a:avLst/>
          </a:prstGeom>
          <a:solidFill>
            <a:schemeClr val="tx1"/>
          </a:solidFill>
          <a:ln w="28575">
            <a:solidFill>
              <a:schemeClr val="bg1"/>
            </a:solidFill>
          </a:ln>
        </p:spPr>
        <p:txBody>
          <a:bodyPr wrap="square" rtlCol="0">
            <a:spAutoFit/>
          </a:bodyPr>
          <a:lstStyle/>
          <a:p>
            <a:r>
              <a:rPr kumimoji="1" lang="ja-JP" altLang="en-US" sz="2400" dirty="0">
                <a:solidFill>
                  <a:schemeClr val="accent1"/>
                </a:solidFill>
              </a:rPr>
              <a:t>青</a:t>
            </a:r>
            <a:r>
              <a:rPr kumimoji="1" lang="en-US" altLang="ja-JP" sz="2400" dirty="0">
                <a:solidFill>
                  <a:schemeClr val="accent1"/>
                </a:solidFill>
              </a:rPr>
              <a:t>:</a:t>
            </a:r>
            <a:r>
              <a:rPr kumimoji="1" lang="ja-JP" altLang="en-US" sz="2400" dirty="0">
                <a:solidFill>
                  <a:schemeClr val="accent1"/>
                </a:solidFill>
              </a:rPr>
              <a:t>入力</a:t>
            </a:r>
            <a:endParaRPr kumimoji="1" lang="en-US" altLang="ja-JP" sz="2400" dirty="0">
              <a:solidFill>
                <a:schemeClr val="accent1"/>
              </a:solidFill>
            </a:endParaRPr>
          </a:p>
          <a:p>
            <a:r>
              <a:rPr kumimoji="1" lang="ja-JP" altLang="en-US" sz="2400" dirty="0">
                <a:solidFill>
                  <a:srgbClr val="C00000"/>
                </a:solidFill>
              </a:rPr>
              <a:t>赤</a:t>
            </a:r>
            <a:r>
              <a:rPr kumimoji="1" lang="en-US" altLang="ja-JP" sz="2400" dirty="0">
                <a:solidFill>
                  <a:srgbClr val="C00000"/>
                </a:solidFill>
              </a:rPr>
              <a:t>:</a:t>
            </a:r>
            <a:r>
              <a:rPr kumimoji="1" lang="ja-JP" altLang="en-US" sz="2400" dirty="0">
                <a:solidFill>
                  <a:srgbClr val="C00000"/>
                </a:solidFill>
              </a:rPr>
              <a:t>寄生成分無</a:t>
            </a:r>
            <a:endParaRPr kumimoji="1" lang="en-US" altLang="ja-JP" sz="2400" dirty="0">
              <a:solidFill>
                <a:srgbClr val="C00000"/>
              </a:solidFill>
            </a:endParaRPr>
          </a:p>
          <a:p>
            <a:r>
              <a:rPr kumimoji="1" lang="ja-JP" altLang="en-US" sz="2400" dirty="0">
                <a:solidFill>
                  <a:srgbClr val="00FF00"/>
                </a:solidFill>
              </a:rPr>
              <a:t>緑</a:t>
            </a:r>
            <a:r>
              <a:rPr kumimoji="1" lang="en-US" altLang="ja-JP" sz="2400" dirty="0">
                <a:solidFill>
                  <a:srgbClr val="00FF00"/>
                </a:solidFill>
              </a:rPr>
              <a:t>:</a:t>
            </a:r>
            <a:r>
              <a:rPr kumimoji="1" lang="ja-JP" altLang="en-US" sz="2400" dirty="0">
                <a:solidFill>
                  <a:srgbClr val="00FF00"/>
                </a:solidFill>
              </a:rPr>
              <a:t>寄生成分有</a:t>
            </a:r>
          </a:p>
        </p:txBody>
      </p:sp>
    </p:spTree>
    <p:extLst>
      <p:ext uri="{BB962C8B-B14F-4D97-AF65-F5344CB8AC3E}">
        <p14:creationId xmlns:p14="http://schemas.microsoft.com/office/powerpoint/2010/main" val="235784181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6F447-CEC0-DCA3-A32F-277C5B8535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0DEDA4-6443-3157-0997-444182DF1275}"/>
              </a:ext>
            </a:extLst>
          </p:cNvPr>
          <p:cNvSpPr>
            <a:spLocks noGrp="1"/>
          </p:cNvSpPr>
          <p:nvPr>
            <p:ph type="title"/>
          </p:nvPr>
        </p:nvSpPr>
        <p:spPr/>
        <p:txBody>
          <a:bodyPr/>
          <a:lstStyle/>
          <a:p>
            <a:r>
              <a:rPr lang="ja-JP" altLang="en-US" dirty="0"/>
              <a:t>アナログ半導体の設計フロー</a:t>
            </a:r>
            <a:endParaRPr kumimoji="1" lang="ja-JP" altLang="en-US" dirty="0"/>
          </a:p>
        </p:txBody>
      </p:sp>
      <p:sp>
        <p:nvSpPr>
          <p:cNvPr id="3" name="日付プレースホルダー 2">
            <a:extLst>
              <a:ext uri="{FF2B5EF4-FFF2-40B4-BE49-F238E27FC236}">
                <a16:creationId xmlns:a16="http://schemas.microsoft.com/office/drawing/2014/main" id="{96B66370-DCDD-8AEA-73C7-C4C4F569DF25}"/>
              </a:ext>
            </a:extLst>
          </p:cNvPr>
          <p:cNvSpPr>
            <a:spLocks noGrp="1"/>
          </p:cNvSpPr>
          <p:nvPr>
            <p:ph type="dt" sz="half" idx="10"/>
          </p:nvPr>
        </p:nvSpPr>
        <p:spPr/>
        <p:txBody>
          <a:bodyPr/>
          <a:lstStyle/>
          <a:p>
            <a:pPr rtl="0"/>
            <a:fld id="{DBBD7590-56EA-4C2E-8847-39D08940E649}"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AD8381F-0D3F-D02F-97E0-312796BFF7B3}"/>
              </a:ext>
            </a:extLst>
          </p:cNvPr>
          <p:cNvSpPr>
            <a:spLocks noGrp="1"/>
          </p:cNvSpPr>
          <p:nvPr>
            <p:ph type="sldNum" sz="quarter" idx="12"/>
          </p:nvPr>
        </p:nvSpPr>
        <p:spPr/>
        <p:txBody>
          <a:bodyPr/>
          <a:lstStyle/>
          <a:p>
            <a:pPr rtl="0"/>
            <a:fld id="{9860EDB8-5305-433F-BE41-D7A86D811DB3}" type="slidenum">
              <a:rPr lang="en-US" altLang="ja-JP" noProof="0" smtClean="0"/>
              <a:pPr rtl="0"/>
              <a:t>131</a:t>
            </a:fld>
            <a:endParaRPr lang="ja-JP" altLang="en-US" noProof="0"/>
          </a:p>
        </p:txBody>
      </p:sp>
      <p:sp>
        <p:nvSpPr>
          <p:cNvPr id="5" name="コンテンツ プレースホルダー 4">
            <a:extLst>
              <a:ext uri="{FF2B5EF4-FFF2-40B4-BE49-F238E27FC236}">
                <a16:creationId xmlns:a16="http://schemas.microsoft.com/office/drawing/2014/main" id="{F25CD0E2-D57B-11BA-F910-762215730BFD}"/>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dirty="0">
                <a:solidFill>
                  <a:schemeClr val="tx1"/>
                </a:solidFill>
              </a:rPr>
              <a:t>レイアウトを検証する</a:t>
            </a:r>
            <a:endParaRPr lang="en-US" altLang="ja-JP" sz="2000" dirty="0">
              <a:solidFill>
                <a:schemeClr val="tx1"/>
              </a:solidFill>
            </a:endParaRPr>
          </a:p>
          <a:p>
            <a:pPr marL="457200" indent="-457200">
              <a:buFont typeface="+mj-lt"/>
              <a:buAutoNum type="arabicPeriod"/>
            </a:pPr>
            <a:r>
              <a:rPr kumimoji="1" lang="ja-JP" altLang="en-US" sz="2000" dirty="0">
                <a:solidFill>
                  <a:schemeClr val="tx1"/>
                </a:solidFill>
              </a:rPr>
              <a:t>レイアウトを基に寄生成分を考慮したシミュレーションをする</a:t>
            </a:r>
            <a:endParaRPr kumimoji="1" lang="en-US" altLang="ja-JP" sz="2000" dirty="0">
              <a:solidFill>
                <a:schemeClr val="tx1"/>
              </a:solidFill>
            </a:endParaRPr>
          </a:p>
          <a:p>
            <a:pPr marL="457200" indent="-457200">
              <a:buFont typeface="+mj-lt"/>
              <a:buAutoNum type="arabicPeriod"/>
            </a:pPr>
            <a:r>
              <a:rPr lang="ja-JP" altLang="en-US" sz="2000" b="1" dirty="0">
                <a:solidFill>
                  <a:schemeClr val="accent2"/>
                </a:solidFill>
              </a:rPr>
              <a:t>フレームに載せる</a:t>
            </a:r>
            <a:endParaRPr lang="en-US" altLang="ja-JP" sz="2000" b="1" dirty="0">
              <a:solidFill>
                <a:schemeClr val="accent2"/>
              </a:solidFill>
            </a:endParaRPr>
          </a:p>
        </p:txBody>
      </p:sp>
      <p:sp>
        <p:nvSpPr>
          <p:cNvPr id="7" name="吹き出し: 角を丸めた四角形 6">
            <a:extLst>
              <a:ext uri="{FF2B5EF4-FFF2-40B4-BE49-F238E27FC236}">
                <a16:creationId xmlns:a16="http://schemas.microsoft.com/office/drawing/2014/main" id="{1AE3C322-225F-9A35-35FE-F6F17E00EC54}"/>
              </a:ext>
            </a:extLst>
          </p:cNvPr>
          <p:cNvSpPr/>
          <p:nvPr/>
        </p:nvSpPr>
        <p:spPr>
          <a:xfrm>
            <a:off x="3248144" y="4814746"/>
            <a:ext cx="2581192" cy="832104"/>
          </a:xfrm>
          <a:prstGeom prst="wedgeRoundRectCallout">
            <a:avLst>
              <a:gd name="adj1" fmla="val -72891"/>
              <a:gd name="adj2" fmla="val -6709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dirty="0"/>
              <a:t>今回は割愛</a:t>
            </a:r>
            <a:endParaRPr kumimoji="1" lang="en-US" altLang="ja-JP" dirty="0"/>
          </a:p>
        </p:txBody>
      </p:sp>
    </p:spTree>
    <p:extLst>
      <p:ext uri="{BB962C8B-B14F-4D97-AF65-F5344CB8AC3E}">
        <p14:creationId xmlns:p14="http://schemas.microsoft.com/office/powerpoint/2010/main" val="325370566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988177-C44A-60E2-143F-35FDA5025D3A}"/>
              </a:ext>
            </a:extLst>
          </p:cNvPr>
          <p:cNvSpPr>
            <a:spLocks noGrp="1"/>
          </p:cNvSpPr>
          <p:nvPr>
            <p:ph type="title"/>
          </p:nvPr>
        </p:nvSpPr>
        <p:spPr/>
        <p:txBody>
          <a:bodyPr/>
          <a:lstStyle/>
          <a:p>
            <a:r>
              <a:rPr kumimoji="1" lang="ja-JP" altLang="en-US" dirty="0"/>
              <a:t>フレームとパッド</a:t>
            </a:r>
          </a:p>
        </p:txBody>
      </p:sp>
      <p:sp>
        <p:nvSpPr>
          <p:cNvPr id="3" name="日付プレースホルダー 2">
            <a:extLst>
              <a:ext uri="{FF2B5EF4-FFF2-40B4-BE49-F238E27FC236}">
                <a16:creationId xmlns:a16="http://schemas.microsoft.com/office/drawing/2014/main" id="{5C3B5167-C638-E416-0D53-766103D8F3D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CD249DF-590D-5E4F-A1B9-FB93447A3714}"/>
              </a:ext>
            </a:extLst>
          </p:cNvPr>
          <p:cNvSpPr>
            <a:spLocks noGrp="1"/>
          </p:cNvSpPr>
          <p:nvPr>
            <p:ph type="sldNum" sz="quarter" idx="12"/>
          </p:nvPr>
        </p:nvSpPr>
        <p:spPr/>
        <p:txBody>
          <a:bodyPr/>
          <a:lstStyle/>
          <a:p>
            <a:pPr rtl="0"/>
            <a:fld id="{9860EDB8-5305-433F-BE41-D7A86D811DB3}" type="slidenum">
              <a:rPr lang="en-US" altLang="ja-JP" noProof="0" smtClean="0"/>
              <a:pPr rtl="0"/>
              <a:t>132</a:t>
            </a:fld>
            <a:endParaRPr lang="ja-JP" altLang="en-US" noProof="0"/>
          </a:p>
        </p:txBody>
      </p:sp>
      <p:sp>
        <p:nvSpPr>
          <p:cNvPr id="5" name="コンテンツ プレースホルダー 4">
            <a:extLst>
              <a:ext uri="{FF2B5EF4-FFF2-40B4-BE49-F238E27FC236}">
                <a16:creationId xmlns:a16="http://schemas.microsoft.com/office/drawing/2014/main" id="{D1F7B6FB-2938-0358-58D2-DCB5FBAA3E9B}"/>
              </a:ext>
            </a:extLst>
          </p:cNvPr>
          <p:cNvSpPr>
            <a:spLocks noGrp="1"/>
          </p:cNvSpPr>
          <p:nvPr>
            <p:ph sz="quarter" idx="13"/>
          </p:nvPr>
        </p:nvSpPr>
        <p:spPr/>
        <p:txBody>
          <a:bodyPr/>
          <a:lstStyle/>
          <a:p>
            <a:pPr marL="285750" indent="-285750">
              <a:buFont typeface="Arial" panose="020B0604020202020204" pitchFamily="34" charset="0"/>
              <a:buChar char="•"/>
            </a:pPr>
            <a:r>
              <a:rPr lang="ja-JP" altLang="en-US" dirty="0"/>
              <a:t>パッド</a:t>
            </a:r>
            <a:endParaRPr lang="en-US" altLang="ja-JP" dirty="0"/>
          </a:p>
          <a:p>
            <a:pPr marL="569214" lvl="1" indent="-285750"/>
            <a:r>
              <a:rPr lang="ja-JP" altLang="en-US" dirty="0"/>
              <a:t>フレーム上に配置される配線用の電極</a:t>
            </a:r>
            <a:endParaRPr lang="en-US" altLang="ja-JP" dirty="0"/>
          </a:p>
          <a:p>
            <a:pPr marL="569214" lvl="1" indent="-285750"/>
            <a:r>
              <a:rPr lang="ja-JP" altLang="en-US" dirty="0"/>
              <a:t>ボンディングでパッケージ基板と接続する</a:t>
            </a:r>
            <a:endParaRPr lang="en-US" altLang="ja-JP" dirty="0"/>
          </a:p>
          <a:p>
            <a:pPr marL="285750" indent="-285750">
              <a:buFont typeface="Arial" panose="020B0604020202020204" pitchFamily="34" charset="0"/>
              <a:buChar char="•"/>
            </a:pPr>
            <a:r>
              <a:rPr kumimoji="1" lang="ja-JP" altLang="en-US" dirty="0"/>
              <a:t>フレーム</a:t>
            </a:r>
            <a:endParaRPr kumimoji="1" lang="en-US" altLang="ja-JP" dirty="0"/>
          </a:p>
          <a:p>
            <a:pPr marL="569214" lvl="1" indent="-285750"/>
            <a:r>
              <a:rPr kumimoji="1" lang="ja-JP" altLang="en-US" dirty="0"/>
              <a:t>カットされる単位</a:t>
            </a:r>
            <a:endParaRPr kumimoji="1" lang="en-US" altLang="ja-JP" dirty="0"/>
          </a:p>
          <a:p>
            <a:pPr marL="285750" indent="-285750">
              <a:buFont typeface="Arial" panose="020B0604020202020204" pitchFamily="34" charset="0"/>
              <a:buChar char="•"/>
            </a:pPr>
            <a:endParaRPr kumimoji="1" lang="ja-JP" altLang="en-US" dirty="0"/>
          </a:p>
        </p:txBody>
      </p:sp>
      <p:pic>
        <p:nvPicPr>
          <p:cNvPr id="11" name="図 10">
            <a:extLst>
              <a:ext uri="{FF2B5EF4-FFF2-40B4-BE49-F238E27FC236}">
                <a16:creationId xmlns:a16="http://schemas.microsoft.com/office/drawing/2014/main" id="{19F6CC42-4288-1A2A-2444-A9256BC73C76}"/>
              </a:ext>
            </a:extLst>
          </p:cNvPr>
          <p:cNvPicPr>
            <a:picLocks noChangeAspect="1"/>
          </p:cNvPicPr>
          <p:nvPr/>
        </p:nvPicPr>
        <p:blipFill>
          <a:blip r:embed="rId2"/>
          <a:srcRect l="17324"/>
          <a:stretch>
            <a:fillRect/>
          </a:stretch>
        </p:blipFill>
        <p:spPr>
          <a:xfrm>
            <a:off x="5436851" y="-1"/>
            <a:ext cx="6755149" cy="4595979"/>
          </a:xfrm>
          <a:prstGeom prst="rect">
            <a:avLst/>
          </a:prstGeom>
        </p:spPr>
      </p:pic>
      <p:pic>
        <p:nvPicPr>
          <p:cNvPr id="9" name="図 8">
            <a:extLst>
              <a:ext uri="{FF2B5EF4-FFF2-40B4-BE49-F238E27FC236}">
                <a16:creationId xmlns:a16="http://schemas.microsoft.com/office/drawing/2014/main" id="{A3C451EC-FBBC-34E0-0B59-11B82903CD84}"/>
              </a:ext>
            </a:extLst>
          </p:cNvPr>
          <p:cNvPicPr>
            <a:picLocks noChangeAspect="1"/>
          </p:cNvPicPr>
          <p:nvPr/>
        </p:nvPicPr>
        <p:blipFill>
          <a:blip r:embed="rId3"/>
          <a:srcRect r="10033"/>
          <a:stretch>
            <a:fillRect/>
          </a:stretch>
        </p:blipFill>
        <p:spPr>
          <a:xfrm>
            <a:off x="4615829" y="3889170"/>
            <a:ext cx="4280407" cy="2676223"/>
          </a:xfrm>
          <a:prstGeom prst="rect">
            <a:avLst/>
          </a:prstGeom>
        </p:spPr>
      </p:pic>
      <p:pic>
        <p:nvPicPr>
          <p:cNvPr id="12" name="図 11">
            <a:extLst>
              <a:ext uri="{FF2B5EF4-FFF2-40B4-BE49-F238E27FC236}">
                <a16:creationId xmlns:a16="http://schemas.microsoft.com/office/drawing/2014/main" id="{49638A98-9ABF-C5D2-4E32-3AE4F6DB771E}"/>
              </a:ext>
            </a:extLst>
          </p:cNvPr>
          <p:cNvPicPr>
            <a:picLocks noChangeAspect="1"/>
          </p:cNvPicPr>
          <p:nvPr/>
        </p:nvPicPr>
        <p:blipFill>
          <a:blip r:embed="rId4"/>
          <a:stretch>
            <a:fillRect/>
          </a:stretch>
        </p:blipFill>
        <p:spPr>
          <a:xfrm>
            <a:off x="1387671" y="3889171"/>
            <a:ext cx="2669842" cy="2676222"/>
          </a:xfrm>
          <a:prstGeom prst="rect">
            <a:avLst/>
          </a:prstGeom>
        </p:spPr>
      </p:pic>
      <p:sp>
        <p:nvSpPr>
          <p:cNvPr id="7" name="正方形/長方形 6">
            <a:extLst>
              <a:ext uri="{FF2B5EF4-FFF2-40B4-BE49-F238E27FC236}">
                <a16:creationId xmlns:a16="http://schemas.microsoft.com/office/drawing/2014/main" id="{E9EF2B43-BA38-8180-2F77-7CA219CDBED2}"/>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03077241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34A828-D85A-88D2-050B-D2C390E0C03B}"/>
              </a:ext>
            </a:extLst>
          </p:cNvPr>
          <p:cNvSpPr>
            <a:spLocks noGrp="1"/>
          </p:cNvSpPr>
          <p:nvPr>
            <p:ph type="title"/>
          </p:nvPr>
        </p:nvSpPr>
        <p:spPr/>
        <p:txBody>
          <a:bodyPr/>
          <a:lstStyle/>
          <a:p>
            <a:r>
              <a:rPr kumimoji="1" lang="ja-JP" altLang="en-US" dirty="0"/>
              <a:t>ウェハーとレチクル（マスク）とフレームの関係</a:t>
            </a:r>
          </a:p>
        </p:txBody>
      </p:sp>
      <p:sp>
        <p:nvSpPr>
          <p:cNvPr id="3" name="日付プレースホルダー 2">
            <a:extLst>
              <a:ext uri="{FF2B5EF4-FFF2-40B4-BE49-F238E27FC236}">
                <a16:creationId xmlns:a16="http://schemas.microsoft.com/office/drawing/2014/main" id="{4D06C22D-0542-548F-0A8F-E6F9F1F2CC9E}"/>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E145386F-EF8F-85B9-4903-0F61E599F367}"/>
              </a:ext>
            </a:extLst>
          </p:cNvPr>
          <p:cNvSpPr>
            <a:spLocks noGrp="1"/>
          </p:cNvSpPr>
          <p:nvPr>
            <p:ph type="sldNum" sz="quarter" idx="12"/>
          </p:nvPr>
        </p:nvSpPr>
        <p:spPr/>
        <p:txBody>
          <a:bodyPr/>
          <a:lstStyle/>
          <a:p>
            <a:pPr rtl="0"/>
            <a:fld id="{9860EDB8-5305-433F-BE41-D7A86D811DB3}" type="slidenum">
              <a:rPr lang="en-US" altLang="ja-JP" noProof="0" smtClean="0"/>
              <a:pPr rtl="0"/>
              <a:t>133</a:t>
            </a:fld>
            <a:endParaRPr lang="ja-JP" altLang="en-US" noProof="0"/>
          </a:p>
        </p:txBody>
      </p:sp>
      <p:sp>
        <p:nvSpPr>
          <p:cNvPr id="5" name="コンテンツ プレースホルダー 4">
            <a:extLst>
              <a:ext uri="{FF2B5EF4-FFF2-40B4-BE49-F238E27FC236}">
                <a16:creationId xmlns:a16="http://schemas.microsoft.com/office/drawing/2014/main" id="{91C4E30F-6EC6-17CF-6BE3-31B7BBCAE024}"/>
              </a:ext>
            </a:extLst>
          </p:cNvPr>
          <p:cNvSpPr>
            <a:spLocks noGrp="1"/>
          </p:cNvSpPr>
          <p:nvPr>
            <p:ph sz="quarter" idx="13"/>
          </p:nvPr>
        </p:nvSpPr>
        <p:spPr>
          <a:xfrm>
            <a:off x="444500" y="1463039"/>
            <a:ext cx="11210543" cy="4990023"/>
          </a:xfrm>
        </p:spPr>
        <p:txBody>
          <a:bodyPr>
            <a:normAutofit fontScale="92500" lnSpcReduction="20000"/>
          </a:bodyPr>
          <a:lstStyle/>
          <a:p>
            <a:pPr marL="285750" indent="-285750">
              <a:buFont typeface="Arial" panose="020B0604020202020204" pitchFamily="34" charset="0"/>
              <a:buChar char="•"/>
            </a:pPr>
            <a:r>
              <a:rPr lang="ja-JP" altLang="en-US" dirty="0"/>
              <a:t>ウェハー</a:t>
            </a:r>
            <a:endParaRPr lang="en-US" altLang="ja-JP" dirty="0"/>
          </a:p>
          <a:p>
            <a:pPr marL="569214" lvl="1" indent="-285750"/>
            <a:r>
              <a:rPr lang="ja-JP" altLang="en-US" dirty="0"/>
              <a:t>一番大きな単位</a:t>
            </a:r>
            <a:endParaRPr lang="en-US" altLang="ja-JP" dirty="0"/>
          </a:p>
          <a:p>
            <a:pPr marL="569214" lvl="1" indent="-285750"/>
            <a:r>
              <a:rPr lang="ja-JP" altLang="en-US" dirty="0"/>
              <a:t>シリコンウェハーそのもの</a:t>
            </a:r>
          </a:p>
          <a:p>
            <a:pPr marL="285750" indent="-285750">
              <a:buFont typeface="Arial" panose="020B0604020202020204" pitchFamily="34" charset="0"/>
              <a:buChar char="•"/>
            </a:pPr>
            <a:r>
              <a:rPr lang="ja-JP" altLang="en-US" dirty="0"/>
              <a:t>レチクル（マスク）</a:t>
            </a:r>
            <a:endParaRPr lang="en-US" altLang="ja-JP" dirty="0"/>
          </a:p>
          <a:p>
            <a:pPr marL="569214" lvl="1" indent="-285750"/>
            <a:r>
              <a:rPr lang="ja-JP" altLang="en-US" dirty="0"/>
              <a:t>ウェハー上に転写する単位</a:t>
            </a:r>
            <a:endParaRPr lang="en-US" altLang="ja-JP" dirty="0"/>
          </a:p>
          <a:p>
            <a:pPr marL="569214" lvl="1" indent="-285750"/>
            <a:r>
              <a:rPr lang="ja-JP" altLang="en-US" dirty="0"/>
              <a:t>この転写数が</a:t>
            </a:r>
            <a:r>
              <a:rPr lang="en-US" altLang="ja-JP" dirty="0"/>
              <a:t>1</a:t>
            </a:r>
            <a:r>
              <a:rPr lang="ja-JP" altLang="en-US" dirty="0"/>
              <a:t>ウェハーから取れるチップ数となる</a:t>
            </a:r>
            <a:endParaRPr lang="en-US" altLang="ja-JP" dirty="0"/>
          </a:p>
          <a:p>
            <a:pPr marL="569214" lvl="1" indent="-285750"/>
            <a:r>
              <a:rPr lang="en-US" altLang="ja-JP" dirty="0"/>
              <a:t>1</a:t>
            </a:r>
            <a:r>
              <a:rPr lang="ja-JP" altLang="en-US" dirty="0"/>
              <a:t>チップとしてはこれ以上大きくできない最大単位となる</a:t>
            </a:r>
            <a:endParaRPr lang="en-US" altLang="ja-JP" dirty="0"/>
          </a:p>
          <a:p>
            <a:pPr marL="285750" indent="-285750">
              <a:buFont typeface="Arial" panose="020B0604020202020204" pitchFamily="34" charset="0"/>
              <a:buChar char="•"/>
            </a:pPr>
            <a:r>
              <a:rPr lang="ja-JP" altLang="en-US" dirty="0"/>
              <a:t>フレーム</a:t>
            </a:r>
            <a:endParaRPr lang="en-US" altLang="ja-JP" dirty="0"/>
          </a:p>
          <a:p>
            <a:pPr marL="569214" lvl="1" indent="-285750"/>
            <a:r>
              <a:rPr lang="en-US" altLang="ja-JP" dirty="0"/>
              <a:t>1</a:t>
            </a:r>
            <a:r>
              <a:rPr lang="ja-JP" altLang="en-US" dirty="0"/>
              <a:t>チップとなるカットされる単位</a:t>
            </a:r>
            <a:endParaRPr lang="en-US" altLang="ja-JP" dirty="0"/>
          </a:p>
          <a:p>
            <a:pPr marL="569214" lvl="1" indent="-285750"/>
            <a:r>
              <a:rPr lang="ja-JP" altLang="en-US" dirty="0"/>
              <a:t>今回は、</a:t>
            </a:r>
            <a:r>
              <a:rPr lang="en-US" altLang="ja-JP" dirty="0"/>
              <a:t>1</a:t>
            </a:r>
            <a:r>
              <a:rPr lang="ja-JP" altLang="en-US" dirty="0"/>
              <a:t>レチクルに</a:t>
            </a:r>
            <a:r>
              <a:rPr lang="en-US" altLang="ja-JP" dirty="0"/>
              <a:t>8x8</a:t>
            </a:r>
            <a:r>
              <a:rPr lang="ja-JP" altLang="en-US" dirty="0"/>
              <a:t>の</a:t>
            </a:r>
            <a:r>
              <a:rPr lang="en-US" altLang="ja-JP" dirty="0"/>
              <a:t>64</a:t>
            </a:r>
            <a:r>
              <a:rPr lang="ja-JP" altLang="en-US" dirty="0"/>
              <a:t>フレームが入っている</a:t>
            </a:r>
            <a:endParaRPr lang="en-US" altLang="ja-JP" dirty="0"/>
          </a:p>
          <a:p>
            <a:pPr marL="971550" lvl="2" indent="-285750"/>
            <a:r>
              <a:rPr lang="ja-JP" altLang="en-US" dirty="0"/>
              <a:t>複数の形状を</a:t>
            </a:r>
            <a:r>
              <a:rPr lang="en-US" altLang="ja-JP" dirty="0"/>
              <a:t>1</a:t>
            </a:r>
            <a:r>
              <a:rPr lang="ja-JP" altLang="en-US" dirty="0"/>
              <a:t>レチクル内に入れることも可能</a:t>
            </a:r>
            <a:endParaRPr lang="en-US" altLang="ja-JP" dirty="0"/>
          </a:p>
        </p:txBody>
      </p:sp>
      <p:pic>
        <p:nvPicPr>
          <p:cNvPr id="9" name="グラフィックス 8">
            <a:extLst>
              <a:ext uri="{FF2B5EF4-FFF2-40B4-BE49-F238E27FC236}">
                <a16:creationId xmlns:a16="http://schemas.microsoft.com/office/drawing/2014/main" id="{04D3DEE5-958F-3702-741E-76A6BFE418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74855" y="1134280"/>
            <a:ext cx="3940094" cy="2670146"/>
          </a:xfrm>
          <a:prstGeom prst="rect">
            <a:avLst/>
          </a:prstGeom>
        </p:spPr>
      </p:pic>
      <p:pic>
        <p:nvPicPr>
          <p:cNvPr id="11" name="図 10">
            <a:extLst>
              <a:ext uri="{FF2B5EF4-FFF2-40B4-BE49-F238E27FC236}">
                <a16:creationId xmlns:a16="http://schemas.microsoft.com/office/drawing/2014/main" id="{6BDFC4D7-F0D9-2E3E-1090-732BDC6C377F}"/>
              </a:ext>
            </a:extLst>
          </p:cNvPr>
          <p:cNvPicPr>
            <a:picLocks noChangeAspect="1"/>
          </p:cNvPicPr>
          <p:nvPr/>
        </p:nvPicPr>
        <p:blipFill>
          <a:blip r:embed="rId3"/>
          <a:srcRect t="10897" b="12489"/>
          <a:stretch>
            <a:fillRect/>
          </a:stretch>
        </p:blipFill>
        <p:spPr>
          <a:xfrm>
            <a:off x="7745896" y="1317151"/>
            <a:ext cx="4092447" cy="4703013"/>
          </a:xfrm>
          <a:prstGeom prst="rect">
            <a:avLst/>
          </a:prstGeom>
        </p:spPr>
      </p:pic>
      <p:sp>
        <p:nvSpPr>
          <p:cNvPr id="7" name="正方形/長方形 6">
            <a:extLst>
              <a:ext uri="{FF2B5EF4-FFF2-40B4-BE49-F238E27FC236}">
                <a16:creationId xmlns:a16="http://schemas.microsoft.com/office/drawing/2014/main" id="{8445A0FD-A024-BA8E-8E56-1003D6FE42E8}"/>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175738735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E49C89-8686-3D53-8DB7-CD952A85F44E}"/>
              </a:ext>
            </a:extLst>
          </p:cNvPr>
          <p:cNvSpPr>
            <a:spLocks noGrp="1"/>
          </p:cNvSpPr>
          <p:nvPr>
            <p:ph type="title"/>
          </p:nvPr>
        </p:nvSpPr>
        <p:spPr/>
        <p:txBody>
          <a:bodyPr/>
          <a:lstStyle/>
          <a:p>
            <a:r>
              <a:rPr kumimoji="1" lang="en-US" altLang="ja-JP" dirty="0"/>
              <a:t>MPW</a:t>
            </a:r>
            <a:r>
              <a:rPr kumimoji="1" lang="ja-JP" altLang="en-US" dirty="0"/>
              <a:t>：今回の形態</a:t>
            </a:r>
          </a:p>
        </p:txBody>
      </p:sp>
      <p:sp>
        <p:nvSpPr>
          <p:cNvPr id="3" name="日付プレースホルダー 2">
            <a:extLst>
              <a:ext uri="{FF2B5EF4-FFF2-40B4-BE49-F238E27FC236}">
                <a16:creationId xmlns:a16="http://schemas.microsoft.com/office/drawing/2014/main" id="{2BF8F5BD-5E0A-2333-124C-414D72D7D3C8}"/>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F19F070D-2078-6681-FFF3-CFC38FCE3CDE}"/>
              </a:ext>
            </a:extLst>
          </p:cNvPr>
          <p:cNvSpPr>
            <a:spLocks noGrp="1"/>
          </p:cNvSpPr>
          <p:nvPr>
            <p:ph type="sldNum" sz="quarter" idx="12"/>
          </p:nvPr>
        </p:nvSpPr>
        <p:spPr/>
        <p:txBody>
          <a:bodyPr/>
          <a:lstStyle/>
          <a:p>
            <a:pPr rtl="0"/>
            <a:fld id="{9860EDB8-5305-433F-BE41-D7A86D811DB3}" type="slidenum">
              <a:rPr lang="en-US" altLang="ja-JP" noProof="0" smtClean="0"/>
              <a:pPr rtl="0"/>
              <a:t>134</a:t>
            </a:fld>
            <a:endParaRPr lang="ja-JP" altLang="en-US" noProof="0"/>
          </a:p>
        </p:txBody>
      </p:sp>
      <p:sp>
        <p:nvSpPr>
          <p:cNvPr id="5" name="コンテンツ プレースホルダー 4">
            <a:extLst>
              <a:ext uri="{FF2B5EF4-FFF2-40B4-BE49-F238E27FC236}">
                <a16:creationId xmlns:a16="http://schemas.microsoft.com/office/drawing/2014/main" id="{67DE6571-BABA-1A59-5890-DFEC7CDFCBF8}"/>
              </a:ext>
            </a:extLst>
          </p:cNvPr>
          <p:cNvSpPr>
            <a:spLocks noGrp="1"/>
          </p:cNvSpPr>
          <p:nvPr>
            <p:ph sz="quarter" idx="13"/>
          </p:nvPr>
        </p:nvSpPr>
        <p:spPr>
          <a:xfrm>
            <a:off x="444500" y="1463040"/>
            <a:ext cx="5695178" cy="4601748"/>
          </a:xfrm>
        </p:spPr>
        <p:txBody>
          <a:bodyPr/>
          <a:lstStyle/>
          <a:p>
            <a:pPr marL="285750" indent="-285750">
              <a:buFont typeface="Arial" panose="020B0604020202020204" pitchFamily="34" charset="0"/>
              <a:buChar char="•"/>
            </a:pPr>
            <a:r>
              <a:rPr kumimoji="1" lang="en-US" altLang="ja-JP" dirty="0"/>
              <a:t>MPW</a:t>
            </a:r>
            <a:r>
              <a:rPr kumimoji="1" lang="ja-JP" altLang="en-US" dirty="0"/>
              <a:t>（</a:t>
            </a:r>
            <a:r>
              <a:rPr kumimoji="1" lang="en-US" altLang="ja-JP" dirty="0"/>
              <a:t>Multi</a:t>
            </a:r>
            <a:r>
              <a:rPr kumimoji="1" lang="ja-JP" altLang="en-US" dirty="0"/>
              <a:t> </a:t>
            </a:r>
            <a:r>
              <a:rPr kumimoji="1" lang="en-US" altLang="ja-JP" dirty="0"/>
              <a:t>Person/Project Wafer</a:t>
            </a:r>
            <a:r>
              <a:rPr kumimoji="1" lang="ja-JP" altLang="en-US" dirty="0"/>
              <a:t>）という概念もある</a:t>
            </a:r>
            <a:endParaRPr kumimoji="1" lang="en-US" altLang="ja-JP" dirty="0"/>
          </a:p>
          <a:p>
            <a:pPr marL="569214" lvl="1" indent="-285750"/>
            <a:r>
              <a:rPr kumimoji="1" lang="en-US" altLang="ja-JP" dirty="0"/>
              <a:t>1</a:t>
            </a:r>
            <a:r>
              <a:rPr kumimoji="1" lang="ja-JP" altLang="en-US" dirty="0"/>
              <a:t>つの</a:t>
            </a:r>
            <a:r>
              <a:rPr lang="ja-JP" altLang="en-US" dirty="0"/>
              <a:t>フレーム</a:t>
            </a:r>
            <a:r>
              <a:rPr kumimoji="1" lang="ja-JP" altLang="en-US" dirty="0"/>
              <a:t>を複数人やプロジェクトでシェアする形態</a:t>
            </a:r>
            <a:endParaRPr lang="en-US" altLang="ja-JP" dirty="0"/>
          </a:p>
        </p:txBody>
      </p:sp>
      <p:sp>
        <p:nvSpPr>
          <p:cNvPr id="6" name="コンテンツ プレースホルダー 5">
            <a:extLst>
              <a:ext uri="{FF2B5EF4-FFF2-40B4-BE49-F238E27FC236}">
                <a16:creationId xmlns:a16="http://schemas.microsoft.com/office/drawing/2014/main" id="{51AFA8BB-CE13-0275-3956-C0145FD7FFAA}"/>
              </a:ext>
            </a:extLst>
          </p:cNvPr>
          <p:cNvSpPr>
            <a:spLocks noGrp="1"/>
          </p:cNvSpPr>
          <p:nvPr>
            <p:ph sz="quarter" idx="14"/>
          </p:nvPr>
        </p:nvSpPr>
        <p:spPr/>
        <p:txBody>
          <a:bodyPr/>
          <a:lstStyle/>
          <a:p>
            <a:pPr marL="569214" lvl="1" indent="-285750"/>
            <a:r>
              <a:rPr lang="ja-JP" altLang="en-US" dirty="0"/>
              <a:t>メリット：さらに安く作れる</a:t>
            </a:r>
            <a:endParaRPr lang="en-US" altLang="ja-JP" dirty="0"/>
          </a:p>
          <a:p>
            <a:pPr marL="569214" lvl="1" indent="-285750"/>
            <a:r>
              <a:rPr lang="ja-JP" altLang="en-US" dirty="0"/>
              <a:t>デメリット：パッド（ピン）やエリア（面積）、チップをシェアすることになるため、取り合いになることがある</a:t>
            </a:r>
          </a:p>
          <a:p>
            <a:endParaRPr lang="ja-JP" altLang="en-US" dirty="0"/>
          </a:p>
        </p:txBody>
      </p:sp>
      <p:pic>
        <p:nvPicPr>
          <p:cNvPr id="1026" name="Picture 2" descr="all_members_layout">
            <a:extLst>
              <a:ext uri="{FF2B5EF4-FFF2-40B4-BE49-F238E27FC236}">
                <a16:creationId xmlns:a16="http://schemas.microsoft.com/office/drawing/2014/main" id="{0E548B16-4732-DA3F-9180-877AC963ED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526" y="3220101"/>
            <a:ext cx="3338262" cy="33137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ll_members_layout_using">
            <a:extLst>
              <a:ext uri="{FF2B5EF4-FFF2-40B4-BE49-F238E27FC236}">
                <a16:creationId xmlns:a16="http://schemas.microsoft.com/office/drawing/2014/main" id="{BE8FC21B-43FD-F8D6-4171-648315E38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3936" y="3220101"/>
            <a:ext cx="4475722" cy="3319333"/>
          </a:xfrm>
          <a:prstGeom prst="rect">
            <a:avLst/>
          </a:prstGeom>
          <a:noFill/>
          <a:extLst>
            <a:ext uri="{909E8E84-426E-40DD-AFC4-6F175D3DCCD1}">
              <a14:hiddenFill xmlns:a14="http://schemas.microsoft.com/office/drawing/2010/main">
                <a:solidFill>
                  <a:srgbClr val="FFFFFF"/>
                </a:solidFill>
              </a14:hiddenFill>
            </a:ext>
          </a:extLst>
        </p:spPr>
      </p:pic>
      <p:sp>
        <p:nvSpPr>
          <p:cNvPr id="8" name="正方形/長方形 7">
            <a:extLst>
              <a:ext uri="{FF2B5EF4-FFF2-40B4-BE49-F238E27FC236}">
                <a16:creationId xmlns:a16="http://schemas.microsoft.com/office/drawing/2014/main" id="{09C5A84A-D8F8-4D5E-32B0-F0E60D61F127}"/>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284212257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EAB801BC-D04B-B863-13B1-E4248B99A5ED}"/>
              </a:ext>
            </a:extLst>
          </p:cNvPr>
          <p:cNvSpPr>
            <a:spLocks noGrp="1"/>
          </p:cNvSpPr>
          <p:nvPr>
            <p:ph type="title"/>
          </p:nvPr>
        </p:nvSpPr>
        <p:spPr/>
        <p:txBody>
          <a:bodyPr/>
          <a:lstStyle/>
          <a:p>
            <a:r>
              <a:rPr lang="ja-JP" altLang="en-US" dirty="0"/>
              <a:t>パッケージ</a:t>
            </a:r>
          </a:p>
        </p:txBody>
      </p:sp>
      <p:sp>
        <p:nvSpPr>
          <p:cNvPr id="3" name="日付プレースホルダー 2">
            <a:extLst>
              <a:ext uri="{FF2B5EF4-FFF2-40B4-BE49-F238E27FC236}">
                <a16:creationId xmlns:a16="http://schemas.microsoft.com/office/drawing/2014/main" id="{0A3B09B9-58B3-6F70-4191-97FCEE2DDB43}"/>
              </a:ext>
            </a:extLst>
          </p:cNvPr>
          <p:cNvSpPr>
            <a:spLocks noGrp="1"/>
          </p:cNvSpPr>
          <p:nvPr>
            <p:ph type="dt" sz="half" idx="10"/>
          </p:nvPr>
        </p:nvSpPr>
        <p:spPr/>
        <p:txBody>
          <a:bodyPr/>
          <a:lstStyle/>
          <a:p>
            <a:pPr rtl="0"/>
            <a:fld id="{0F1E2E95-C42D-4C36-B7CE-3A9BBBB31134}" type="datetime1">
              <a:rPr lang="ja-JP" altLang="en-US" noProof="0" smtClean="0"/>
              <a:t>2026/10/24</a:t>
            </a:fld>
            <a:endParaRPr lang="ja-JP" altLang="en-US" noProof="0" dirty="0"/>
          </a:p>
        </p:txBody>
      </p:sp>
      <p:sp>
        <p:nvSpPr>
          <p:cNvPr id="4" name="スライド番号プレースホルダー 3">
            <a:extLst>
              <a:ext uri="{FF2B5EF4-FFF2-40B4-BE49-F238E27FC236}">
                <a16:creationId xmlns:a16="http://schemas.microsoft.com/office/drawing/2014/main" id="{2BF5139F-ECB0-6B12-8381-A9EA99A601E8}"/>
              </a:ext>
            </a:extLst>
          </p:cNvPr>
          <p:cNvSpPr>
            <a:spLocks noGrp="1"/>
          </p:cNvSpPr>
          <p:nvPr>
            <p:ph type="sldNum" sz="quarter" idx="12"/>
          </p:nvPr>
        </p:nvSpPr>
        <p:spPr/>
        <p:txBody>
          <a:bodyPr/>
          <a:lstStyle/>
          <a:p>
            <a:pPr rtl="0"/>
            <a:fld id="{9860EDB8-5305-433F-BE41-D7A86D811DB3}" type="slidenum">
              <a:rPr lang="en-US" altLang="ja-JP" noProof="0" smtClean="0"/>
              <a:pPr rtl="0"/>
              <a:t>135</a:t>
            </a:fld>
            <a:endParaRPr lang="ja-JP" altLang="en-US" noProof="0"/>
          </a:p>
        </p:txBody>
      </p:sp>
      <p:sp>
        <p:nvSpPr>
          <p:cNvPr id="8" name="コンテンツ プレースホルダー 7">
            <a:extLst>
              <a:ext uri="{FF2B5EF4-FFF2-40B4-BE49-F238E27FC236}">
                <a16:creationId xmlns:a16="http://schemas.microsoft.com/office/drawing/2014/main" id="{F0057F6C-4833-7B3A-BD5B-1660001C89C0}"/>
              </a:ext>
            </a:extLst>
          </p:cNvPr>
          <p:cNvSpPr>
            <a:spLocks noGrp="1"/>
          </p:cNvSpPr>
          <p:nvPr>
            <p:ph sz="quarter" idx="13"/>
          </p:nvPr>
        </p:nvSpPr>
        <p:spPr>
          <a:xfrm>
            <a:off x="444500" y="1463039"/>
            <a:ext cx="11210543" cy="5100509"/>
          </a:xfrm>
        </p:spPr>
        <p:txBody>
          <a:bodyPr>
            <a:normAutofit fontScale="92500" lnSpcReduction="20000"/>
          </a:bodyPr>
          <a:lstStyle/>
          <a:p>
            <a:pPr marL="285750" indent="-285750">
              <a:buFont typeface="Arial" panose="020B0604020202020204" pitchFamily="34" charset="0"/>
              <a:buChar char="•"/>
            </a:pPr>
            <a:r>
              <a:rPr lang="ja-JP" altLang="en-US" sz="1800" dirty="0"/>
              <a:t>パッケージの方法</a:t>
            </a:r>
            <a:endParaRPr lang="en-US" altLang="ja-JP" sz="1800" dirty="0"/>
          </a:p>
          <a:p>
            <a:pPr marL="569214" lvl="1" indent="-285750"/>
            <a:r>
              <a:rPr lang="ja-JP" altLang="en-US" dirty="0"/>
              <a:t>チップ＋基板＋ワイヤリング＋封入で構成される</a:t>
            </a:r>
            <a:endParaRPr lang="en-US" altLang="ja-JP" dirty="0"/>
          </a:p>
          <a:p>
            <a:pPr marL="285750" indent="-285750">
              <a:buFont typeface="Arial" panose="020B0604020202020204" pitchFamily="34" charset="0"/>
              <a:buChar char="•"/>
            </a:pPr>
            <a:r>
              <a:rPr lang="ja-JP" altLang="en-US" dirty="0"/>
              <a:t>パッケージの分類</a:t>
            </a:r>
            <a:endParaRPr lang="en-US" altLang="ja-JP" dirty="0"/>
          </a:p>
          <a:p>
            <a:pPr marL="569214" lvl="1" indent="-285750"/>
            <a:r>
              <a:rPr lang="en-US" altLang="ja-JP" dirty="0"/>
              <a:t>QFN,</a:t>
            </a:r>
            <a:r>
              <a:rPr lang="ja-JP" altLang="en-US" dirty="0"/>
              <a:t> </a:t>
            </a:r>
            <a:r>
              <a:rPr lang="en-US" altLang="ja-JP" dirty="0"/>
              <a:t>BGA</a:t>
            </a:r>
            <a:r>
              <a:rPr lang="ja-JP" altLang="en-US" dirty="0"/>
              <a:t>など</a:t>
            </a:r>
            <a:endParaRPr lang="en-US" altLang="ja-JP" dirty="0"/>
          </a:p>
          <a:p>
            <a:pPr marL="971550" lvl="2" indent="-285750"/>
            <a:r>
              <a:rPr lang="ja-JP" altLang="en-US" dirty="0"/>
              <a:t>一般的な方式。側面や背面などにピン（足）を出す方式</a:t>
            </a:r>
            <a:endParaRPr lang="en-US" altLang="ja-JP" dirty="0"/>
          </a:p>
          <a:p>
            <a:pPr marL="569214" lvl="1" indent="-285750"/>
            <a:r>
              <a:rPr lang="en-US" altLang="ja-JP" dirty="0"/>
              <a:t>Chiplet, </a:t>
            </a:r>
            <a:r>
              <a:rPr lang="en-US" altLang="ja-JP" dirty="0" err="1"/>
              <a:t>SiP</a:t>
            </a:r>
            <a:r>
              <a:rPr lang="en-US" altLang="ja-JP" dirty="0"/>
              <a:t>(System in Package)</a:t>
            </a:r>
            <a:r>
              <a:rPr lang="ja-JP" altLang="en-US" dirty="0"/>
              <a:t>など</a:t>
            </a:r>
            <a:endParaRPr lang="en-US" altLang="ja-JP" dirty="0"/>
          </a:p>
          <a:p>
            <a:pPr marL="971550" lvl="2" indent="-285750"/>
            <a:r>
              <a:rPr lang="ja-JP" altLang="en-US" dirty="0"/>
              <a:t>複数のチップを</a:t>
            </a:r>
            <a:r>
              <a:rPr lang="en-US" altLang="ja-JP" dirty="0"/>
              <a:t>1</a:t>
            </a:r>
            <a:r>
              <a:rPr lang="ja-JP" altLang="en-US" dirty="0"/>
              <a:t>つのパッケージにまとめる方式。封入法が</a:t>
            </a:r>
            <a:r>
              <a:rPr lang="en-US" altLang="ja-JP" dirty="0"/>
              <a:t>QFN,</a:t>
            </a:r>
            <a:r>
              <a:rPr lang="ja-JP" altLang="en-US" dirty="0"/>
              <a:t> </a:t>
            </a:r>
            <a:r>
              <a:rPr lang="en-US" altLang="ja-JP" dirty="0"/>
              <a:t>BGA</a:t>
            </a:r>
            <a:r>
              <a:rPr lang="ja-JP" altLang="en-US" dirty="0"/>
              <a:t>などと同じであることが多い。</a:t>
            </a:r>
            <a:endParaRPr lang="en-US" altLang="ja-JP" dirty="0"/>
          </a:p>
          <a:p>
            <a:pPr marL="569214" lvl="1" indent="-285750"/>
            <a:r>
              <a:rPr lang="en-US" altLang="ja-JP" dirty="0"/>
              <a:t>WLP (Wafer Level Package)</a:t>
            </a:r>
          </a:p>
          <a:p>
            <a:pPr marL="971550" lvl="2" indent="-285750"/>
            <a:r>
              <a:rPr lang="ja-JP" altLang="en-US" dirty="0"/>
              <a:t>ウェハーのまま配線し、封入する方式</a:t>
            </a:r>
            <a:endParaRPr lang="en-US" altLang="ja-JP" dirty="0"/>
          </a:p>
          <a:p>
            <a:pPr marL="569214" lvl="1" indent="-285750"/>
            <a:r>
              <a:rPr lang="en-US" altLang="ja-JP" dirty="0" err="1"/>
              <a:t>CoB</a:t>
            </a:r>
            <a:r>
              <a:rPr lang="en-US" altLang="ja-JP" dirty="0"/>
              <a:t>(Chip on Board)</a:t>
            </a:r>
          </a:p>
          <a:p>
            <a:pPr marL="971550" lvl="2" indent="-285750"/>
            <a:r>
              <a:rPr lang="en-US" altLang="ja-JP" dirty="0"/>
              <a:t>PCB</a:t>
            </a:r>
            <a:r>
              <a:rPr lang="ja-JP" altLang="en-US" dirty="0"/>
              <a:t>基板に直接パッケージする方式</a:t>
            </a:r>
            <a:endParaRPr lang="en-US" altLang="ja-JP" dirty="0"/>
          </a:p>
        </p:txBody>
      </p:sp>
      <p:pic>
        <p:nvPicPr>
          <p:cNvPr id="10" name="図 9">
            <a:extLst>
              <a:ext uri="{FF2B5EF4-FFF2-40B4-BE49-F238E27FC236}">
                <a16:creationId xmlns:a16="http://schemas.microsoft.com/office/drawing/2014/main" id="{C4549266-34F4-9769-0EAE-1CADCB6EA8E1}"/>
              </a:ext>
            </a:extLst>
          </p:cNvPr>
          <p:cNvPicPr>
            <a:picLocks noChangeAspect="1"/>
          </p:cNvPicPr>
          <p:nvPr/>
        </p:nvPicPr>
        <p:blipFill>
          <a:blip r:embed="rId2"/>
          <a:srcRect l="24869" t="13817" r="25615" b="8546"/>
          <a:stretch>
            <a:fillRect/>
          </a:stretch>
        </p:blipFill>
        <p:spPr>
          <a:xfrm>
            <a:off x="9914023" y="4793528"/>
            <a:ext cx="1833478" cy="1618477"/>
          </a:xfrm>
          <a:prstGeom prst="rect">
            <a:avLst/>
          </a:prstGeom>
        </p:spPr>
      </p:pic>
      <p:pic>
        <p:nvPicPr>
          <p:cNvPr id="12" name="図 11">
            <a:extLst>
              <a:ext uri="{FF2B5EF4-FFF2-40B4-BE49-F238E27FC236}">
                <a16:creationId xmlns:a16="http://schemas.microsoft.com/office/drawing/2014/main" id="{9E7821EF-577E-DCF5-BF5C-473C6E381679}"/>
              </a:ext>
            </a:extLst>
          </p:cNvPr>
          <p:cNvPicPr>
            <a:picLocks noChangeAspect="1"/>
          </p:cNvPicPr>
          <p:nvPr/>
        </p:nvPicPr>
        <p:blipFill>
          <a:blip r:embed="rId3"/>
          <a:srcRect l="25553" t="24645" r="35952" b="14238"/>
          <a:stretch>
            <a:fillRect/>
          </a:stretch>
        </p:blipFill>
        <p:spPr>
          <a:xfrm>
            <a:off x="7890613" y="4792981"/>
            <a:ext cx="1798774" cy="1607843"/>
          </a:xfrm>
          <a:prstGeom prst="rect">
            <a:avLst/>
          </a:prstGeom>
        </p:spPr>
      </p:pic>
      <p:pic>
        <p:nvPicPr>
          <p:cNvPr id="14" name="図 13">
            <a:extLst>
              <a:ext uri="{FF2B5EF4-FFF2-40B4-BE49-F238E27FC236}">
                <a16:creationId xmlns:a16="http://schemas.microsoft.com/office/drawing/2014/main" id="{AB3767DE-14C2-766D-2224-AD06D464D30B}"/>
              </a:ext>
            </a:extLst>
          </p:cNvPr>
          <p:cNvPicPr>
            <a:picLocks noChangeAspect="1"/>
          </p:cNvPicPr>
          <p:nvPr/>
        </p:nvPicPr>
        <p:blipFill>
          <a:blip r:embed="rId4"/>
          <a:srcRect l="22688" r="23548"/>
          <a:stretch>
            <a:fillRect/>
          </a:stretch>
        </p:blipFill>
        <p:spPr>
          <a:xfrm>
            <a:off x="5996625" y="4808366"/>
            <a:ext cx="1546082" cy="1619025"/>
          </a:xfrm>
          <a:prstGeom prst="rect">
            <a:avLst/>
          </a:prstGeom>
        </p:spPr>
      </p:pic>
      <p:sp>
        <p:nvSpPr>
          <p:cNvPr id="18" name="コンテンツ プレースホルダー 5">
            <a:extLst>
              <a:ext uri="{FF2B5EF4-FFF2-40B4-BE49-F238E27FC236}">
                <a16:creationId xmlns:a16="http://schemas.microsoft.com/office/drawing/2014/main" id="{E94784AC-5497-A513-5224-7DE4B35B072E}"/>
              </a:ext>
            </a:extLst>
          </p:cNvPr>
          <p:cNvSpPr txBox="1">
            <a:spLocks/>
          </p:cNvSpPr>
          <p:nvPr/>
        </p:nvSpPr>
        <p:spPr>
          <a:xfrm>
            <a:off x="4907402" y="1424522"/>
            <a:ext cx="6354156" cy="1695796"/>
          </a:xfrm>
          <a:prstGeom prst="rect">
            <a:avLst/>
          </a:prstGeom>
        </p:spPr>
        <p:txBody>
          <a:bodyPr>
            <a:normAutofit/>
          </a:bodyPr>
          <a:lstStyle>
            <a:lvl1pPr marL="0" indent="0" algn="l" defTabSz="914400" rtl="0" eaLnBrk="1" latinLnBrk="0" hangingPunct="1">
              <a:lnSpc>
                <a:spcPct val="100000"/>
              </a:lnSpc>
              <a:spcBef>
                <a:spcPts val="1000"/>
              </a:spcBef>
              <a:spcAft>
                <a:spcPts val="1200"/>
              </a:spcAft>
              <a:buFontTx/>
              <a:buNone/>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a:solidFill>
                  <a:schemeClr val="bg2">
                    <a:lumMod val="25000"/>
                  </a:schemeClr>
                </a:solidFill>
                <a:latin typeface="Meiryo UI" panose="020B0604030504040204" pitchFamily="50" charset="-128"/>
                <a:ea typeface="Meiryo UI" panose="020B0604030504040204" pitchFamily="50" charset="-128"/>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kumimoji="1" lang="en-US" sz="1600" kern="1200" dirty="0" smtClean="0">
                <a:solidFill>
                  <a:schemeClr val="bg2">
                    <a:lumMod val="25000"/>
                  </a:schemeClr>
                </a:solidFill>
                <a:latin typeface="Meiryo UI" panose="020B0604030504040204" pitchFamily="50" charset="-128"/>
                <a:ea typeface="Meiryo UI" panose="020B0604030504040204" pitchFamily="50" charset="-128"/>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kumimoji="1"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kumimoji="1" sz="1200" kern="1200">
                <a:solidFill>
                  <a:schemeClr val="tx1"/>
                </a:solidFill>
                <a:latin typeface="+mn-lt"/>
                <a:ea typeface="+mn-ea"/>
                <a:cs typeface="+mn-cs"/>
              </a:defRPr>
            </a:lvl9pPr>
          </a:lstStyle>
          <a:p>
            <a:pPr marL="569214" lvl="1" indent="-285750"/>
            <a:r>
              <a:rPr lang="ja-JP" altLang="en-US" sz="1400" dirty="0"/>
              <a:t>基板：</a:t>
            </a:r>
            <a:r>
              <a:rPr lang="en-US" altLang="ja-JP" sz="1400" dirty="0"/>
              <a:t>PCB</a:t>
            </a:r>
            <a:r>
              <a:rPr lang="ja-JP" altLang="en-US" sz="1400" dirty="0"/>
              <a:t>基板やセラミック基板などを利用</a:t>
            </a:r>
          </a:p>
          <a:p>
            <a:pPr marL="569214" lvl="1" indent="-285750"/>
            <a:r>
              <a:rPr lang="ja-JP" altLang="en-US" sz="1400" dirty="0"/>
              <a:t>ワイヤリング：ワイヤボンディングやフリップチップを利用</a:t>
            </a:r>
          </a:p>
          <a:p>
            <a:pPr marL="569214" lvl="1" indent="-285750"/>
            <a:r>
              <a:rPr lang="ja-JP" altLang="en-US" sz="1400" dirty="0"/>
              <a:t>封入：樹脂やセラミックを利用</a:t>
            </a:r>
          </a:p>
        </p:txBody>
      </p:sp>
      <p:pic>
        <p:nvPicPr>
          <p:cNvPr id="19" name="図 18" descr="座る, コンピュータ, 電子レンジ, メーター が含まれている画像&#10;&#10;AI 生成コンテンツは誤りを含む可能性があります。">
            <a:extLst>
              <a:ext uri="{FF2B5EF4-FFF2-40B4-BE49-F238E27FC236}">
                <a16:creationId xmlns:a16="http://schemas.microsoft.com/office/drawing/2014/main" id="{76C2D761-03CB-4E77-20C8-E314149D7A9A}"/>
              </a:ext>
            </a:extLst>
          </p:cNvPr>
          <p:cNvPicPr>
            <a:picLocks noChangeAspect="1"/>
          </p:cNvPicPr>
          <p:nvPr/>
        </p:nvPicPr>
        <p:blipFill>
          <a:blip r:embed="rId5"/>
          <a:srcRect l="23282" t="17799" r="11534" b="14311"/>
          <a:stretch>
            <a:fillRect/>
          </a:stretch>
        </p:blipFill>
        <p:spPr>
          <a:xfrm rot="10800000">
            <a:off x="8651321" y="2288092"/>
            <a:ext cx="3361824" cy="1971225"/>
          </a:xfrm>
          <a:prstGeom prst="rect">
            <a:avLst/>
          </a:prstGeom>
        </p:spPr>
      </p:pic>
    </p:spTree>
    <p:extLst>
      <p:ext uri="{BB962C8B-B14F-4D97-AF65-F5344CB8AC3E}">
        <p14:creationId xmlns:p14="http://schemas.microsoft.com/office/powerpoint/2010/main" val="172659218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280FD7-0C95-8B17-2DDE-14429FDA477D}"/>
              </a:ext>
            </a:extLst>
          </p:cNvPr>
          <p:cNvSpPr>
            <a:spLocks noGrp="1"/>
          </p:cNvSpPr>
          <p:nvPr>
            <p:ph type="title"/>
          </p:nvPr>
        </p:nvSpPr>
        <p:spPr/>
        <p:txBody>
          <a:bodyPr/>
          <a:lstStyle/>
          <a:p>
            <a:r>
              <a:rPr kumimoji="1" lang="ja-JP" altLang="en-US" dirty="0"/>
              <a:t>ファブの関係性：</a:t>
            </a:r>
            <a:r>
              <a:rPr kumimoji="1" lang="en-US" altLang="ja-JP" dirty="0"/>
              <a:t>PCB</a:t>
            </a:r>
            <a:r>
              <a:rPr kumimoji="1" lang="ja-JP" altLang="en-US" dirty="0"/>
              <a:t>基板との対比</a:t>
            </a:r>
          </a:p>
        </p:txBody>
      </p:sp>
      <p:sp>
        <p:nvSpPr>
          <p:cNvPr id="3" name="日付プレースホルダー 2">
            <a:extLst>
              <a:ext uri="{FF2B5EF4-FFF2-40B4-BE49-F238E27FC236}">
                <a16:creationId xmlns:a16="http://schemas.microsoft.com/office/drawing/2014/main" id="{4B329707-3301-AB69-29BF-B3EAD0750899}"/>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B559BDB-D239-EC54-C256-1D91A377A328}"/>
              </a:ext>
            </a:extLst>
          </p:cNvPr>
          <p:cNvSpPr>
            <a:spLocks noGrp="1"/>
          </p:cNvSpPr>
          <p:nvPr>
            <p:ph type="sldNum" sz="quarter" idx="12"/>
          </p:nvPr>
        </p:nvSpPr>
        <p:spPr/>
        <p:txBody>
          <a:bodyPr/>
          <a:lstStyle/>
          <a:p>
            <a:pPr rtl="0"/>
            <a:fld id="{9860EDB8-5305-433F-BE41-D7A86D811DB3}" type="slidenum">
              <a:rPr lang="en-US" altLang="ja-JP" noProof="0" smtClean="0"/>
              <a:pPr rtl="0"/>
              <a:t>136</a:t>
            </a:fld>
            <a:endParaRPr lang="ja-JP" altLang="en-US" noProof="0"/>
          </a:p>
        </p:txBody>
      </p:sp>
      <p:sp>
        <p:nvSpPr>
          <p:cNvPr id="5" name="コンテンツ プレースホルダー 4">
            <a:extLst>
              <a:ext uri="{FF2B5EF4-FFF2-40B4-BE49-F238E27FC236}">
                <a16:creationId xmlns:a16="http://schemas.microsoft.com/office/drawing/2014/main" id="{BF78F966-D9ED-883F-DF50-54B60190B95A}"/>
              </a:ext>
            </a:extLst>
          </p:cNvPr>
          <p:cNvSpPr>
            <a:spLocks noGrp="1"/>
          </p:cNvSpPr>
          <p:nvPr>
            <p:ph sz="quarter" idx="13"/>
          </p:nvPr>
        </p:nvSpPr>
        <p:spPr/>
        <p:txBody>
          <a:bodyPr>
            <a:normAutofit/>
          </a:bodyPr>
          <a:lstStyle/>
          <a:p>
            <a:pPr marL="569214" lvl="1" indent="-285750"/>
            <a:r>
              <a:rPr lang="en-US" altLang="ja-JP" dirty="0"/>
              <a:t>EDA</a:t>
            </a:r>
            <a:r>
              <a:rPr lang="ja-JP" altLang="en-US" dirty="0"/>
              <a:t>ツール（設計ツール）</a:t>
            </a:r>
            <a:endParaRPr lang="en-US" altLang="ja-JP" dirty="0"/>
          </a:p>
          <a:p>
            <a:pPr marL="971550" lvl="2" indent="-285750"/>
            <a:r>
              <a:rPr lang="ja-JP" altLang="en-US" dirty="0"/>
              <a:t>回路図とレイアウト</a:t>
            </a:r>
            <a:endParaRPr lang="en-US" altLang="ja-JP" dirty="0"/>
          </a:p>
          <a:p>
            <a:pPr marL="1428750" lvl="3" indent="-285750"/>
            <a:r>
              <a:rPr lang="en-US" altLang="ja-JP" dirty="0" err="1"/>
              <a:t>KiCAD</a:t>
            </a:r>
            <a:r>
              <a:rPr lang="en-US" altLang="ja-JP" dirty="0"/>
              <a:t> -&gt; </a:t>
            </a:r>
            <a:r>
              <a:rPr lang="en-US" altLang="ja-JP" dirty="0" err="1"/>
              <a:t>XSchem</a:t>
            </a:r>
            <a:r>
              <a:rPr lang="en-US" altLang="ja-JP" dirty="0"/>
              <a:t> &amp; </a:t>
            </a:r>
            <a:r>
              <a:rPr lang="en-US" altLang="ja-JP" dirty="0" err="1"/>
              <a:t>Klayout</a:t>
            </a:r>
            <a:endParaRPr lang="en-US" altLang="ja-JP" dirty="0"/>
          </a:p>
          <a:p>
            <a:pPr marL="971550" lvl="2" indent="-285750"/>
            <a:r>
              <a:rPr lang="ja-JP" altLang="en-US" dirty="0"/>
              <a:t>シミュレーター</a:t>
            </a:r>
            <a:endParaRPr lang="en-US" altLang="ja-JP" dirty="0"/>
          </a:p>
          <a:p>
            <a:pPr marL="1428750" lvl="3" indent="-285750"/>
            <a:r>
              <a:rPr lang="en-US" altLang="ja-JP" dirty="0" err="1"/>
              <a:t>LTSpice</a:t>
            </a:r>
            <a:r>
              <a:rPr lang="en-US" altLang="ja-JP" dirty="0"/>
              <a:t> -&gt; </a:t>
            </a:r>
            <a:r>
              <a:rPr lang="en-US" altLang="ja-JP" dirty="0" err="1"/>
              <a:t>ngspice</a:t>
            </a:r>
            <a:endParaRPr lang="en-US" altLang="ja-JP" dirty="0"/>
          </a:p>
          <a:p>
            <a:pPr marL="569214" lvl="1" indent="-285750"/>
            <a:r>
              <a:rPr lang="ja-JP" altLang="en-US" dirty="0"/>
              <a:t>製造会社：代理店（ファブからウェハーを購入する）</a:t>
            </a:r>
            <a:endParaRPr lang="en-US" altLang="ja-JP" dirty="0"/>
          </a:p>
          <a:p>
            <a:pPr marL="971550" lvl="2" indent="-285750"/>
            <a:r>
              <a:rPr lang="ja-JP" altLang="en-US" dirty="0"/>
              <a:t>ユーザサポートを行う</a:t>
            </a:r>
            <a:endParaRPr lang="en-US" altLang="ja-JP" dirty="0"/>
          </a:p>
          <a:p>
            <a:pPr marL="971550" lvl="2" indent="-285750"/>
            <a:r>
              <a:rPr lang="ja-JP" altLang="en-US" dirty="0"/>
              <a:t>レチクルの中身やフレームを提供する</a:t>
            </a:r>
            <a:endParaRPr lang="en-US" altLang="ja-JP" dirty="0"/>
          </a:p>
          <a:p>
            <a:pPr marL="1428750" lvl="3" indent="-285750"/>
            <a:r>
              <a:rPr lang="en-US" altLang="ja-JP" dirty="0"/>
              <a:t>P</a:t>
            </a:r>
            <a:r>
              <a:rPr lang="ja-JP" altLang="en-US" dirty="0"/>
              <a:t>版</a:t>
            </a:r>
            <a:r>
              <a:rPr lang="en-US" altLang="ja-JP" dirty="0"/>
              <a:t>.com -&gt; </a:t>
            </a:r>
            <a:r>
              <a:rPr lang="en-US" altLang="ja-JP" dirty="0" err="1"/>
              <a:t>Wafer.Space</a:t>
            </a:r>
            <a:endParaRPr lang="ja-JP" altLang="en-US" dirty="0"/>
          </a:p>
        </p:txBody>
      </p:sp>
      <p:sp>
        <p:nvSpPr>
          <p:cNvPr id="6" name="コンテンツ プレースホルダー 5">
            <a:extLst>
              <a:ext uri="{FF2B5EF4-FFF2-40B4-BE49-F238E27FC236}">
                <a16:creationId xmlns:a16="http://schemas.microsoft.com/office/drawing/2014/main" id="{D69BE400-1273-CEB4-DE83-13504502555B}"/>
              </a:ext>
            </a:extLst>
          </p:cNvPr>
          <p:cNvSpPr>
            <a:spLocks noGrp="1"/>
          </p:cNvSpPr>
          <p:nvPr>
            <p:ph sz="quarter" idx="14"/>
          </p:nvPr>
        </p:nvSpPr>
        <p:spPr>
          <a:xfrm>
            <a:off x="6298690" y="1463040"/>
            <a:ext cx="5689138" cy="4601748"/>
          </a:xfrm>
        </p:spPr>
        <p:txBody>
          <a:bodyPr>
            <a:normAutofit/>
          </a:bodyPr>
          <a:lstStyle/>
          <a:p>
            <a:pPr marL="569214" lvl="1" indent="-285750"/>
            <a:r>
              <a:rPr lang="ja-JP" altLang="en-US" dirty="0"/>
              <a:t>製造会社：ファブ（前工程工場）</a:t>
            </a:r>
            <a:endParaRPr lang="en-US" altLang="ja-JP" dirty="0"/>
          </a:p>
          <a:p>
            <a:pPr marL="971550" lvl="2" indent="-285750"/>
            <a:r>
              <a:rPr lang="ja-JP" altLang="en-US" dirty="0"/>
              <a:t>ウェハーやレチクルのサイズなどの製造仕様の提供する</a:t>
            </a:r>
            <a:endParaRPr lang="en-US" altLang="ja-JP" dirty="0"/>
          </a:p>
          <a:p>
            <a:pPr marL="971550" lvl="2" indent="-285750"/>
            <a:r>
              <a:rPr lang="ja-JP" altLang="en-US" dirty="0"/>
              <a:t>テープアウト日を指定する（シャトルの場合）</a:t>
            </a:r>
            <a:endParaRPr lang="en-US" altLang="ja-JP" dirty="0"/>
          </a:p>
          <a:p>
            <a:pPr marL="1428750" lvl="3" indent="-285750"/>
            <a:r>
              <a:rPr lang="en-US" altLang="ja-JP" dirty="0"/>
              <a:t>PCB</a:t>
            </a:r>
            <a:r>
              <a:rPr lang="ja-JP" altLang="en-US" dirty="0"/>
              <a:t>基板と違い、年に数回しか製造チャンスがない</a:t>
            </a:r>
            <a:endParaRPr lang="en-US" altLang="ja-JP" dirty="0"/>
          </a:p>
          <a:p>
            <a:pPr marL="971550" lvl="2" indent="-285750"/>
            <a:r>
              <a:rPr lang="ja-JP" altLang="en-US" dirty="0"/>
              <a:t>実際の製造を行う</a:t>
            </a:r>
            <a:endParaRPr lang="en-US" altLang="ja-JP" dirty="0"/>
          </a:p>
          <a:p>
            <a:pPr marL="1428750" lvl="3" indent="-285750"/>
            <a:r>
              <a:rPr lang="en-US" altLang="ja-JP" dirty="0"/>
              <a:t>PCB</a:t>
            </a:r>
            <a:r>
              <a:rPr lang="ja-JP" altLang="en-US" dirty="0"/>
              <a:t>基板製造工場 </a:t>
            </a:r>
            <a:r>
              <a:rPr lang="en-US" altLang="ja-JP" dirty="0"/>
              <a:t>-&gt; GF</a:t>
            </a:r>
          </a:p>
          <a:p>
            <a:pPr marL="569214" lvl="1" indent="-285750"/>
            <a:r>
              <a:rPr lang="ja-JP" altLang="en-US" dirty="0"/>
              <a:t>製造会社：アセンブリ（後工程工場）</a:t>
            </a:r>
            <a:endParaRPr lang="en-US" altLang="ja-JP" dirty="0"/>
          </a:p>
          <a:p>
            <a:pPr marL="971550" lvl="2" indent="-285750"/>
            <a:r>
              <a:rPr lang="ja-JP" altLang="en-US" dirty="0"/>
              <a:t>パッケージングを行う</a:t>
            </a:r>
            <a:endParaRPr lang="en-US" altLang="ja-JP" dirty="0"/>
          </a:p>
          <a:p>
            <a:pPr marL="1428750" lvl="3" indent="-285750"/>
            <a:r>
              <a:rPr lang="en-US" altLang="ja-JP" dirty="0"/>
              <a:t>PCB</a:t>
            </a:r>
            <a:r>
              <a:rPr lang="ja-JP" altLang="en-US" dirty="0"/>
              <a:t>基板の部品実装工場 </a:t>
            </a:r>
            <a:r>
              <a:rPr lang="en-US" altLang="ja-JP" dirty="0"/>
              <a:t>-&gt; ODT</a:t>
            </a:r>
          </a:p>
        </p:txBody>
      </p:sp>
    </p:spTree>
    <p:extLst>
      <p:ext uri="{BB962C8B-B14F-4D97-AF65-F5344CB8AC3E}">
        <p14:creationId xmlns:p14="http://schemas.microsoft.com/office/powerpoint/2010/main" val="5917457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CF7DB1-FF7C-C7D8-91DB-9E85EE8E211A}"/>
              </a:ext>
            </a:extLst>
          </p:cNvPr>
          <p:cNvSpPr>
            <a:spLocks noGrp="1"/>
          </p:cNvSpPr>
          <p:nvPr>
            <p:ph type="title"/>
          </p:nvPr>
        </p:nvSpPr>
        <p:spPr/>
        <p:txBody>
          <a:bodyPr/>
          <a:lstStyle/>
          <a:p>
            <a:r>
              <a:rPr kumimoji="1" lang="ja-JP" altLang="en-US" dirty="0"/>
              <a:t>パッドと</a:t>
            </a:r>
            <a:r>
              <a:rPr kumimoji="1" lang="en-US" altLang="ja-JP" dirty="0"/>
              <a:t>ESD</a:t>
            </a:r>
            <a:endParaRPr kumimoji="1" lang="ja-JP" altLang="en-US" dirty="0"/>
          </a:p>
        </p:txBody>
      </p:sp>
      <p:sp>
        <p:nvSpPr>
          <p:cNvPr id="3" name="日付プレースホルダー 2">
            <a:extLst>
              <a:ext uri="{FF2B5EF4-FFF2-40B4-BE49-F238E27FC236}">
                <a16:creationId xmlns:a16="http://schemas.microsoft.com/office/drawing/2014/main" id="{0F584435-4FD1-064F-BB7F-B170479CF33E}"/>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DB65428-DDF2-B867-2107-CF4AD5356A3E}"/>
              </a:ext>
            </a:extLst>
          </p:cNvPr>
          <p:cNvSpPr>
            <a:spLocks noGrp="1"/>
          </p:cNvSpPr>
          <p:nvPr>
            <p:ph type="sldNum" sz="quarter" idx="12"/>
          </p:nvPr>
        </p:nvSpPr>
        <p:spPr/>
        <p:txBody>
          <a:bodyPr/>
          <a:lstStyle/>
          <a:p>
            <a:pPr rtl="0"/>
            <a:fld id="{9860EDB8-5305-433F-BE41-D7A86D811DB3}" type="slidenum">
              <a:rPr lang="en-US" altLang="ja-JP" noProof="0" smtClean="0"/>
              <a:pPr rtl="0"/>
              <a:t>137</a:t>
            </a:fld>
            <a:endParaRPr lang="ja-JP" altLang="en-US" noProof="0"/>
          </a:p>
        </p:txBody>
      </p:sp>
      <p:sp>
        <p:nvSpPr>
          <p:cNvPr id="5" name="コンテンツ プレースホルダー 4">
            <a:extLst>
              <a:ext uri="{FF2B5EF4-FFF2-40B4-BE49-F238E27FC236}">
                <a16:creationId xmlns:a16="http://schemas.microsoft.com/office/drawing/2014/main" id="{9DE6ACFC-0849-40D3-173B-D37E2F7CC7A9}"/>
              </a:ext>
            </a:extLst>
          </p:cNvPr>
          <p:cNvSpPr>
            <a:spLocks noGrp="1"/>
          </p:cNvSpPr>
          <p:nvPr>
            <p:ph sz="quarter" idx="13"/>
          </p:nvPr>
        </p:nvSpPr>
        <p:spPr/>
        <p:txBody>
          <a:bodyPr/>
          <a:lstStyle/>
          <a:p>
            <a:pPr marL="285750" indent="-285750">
              <a:buFont typeface="Arial" panose="020B0604020202020204" pitchFamily="34" charset="0"/>
              <a:buChar char="•"/>
            </a:pPr>
            <a:r>
              <a:rPr lang="ja-JP" altLang="en-US" dirty="0"/>
              <a:t>パッドからゲートにつなげる場合は要注意</a:t>
            </a:r>
            <a:endParaRPr lang="en-US" altLang="ja-JP" dirty="0"/>
          </a:p>
          <a:p>
            <a:pPr marL="569214" lvl="1" indent="-285750"/>
            <a:r>
              <a:rPr lang="ja-JP" altLang="en-US" dirty="0"/>
              <a:t>ゲート酸化膜の厚さ＝</a:t>
            </a:r>
            <a:r>
              <a:rPr lang="en-US" altLang="ja-JP" dirty="0"/>
              <a:t>19.5nm</a:t>
            </a:r>
          </a:p>
          <a:p>
            <a:pPr marL="569214" lvl="1" indent="-285750"/>
            <a:r>
              <a:rPr kumimoji="1" lang="ja-JP" altLang="en-US" dirty="0"/>
              <a:t>酸化膜の耐圧：</a:t>
            </a:r>
            <a:r>
              <a:rPr lang="en-US" altLang="ja-JP" dirty="0"/>
              <a:t>6</a:t>
            </a:r>
            <a:r>
              <a:rPr lang="ja-JP" altLang="en-US" dirty="0"/>
              <a:t>～</a:t>
            </a:r>
            <a:r>
              <a:rPr lang="en-US" altLang="ja-JP" dirty="0"/>
              <a:t>10MV/cm</a:t>
            </a:r>
          </a:p>
          <a:p>
            <a:pPr marL="971550" lvl="2" indent="-285750"/>
            <a:r>
              <a:rPr lang="en-US" altLang="ja-JP" dirty="0"/>
              <a:t>19.5V</a:t>
            </a:r>
            <a:r>
              <a:rPr lang="ja-JP" altLang="en-US" dirty="0"/>
              <a:t>で破壊される</a:t>
            </a:r>
            <a:endParaRPr lang="en-US" altLang="ja-JP" dirty="0"/>
          </a:p>
        </p:txBody>
      </p:sp>
      <p:pic>
        <p:nvPicPr>
          <p:cNvPr id="9" name="図 8">
            <a:extLst>
              <a:ext uri="{FF2B5EF4-FFF2-40B4-BE49-F238E27FC236}">
                <a16:creationId xmlns:a16="http://schemas.microsoft.com/office/drawing/2014/main" id="{CFCAAE51-E292-072B-6E4D-EB516A8E1E0B}"/>
              </a:ext>
            </a:extLst>
          </p:cNvPr>
          <p:cNvPicPr>
            <a:picLocks noChangeAspect="1"/>
          </p:cNvPicPr>
          <p:nvPr/>
        </p:nvPicPr>
        <p:blipFill>
          <a:blip r:embed="rId2"/>
          <a:stretch>
            <a:fillRect/>
          </a:stretch>
        </p:blipFill>
        <p:spPr>
          <a:xfrm>
            <a:off x="2202076" y="3489090"/>
            <a:ext cx="3022794" cy="3030017"/>
          </a:xfrm>
          <a:prstGeom prst="rect">
            <a:avLst/>
          </a:prstGeom>
        </p:spPr>
      </p:pic>
      <p:pic>
        <p:nvPicPr>
          <p:cNvPr id="11" name="図 10">
            <a:extLst>
              <a:ext uri="{FF2B5EF4-FFF2-40B4-BE49-F238E27FC236}">
                <a16:creationId xmlns:a16="http://schemas.microsoft.com/office/drawing/2014/main" id="{037A3B1C-6EF6-C964-A36B-4D2D2028213E}"/>
              </a:ext>
            </a:extLst>
          </p:cNvPr>
          <p:cNvPicPr>
            <a:picLocks noChangeAspect="1"/>
          </p:cNvPicPr>
          <p:nvPr/>
        </p:nvPicPr>
        <p:blipFill>
          <a:blip r:embed="rId3"/>
          <a:stretch>
            <a:fillRect/>
          </a:stretch>
        </p:blipFill>
        <p:spPr>
          <a:xfrm>
            <a:off x="5232446" y="1286286"/>
            <a:ext cx="3784676" cy="5232821"/>
          </a:xfrm>
          <a:prstGeom prst="rect">
            <a:avLst/>
          </a:prstGeom>
        </p:spPr>
      </p:pic>
      <p:pic>
        <p:nvPicPr>
          <p:cNvPr id="15" name="図 14">
            <a:extLst>
              <a:ext uri="{FF2B5EF4-FFF2-40B4-BE49-F238E27FC236}">
                <a16:creationId xmlns:a16="http://schemas.microsoft.com/office/drawing/2014/main" id="{AC2859A9-F815-28E5-154D-9995FC62626C}"/>
              </a:ext>
            </a:extLst>
          </p:cNvPr>
          <p:cNvPicPr>
            <a:picLocks noChangeAspect="1"/>
          </p:cNvPicPr>
          <p:nvPr/>
        </p:nvPicPr>
        <p:blipFill>
          <a:blip r:embed="rId4"/>
          <a:stretch>
            <a:fillRect/>
          </a:stretch>
        </p:blipFill>
        <p:spPr>
          <a:xfrm>
            <a:off x="9018106" y="2320122"/>
            <a:ext cx="3173894" cy="3074837"/>
          </a:xfrm>
          <a:prstGeom prst="rect">
            <a:avLst/>
          </a:prstGeom>
        </p:spPr>
      </p:pic>
      <p:sp>
        <p:nvSpPr>
          <p:cNvPr id="7" name="正方形/長方形 6">
            <a:extLst>
              <a:ext uri="{FF2B5EF4-FFF2-40B4-BE49-F238E27FC236}">
                <a16:creationId xmlns:a16="http://schemas.microsoft.com/office/drawing/2014/main" id="{EEDE6E9C-ED92-BE2C-8A28-3ABE0078F1A7}"/>
              </a:ext>
            </a:extLst>
          </p:cNvPr>
          <p:cNvSpPr/>
          <p:nvPr/>
        </p:nvSpPr>
        <p:spPr>
          <a:xfrm>
            <a:off x="0" y="6600037"/>
            <a:ext cx="3213463" cy="223317"/>
          </a:xfrm>
          <a:prstGeom prst="rect">
            <a:avLst/>
          </a:prstGeom>
          <a:solidFill>
            <a:srgbClr val="32323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rPr>
              <a:t>OpenSUSI-TR10</a:t>
            </a:r>
            <a:endParaRPr kumimoji="1" lang="ja-JP" altLang="en-US" sz="1400" b="1" i="0" u="none" strike="noStrike" kern="0" cap="none" spc="0" normalizeH="0" baseline="0" noProof="0" dirty="0">
              <a:ln>
                <a:noFill/>
              </a:ln>
              <a:solidFill>
                <a:schemeClr val="accent6">
                  <a:lumMod val="60000"/>
                  <a:lumOff val="40000"/>
                </a:schemeClr>
              </a:solidFill>
              <a:effectLst/>
              <a:uLnTx/>
              <a:uFillTx/>
              <a:ea typeface="ＭＳ Ｐゴシック" panose="020B0600070205080204" pitchFamily="50" charset="-128"/>
              <a:cs typeface="+mn-cs"/>
            </a:endParaRPr>
          </a:p>
        </p:txBody>
      </p:sp>
    </p:spTree>
    <p:extLst>
      <p:ext uri="{BB962C8B-B14F-4D97-AF65-F5344CB8AC3E}">
        <p14:creationId xmlns:p14="http://schemas.microsoft.com/office/powerpoint/2010/main" val="339749751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42E647-FDFF-220D-4780-DDF48645187A}"/>
              </a:ext>
            </a:extLst>
          </p:cNvPr>
          <p:cNvSpPr>
            <a:spLocks noGrp="1"/>
          </p:cNvSpPr>
          <p:nvPr>
            <p:ph type="title"/>
          </p:nvPr>
        </p:nvSpPr>
        <p:spPr/>
        <p:txBody>
          <a:bodyPr/>
          <a:lstStyle/>
          <a:p>
            <a:r>
              <a:rPr kumimoji="1" lang="ja-JP" altLang="en-US" dirty="0"/>
              <a:t>ドライブ</a:t>
            </a:r>
            <a:r>
              <a:rPr lang="ja-JP" altLang="en-US" dirty="0"/>
              <a:t>能力</a:t>
            </a:r>
            <a:endParaRPr kumimoji="1" lang="ja-JP" altLang="en-US" dirty="0"/>
          </a:p>
        </p:txBody>
      </p:sp>
      <p:sp>
        <p:nvSpPr>
          <p:cNvPr id="3" name="日付プレースホルダー 2">
            <a:extLst>
              <a:ext uri="{FF2B5EF4-FFF2-40B4-BE49-F238E27FC236}">
                <a16:creationId xmlns:a16="http://schemas.microsoft.com/office/drawing/2014/main" id="{513C9D91-47EE-BC2F-76D0-EA3E947169C4}"/>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FDF4BA56-704D-685C-D224-6155D7313EA8}"/>
              </a:ext>
            </a:extLst>
          </p:cNvPr>
          <p:cNvSpPr>
            <a:spLocks noGrp="1"/>
          </p:cNvSpPr>
          <p:nvPr>
            <p:ph type="sldNum" sz="quarter" idx="12"/>
          </p:nvPr>
        </p:nvSpPr>
        <p:spPr/>
        <p:txBody>
          <a:bodyPr/>
          <a:lstStyle/>
          <a:p>
            <a:pPr rtl="0"/>
            <a:fld id="{9860EDB8-5305-433F-BE41-D7A86D811DB3}" type="slidenum">
              <a:rPr lang="en-US" altLang="ja-JP" noProof="0" smtClean="0"/>
              <a:pPr rtl="0"/>
              <a:t>138</a:t>
            </a:fld>
            <a:endParaRPr lang="ja-JP" altLang="en-US" noProof="0"/>
          </a:p>
        </p:txBody>
      </p:sp>
      <p:sp>
        <p:nvSpPr>
          <p:cNvPr id="5" name="コンテンツ プレースホルダー 4">
            <a:extLst>
              <a:ext uri="{FF2B5EF4-FFF2-40B4-BE49-F238E27FC236}">
                <a16:creationId xmlns:a16="http://schemas.microsoft.com/office/drawing/2014/main" id="{772DEC60-7F85-C9E7-1E1D-846419581FED}"/>
              </a:ext>
            </a:extLst>
          </p:cNvPr>
          <p:cNvSpPr>
            <a:spLocks noGrp="1"/>
          </p:cNvSpPr>
          <p:nvPr>
            <p:ph sz="quarter" idx="13"/>
          </p:nvPr>
        </p:nvSpPr>
        <p:spPr>
          <a:xfrm>
            <a:off x="444500" y="1463039"/>
            <a:ext cx="11616871" cy="4964351"/>
          </a:xfrm>
        </p:spPr>
        <p:txBody>
          <a:bodyPr>
            <a:normAutofit/>
          </a:bodyPr>
          <a:lstStyle/>
          <a:p>
            <a:pPr marL="285750" indent="-285750">
              <a:buFont typeface="Arial" panose="020B0604020202020204" pitchFamily="34" charset="0"/>
              <a:buChar char="•"/>
            </a:pPr>
            <a:r>
              <a:rPr kumimoji="1" lang="ja-JP" altLang="en-US" sz="2000" b="1" dirty="0">
                <a:solidFill>
                  <a:srgbClr val="FF0000"/>
                </a:solidFill>
              </a:rPr>
              <a:t>出力先がピンの外の場合は</a:t>
            </a:r>
            <a:r>
              <a:rPr kumimoji="1" lang="en-US" altLang="ja-JP" sz="2000" dirty="0"/>
              <a:t>IC</a:t>
            </a:r>
            <a:r>
              <a:rPr kumimoji="1" lang="ja-JP" altLang="en-US" sz="2000" dirty="0"/>
              <a:t>内</a:t>
            </a:r>
            <a:r>
              <a:rPr lang="ja-JP" altLang="en-US" sz="2000" dirty="0"/>
              <a:t>のロジックセル等の容量負荷よりも</a:t>
            </a:r>
            <a:r>
              <a:rPr kumimoji="1" lang="ja-JP" altLang="en-US" sz="2000" b="1" dirty="0">
                <a:solidFill>
                  <a:srgbClr val="FF0000"/>
                </a:solidFill>
              </a:rPr>
              <a:t>膨大な容量負荷がかかる</a:t>
            </a:r>
            <a:endParaRPr lang="en-US" altLang="ja-JP" sz="2000" dirty="0"/>
          </a:p>
          <a:p>
            <a:pPr marL="569214" lvl="1" indent="-285750"/>
            <a:r>
              <a:rPr kumimoji="1" lang="ja-JP" altLang="en-US" sz="2000" dirty="0"/>
              <a:t>どれぐらいの負荷容量がかかるかは</a:t>
            </a:r>
            <a:r>
              <a:rPr kumimoji="1" lang="en-US" altLang="ja-JP" sz="2000" dirty="0"/>
              <a:t>IC</a:t>
            </a:r>
            <a:r>
              <a:rPr kumimoji="1" lang="ja-JP" altLang="en-US" sz="2000" dirty="0"/>
              <a:t>の利用者に依存</a:t>
            </a:r>
            <a:endParaRPr lang="en-US" altLang="ja-JP" sz="2000" dirty="0"/>
          </a:p>
          <a:p>
            <a:pPr marL="626364" lvl="1" indent="-342900"/>
            <a:r>
              <a:rPr lang="ja-JP" altLang="en-US" sz="2000" dirty="0"/>
              <a:t>要因：</a:t>
            </a:r>
            <a:r>
              <a:rPr lang="en-US" altLang="ja-JP" sz="2000" dirty="0"/>
              <a:t>IC</a:t>
            </a:r>
            <a:r>
              <a:rPr lang="ja-JP" altLang="en-US" sz="2000" dirty="0"/>
              <a:t>パッケージ、（ソケット）、基板配線パターン、ケーブル　など</a:t>
            </a:r>
            <a:endParaRPr lang="en-US" altLang="ja-JP" sz="2000" dirty="0"/>
          </a:p>
          <a:p>
            <a:pPr marL="342900" indent="-342900">
              <a:buFont typeface="Arial" panose="020B0604020202020204" pitchFamily="34" charset="0"/>
              <a:buChar char="•"/>
            </a:pPr>
            <a:endParaRPr kumimoji="1" lang="en-US" altLang="ja-JP" sz="2000" dirty="0"/>
          </a:p>
          <a:p>
            <a:pPr marL="342900" indent="-342900">
              <a:buFont typeface="Arial" panose="020B0604020202020204" pitchFamily="34" charset="0"/>
              <a:buChar char="•"/>
            </a:pPr>
            <a:r>
              <a:rPr lang="ja-JP" altLang="en-US" sz="2000" dirty="0"/>
              <a:t>ターゲットの出力周波数を、想定した負荷容量で駆動できるサイズで設計する必要がある</a:t>
            </a:r>
            <a:endParaRPr kumimoji="1" lang="en-US" altLang="ja-JP" sz="2000" dirty="0"/>
          </a:p>
          <a:p>
            <a:pPr marL="626364" lvl="1" indent="-342900"/>
            <a:r>
              <a:rPr kumimoji="1" lang="ja-JP" altLang="en-US" sz="2000" dirty="0"/>
              <a:t>今回は外界の負荷容量を </a:t>
            </a:r>
            <a:r>
              <a:rPr kumimoji="1" lang="en-US" altLang="ja-JP" sz="2000" dirty="0"/>
              <a:t>4</a:t>
            </a:r>
            <a:r>
              <a:rPr lang="en-US" altLang="ja-JP" sz="2000" dirty="0"/>
              <a:t>0</a:t>
            </a:r>
            <a:r>
              <a:rPr lang="ja-JP" altLang="en-US" sz="2000" dirty="0"/>
              <a:t> </a:t>
            </a:r>
            <a:r>
              <a:rPr lang="en-US" altLang="ja-JP" sz="2000" dirty="0"/>
              <a:t>pF </a:t>
            </a:r>
            <a:r>
              <a:rPr lang="ja-JP" altLang="en-US" sz="2000" dirty="0"/>
              <a:t>に設定してシミュレーションを行う</a:t>
            </a:r>
            <a:endParaRPr lang="en-US" altLang="ja-JP" sz="2000" dirty="0"/>
          </a:p>
          <a:p>
            <a:pPr marL="342900" indent="-342900"/>
            <a:endParaRPr lang="en-US" altLang="ja-JP" sz="2000" dirty="0"/>
          </a:p>
          <a:p>
            <a:pPr marL="342900" indent="-342900"/>
            <a:r>
              <a:rPr lang="ja-JP" altLang="en-US" sz="2000" dirty="0"/>
              <a:t>参考：一般的な</a:t>
            </a:r>
            <a:r>
              <a:rPr lang="en-US" altLang="ja-JP" sz="2000" dirty="0"/>
              <a:t>IC + </a:t>
            </a:r>
            <a:r>
              <a:rPr lang="ja-JP" altLang="en-US" sz="2000" dirty="0"/>
              <a:t>ソケット </a:t>
            </a:r>
            <a:r>
              <a:rPr lang="en-US" altLang="ja-JP" sz="2000" dirty="0"/>
              <a:t>+ 30cm </a:t>
            </a:r>
            <a:r>
              <a:rPr lang="ja-JP" altLang="en-US" sz="2000" dirty="0"/>
              <a:t>ケーブル </a:t>
            </a:r>
            <a:r>
              <a:rPr lang="en-US" altLang="ja-JP" sz="2000" dirty="0"/>
              <a:t>+ </a:t>
            </a:r>
            <a:r>
              <a:rPr lang="ja-JP" altLang="en-US" sz="2000" dirty="0"/>
              <a:t>パッシブプローブの容量を測った時は</a:t>
            </a:r>
            <a:r>
              <a:rPr lang="en-US" altLang="ja-JP" sz="2000" dirty="0"/>
              <a:t>28pF</a:t>
            </a:r>
            <a:r>
              <a:rPr lang="ja-JP" altLang="en-US" sz="2000" dirty="0"/>
              <a:t>でした</a:t>
            </a:r>
            <a:endParaRPr lang="en-US" altLang="ja-JP" sz="2000" dirty="0"/>
          </a:p>
          <a:p>
            <a:pPr marL="342900" indent="-342900">
              <a:buFont typeface="Arial" panose="020B0604020202020204" pitchFamily="34" charset="0"/>
              <a:buChar char="•"/>
            </a:pPr>
            <a:endParaRPr kumimoji="1" lang="en-US" altLang="ja-JP" sz="2000" dirty="0"/>
          </a:p>
          <a:p>
            <a:pPr marL="342900" indent="-342900">
              <a:buFont typeface="Arial" panose="020B0604020202020204" pitchFamily="34" charset="0"/>
              <a:buChar char="•"/>
            </a:pPr>
            <a:endParaRPr kumimoji="1" lang="en-US" altLang="ja-JP" sz="2000" dirty="0"/>
          </a:p>
        </p:txBody>
      </p:sp>
    </p:spTree>
    <p:extLst>
      <p:ext uri="{BB962C8B-B14F-4D97-AF65-F5344CB8AC3E}">
        <p14:creationId xmlns:p14="http://schemas.microsoft.com/office/powerpoint/2010/main" val="404339467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2471B0-A052-EEB0-500D-A381440E40F5}"/>
              </a:ext>
            </a:extLst>
          </p:cNvPr>
          <p:cNvSpPr>
            <a:spLocks noGrp="1"/>
          </p:cNvSpPr>
          <p:nvPr>
            <p:ph type="title"/>
          </p:nvPr>
        </p:nvSpPr>
        <p:spPr/>
        <p:txBody>
          <a:bodyPr/>
          <a:lstStyle/>
          <a:p>
            <a:r>
              <a:rPr lang="en-US" altLang="ja-JP" dirty="0" err="1">
                <a:solidFill>
                  <a:srgbClr val="E7E6E6">
                    <a:lumMod val="25000"/>
                  </a:srgbClr>
                </a:solidFill>
              </a:rPr>
              <a:t>ngspice</a:t>
            </a:r>
            <a:r>
              <a:rPr lang="ja-JP" altLang="en-US" dirty="0">
                <a:solidFill>
                  <a:srgbClr val="E7E6E6">
                    <a:lumMod val="25000"/>
                  </a:srgbClr>
                </a:solidFill>
              </a:rPr>
              <a:t>：過渡解析ベンチマークの</a:t>
            </a:r>
            <a:r>
              <a:rPr kumimoji="1" lang="en-US" altLang="ja-JP" dirty="0" err="1"/>
              <a:t>Cload</a:t>
            </a:r>
            <a:r>
              <a:rPr kumimoji="1" lang="en-US" altLang="ja-JP" dirty="0"/>
              <a:t>=40pF</a:t>
            </a:r>
            <a:r>
              <a:rPr kumimoji="1" lang="ja-JP" altLang="en-US" dirty="0"/>
              <a:t>にした例</a:t>
            </a:r>
          </a:p>
        </p:txBody>
      </p:sp>
      <p:sp>
        <p:nvSpPr>
          <p:cNvPr id="3" name="日付プレースホルダー 2">
            <a:extLst>
              <a:ext uri="{FF2B5EF4-FFF2-40B4-BE49-F238E27FC236}">
                <a16:creationId xmlns:a16="http://schemas.microsoft.com/office/drawing/2014/main" id="{85E11E35-EF38-631F-9A5B-225835EA6F48}"/>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68998B07-DF75-FED7-BD2D-A3B24957CFE5}"/>
              </a:ext>
            </a:extLst>
          </p:cNvPr>
          <p:cNvSpPr>
            <a:spLocks noGrp="1"/>
          </p:cNvSpPr>
          <p:nvPr>
            <p:ph type="sldNum" sz="quarter" idx="12"/>
          </p:nvPr>
        </p:nvSpPr>
        <p:spPr/>
        <p:txBody>
          <a:bodyPr/>
          <a:lstStyle/>
          <a:p>
            <a:pPr rtl="0"/>
            <a:fld id="{9860EDB8-5305-433F-BE41-D7A86D811DB3}" type="slidenum">
              <a:rPr lang="en-US" altLang="ja-JP" noProof="0" smtClean="0"/>
              <a:pPr rtl="0"/>
              <a:t>139</a:t>
            </a:fld>
            <a:endParaRPr lang="ja-JP" altLang="en-US" noProof="0"/>
          </a:p>
        </p:txBody>
      </p:sp>
      <p:sp>
        <p:nvSpPr>
          <p:cNvPr id="5" name="コンテンツ プレースホルダー 4">
            <a:extLst>
              <a:ext uri="{FF2B5EF4-FFF2-40B4-BE49-F238E27FC236}">
                <a16:creationId xmlns:a16="http://schemas.microsoft.com/office/drawing/2014/main" id="{481D9047-9701-5012-686E-0AE61C87DE48}"/>
              </a:ext>
            </a:extLst>
          </p:cNvPr>
          <p:cNvSpPr>
            <a:spLocks noGrp="1"/>
          </p:cNvSpPr>
          <p:nvPr>
            <p:ph sz="quarter" idx="13"/>
          </p:nvPr>
        </p:nvSpPr>
        <p:spPr>
          <a:xfrm>
            <a:off x="4386287" y="1463040"/>
            <a:ext cx="7268756" cy="4601748"/>
          </a:xfrm>
        </p:spPr>
        <p:txBody>
          <a:bodyPr/>
          <a:lstStyle/>
          <a:p>
            <a:pPr marL="285750" indent="-285750">
              <a:buFont typeface="Arial" panose="020B0604020202020204" pitchFamily="34" charset="0"/>
              <a:buChar char="•"/>
            </a:pPr>
            <a:r>
              <a:rPr lang="en-US" altLang="ja-JP" dirty="0"/>
              <a:t>PMOS</a:t>
            </a:r>
            <a:r>
              <a:rPr lang="ja-JP" altLang="en-US" dirty="0"/>
              <a:t>と</a:t>
            </a:r>
            <a:r>
              <a:rPr lang="en-US" altLang="ja-JP" dirty="0"/>
              <a:t>NMOS</a:t>
            </a:r>
            <a:r>
              <a:rPr lang="ja-JP" altLang="en-US" dirty="0"/>
              <a:t>の性能を上げる</a:t>
            </a:r>
            <a:endParaRPr lang="en-US" altLang="ja-JP" dirty="0"/>
          </a:p>
          <a:p>
            <a:pPr marL="569214" lvl="1" indent="-285750"/>
            <a:r>
              <a:rPr lang="en-US" altLang="ja-JP" dirty="0"/>
              <a:t>PMOS</a:t>
            </a:r>
            <a:r>
              <a:rPr lang="ja-JP" altLang="en-US" dirty="0"/>
              <a:t>と</a:t>
            </a:r>
            <a:r>
              <a:rPr lang="en-US" altLang="ja-JP" dirty="0"/>
              <a:t>NMOS</a:t>
            </a:r>
            <a:r>
              <a:rPr lang="ja-JP" altLang="en-US" dirty="0"/>
              <a:t>の</a:t>
            </a:r>
            <a:r>
              <a:rPr lang="en-US" altLang="ja-JP" dirty="0"/>
              <a:t>W</a:t>
            </a:r>
            <a:r>
              <a:rPr lang="ja-JP" altLang="en-US" dirty="0"/>
              <a:t>を大きくする</a:t>
            </a:r>
            <a:endParaRPr lang="en-US" altLang="ja-JP" dirty="0"/>
          </a:p>
          <a:p>
            <a:pPr marL="569214" lvl="1" indent="-285750"/>
            <a:r>
              <a:rPr lang="en-US" altLang="ja-JP" dirty="0"/>
              <a:t>PMOS</a:t>
            </a:r>
            <a:r>
              <a:rPr lang="ja-JP" altLang="en-US" dirty="0"/>
              <a:t>と</a:t>
            </a:r>
            <a:r>
              <a:rPr lang="en-US" altLang="ja-JP" dirty="0"/>
              <a:t>NMOS</a:t>
            </a:r>
            <a:r>
              <a:rPr lang="ja-JP" altLang="en-US" dirty="0"/>
              <a:t>の</a:t>
            </a:r>
            <a:r>
              <a:rPr lang="en-US" altLang="ja-JP" dirty="0"/>
              <a:t>L</a:t>
            </a:r>
            <a:r>
              <a:rPr lang="ja-JP" altLang="en-US" dirty="0"/>
              <a:t>を小さくする</a:t>
            </a:r>
            <a:endParaRPr lang="en-US" altLang="ja-JP" dirty="0"/>
          </a:p>
          <a:p>
            <a:pPr marL="971550" lvl="2" indent="-285750"/>
            <a:r>
              <a:rPr lang="en-US" altLang="ja-JP" dirty="0"/>
              <a:t>W/L</a:t>
            </a:r>
            <a:r>
              <a:rPr lang="ja-JP" altLang="en-US" dirty="0"/>
              <a:t>の比が同じ場合、</a:t>
            </a:r>
            <a:r>
              <a:rPr lang="en-US" altLang="ja-JP" dirty="0"/>
              <a:t>PMOS</a:t>
            </a:r>
            <a:r>
              <a:rPr lang="ja-JP" altLang="en-US" dirty="0"/>
              <a:t>と</a:t>
            </a:r>
            <a:r>
              <a:rPr lang="en-US" altLang="ja-JP" dirty="0"/>
              <a:t>NMOS</a:t>
            </a:r>
            <a:r>
              <a:rPr lang="ja-JP" altLang="en-US" dirty="0"/>
              <a:t>の性能バランスは保たれる</a:t>
            </a:r>
            <a:endParaRPr lang="en-US" altLang="ja-JP" dirty="0"/>
          </a:p>
        </p:txBody>
      </p:sp>
      <p:pic>
        <p:nvPicPr>
          <p:cNvPr id="8" name="図 7">
            <a:extLst>
              <a:ext uri="{FF2B5EF4-FFF2-40B4-BE49-F238E27FC236}">
                <a16:creationId xmlns:a16="http://schemas.microsoft.com/office/drawing/2014/main" id="{7FD69F50-6C08-4DCC-97F6-AD81E5F8475A}"/>
              </a:ext>
            </a:extLst>
          </p:cNvPr>
          <p:cNvPicPr>
            <a:picLocks noChangeAspect="1"/>
          </p:cNvPicPr>
          <p:nvPr/>
        </p:nvPicPr>
        <p:blipFill>
          <a:blip r:embed="rId2"/>
          <a:stretch>
            <a:fillRect/>
          </a:stretch>
        </p:blipFill>
        <p:spPr>
          <a:xfrm>
            <a:off x="207272" y="1131548"/>
            <a:ext cx="4172854" cy="5407887"/>
          </a:xfrm>
          <a:prstGeom prst="rect">
            <a:avLst/>
          </a:prstGeom>
        </p:spPr>
      </p:pic>
      <p:sp>
        <p:nvSpPr>
          <p:cNvPr id="10" name="吹き出し: 角を丸めた四角形 9">
            <a:extLst>
              <a:ext uri="{FF2B5EF4-FFF2-40B4-BE49-F238E27FC236}">
                <a16:creationId xmlns:a16="http://schemas.microsoft.com/office/drawing/2014/main" id="{73BF4C1D-C096-625B-8FEF-9CEAA83DE808}"/>
              </a:ext>
            </a:extLst>
          </p:cNvPr>
          <p:cNvSpPr/>
          <p:nvPr/>
        </p:nvSpPr>
        <p:spPr>
          <a:xfrm>
            <a:off x="4217826" y="4427621"/>
            <a:ext cx="1751128" cy="691268"/>
          </a:xfrm>
          <a:prstGeom prst="wedgeRoundRectCallout">
            <a:avLst>
              <a:gd name="adj1" fmla="val -60186"/>
              <a:gd name="adj2" fmla="val 8297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これを変える</a:t>
            </a:r>
          </a:p>
        </p:txBody>
      </p:sp>
      <p:pic>
        <p:nvPicPr>
          <p:cNvPr id="12" name="図 11">
            <a:extLst>
              <a:ext uri="{FF2B5EF4-FFF2-40B4-BE49-F238E27FC236}">
                <a16:creationId xmlns:a16="http://schemas.microsoft.com/office/drawing/2014/main" id="{4E7E0D96-E1F6-4986-E4CF-0DF383B59EAD}"/>
              </a:ext>
            </a:extLst>
          </p:cNvPr>
          <p:cNvPicPr>
            <a:picLocks noChangeAspect="1"/>
          </p:cNvPicPr>
          <p:nvPr/>
        </p:nvPicPr>
        <p:blipFill>
          <a:blip r:embed="rId3"/>
          <a:stretch>
            <a:fillRect/>
          </a:stretch>
        </p:blipFill>
        <p:spPr>
          <a:xfrm>
            <a:off x="6477900" y="3388417"/>
            <a:ext cx="4247765" cy="3176975"/>
          </a:xfrm>
          <a:prstGeom prst="rect">
            <a:avLst/>
          </a:prstGeom>
        </p:spPr>
      </p:pic>
    </p:spTree>
    <p:extLst>
      <p:ext uri="{BB962C8B-B14F-4D97-AF65-F5344CB8AC3E}">
        <p14:creationId xmlns:p14="http://schemas.microsoft.com/office/powerpoint/2010/main" val="165365000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B0A3EB-FD8D-9C83-EBE7-5028050F3620}"/>
              </a:ext>
            </a:extLst>
          </p:cNvPr>
          <p:cNvSpPr>
            <a:spLocks noGrp="1"/>
          </p:cNvSpPr>
          <p:nvPr>
            <p:ph type="title"/>
          </p:nvPr>
        </p:nvSpPr>
        <p:spPr/>
        <p:txBody>
          <a:bodyPr/>
          <a:lstStyle/>
          <a:p>
            <a:r>
              <a:rPr kumimoji="1" lang="ja-JP" altLang="en-US" dirty="0"/>
              <a:t>自分でフレームに載せる場合</a:t>
            </a:r>
          </a:p>
        </p:txBody>
      </p:sp>
      <p:sp>
        <p:nvSpPr>
          <p:cNvPr id="3" name="日付プレースホルダー 2">
            <a:extLst>
              <a:ext uri="{FF2B5EF4-FFF2-40B4-BE49-F238E27FC236}">
                <a16:creationId xmlns:a16="http://schemas.microsoft.com/office/drawing/2014/main" id="{8E7BF559-2BC4-5BC9-ADCA-CAC69C391EA2}"/>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B5CDDE80-B01F-2FD3-9216-D55AD2974B02}"/>
              </a:ext>
            </a:extLst>
          </p:cNvPr>
          <p:cNvSpPr>
            <a:spLocks noGrp="1"/>
          </p:cNvSpPr>
          <p:nvPr>
            <p:ph type="sldNum" sz="quarter" idx="12"/>
          </p:nvPr>
        </p:nvSpPr>
        <p:spPr/>
        <p:txBody>
          <a:bodyPr/>
          <a:lstStyle/>
          <a:p>
            <a:pPr rtl="0"/>
            <a:fld id="{9860EDB8-5305-433F-BE41-D7A86D811DB3}" type="slidenum">
              <a:rPr lang="en-US" altLang="ja-JP" noProof="0" smtClean="0"/>
              <a:pPr rtl="0"/>
              <a:t>140</a:t>
            </a:fld>
            <a:endParaRPr lang="ja-JP" altLang="en-US" noProof="0"/>
          </a:p>
        </p:txBody>
      </p:sp>
      <p:sp>
        <p:nvSpPr>
          <p:cNvPr id="5" name="コンテンツ プレースホルダー 4">
            <a:extLst>
              <a:ext uri="{FF2B5EF4-FFF2-40B4-BE49-F238E27FC236}">
                <a16:creationId xmlns:a16="http://schemas.microsoft.com/office/drawing/2014/main" id="{772F231C-5EAC-E9AD-0EF0-6428646A7770}"/>
              </a:ext>
            </a:extLst>
          </p:cNvPr>
          <p:cNvSpPr>
            <a:spLocks noGrp="1"/>
          </p:cNvSpPr>
          <p:nvPr>
            <p:ph sz="quarter" idx="13"/>
          </p:nvPr>
        </p:nvSpPr>
        <p:spPr/>
        <p:txBody>
          <a:bodyPr/>
          <a:lstStyle/>
          <a:p>
            <a:pPr marL="342900" indent="-342900">
              <a:buFont typeface="+mj-lt"/>
              <a:buAutoNum type="arabicPeriod"/>
            </a:pPr>
            <a:r>
              <a:rPr lang="ja-JP" altLang="en-US" dirty="0"/>
              <a:t>フレームを</a:t>
            </a:r>
            <a:r>
              <a:rPr lang="en-US" altLang="ja-JP" dirty="0" err="1"/>
              <a:t>Klayout</a:t>
            </a:r>
            <a:r>
              <a:rPr lang="ja-JP" altLang="en-US" dirty="0"/>
              <a:t>で読み込む</a:t>
            </a:r>
            <a:endParaRPr lang="en-US" altLang="ja-JP" dirty="0"/>
          </a:p>
          <a:p>
            <a:pPr marL="626364" lvl="1" indent="-342900">
              <a:buFont typeface="+mj-lt"/>
              <a:buAutoNum type="arabicPeriod"/>
            </a:pPr>
            <a:r>
              <a:rPr lang="en-US" altLang="ja-JP" dirty="0"/>
              <a:t>~/</a:t>
            </a:r>
            <a:r>
              <a:rPr lang="en-US" altLang="ja-JP" dirty="0" err="1"/>
              <a:t>OpenEDA-PDK_SetupScript</a:t>
            </a:r>
            <a:r>
              <a:rPr lang="en-US" altLang="ja-JP" dirty="0"/>
              <a:t>/GDS/GF180/</a:t>
            </a:r>
            <a:r>
              <a:rPr lang="en-US" altLang="ja-JP" dirty="0" err="1"/>
              <a:t>top_frame.gds</a:t>
            </a:r>
            <a:endParaRPr lang="en-US" altLang="ja-JP" dirty="0"/>
          </a:p>
          <a:p>
            <a:pPr marL="342900" indent="-342900">
              <a:buFont typeface="+mj-lt"/>
              <a:buAutoNum type="arabicPeriod"/>
            </a:pPr>
            <a:r>
              <a:rPr lang="ja-JP" altLang="en-US" dirty="0"/>
              <a:t>インバータ回路の</a:t>
            </a:r>
            <a:r>
              <a:rPr lang="en-US" altLang="ja-JP" dirty="0"/>
              <a:t>GDS</a:t>
            </a:r>
            <a:r>
              <a:rPr lang="ja-JP" altLang="en-US" dirty="0"/>
              <a:t>ファイルをインポートする</a:t>
            </a:r>
            <a:endParaRPr lang="en-US" altLang="ja-JP" dirty="0"/>
          </a:p>
          <a:p>
            <a:pPr marL="626364" lvl="1" indent="-342900">
              <a:buFont typeface="+mj-lt"/>
              <a:buAutoNum type="arabicPeriod"/>
            </a:pPr>
            <a:r>
              <a:rPr lang="en-US" altLang="ja-JP" dirty="0"/>
              <a:t>File -&gt; Import -&gt; Other Files Into Current</a:t>
            </a:r>
          </a:p>
          <a:p>
            <a:pPr marL="626364" lvl="1" indent="-342900">
              <a:buFont typeface="+mj-lt"/>
              <a:buAutoNum type="arabicPeriod"/>
            </a:pPr>
            <a:r>
              <a:rPr lang="ja-JP" altLang="en-US" dirty="0"/>
              <a:t>右図に合わせて自作のインバータ回路の</a:t>
            </a:r>
            <a:r>
              <a:rPr lang="en-US" altLang="ja-JP" dirty="0"/>
              <a:t>GDS</a:t>
            </a:r>
            <a:r>
              <a:rPr lang="ja-JP" altLang="en-US" dirty="0"/>
              <a:t>ファイルを読み込む</a:t>
            </a:r>
          </a:p>
          <a:p>
            <a:pPr marL="342900" indent="-342900">
              <a:buFont typeface="+mj-lt"/>
              <a:buAutoNum type="arabicPeriod"/>
            </a:pPr>
            <a:r>
              <a:rPr lang="ja-JP" altLang="en-US" dirty="0"/>
              <a:t>指定の場所にインバータ回路のレイアウトを配置する</a:t>
            </a:r>
            <a:endParaRPr lang="en-US" altLang="ja-JP" dirty="0"/>
          </a:p>
          <a:p>
            <a:pPr marL="626364" lvl="1" indent="-342900">
              <a:buFont typeface="+mj-lt"/>
              <a:buAutoNum type="arabicPeriod"/>
            </a:pPr>
            <a:r>
              <a:rPr lang="ja-JP" altLang="en-US" dirty="0"/>
              <a:t>こちらで指定します</a:t>
            </a:r>
            <a:endParaRPr lang="en-US" altLang="ja-JP" dirty="0"/>
          </a:p>
          <a:p>
            <a:pPr marL="342900" indent="-342900">
              <a:buFont typeface="+mj-lt"/>
              <a:buAutoNum type="arabicPeriod"/>
            </a:pPr>
            <a:r>
              <a:rPr lang="ja-JP" altLang="en-US" dirty="0"/>
              <a:t>指定のパッドに</a:t>
            </a:r>
            <a:r>
              <a:rPr lang="en-US" altLang="ja-JP" dirty="0"/>
              <a:t>VDD,VSS,OUT</a:t>
            </a:r>
            <a:r>
              <a:rPr lang="ja-JP" altLang="en-US" dirty="0"/>
              <a:t>ピンを接続する</a:t>
            </a:r>
          </a:p>
          <a:p>
            <a:pPr marL="626364" lvl="1" indent="-342900">
              <a:buFont typeface="+mj-lt"/>
              <a:buAutoNum type="arabicPeriod"/>
            </a:pPr>
            <a:r>
              <a:rPr kumimoji="1" lang="ja-JP" altLang="en-US" dirty="0"/>
              <a:t>こちらで指定します</a:t>
            </a:r>
          </a:p>
        </p:txBody>
      </p:sp>
      <p:pic>
        <p:nvPicPr>
          <p:cNvPr id="7" name="図 6">
            <a:extLst>
              <a:ext uri="{FF2B5EF4-FFF2-40B4-BE49-F238E27FC236}">
                <a16:creationId xmlns:a16="http://schemas.microsoft.com/office/drawing/2014/main" id="{E349F458-7E8F-22B8-3D24-545F629E0441}"/>
              </a:ext>
            </a:extLst>
          </p:cNvPr>
          <p:cNvPicPr>
            <a:picLocks noChangeAspect="1"/>
          </p:cNvPicPr>
          <p:nvPr/>
        </p:nvPicPr>
        <p:blipFill>
          <a:blip r:embed="rId2"/>
          <a:stretch>
            <a:fillRect/>
          </a:stretch>
        </p:blipFill>
        <p:spPr>
          <a:xfrm>
            <a:off x="7113945" y="2443925"/>
            <a:ext cx="4852311" cy="4032923"/>
          </a:xfrm>
          <a:prstGeom prst="rect">
            <a:avLst/>
          </a:prstGeom>
        </p:spPr>
      </p:pic>
      <p:sp>
        <p:nvSpPr>
          <p:cNvPr id="8" name="楕円 7">
            <a:extLst>
              <a:ext uri="{FF2B5EF4-FFF2-40B4-BE49-F238E27FC236}">
                <a16:creationId xmlns:a16="http://schemas.microsoft.com/office/drawing/2014/main" id="{F598CA83-C6DC-ADCD-0D51-48ACC04AC008}"/>
              </a:ext>
            </a:extLst>
          </p:cNvPr>
          <p:cNvSpPr/>
          <p:nvPr/>
        </p:nvSpPr>
        <p:spPr>
          <a:xfrm>
            <a:off x="7214573" y="3102359"/>
            <a:ext cx="4108237" cy="446262"/>
          </a:xfrm>
          <a:prstGeom prst="ellipse">
            <a:avLst/>
          </a:prstGeom>
          <a:noFill/>
          <a:ln>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0F409505-28DC-C723-856D-03298D4C1032}"/>
              </a:ext>
            </a:extLst>
          </p:cNvPr>
          <p:cNvSpPr/>
          <p:nvPr/>
        </p:nvSpPr>
        <p:spPr>
          <a:xfrm>
            <a:off x="7113946" y="4738254"/>
            <a:ext cx="2848202" cy="265899"/>
          </a:xfrm>
          <a:prstGeom prst="ellipse">
            <a:avLst/>
          </a:prstGeom>
          <a:noFill/>
          <a:ln>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C04CC37A-1953-4A23-58F7-5E96FBD89177}"/>
              </a:ext>
            </a:extLst>
          </p:cNvPr>
          <p:cNvSpPr/>
          <p:nvPr/>
        </p:nvSpPr>
        <p:spPr>
          <a:xfrm>
            <a:off x="10775921" y="6184240"/>
            <a:ext cx="620538" cy="292608"/>
          </a:xfrm>
          <a:prstGeom prst="ellipse">
            <a:avLst/>
          </a:prstGeom>
          <a:noFill/>
          <a:ln>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158800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CBD92A-AE92-842B-1821-8DC7CE18C600}"/>
              </a:ext>
            </a:extLst>
          </p:cNvPr>
          <p:cNvSpPr>
            <a:spLocks noGrp="1"/>
          </p:cNvSpPr>
          <p:nvPr>
            <p:ph type="title"/>
          </p:nvPr>
        </p:nvSpPr>
        <p:spPr/>
        <p:txBody>
          <a:bodyPr/>
          <a:lstStyle/>
          <a:p>
            <a:r>
              <a:rPr kumimoji="1" lang="ja-JP" altLang="en-US" dirty="0"/>
              <a:t>シリコンアート</a:t>
            </a:r>
          </a:p>
        </p:txBody>
      </p:sp>
      <p:sp>
        <p:nvSpPr>
          <p:cNvPr id="3" name="日付プレースホルダー 2">
            <a:extLst>
              <a:ext uri="{FF2B5EF4-FFF2-40B4-BE49-F238E27FC236}">
                <a16:creationId xmlns:a16="http://schemas.microsoft.com/office/drawing/2014/main" id="{F51C1296-A4E9-CF4C-DBFB-CB482D97BBEC}"/>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28040E6B-3068-C1D1-0772-D7D040CD9AFB}"/>
              </a:ext>
            </a:extLst>
          </p:cNvPr>
          <p:cNvSpPr>
            <a:spLocks noGrp="1"/>
          </p:cNvSpPr>
          <p:nvPr>
            <p:ph type="sldNum" sz="quarter" idx="12"/>
          </p:nvPr>
        </p:nvSpPr>
        <p:spPr/>
        <p:txBody>
          <a:bodyPr/>
          <a:lstStyle/>
          <a:p>
            <a:pPr rtl="0"/>
            <a:fld id="{9860EDB8-5305-433F-BE41-D7A86D811DB3}" type="slidenum">
              <a:rPr lang="en-US" altLang="ja-JP" noProof="0" smtClean="0"/>
              <a:pPr rtl="0"/>
              <a:t>141</a:t>
            </a:fld>
            <a:endParaRPr lang="ja-JP" altLang="en-US" noProof="0"/>
          </a:p>
        </p:txBody>
      </p:sp>
      <p:sp>
        <p:nvSpPr>
          <p:cNvPr id="5" name="コンテンツ プレースホルダー 4">
            <a:extLst>
              <a:ext uri="{FF2B5EF4-FFF2-40B4-BE49-F238E27FC236}">
                <a16:creationId xmlns:a16="http://schemas.microsoft.com/office/drawing/2014/main" id="{6C559880-BC30-EF19-A9AC-54A268E49C40}"/>
              </a:ext>
            </a:extLst>
          </p:cNvPr>
          <p:cNvSpPr>
            <a:spLocks noGrp="1"/>
          </p:cNvSpPr>
          <p:nvPr>
            <p:ph sz="quarter" idx="13"/>
          </p:nvPr>
        </p:nvSpPr>
        <p:spPr>
          <a:xfrm>
            <a:off x="444501" y="1463040"/>
            <a:ext cx="3094972" cy="4601748"/>
          </a:xfrm>
        </p:spPr>
        <p:txBody>
          <a:bodyPr/>
          <a:lstStyle/>
          <a:p>
            <a:pPr marL="285750" indent="-285750">
              <a:buFont typeface="Arial" panose="020B0604020202020204" pitchFamily="34" charset="0"/>
              <a:buChar char="•"/>
            </a:pPr>
            <a:r>
              <a:rPr kumimoji="1" lang="ja-JP" altLang="en-US" dirty="0"/>
              <a:t>サイズ制限</a:t>
            </a:r>
            <a:endParaRPr kumimoji="1" lang="en-US" altLang="ja-JP" dirty="0"/>
          </a:p>
          <a:p>
            <a:pPr marL="569214" lvl="1" indent="-285750"/>
            <a:r>
              <a:rPr lang="ja-JP" altLang="en-US" dirty="0"/>
              <a:t>指定エリア内</a:t>
            </a:r>
            <a:endParaRPr lang="en-US" altLang="ja-JP" dirty="0"/>
          </a:p>
          <a:p>
            <a:pPr marL="285750" indent="-285750">
              <a:buFont typeface="Arial" panose="020B0604020202020204" pitchFamily="34" charset="0"/>
              <a:buChar char="•"/>
            </a:pPr>
            <a:r>
              <a:rPr lang="ja-JP" altLang="en-US" dirty="0"/>
              <a:t>利用可能レイヤー</a:t>
            </a:r>
            <a:endParaRPr lang="en-US" altLang="ja-JP" dirty="0"/>
          </a:p>
          <a:p>
            <a:pPr marL="569214" lvl="1" indent="-285750"/>
            <a:r>
              <a:rPr lang="en-US" altLang="ja-JP" dirty="0"/>
              <a:t>Metal1</a:t>
            </a:r>
            <a:r>
              <a:rPr lang="ja-JP" altLang="en-US" dirty="0"/>
              <a:t>～</a:t>
            </a:r>
            <a:r>
              <a:rPr lang="en-US" altLang="ja-JP" dirty="0"/>
              <a:t>Metal5</a:t>
            </a:r>
          </a:p>
          <a:p>
            <a:pPr marL="569214" lvl="1" indent="-285750"/>
            <a:r>
              <a:rPr lang="en-US" altLang="ja-JP" dirty="0"/>
              <a:t>Pad</a:t>
            </a:r>
          </a:p>
          <a:p>
            <a:pPr marL="285750" indent="-285750">
              <a:buFont typeface="Arial" panose="020B0604020202020204" pitchFamily="34" charset="0"/>
              <a:buChar char="•"/>
            </a:pPr>
            <a:r>
              <a:rPr lang="ja-JP" altLang="en-US" dirty="0"/>
              <a:t>備考</a:t>
            </a:r>
            <a:endParaRPr lang="en-US" altLang="ja-JP" dirty="0"/>
          </a:p>
          <a:p>
            <a:pPr marL="569214" lvl="1" indent="-285750"/>
            <a:r>
              <a:rPr lang="en-US" altLang="ja-JP" dirty="0"/>
              <a:t>DRC</a:t>
            </a:r>
            <a:r>
              <a:rPr lang="ja-JP" altLang="en-US" dirty="0"/>
              <a:t>チェックをしてください</a:t>
            </a:r>
            <a:endParaRPr lang="en-US" altLang="ja-JP" dirty="0"/>
          </a:p>
          <a:p>
            <a:pPr marL="569214" lvl="1" indent="-285750"/>
            <a:r>
              <a:rPr lang="ja-JP" altLang="en-US" dirty="0"/>
              <a:t>状況により削除する可能性あります</a:t>
            </a:r>
            <a:endParaRPr lang="en-US" altLang="ja-JP" dirty="0"/>
          </a:p>
          <a:p>
            <a:pPr marL="285750" indent="-285750"/>
            <a:endParaRPr lang="en-US" altLang="ja-JP" dirty="0"/>
          </a:p>
          <a:p>
            <a:pPr marL="285750" indent="-285750"/>
            <a:endParaRPr lang="en-US" altLang="ja-JP" dirty="0"/>
          </a:p>
        </p:txBody>
      </p:sp>
      <p:pic>
        <p:nvPicPr>
          <p:cNvPr id="12" name="図 11">
            <a:extLst>
              <a:ext uri="{FF2B5EF4-FFF2-40B4-BE49-F238E27FC236}">
                <a16:creationId xmlns:a16="http://schemas.microsoft.com/office/drawing/2014/main" id="{90FEEF05-8582-E877-310C-E26896205D34}"/>
              </a:ext>
            </a:extLst>
          </p:cNvPr>
          <p:cNvPicPr>
            <a:picLocks noChangeAspect="1"/>
          </p:cNvPicPr>
          <p:nvPr/>
        </p:nvPicPr>
        <p:blipFill>
          <a:blip r:embed="rId2"/>
          <a:stretch>
            <a:fillRect/>
          </a:stretch>
        </p:blipFill>
        <p:spPr>
          <a:xfrm>
            <a:off x="3858345" y="1639870"/>
            <a:ext cx="7952982" cy="4248087"/>
          </a:xfrm>
          <a:prstGeom prst="rect">
            <a:avLst/>
          </a:prstGeom>
        </p:spPr>
      </p:pic>
      <p:sp>
        <p:nvSpPr>
          <p:cNvPr id="8" name="吹き出し: 角を丸めた四角形 7">
            <a:extLst>
              <a:ext uri="{FF2B5EF4-FFF2-40B4-BE49-F238E27FC236}">
                <a16:creationId xmlns:a16="http://schemas.microsoft.com/office/drawing/2014/main" id="{5BB87C15-520B-CA44-109F-0D3DC2053F5F}"/>
              </a:ext>
            </a:extLst>
          </p:cNvPr>
          <p:cNvSpPr/>
          <p:nvPr/>
        </p:nvSpPr>
        <p:spPr>
          <a:xfrm>
            <a:off x="4882633" y="709501"/>
            <a:ext cx="3311966" cy="638036"/>
          </a:xfrm>
          <a:prstGeom prst="wedgeRoundRectCallout">
            <a:avLst>
              <a:gd name="adj1" fmla="val -46338"/>
              <a:gd name="adj2" fmla="val 11932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Ruler</a:t>
            </a:r>
            <a:r>
              <a:rPr kumimoji="1" lang="ja-JP" altLang="en-US" dirty="0"/>
              <a:t>で長さチェック可能</a:t>
            </a:r>
          </a:p>
        </p:txBody>
      </p:sp>
      <p:sp>
        <p:nvSpPr>
          <p:cNvPr id="9" name="吹き出し: 角を丸めた四角形 8">
            <a:extLst>
              <a:ext uri="{FF2B5EF4-FFF2-40B4-BE49-F238E27FC236}">
                <a16:creationId xmlns:a16="http://schemas.microsoft.com/office/drawing/2014/main" id="{DEA8E672-AD23-3D80-9FF0-E7426C6CE540}"/>
              </a:ext>
            </a:extLst>
          </p:cNvPr>
          <p:cNvSpPr/>
          <p:nvPr/>
        </p:nvSpPr>
        <p:spPr>
          <a:xfrm>
            <a:off x="4882633" y="700487"/>
            <a:ext cx="3311966" cy="638036"/>
          </a:xfrm>
          <a:prstGeom prst="wedgeRoundRectCallout">
            <a:avLst>
              <a:gd name="adj1" fmla="val 124368"/>
              <a:gd name="adj2" fmla="val 225209"/>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Ruler</a:t>
            </a:r>
            <a:r>
              <a:rPr kumimoji="1" lang="ja-JP" altLang="en-US" dirty="0"/>
              <a:t>で長さチェック可能</a:t>
            </a:r>
          </a:p>
        </p:txBody>
      </p:sp>
    </p:spTree>
    <p:extLst>
      <p:ext uri="{BB962C8B-B14F-4D97-AF65-F5344CB8AC3E}">
        <p14:creationId xmlns:p14="http://schemas.microsoft.com/office/powerpoint/2010/main" val="26145617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AF1C97-4A63-D5F7-21BA-ECE12AA95A25}"/>
              </a:ext>
            </a:extLst>
          </p:cNvPr>
          <p:cNvSpPr>
            <a:spLocks noGrp="1"/>
          </p:cNvSpPr>
          <p:nvPr>
            <p:ph type="title"/>
          </p:nvPr>
        </p:nvSpPr>
        <p:spPr/>
        <p:txBody>
          <a:bodyPr/>
          <a:lstStyle/>
          <a:p>
            <a:r>
              <a:rPr kumimoji="1" lang="ja-JP" altLang="en-US" dirty="0"/>
              <a:t>提出方法</a:t>
            </a:r>
          </a:p>
        </p:txBody>
      </p:sp>
      <p:sp>
        <p:nvSpPr>
          <p:cNvPr id="3" name="日付プレースホルダー 2">
            <a:extLst>
              <a:ext uri="{FF2B5EF4-FFF2-40B4-BE49-F238E27FC236}">
                <a16:creationId xmlns:a16="http://schemas.microsoft.com/office/drawing/2014/main" id="{597652BF-4B00-4368-0192-0175150F33CA}"/>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DD3D631A-AB75-A7DE-EAFD-7FB86E795333}"/>
              </a:ext>
            </a:extLst>
          </p:cNvPr>
          <p:cNvSpPr>
            <a:spLocks noGrp="1"/>
          </p:cNvSpPr>
          <p:nvPr>
            <p:ph type="sldNum" sz="quarter" idx="12"/>
          </p:nvPr>
        </p:nvSpPr>
        <p:spPr/>
        <p:txBody>
          <a:bodyPr/>
          <a:lstStyle/>
          <a:p>
            <a:pPr rtl="0"/>
            <a:fld id="{9860EDB8-5305-433F-BE41-D7A86D811DB3}" type="slidenum">
              <a:rPr lang="en-US" altLang="ja-JP" noProof="0" smtClean="0"/>
              <a:pPr rtl="0"/>
              <a:t>142</a:t>
            </a:fld>
            <a:endParaRPr lang="ja-JP" altLang="en-US" noProof="0"/>
          </a:p>
        </p:txBody>
      </p:sp>
      <p:sp>
        <p:nvSpPr>
          <p:cNvPr id="5" name="コンテンツ プレースホルダー 4">
            <a:extLst>
              <a:ext uri="{FF2B5EF4-FFF2-40B4-BE49-F238E27FC236}">
                <a16:creationId xmlns:a16="http://schemas.microsoft.com/office/drawing/2014/main" id="{8D7548D8-62A5-AB2B-BDDE-C9DB31B7055D}"/>
              </a:ext>
            </a:extLst>
          </p:cNvPr>
          <p:cNvSpPr>
            <a:spLocks noGrp="1"/>
          </p:cNvSpPr>
          <p:nvPr>
            <p:ph sz="quarter" idx="13"/>
          </p:nvPr>
        </p:nvSpPr>
        <p:spPr>
          <a:xfrm>
            <a:off x="444500" y="1463039"/>
            <a:ext cx="11210543" cy="5100509"/>
          </a:xfrm>
        </p:spPr>
        <p:txBody>
          <a:bodyPr>
            <a:normAutofit/>
          </a:bodyPr>
          <a:lstStyle/>
          <a:p>
            <a:pPr marL="457200" indent="-457200">
              <a:buFont typeface="+mj-lt"/>
              <a:buAutoNum type="arabicPeriod"/>
            </a:pPr>
            <a:r>
              <a:rPr lang="en-US" altLang="ja-JP" sz="1500" dirty="0">
                <a:hlinkClick r:id="rId2"/>
              </a:rPr>
              <a:t>https://github.com/ishi-kai/RISC-V-Day_MPW_template.git</a:t>
            </a:r>
            <a:r>
              <a:rPr lang="ja-JP" altLang="en-US" sz="1500" dirty="0"/>
              <a:t> を自分の</a:t>
            </a:r>
            <a:r>
              <a:rPr lang="en-US" altLang="ja-JP" sz="1500" dirty="0" err="1"/>
              <a:t>github</a:t>
            </a:r>
            <a:r>
              <a:rPr lang="ja-JP" altLang="en-US" sz="1500" dirty="0"/>
              <a:t>へフォークする</a:t>
            </a:r>
            <a:endParaRPr lang="en-US" altLang="ja-JP" sz="1500" dirty="0"/>
          </a:p>
          <a:p>
            <a:pPr marL="457200" indent="-457200">
              <a:buFont typeface="+mj-lt"/>
              <a:buAutoNum type="arabicPeriod"/>
            </a:pPr>
            <a:r>
              <a:rPr lang="ja-JP" altLang="en-US" sz="1500" dirty="0"/>
              <a:t>上記リポジトリの「</a:t>
            </a:r>
            <a:r>
              <a:rPr lang="en-US" altLang="ja-JP" sz="1500" dirty="0" err="1"/>
              <a:t>src</a:t>
            </a:r>
            <a:r>
              <a:rPr lang="ja-JP" altLang="en-US" sz="1500" dirty="0"/>
              <a:t>」に作成した</a:t>
            </a:r>
            <a:r>
              <a:rPr lang="ja-JP" altLang="en-US" sz="1700" dirty="0"/>
              <a:t>「</a:t>
            </a:r>
            <a:r>
              <a:rPr lang="en-US" altLang="ja-JP" sz="1500" dirty="0" err="1"/>
              <a:t>inv_dut</a:t>
            </a:r>
            <a:r>
              <a:rPr lang="en-US" altLang="ja-JP" sz="1500" dirty="0"/>
              <a:t>_[</a:t>
            </a:r>
            <a:r>
              <a:rPr lang="ja-JP" altLang="en-US" sz="1500" dirty="0"/>
              <a:t>配布された</a:t>
            </a:r>
            <a:r>
              <a:rPr lang="en-US" altLang="ja-JP" sz="1500" dirty="0"/>
              <a:t>DUT</a:t>
            </a:r>
            <a:r>
              <a:rPr lang="ja-JP" altLang="en-US" sz="1500" dirty="0"/>
              <a:t>番号</a:t>
            </a:r>
            <a:r>
              <a:rPr lang="en-US" altLang="ja-JP" sz="1500" dirty="0"/>
              <a:t>].</a:t>
            </a:r>
            <a:r>
              <a:rPr lang="en-US" altLang="ja-JP" sz="1500" dirty="0" err="1"/>
              <a:t>gds</a:t>
            </a:r>
            <a:r>
              <a:rPr lang="ja-JP" altLang="en-US" sz="1700" dirty="0"/>
              <a:t>」をコミットする</a:t>
            </a:r>
            <a:endParaRPr lang="en-US" altLang="ja-JP" sz="1500" dirty="0"/>
          </a:p>
          <a:p>
            <a:pPr marL="457200" indent="-457200">
              <a:buFont typeface="+mj-lt"/>
              <a:buAutoNum type="arabicPeriod"/>
            </a:pPr>
            <a:r>
              <a:rPr lang="en-US" altLang="ja-JP" sz="1500" dirty="0" err="1"/>
              <a:t>Github</a:t>
            </a:r>
            <a:r>
              <a:rPr lang="en-US" altLang="ja-JP" sz="1500" dirty="0"/>
              <a:t> Actions</a:t>
            </a:r>
            <a:r>
              <a:rPr lang="ja-JP" altLang="en-US" sz="1500" dirty="0"/>
              <a:t>がオールグリーンになっていることを確認する</a:t>
            </a:r>
            <a:endParaRPr lang="en-US" altLang="ja-JP" sz="1500" dirty="0"/>
          </a:p>
          <a:p>
            <a:pPr marL="740664" lvl="1" indent="-457200">
              <a:buFont typeface="+mj-lt"/>
              <a:buAutoNum type="arabicPeriod"/>
            </a:pPr>
            <a:r>
              <a:rPr lang="ja-JP" altLang="en-US" sz="1500" dirty="0"/>
              <a:t>エラーがある場合は、</a:t>
            </a:r>
            <a:r>
              <a:rPr lang="en-US" altLang="ja-JP" sz="1500" dirty="0"/>
              <a:t>GDS</a:t>
            </a:r>
            <a:r>
              <a:rPr lang="ja-JP" altLang="en-US" sz="1500" dirty="0"/>
              <a:t>ファイルを修正してください。</a:t>
            </a:r>
            <a:endParaRPr lang="en-US" altLang="ja-JP" sz="1500" dirty="0"/>
          </a:p>
          <a:p>
            <a:pPr marL="457200" indent="-457200">
              <a:buFont typeface="+mj-lt"/>
              <a:buAutoNum type="arabicPeriod"/>
            </a:pPr>
            <a:r>
              <a:rPr lang="en-US" altLang="ja-JP" sz="1500" dirty="0" err="1"/>
              <a:t>Github</a:t>
            </a:r>
            <a:r>
              <a:rPr lang="en-US" altLang="ja-JP" sz="1500" dirty="0"/>
              <a:t> Actions</a:t>
            </a:r>
            <a:r>
              <a:rPr lang="ja-JP" altLang="en-US" sz="1500" dirty="0"/>
              <a:t>の</a:t>
            </a:r>
            <a:r>
              <a:rPr lang="en-US" altLang="ja-JP" sz="1500" dirty="0"/>
              <a:t>URL</a:t>
            </a:r>
            <a:r>
              <a:rPr lang="ja-JP" altLang="en-US" sz="1500" dirty="0"/>
              <a:t>を「登録先サイトの</a:t>
            </a:r>
            <a:r>
              <a:rPr lang="en-US" altLang="ja-JP" sz="1500" dirty="0"/>
              <a:t>URL</a:t>
            </a:r>
            <a:r>
              <a:rPr lang="ja-JP" altLang="en-US" sz="1500" dirty="0"/>
              <a:t>」にアクセスして、登録する</a:t>
            </a:r>
            <a:endParaRPr lang="en-US" altLang="ja-JP" sz="1500" dirty="0"/>
          </a:p>
          <a:p>
            <a:pPr marL="457200" indent="-457200">
              <a:buFont typeface="+mj-lt"/>
              <a:buAutoNum type="arabicPeriod"/>
            </a:pPr>
            <a:r>
              <a:rPr lang="en-US" altLang="ja-JP" sz="1500" dirty="0"/>
              <a:t>1</a:t>
            </a:r>
            <a:r>
              <a:rPr lang="ja-JP" altLang="en-US" sz="1500" dirty="0"/>
              <a:t>時間後に、</a:t>
            </a:r>
            <a:r>
              <a:rPr lang="en-US" altLang="ja-JP" sz="1500" dirty="0"/>
              <a:t> </a:t>
            </a:r>
            <a:r>
              <a:rPr lang="en-US" altLang="ja-JP" sz="1500" dirty="0">
                <a:hlinkClick r:id="rId3"/>
              </a:rPr>
              <a:t>https://github.com/ishi-kai/RISC-V-Day_2611_inverter_workshop.git</a:t>
            </a:r>
            <a:r>
              <a:rPr lang="ja-JP" altLang="en-US" sz="1500" dirty="0"/>
              <a:t> に登録されていることを確認する</a:t>
            </a:r>
            <a:endParaRPr lang="en-US" altLang="ja-JP" sz="1500" dirty="0"/>
          </a:p>
          <a:p>
            <a:pPr marL="740664" lvl="1" indent="-457200">
              <a:buFont typeface="+mj-lt"/>
              <a:buAutoNum type="arabicPeriod"/>
            </a:pPr>
            <a:r>
              <a:rPr lang="en-US" altLang="ja-JP" sz="1500" dirty="0"/>
              <a:t>report</a:t>
            </a:r>
            <a:r>
              <a:rPr lang="ja-JP" altLang="en-US" sz="1500" dirty="0"/>
              <a:t>ディレクトリに「</a:t>
            </a:r>
            <a:r>
              <a:rPr lang="en-US" altLang="ja-JP" sz="1500" dirty="0"/>
              <a:t>[</a:t>
            </a:r>
            <a:r>
              <a:rPr lang="ja-JP" altLang="en-US" sz="1500" dirty="0"/>
              <a:t>配布された</a:t>
            </a:r>
            <a:r>
              <a:rPr lang="en-US" altLang="ja-JP" sz="1500" dirty="0"/>
              <a:t>DUT</a:t>
            </a:r>
            <a:r>
              <a:rPr lang="ja-JP" altLang="en-US" sz="1500" dirty="0"/>
              <a:t>番号</a:t>
            </a:r>
            <a:r>
              <a:rPr lang="en-US" altLang="ja-JP" sz="1500" dirty="0"/>
              <a:t>]_[</a:t>
            </a:r>
            <a:r>
              <a:rPr lang="ja-JP" altLang="en-US" sz="1500" dirty="0"/>
              <a:t>作成した日時</a:t>
            </a:r>
            <a:r>
              <a:rPr lang="en-US" altLang="ja-JP" sz="1500" dirty="0"/>
              <a:t>].md</a:t>
            </a:r>
            <a:r>
              <a:rPr lang="ja-JP" altLang="en-US" sz="1500" dirty="0"/>
              <a:t>」という名前でレポートがあるので確認すること</a:t>
            </a:r>
            <a:endParaRPr lang="en-US" altLang="ja-JP" sz="1500" dirty="0"/>
          </a:p>
          <a:p>
            <a:pPr marL="740664" lvl="1" indent="-457200">
              <a:buFont typeface="+mj-lt"/>
              <a:buAutoNum type="arabicPeriod"/>
            </a:pPr>
            <a:r>
              <a:rPr lang="ja-JP" altLang="en-US" sz="1500" dirty="0"/>
              <a:t>エラーの場合は、修正して再提出すること</a:t>
            </a:r>
            <a:endParaRPr lang="en-US" altLang="ja-JP" sz="1500" dirty="0"/>
          </a:p>
        </p:txBody>
      </p:sp>
      <p:pic>
        <p:nvPicPr>
          <p:cNvPr id="7" name="図 6">
            <a:extLst>
              <a:ext uri="{FF2B5EF4-FFF2-40B4-BE49-F238E27FC236}">
                <a16:creationId xmlns:a16="http://schemas.microsoft.com/office/drawing/2014/main" id="{469D6A43-8AC8-6329-E521-7B1F73CE4419}"/>
              </a:ext>
            </a:extLst>
          </p:cNvPr>
          <p:cNvPicPr>
            <a:picLocks noChangeAspect="1"/>
          </p:cNvPicPr>
          <p:nvPr/>
        </p:nvPicPr>
        <p:blipFill>
          <a:blip r:embed="rId4"/>
          <a:stretch>
            <a:fillRect/>
          </a:stretch>
        </p:blipFill>
        <p:spPr>
          <a:xfrm>
            <a:off x="4918260" y="4935308"/>
            <a:ext cx="4324613" cy="2060577"/>
          </a:xfrm>
          <a:prstGeom prst="rect">
            <a:avLst/>
          </a:prstGeom>
        </p:spPr>
      </p:pic>
      <p:sp>
        <p:nvSpPr>
          <p:cNvPr id="9" name="楕円 8">
            <a:extLst>
              <a:ext uri="{FF2B5EF4-FFF2-40B4-BE49-F238E27FC236}">
                <a16:creationId xmlns:a16="http://schemas.microsoft.com/office/drawing/2014/main" id="{2835C246-1A00-D2A5-C249-F22C7B89D752}"/>
              </a:ext>
            </a:extLst>
          </p:cNvPr>
          <p:cNvSpPr/>
          <p:nvPr/>
        </p:nvSpPr>
        <p:spPr>
          <a:xfrm>
            <a:off x="5269198" y="4819695"/>
            <a:ext cx="2014606" cy="319868"/>
          </a:xfrm>
          <a:prstGeom prst="ellipse">
            <a:avLst/>
          </a:prstGeom>
          <a:noFill/>
          <a:ln w="381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7839995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5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2 進数の数字が表示された CPU と青写真">
            <a:extLst>
              <a:ext uri="{FF2B5EF4-FFF2-40B4-BE49-F238E27FC236}">
                <a16:creationId xmlns:a16="http://schemas.microsoft.com/office/drawing/2014/main" id="{273EEEF4-5448-6621-ACCF-9FC5FC7106A0}"/>
              </a:ext>
            </a:extLst>
          </p:cNvPr>
          <p:cNvPicPr>
            <a:picLocks noChangeAspect="1"/>
          </p:cNvPicPr>
          <p:nvPr/>
        </p:nvPicPr>
        <p:blipFill rotWithShape="1">
          <a:blip r:embed="rId2">
            <a:alphaModFix amt="50000"/>
          </a:blip>
          <a:srcRect l="25"/>
          <a:stretch/>
        </p:blipFill>
        <p:spPr>
          <a:xfrm>
            <a:off x="20" y="10"/>
            <a:ext cx="12188930" cy="6857990"/>
          </a:xfrm>
          <a:prstGeom prst="rect">
            <a:avLst/>
          </a:prstGeom>
        </p:spPr>
      </p:pic>
      <p:sp>
        <p:nvSpPr>
          <p:cNvPr id="2" name="タイトル 1">
            <a:extLst>
              <a:ext uri="{FF2B5EF4-FFF2-40B4-BE49-F238E27FC236}">
                <a16:creationId xmlns:a16="http://schemas.microsoft.com/office/drawing/2014/main" id="{F985B9EF-5891-44BD-296C-D3F4FB4314FA}"/>
              </a:ext>
            </a:extLst>
          </p:cNvPr>
          <p:cNvSpPr>
            <a:spLocks noGrp="1"/>
          </p:cNvSpPr>
          <p:nvPr>
            <p:ph type="ctrTitle"/>
          </p:nvPr>
        </p:nvSpPr>
        <p:spPr>
          <a:xfrm>
            <a:off x="461394" y="1122363"/>
            <a:ext cx="11442583" cy="2489952"/>
          </a:xfrm>
        </p:spPr>
        <p:txBody>
          <a:bodyPr>
            <a:noAutofit/>
          </a:bodyPr>
          <a:lstStyle/>
          <a:p>
            <a:r>
              <a:rPr lang="en-US" altLang="ja-JP" sz="8000" dirty="0">
                <a:solidFill>
                  <a:schemeClr val="bg1"/>
                </a:solidFill>
              </a:rPr>
              <a:t>1bit-CPU</a:t>
            </a:r>
            <a:r>
              <a:rPr kumimoji="1" lang="ja-JP" altLang="en-US" sz="8000" dirty="0">
                <a:solidFill>
                  <a:schemeClr val="bg1"/>
                </a:solidFill>
              </a:rPr>
              <a:t>設計（</a:t>
            </a:r>
            <a:r>
              <a:rPr lang="en-US" altLang="ja-JP" sz="8000" dirty="0">
                <a:solidFill>
                  <a:schemeClr val="bg1"/>
                </a:solidFill>
              </a:rPr>
              <a:t>TR10</a:t>
            </a:r>
            <a:r>
              <a:rPr kumimoji="1" lang="ja-JP" altLang="en-US" sz="8000" dirty="0">
                <a:solidFill>
                  <a:schemeClr val="bg1"/>
                </a:solidFill>
              </a:rPr>
              <a:t>）</a:t>
            </a:r>
          </a:p>
        </p:txBody>
      </p:sp>
      <p:sp>
        <p:nvSpPr>
          <p:cNvPr id="3" name="字幕 2">
            <a:extLst>
              <a:ext uri="{FF2B5EF4-FFF2-40B4-BE49-F238E27FC236}">
                <a16:creationId xmlns:a16="http://schemas.microsoft.com/office/drawing/2014/main" id="{65EA143C-6BCF-C6CB-42E7-691F52B0855A}"/>
              </a:ext>
            </a:extLst>
          </p:cNvPr>
          <p:cNvSpPr>
            <a:spLocks noGrp="1"/>
          </p:cNvSpPr>
          <p:nvPr>
            <p:ph type="subTitle" idx="1"/>
          </p:nvPr>
        </p:nvSpPr>
        <p:spPr>
          <a:xfrm>
            <a:off x="1527048" y="4599432"/>
            <a:ext cx="9144000" cy="1959248"/>
          </a:xfrm>
        </p:spPr>
        <p:txBody>
          <a:bodyPr>
            <a:normAutofit/>
          </a:bodyPr>
          <a:lstStyle/>
          <a:p>
            <a:r>
              <a:rPr lang="en-US" altLang="zh-TW">
                <a:solidFill>
                  <a:schemeClr val="bg1"/>
                </a:solidFill>
              </a:rPr>
              <a:t>ISHI</a:t>
            </a:r>
            <a:r>
              <a:rPr lang="zh-TW" altLang="en-US">
                <a:solidFill>
                  <a:schemeClr val="bg1"/>
                </a:solidFill>
              </a:rPr>
              <a:t>会</a:t>
            </a:r>
            <a:endParaRPr lang="en-US" altLang="zh-TW">
              <a:solidFill>
                <a:schemeClr val="bg1"/>
              </a:solidFill>
            </a:endParaRPr>
          </a:p>
          <a:p>
            <a:r>
              <a:rPr lang="en-US" altLang="zh-TW">
                <a:solidFill>
                  <a:schemeClr val="bg1"/>
                </a:solidFill>
                <a:hlinkClick r:id="rId3"/>
              </a:rPr>
              <a:t>https://ishi-kai.org/</a:t>
            </a:r>
            <a:endParaRPr lang="en-US" altLang="zh-TW">
              <a:solidFill>
                <a:schemeClr val="bg1"/>
              </a:solidFill>
            </a:endParaRPr>
          </a:p>
          <a:p>
            <a:r>
              <a:rPr lang="en-US" altLang="zh-TW">
                <a:solidFill>
                  <a:schemeClr val="bg1"/>
                </a:solidFill>
              </a:rPr>
              <a:t>Mail: </a:t>
            </a:r>
            <a:r>
              <a:rPr lang="en-US" altLang="zh-TW" err="1">
                <a:solidFill>
                  <a:schemeClr val="bg1"/>
                </a:solidFill>
              </a:rPr>
              <a:t>info@ishi-kai.org</a:t>
            </a:r>
            <a:endParaRPr lang="en-US" altLang="zh-TW">
              <a:solidFill>
                <a:schemeClr val="bg1"/>
              </a:solidFill>
            </a:endParaRPr>
          </a:p>
        </p:txBody>
      </p:sp>
      <p:sp>
        <p:nvSpPr>
          <p:cNvPr id="6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64538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3CC0FA4-62F7-21FF-E582-690E2DB8B885}"/>
              </a:ext>
            </a:extLst>
          </p:cNvPr>
          <p:cNvSpPr>
            <a:spLocks noGrp="1"/>
          </p:cNvSpPr>
          <p:nvPr>
            <p:ph type="title"/>
          </p:nvPr>
        </p:nvSpPr>
        <p:spPr>
          <a:xfrm>
            <a:off x="699714" y="5490971"/>
            <a:ext cx="6962072" cy="1159200"/>
          </a:xfrm>
        </p:spPr>
        <p:txBody>
          <a:bodyPr vert="horz" lIns="91440" tIns="45720" rIns="91440" bIns="45720" rtlCol="0" anchor="ctr">
            <a:normAutofit/>
          </a:bodyPr>
          <a:lstStyle/>
          <a:p>
            <a:r>
              <a:rPr kumimoji="1" lang="ja-JP" altLang="en-US" sz="4000" kern="1200">
                <a:solidFill>
                  <a:srgbClr val="FFFFFF"/>
                </a:solidFill>
                <a:latin typeface="+mj-lt"/>
                <a:ea typeface="+mj-ea"/>
                <a:cs typeface="+mj-cs"/>
              </a:rPr>
              <a:t>論理合成</a:t>
            </a:r>
          </a:p>
        </p:txBody>
      </p:sp>
      <p:sp>
        <p:nvSpPr>
          <p:cNvPr id="3" name="コンテンツ プレースホルダー 2">
            <a:extLst>
              <a:ext uri="{FF2B5EF4-FFF2-40B4-BE49-F238E27FC236}">
                <a16:creationId xmlns:a16="http://schemas.microsoft.com/office/drawing/2014/main" id="{20269FBB-BA28-C2D7-DC4D-A13CE92754C8}"/>
              </a:ext>
            </a:extLst>
          </p:cNvPr>
          <p:cNvSpPr>
            <a:spLocks noGrp="1"/>
          </p:cNvSpPr>
          <p:nvPr>
            <p:ph idx="1"/>
          </p:nvPr>
        </p:nvSpPr>
        <p:spPr>
          <a:xfrm>
            <a:off x="8361501" y="5633765"/>
            <a:ext cx="3661165" cy="873612"/>
          </a:xfrm>
        </p:spPr>
        <p:txBody>
          <a:bodyPr vert="horz" lIns="91440" tIns="45720" rIns="91440" bIns="45720" rtlCol="0" anchor="ctr">
            <a:normAutofit lnSpcReduction="10000"/>
          </a:bodyPr>
          <a:lstStyle/>
          <a:p>
            <a:pPr marL="0" indent="0">
              <a:buNone/>
            </a:pPr>
            <a:r>
              <a:rPr kumimoji="1" lang="en-US" altLang="ja-JP" sz="1700" kern="1200" dirty="0">
                <a:solidFill>
                  <a:srgbClr val="FFFFFF"/>
                </a:solidFill>
                <a:latin typeface="+mn-lt"/>
                <a:ea typeface="+mn-ea"/>
                <a:cs typeface="+mn-cs"/>
              </a:rPr>
              <a:t>HDL</a:t>
            </a:r>
            <a:r>
              <a:rPr kumimoji="1" lang="ja-JP" altLang="en-US" sz="1700" kern="1200">
                <a:solidFill>
                  <a:srgbClr val="FFFFFF"/>
                </a:solidFill>
                <a:latin typeface="+mn-lt"/>
                <a:ea typeface="+mn-ea"/>
                <a:cs typeface="+mn-cs"/>
              </a:rPr>
              <a:t>（</a:t>
            </a:r>
            <a:r>
              <a:rPr lang="ja-JP" altLang="en-US" sz="1700" kern="1200">
                <a:solidFill>
                  <a:srgbClr val="FFFFFF"/>
                </a:solidFill>
                <a:latin typeface="+mn-lt"/>
                <a:ea typeface="+mn-ea"/>
                <a:cs typeface="+mn-cs"/>
              </a:rPr>
              <a:t>ハードウェア記述言語</a:t>
            </a:r>
            <a:r>
              <a:rPr kumimoji="1" lang="ja-JP" altLang="en-US" sz="1700" kern="1200">
                <a:solidFill>
                  <a:srgbClr val="FFFFFF"/>
                </a:solidFill>
                <a:latin typeface="+mn-lt"/>
                <a:ea typeface="+mn-ea"/>
                <a:cs typeface="+mn-cs"/>
              </a:rPr>
              <a:t>）で</a:t>
            </a:r>
            <a:endParaRPr kumimoji="1" lang="en-US" altLang="ja-JP" sz="1700" kern="1200" dirty="0">
              <a:solidFill>
                <a:srgbClr val="FFFFFF"/>
              </a:solidFill>
              <a:latin typeface="+mn-lt"/>
              <a:ea typeface="+mn-ea"/>
              <a:cs typeface="+mn-cs"/>
            </a:endParaRPr>
          </a:p>
          <a:p>
            <a:pPr marL="0" indent="0">
              <a:buNone/>
            </a:pPr>
            <a:r>
              <a:rPr kumimoji="1" lang="ja-JP" altLang="en-US" sz="1700" kern="1200">
                <a:solidFill>
                  <a:srgbClr val="FFFFFF"/>
                </a:solidFill>
                <a:latin typeface="+mn-lt"/>
                <a:ea typeface="+mn-ea"/>
                <a:cs typeface="+mn-cs"/>
              </a:rPr>
              <a:t>記述して、論理回路（</a:t>
            </a:r>
            <a:r>
              <a:rPr kumimoji="1" lang="en-US" altLang="ja-JP" sz="1700" kern="1200" dirty="0">
                <a:solidFill>
                  <a:srgbClr val="FFFFFF"/>
                </a:solidFill>
                <a:latin typeface="+mn-lt"/>
                <a:ea typeface="+mn-ea"/>
                <a:cs typeface="+mn-cs"/>
              </a:rPr>
              <a:t>RTL</a:t>
            </a:r>
            <a:r>
              <a:rPr kumimoji="1" lang="ja-JP" altLang="en-US" sz="1700" kern="1200">
                <a:solidFill>
                  <a:srgbClr val="FFFFFF"/>
                </a:solidFill>
                <a:latin typeface="+mn-lt"/>
                <a:ea typeface="+mn-ea"/>
                <a:cs typeface="+mn-cs"/>
              </a:rPr>
              <a:t>）にする</a:t>
            </a:r>
          </a:p>
        </p:txBody>
      </p:sp>
      <p:pic>
        <p:nvPicPr>
          <p:cNvPr id="1026" name="Picture 2">
            <a:extLst>
              <a:ext uri="{FF2B5EF4-FFF2-40B4-BE49-F238E27FC236}">
                <a16:creationId xmlns:a16="http://schemas.microsoft.com/office/drawing/2014/main" id="{2429B17B-B5DB-9E87-7EED-26CD40B502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8535" y="399039"/>
            <a:ext cx="11327549" cy="450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71615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D90AA-98EE-C40A-484B-AAA94404C2B5}"/>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2A77670-5182-AA40-F39B-B19ED067A82D}"/>
              </a:ext>
            </a:extLst>
          </p:cNvPr>
          <p:cNvSpPr>
            <a:spLocks noGrp="1"/>
          </p:cNvSpPr>
          <p:nvPr>
            <p:ph type="title"/>
          </p:nvPr>
        </p:nvSpPr>
        <p:spPr>
          <a:xfrm>
            <a:off x="1371597" y="348865"/>
            <a:ext cx="10044023" cy="877729"/>
          </a:xfrm>
        </p:spPr>
        <p:txBody>
          <a:bodyPr anchor="ctr">
            <a:normAutofit/>
          </a:bodyPr>
          <a:lstStyle/>
          <a:p>
            <a:r>
              <a:rPr kumimoji="1" lang="en-US" altLang="ja-JP" sz="4000" dirty="0" err="1">
                <a:solidFill>
                  <a:srgbClr val="FFFFFF"/>
                </a:solidFill>
              </a:rPr>
              <a:t>OpenLANE</a:t>
            </a:r>
            <a:r>
              <a:rPr kumimoji="1" lang="ja-JP" altLang="en-US" sz="4000">
                <a:solidFill>
                  <a:srgbClr val="FFFFFF"/>
                </a:solidFill>
              </a:rPr>
              <a:t>による生成フロー</a:t>
            </a:r>
          </a:p>
        </p:txBody>
      </p:sp>
      <p:grpSp>
        <p:nvGrpSpPr>
          <p:cNvPr id="6" name="グループ化 5">
            <a:extLst>
              <a:ext uri="{FF2B5EF4-FFF2-40B4-BE49-F238E27FC236}">
                <a16:creationId xmlns:a16="http://schemas.microsoft.com/office/drawing/2014/main" id="{04B67EC9-AD8C-D201-34A6-FA7094ABDC1E}"/>
              </a:ext>
            </a:extLst>
          </p:cNvPr>
          <p:cNvGrpSpPr/>
          <p:nvPr/>
        </p:nvGrpSpPr>
        <p:grpSpPr>
          <a:xfrm>
            <a:off x="3027506" y="2112579"/>
            <a:ext cx="6160929" cy="4211975"/>
            <a:chOff x="1254125" y="0"/>
            <a:chExt cx="9468364" cy="6736122"/>
          </a:xfrm>
        </p:grpSpPr>
        <p:pic>
          <p:nvPicPr>
            <p:cNvPr id="4" name="Picture 2" descr="A diagram showing the general stages of the OpenLane flow as a series of blocks">
              <a:extLst>
                <a:ext uri="{FF2B5EF4-FFF2-40B4-BE49-F238E27FC236}">
                  <a16:creationId xmlns:a16="http://schemas.microsoft.com/office/drawing/2014/main" id="{8364A213-C96A-5C12-1AD4-5BA9B99A28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125" y="0"/>
              <a:ext cx="9468364" cy="6705464"/>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C12F2AA1-841D-E04C-4CCA-0E343D027D87}"/>
                </a:ext>
              </a:extLst>
            </p:cNvPr>
            <p:cNvSpPr txBox="1"/>
            <p:nvPr/>
          </p:nvSpPr>
          <p:spPr>
            <a:xfrm>
              <a:off x="1542169" y="6349215"/>
              <a:ext cx="7238313" cy="386907"/>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defTabSz="740664">
                <a:spcAft>
                  <a:spcPts val="600"/>
                </a:spcAft>
              </a:pPr>
              <a:r>
                <a:rPr kumimoji="1" lang="ja-JP" altLang="en-US" sz="972" kern="1200">
                  <a:solidFill>
                    <a:schemeClr val="dk1"/>
                  </a:solidFill>
                  <a:latin typeface="+mn-lt"/>
                  <a:ea typeface="+mn-ea"/>
                  <a:cs typeface="+mn-cs"/>
                </a:rPr>
                <a:t>出典：</a:t>
              </a:r>
              <a:r>
                <a:rPr kumimoji="1" lang="en" altLang="ja-JP" sz="972" kern="1200" dirty="0">
                  <a:solidFill>
                    <a:schemeClr val="dk1"/>
                  </a:solidFill>
                  <a:latin typeface="+mn-lt"/>
                  <a:ea typeface="+mn-ea"/>
                  <a:cs typeface="+mn-cs"/>
                </a:rPr>
                <a:t>https://</a:t>
              </a:r>
              <a:r>
                <a:rPr kumimoji="1" lang="en" altLang="ja-JP" sz="972" kern="1200" dirty="0" err="1">
                  <a:solidFill>
                    <a:schemeClr val="dk1"/>
                  </a:solidFill>
                  <a:latin typeface="+mn-lt"/>
                  <a:ea typeface="+mn-ea"/>
                  <a:cs typeface="+mn-cs"/>
                </a:rPr>
                <a:t>openlane.readthedocs.io</a:t>
              </a:r>
              <a:r>
                <a:rPr kumimoji="1" lang="en" altLang="ja-JP" sz="972" kern="1200" dirty="0">
                  <a:solidFill>
                    <a:schemeClr val="dk1"/>
                  </a:solidFill>
                  <a:latin typeface="+mn-lt"/>
                  <a:ea typeface="+mn-ea"/>
                  <a:cs typeface="+mn-cs"/>
                </a:rPr>
                <a:t>/</a:t>
              </a:r>
              <a:r>
                <a:rPr kumimoji="1" lang="en" altLang="ja-JP" sz="972" kern="1200" dirty="0" err="1">
                  <a:solidFill>
                    <a:schemeClr val="dk1"/>
                  </a:solidFill>
                  <a:latin typeface="+mn-lt"/>
                  <a:ea typeface="+mn-ea"/>
                  <a:cs typeface="+mn-cs"/>
                </a:rPr>
                <a:t>en</a:t>
              </a:r>
              <a:r>
                <a:rPr kumimoji="1" lang="en" altLang="ja-JP" sz="972" kern="1200" dirty="0">
                  <a:solidFill>
                    <a:schemeClr val="dk1"/>
                  </a:solidFill>
                  <a:latin typeface="+mn-lt"/>
                  <a:ea typeface="+mn-ea"/>
                  <a:cs typeface="+mn-cs"/>
                </a:rPr>
                <a:t>/latest/</a:t>
              </a:r>
              <a:r>
                <a:rPr kumimoji="1" lang="en" altLang="ja-JP" sz="972" kern="1200" dirty="0" err="1">
                  <a:solidFill>
                    <a:schemeClr val="dk1"/>
                  </a:solidFill>
                  <a:latin typeface="+mn-lt"/>
                  <a:ea typeface="+mn-ea"/>
                  <a:cs typeface="+mn-cs"/>
                </a:rPr>
                <a:t>flow_overview.html</a:t>
              </a:r>
              <a:endParaRPr kumimoji="1" lang="ja-JP" altLang="en-US" sz="1200"/>
            </a:p>
          </p:txBody>
        </p:sp>
      </p:grpSp>
    </p:spTree>
    <p:extLst>
      <p:ext uri="{BB962C8B-B14F-4D97-AF65-F5344CB8AC3E}">
        <p14:creationId xmlns:p14="http://schemas.microsoft.com/office/powerpoint/2010/main" val="374527399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EDD35AE-7E22-6A31-F15F-4CA21DC3190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kumimoji="1" lang="ja-JP" altLang="en-US" sz="4000" kern="1200">
                <a:solidFill>
                  <a:srgbClr val="FFFFFF"/>
                </a:solidFill>
                <a:latin typeface="+mj-lt"/>
                <a:ea typeface="+mj-ea"/>
                <a:cs typeface="+mj-cs"/>
              </a:rPr>
              <a:t>生成フロー詳細</a:t>
            </a:r>
          </a:p>
        </p:txBody>
      </p:sp>
      <p:pic>
        <p:nvPicPr>
          <p:cNvPr id="4" name="図 3">
            <a:extLst>
              <a:ext uri="{FF2B5EF4-FFF2-40B4-BE49-F238E27FC236}">
                <a16:creationId xmlns:a16="http://schemas.microsoft.com/office/drawing/2014/main" id="{DCD821C5-E243-B1B4-30AB-0284B8190C91}"/>
              </a:ext>
            </a:extLst>
          </p:cNvPr>
          <p:cNvPicPr>
            <a:picLocks noChangeAspect="1"/>
          </p:cNvPicPr>
          <p:nvPr/>
        </p:nvPicPr>
        <p:blipFill>
          <a:blip r:embed="rId2"/>
          <a:stretch>
            <a:fillRect/>
          </a:stretch>
        </p:blipFill>
        <p:spPr>
          <a:xfrm>
            <a:off x="432225" y="2634835"/>
            <a:ext cx="11327549" cy="3115075"/>
          </a:xfrm>
          <a:prstGeom prst="rect">
            <a:avLst/>
          </a:prstGeom>
        </p:spPr>
      </p:pic>
    </p:spTree>
    <p:extLst>
      <p:ext uri="{BB962C8B-B14F-4D97-AF65-F5344CB8AC3E}">
        <p14:creationId xmlns:p14="http://schemas.microsoft.com/office/powerpoint/2010/main" val="247301248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E2A0A38-C38D-1CEC-BD29-19267013A68D}"/>
              </a:ext>
            </a:extLst>
          </p:cNvPr>
          <p:cNvSpPr>
            <a:spLocks noGrp="1"/>
          </p:cNvSpPr>
          <p:nvPr>
            <p:ph type="title"/>
          </p:nvPr>
        </p:nvSpPr>
        <p:spPr>
          <a:xfrm>
            <a:off x="1142639" y="561203"/>
            <a:ext cx="9932691" cy="1165996"/>
          </a:xfrm>
        </p:spPr>
        <p:txBody>
          <a:bodyPr vert="horz" lIns="91440" tIns="45720" rIns="91440" bIns="45720" rtlCol="0" anchor="b">
            <a:normAutofit/>
          </a:bodyPr>
          <a:lstStyle/>
          <a:p>
            <a:pPr algn="ctr"/>
            <a:r>
              <a:rPr kumimoji="1" lang="ja-JP" altLang="en-US" sz="4800">
                <a:solidFill>
                  <a:srgbClr val="FFFFFF"/>
                </a:solidFill>
              </a:rPr>
              <a:t>論理回路の正体</a:t>
            </a:r>
          </a:p>
        </p:txBody>
      </p:sp>
      <p:sp>
        <p:nvSpPr>
          <p:cNvPr id="20" name="Rectangle 19">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48B5E49-DD54-33C6-E327-176439E6F59C}"/>
              </a:ext>
            </a:extLst>
          </p:cNvPr>
          <p:cNvSpPr>
            <a:spLocks noGrp="1"/>
          </p:cNvSpPr>
          <p:nvPr>
            <p:ph idx="1"/>
          </p:nvPr>
        </p:nvSpPr>
        <p:spPr>
          <a:xfrm>
            <a:off x="1127570" y="5791201"/>
            <a:ext cx="9932690" cy="508000"/>
          </a:xfrm>
        </p:spPr>
        <p:txBody>
          <a:bodyPr vert="horz" lIns="91440" tIns="45720" rIns="91440" bIns="45720" rtlCol="0" anchor="t">
            <a:normAutofit/>
          </a:bodyPr>
          <a:lstStyle/>
          <a:p>
            <a:pPr marL="0" indent="0" algn="ctr">
              <a:buNone/>
            </a:pPr>
            <a:r>
              <a:rPr kumimoji="1" lang="ja-JP" altLang="en-US" sz="2400" dirty="0">
                <a:solidFill>
                  <a:srgbClr val="FFFFFF"/>
                </a:solidFill>
              </a:rPr>
              <a:t>中身は</a:t>
            </a:r>
            <a:r>
              <a:rPr kumimoji="1" lang="en-US" altLang="ja-JP" sz="2400" dirty="0">
                <a:solidFill>
                  <a:srgbClr val="FFFFFF"/>
                </a:solidFill>
              </a:rPr>
              <a:t>PMOS</a:t>
            </a:r>
            <a:r>
              <a:rPr kumimoji="1" lang="ja-JP" altLang="en-US" sz="2400" dirty="0">
                <a:solidFill>
                  <a:srgbClr val="FFFFFF"/>
                </a:solidFill>
              </a:rPr>
              <a:t>と</a:t>
            </a:r>
            <a:r>
              <a:rPr kumimoji="1" lang="en-US" altLang="ja-JP" sz="2400" dirty="0">
                <a:solidFill>
                  <a:srgbClr val="FFFFFF"/>
                </a:solidFill>
              </a:rPr>
              <a:t>NMOS</a:t>
            </a:r>
          </a:p>
        </p:txBody>
      </p:sp>
      <p:pic>
        <p:nvPicPr>
          <p:cNvPr id="4" name="図 3">
            <a:extLst>
              <a:ext uri="{FF2B5EF4-FFF2-40B4-BE49-F238E27FC236}">
                <a16:creationId xmlns:a16="http://schemas.microsoft.com/office/drawing/2014/main" id="{2F000BF8-B979-5889-88FA-61CABD0EFEEB}"/>
              </a:ext>
            </a:extLst>
          </p:cNvPr>
          <p:cNvPicPr>
            <a:picLocks noChangeAspect="1"/>
          </p:cNvPicPr>
          <p:nvPr/>
        </p:nvPicPr>
        <p:blipFill>
          <a:blip r:embed="rId2"/>
          <a:srcRect b="58946"/>
          <a:stretch>
            <a:fillRect/>
          </a:stretch>
        </p:blipFill>
        <p:spPr>
          <a:xfrm>
            <a:off x="1603221" y="2133758"/>
            <a:ext cx="4039294" cy="3235692"/>
          </a:xfrm>
          <a:prstGeom prst="rect">
            <a:avLst/>
          </a:prstGeom>
        </p:spPr>
      </p:pic>
      <p:pic>
        <p:nvPicPr>
          <p:cNvPr id="5" name="図 4">
            <a:extLst>
              <a:ext uri="{FF2B5EF4-FFF2-40B4-BE49-F238E27FC236}">
                <a16:creationId xmlns:a16="http://schemas.microsoft.com/office/drawing/2014/main" id="{73233099-7B57-48D5-FA60-51180A3FB056}"/>
              </a:ext>
            </a:extLst>
          </p:cNvPr>
          <p:cNvPicPr>
            <a:picLocks noChangeAspect="1"/>
          </p:cNvPicPr>
          <p:nvPr/>
        </p:nvPicPr>
        <p:blipFill>
          <a:blip r:embed="rId3"/>
          <a:stretch>
            <a:fillRect/>
          </a:stretch>
        </p:blipFill>
        <p:spPr>
          <a:xfrm>
            <a:off x="6996132" y="2133600"/>
            <a:ext cx="3195399" cy="3235849"/>
          </a:xfrm>
          <a:prstGeom prst="rect">
            <a:avLst/>
          </a:prstGeom>
        </p:spPr>
      </p:pic>
    </p:spTree>
    <p:extLst>
      <p:ext uri="{BB962C8B-B14F-4D97-AF65-F5344CB8AC3E}">
        <p14:creationId xmlns:p14="http://schemas.microsoft.com/office/powerpoint/2010/main" val="223179376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DC07B27-4E3C-4BCF-ABDB-6AA72857C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19000">
                <a:srgbClr val="000000">
                  <a:alpha val="96000"/>
                </a:srgbClr>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3D11BE6-2A04-4DBB-842D-88602B5E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12437"/>
            <a:ext cx="11713464" cy="6844063"/>
          </a:xfrm>
          <a:prstGeom prst="rect">
            <a:avLst/>
          </a:prstGeom>
          <a:gradFill>
            <a:gsLst>
              <a:gs pos="0">
                <a:srgbClr val="000000">
                  <a:alpha val="71765"/>
                </a:srgbClr>
              </a:gs>
              <a:gs pos="100000">
                <a:schemeClr val="accent1">
                  <a:alpha val="2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A05E02A-9AA9-45EC-B87B-B46F043F3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 y="2724072"/>
            <a:ext cx="12192008" cy="4114801"/>
          </a:xfrm>
          <a:prstGeom prst="rect">
            <a:avLst/>
          </a:prstGeom>
          <a:gradFill>
            <a:gsLst>
              <a:gs pos="30000">
                <a:schemeClr val="accent1">
                  <a:lumMod val="75000"/>
                  <a:alpha val="19000"/>
                </a:schemeClr>
              </a:gs>
              <a:gs pos="100000">
                <a:schemeClr val="accent1">
                  <a:alpha val="24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E91EDBA-E8E0-4575-8147-B70034521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9672" y="1716338"/>
            <a:ext cx="6858003" cy="3422328"/>
          </a:xfrm>
          <a:prstGeom prst="rect">
            <a:avLst/>
          </a:prstGeom>
          <a:gradFill>
            <a:gsLst>
              <a:gs pos="0">
                <a:schemeClr val="accent1">
                  <a:alpha val="52000"/>
                </a:schemeClr>
              </a:gs>
              <a:gs pos="76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A7D9547-E259-1BDB-63BB-D2DC57427287}"/>
              </a:ext>
            </a:extLst>
          </p:cNvPr>
          <p:cNvSpPr>
            <a:spLocks noGrp="1"/>
          </p:cNvSpPr>
          <p:nvPr>
            <p:ph type="title"/>
          </p:nvPr>
        </p:nvSpPr>
        <p:spPr>
          <a:xfrm>
            <a:off x="35638" y="51706"/>
            <a:ext cx="9867331" cy="1167495"/>
          </a:xfrm>
        </p:spPr>
        <p:txBody>
          <a:bodyPr vert="horz" lIns="91440" tIns="45720" rIns="91440" bIns="45720" rtlCol="0" anchor="b">
            <a:normAutofit/>
          </a:bodyPr>
          <a:lstStyle/>
          <a:p>
            <a:pPr algn="ctr"/>
            <a:r>
              <a:rPr kumimoji="1" lang="ja-JP" altLang="en-US" sz="4800">
                <a:solidFill>
                  <a:srgbClr val="FFFFFF"/>
                </a:solidFill>
              </a:rPr>
              <a:t>スタンダードセル</a:t>
            </a:r>
          </a:p>
        </p:txBody>
      </p:sp>
      <p:sp>
        <p:nvSpPr>
          <p:cNvPr id="32" name="Rectangle 31">
            <a:extLst>
              <a:ext uri="{FF2B5EF4-FFF2-40B4-BE49-F238E27FC236}">
                <a16:creationId xmlns:a16="http://schemas.microsoft.com/office/drawing/2014/main" id="{DFEE4473-A122-4E96-8C31-B4C5AAA27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23" y="2706446"/>
            <a:ext cx="12191997" cy="3711900"/>
          </a:xfrm>
          <a:prstGeom prst="rect">
            <a:avLst/>
          </a:prstGeom>
          <a:gradFill>
            <a:gsLst>
              <a:gs pos="0">
                <a:srgbClr val="000000">
                  <a:alpha val="50000"/>
                </a:srgbClr>
              </a:gs>
              <a:gs pos="92000">
                <a:schemeClr val="accent1">
                  <a:lumMod val="75000"/>
                  <a:alpha val="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78B4FF61-A676-C029-1EFF-6C41C52F33DD}"/>
              </a:ext>
            </a:extLst>
          </p:cNvPr>
          <p:cNvPicPr>
            <a:picLocks noChangeAspect="1"/>
          </p:cNvPicPr>
          <p:nvPr/>
        </p:nvPicPr>
        <p:blipFill>
          <a:blip r:embed="rId2"/>
          <a:stretch>
            <a:fillRect/>
          </a:stretch>
        </p:blipFill>
        <p:spPr>
          <a:xfrm>
            <a:off x="3658463" y="1741135"/>
            <a:ext cx="4880644" cy="4942427"/>
          </a:xfrm>
          <a:prstGeom prst="rect">
            <a:avLst/>
          </a:prstGeom>
        </p:spPr>
      </p:pic>
      <p:pic>
        <p:nvPicPr>
          <p:cNvPr id="6" name="図 5">
            <a:extLst>
              <a:ext uri="{FF2B5EF4-FFF2-40B4-BE49-F238E27FC236}">
                <a16:creationId xmlns:a16="http://schemas.microsoft.com/office/drawing/2014/main" id="{BBA4F234-A337-A124-1630-143A272FEAD9}"/>
              </a:ext>
            </a:extLst>
          </p:cNvPr>
          <p:cNvPicPr>
            <a:picLocks noChangeAspect="1"/>
          </p:cNvPicPr>
          <p:nvPr/>
        </p:nvPicPr>
        <p:blipFill>
          <a:blip r:embed="rId3"/>
          <a:srcRect r="54579"/>
          <a:stretch>
            <a:fillRect/>
          </a:stretch>
        </p:blipFill>
        <p:spPr>
          <a:xfrm>
            <a:off x="8812306" y="-5113"/>
            <a:ext cx="3359506" cy="6858005"/>
          </a:xfrm>
          <a:prstGeom prst="rect">
            <a:avLst/>
          </a:prstGeom>
        </p:spPr>
      </p:pic>
      <p:pic>
        <p:nvPicPr>
          <p:cNvPr id="4" name="図 3">
            <a:extLst>
              <a:ext uri="{FF2B5EF4-FFF2-40B4-BE49-F238E27FC236}">
                <a16:creationId xmlns:a16="http://schemas.microsoft.com/office/drawing/2014/main" id="{8C46182D-E64E-D182-18AD-3A84F4CC12BC}"/>
              </a:ext>
            </a:extLst>
          </p:cNvPr>
          <p:cNvPicPr>
            <a:picLocks noChangeAspect="1"/>
          </p:cNvPicPr>
          <p:nvPr/>
        </p:nvPicPr>
        <p:blipFill>
          <a:blip r:embed="rId4"/>
          <a:srcRect b="58946"/>
          <a:stretch>
            <a:fillRect/>
          </a:stretch>
        </p:blipFill>
        <p:spPr>
          <a:xfrm>
            <a:off x="129365" y="2435294"/>
            <a:ext cx="3422329" cy="2741469"/>
          </a:xfrm>
          <a:prstGeom prst="rect">
            <a:avLst/>
          </a:prstGeom>
        </p:spPr>
      </p:pic>
    </p:spTree>
    <p:extLst>
      <p:ext uri="{BB962C8B-B14F-4D97-AF65-F5344CB8AC3E}">
        <p14:creationId xmlns:p14="http://schemas.microsoft.com/office/powerpoint/2010/main" val="22348091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16E6E-2686-4459-13E2-79794CFF8FC7}"/>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5F94AF90-3A44-6261-DBED-37FF9BB75AB1}"/>
              </a:ext>
            </a:extLst>
          </p:cNvPr>
          <p:cNvPicPr>
            <a:picLocks noChangeAspect="1"/>
          </p:cNvPicPr>
          <p:nvPr/>
        </p:nvPicPr>
        <p:blipFill>
          <a:blip r:embed="rId2"/>
          <a:srcRect t="1903" r="1" b="7757"/>
          <a:stretch>
            <a:fillRect/>
          </a:stretch>
        </p:blipFill>
        <p:spPr>
          <a:xfrm>
            <a:off x="20" y="10"/>
            <a:ext cx="12191979" cy="6857989"/>
          </a:xfrm>
          <a:prstGeom prst="rect">
            <a:avLst/>
          </a:prstGeom>
        </p:spPr>
      </p:pic>
      <p:sp useBgFill="1">
        <p:nvSpPr>
          <p:cNvPr id="12" name="Freeform: Shape 11">
            <a:extLst>
              <a:ext uri="{FF2B5EF4-FFF2-40B4-BE49-F238E27FC236}">
                <a16:creationId xmlns:a16="http://schemas.microsoft.com/office/drawing/2014/main" id="{1BF4DD63-CE83-4A2A-994E-8598C22E6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9" y="1498601"/>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A901BF83-A4AE-FA63-BDEA-0CE42EDA2A67}"/>
              </a:ext>
            </a:extLst>
          </p:cNvPr>
          <p:cNvSpPr>
            <a:spLocks noGrp="1"/>
          </p:cNvSpPr>
          <p:nvPr>
            <p:ph type="title"/>
          </p:nvPr>
        </p:nvSpPr>
        <p:spPr>
          <a:xfrm>
            <a:off x="1287462" y="2037441"/>
            <a:ext cx="4391024" cy="707886"/>
          </a:xfrm>
        </p:spPr>
        <p:txBody>
          <a:bodyPr anchor="t">
            <a:normAutofit/>
          </a:bodyPr>
          <a:lstStyle/>
          <a:p>
            <a:r>
              <a:rPr kumimoji="1" lang="ja-JP" altLang="en-US" sz="2800">
                <a:solidFill>
                  <a:schemeClr val="bg1"/>
                </a:solidFill>
              </a:rPr>
              <a:t>スタンダードセルの特徴</a:t>
            </a:r>
          </a:p>
        </p:txBody>
      </p:sp>
      <p:sp>
        <p:nvSpPr>
          <p:cNvPr id="3" name="コンテンツ プレースホルダー 2">
            <a:extLst>
              <a:ext uri="{FF2B5EF4-FFF2-40B4-BE49-F238E27FC236}">
                <a16:creationId xmlns:a16="http://schemas.microsoft.com/office/drawing/2014/main" id="{12127A80-93F5-D9C1-771D-B5F9DA692EC7}"/>
              </a:ext>
            </a:extLst>
          </p:cNvPr>
          <p:cNvSpPr>
            <a:spLocks noGrp="1"/>
          </p:cNvSpPr>
          <p:nvPr>
            <p:ph idx="1"/>
          </p:nvPr>
        </p:nvSpPr>
        <p:spPr>
          <a:xfrm>
            <a:off x="1287463" y="2926800"/>
            <a:ext cx="4391024" cy="2291086"/>
          </a:xfrm>
        </p:spPr>
        <p:txBody>
          <a:bodyPr>
            <a:normAutofit/>
          </a:bodyPr>
          <a:lstStyle/>
          <a:p>
            <a:r>
              <a:rPr kumimoji="1" lang="ja-JP" altLang="en-US" sz="2400">
                <a:solidFill>
                  <a:schemeClr val="bg1">
                    <a:alpha val="80000"/>
                  </a:schemeClr>
                </a:solidFill>
              </a:rPr>
              <a:t>縦の長さは均一</a:t>
            </a:r>
            <a:endParaRPr kumimoji="1" lang="en-US" altLang="ja-JP" sz="2400" dirty="0">
              <a:solidFill>
                <a:schemeClr val="bg1">
                  <a:alpha val="80000"/>
                </a:schemeClr>
              </a:solidFill>
            </a:endParaRPr>
          </a:p>
          <a:p>
            <a:r>
              <a:rPr lang="ja-JP" altLang="en-US" sz="2400">
                <a:solidFill>
                  <a:schemeClr val="bg1">
                    <a:alpha val="80000"/>
                  </a:schemeClr>
                </a:solidFill>
              </a:rPr>
              <a:t>横の長さが何種類かある</a:t>
            </a:r>
            <a:endParaRPr kumimoji="1" lang="ja-JP" altLang="en-US" sz="2400">
              <a:solidFill>
                <a:schemeClr val="bg1">
                  <a:alpha val="80000"/>
                </a:schemeClr>
              </a:solidFill>
            </a:endParaRPr>
          </a:p>
        </p:txBody>
      </p:sp>
      <p:sp>
        <p:nvSpPr>
          <p:cNvPr id="14" name="Freeform: Shape 13">
            <a:extLst>
              <a:ext uri="{FF2B5EF4-FFF2-40B4-BE49-F238E27FC236}">
                <a16:creationId xmlns:a16="http://schemas.microsoft.com/office/drawing/2014/main" id="{127393A7-D6DA-410B-8699-AA56B57B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8EC44C88-69E3-42EE-86E8-9B45F712B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図 7">
            <a:extLst>
              <a:ext uri="{FF2B5EF4-FFF2-40B4-BE49-F238E27FC236}">
                <a16:creationId xmlns:a16="http://schemas.microsoft.com/office/drawing/2014/main" id="{7B7CB30A-22F3-3534-19D0-3CF1852C40F3}"/>
              </a:ext>
            </a:extLst>
          </p:cNvPr>
          <p:cNvPicPr>
            <a:picLocks noChangeAspect="1"/>
          </p:cNvPicPr>
          <p:nvPr/>
        </p:nvPicPr>
        <p:blipFill>
          <a:blip r:embed="rId4"/>
          <a:stretch>
            <a:fillRect/>
          </a:stretch>
        </p:blipFill>
        <p:spPr>
          <a:xfrm>
            <a:off x="51923" y="5554646"/>
            <a:ext cx="10355942" cy="1246549"/>
          </a:xfrm>
          <a:prstGeom prst="rect">
            <a:avLst/>
          </a:prstGeom>
        </p:spPr>
      </p:pic>
    </p:spTree>
    <p:extLst>
      <p:ext uri="{BB962C8B-B14F-4D97-AF65-F5344CB8AC3E}">
        <p14:creationId xmlns:p14="http://schemas.microsoft.com/office/powerpoint/2010/main" val="297573974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Freeform: Shape 10">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コンテンツ プレースホルダー 3" descr="テーブル&#10;&#10;AI 生成コンテンツは誤りを含む可能性があります。">
            <a:extLst>
              <a:ext uri="{FF2B5EF4-FFF2-40B4-BE49-F238E27FC236}">
                <a16:creationId xmlns:a16="http://schemas.microsoft.com/office/drawing/2014/main" id="{841729A7-E38E-B124-E56E-7437E61D56C6}"/>
              </a:ext>
            </a:extLst>
          </p:cNvPr>
          <p:cNvPicPr>
            <a:picLocks noGrp="1" noChangeAspect="1"/>
          </p:cNvPicPr>
          <p:nvPr>
            <p:ph idx="1"/>
          </p:nvPr>
        </p:nvPicPr>
        <p:blipFill>
          <a:blip r:embed="rId2"/>
          <a:stretch>
            <a:fillRect/>
          </a:stretch>
        </p:blipFill>
        <p:spPr>
          <a:xfrm>
            <a:off x="731112" y="643466"/>
            <a:ext cx="6872633" cy="5566833"/>
          </a:xfrm>
          <a:prstGeom prst="rect">
            <a:avLst/>
          </a:prstGeom>
        </p:spPr>
      </p:pic>
      <p:grpSp>
        <p:nvGrpSpPr>
          <p:cNvPr id="13" name="Group 12">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14"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0"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6632377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47001E8E-1582-8521-56D2-F73779497A12}"/>
              </a:ext>
            </a:extLst>
          </p:cNvPr>
          <p:cNvPicPr>
            <a:picLocks noChangeAspect="1"/>
          </p:cNvPicPr>
          <p:nvPr/>
        </p:nvPicPr>
        <p:blipFill>
          <a:blip r:embed="rId2"/>
          <a:srcRect t="2303" r="5" b="6010"/>
          <a:stretch>
            <a:fillRect/>
          </a:stretch>
        </p:blipFill>
        <p:spPr>
          <a:xfrm>
            <a:off x="20" y="10"/>
            <a:ext cx="12191979" cy="6857989"/>
          </a:xfrm>
          <a:prstGeom prst="rect">
            <a:avLst/>
          </a:prstGeom>
        </p:spPr>
      </p:pic>
      <p:sp useBgFill="1">
        <p:nvSpPr>
          <p:cNvPr id="9" name="Freeform: Shape 8">
            <a:extLst>
              <a:ext uri="{FF2B5EF4-FFF2-40B4-BE49-F238E27FC236}">
                <a16:creationId xmlns:a16="http://schemas.microsoft.com/office/drawing/2014/main" id="{1BF4DD63-CE83-4A2A-994E-8598C22E6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9" y="1498601"/>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0453D6FB-F9E1-F64A-1079-F2304DD4979E}"/>
              </a:ext>
            </a:extLst>
          </p:cNvPr>
          <p:cNvSpPr>
            <a:spLocks noGrp="1"/>
          </p:cNvSpPr>
          <p:nvPr>
            <p:ph type="title"/>
          </p:nvPr>
        </p:nvSpPr>
        <p:spPr>
          <a:xfrm>
            <a:off x="1287462" y="2037441"/>
            <a:ext cx="4391024" cy="707886"/>
          </a:xfrm>
        </p:spPr>
        <p:txBody>
          <a:bodyPr anchor="t">
            <a:normAutofit/>
          </a:bodyPr>
          <a:lstStyle/>
          <a:p>
            <a:r>
              <a:rPr lang="ja-JP" altLang="en-US" sz="2800">
                <a:solidFill>
                  <a:schemeClr val="bg1"/>
                </a:solidFill>
              </a:rPr>
              <a:t>スタンダードセルの特徴</a:t>
            </a:r>
            <a:endParaRPr kumimoji="1" lang="ja-JP" altLang="en-US" sz="2800">
              <a:solidFill>
                <a:schemeClr val="bg1"/>
              </a:solidFill>
            </a:endParaRPr>
          </a:p>
        </p:txBody>
      </p:sp>
      <p:sp>
        <p:nvSpPr>
          <p:cNvPr id="3" name="コンテンツ プレースホルダー 2">
            <a:extLst>
              <a:ext uri="{FF2B5EF4-FFF2-40B4-BE49-F238E27FC236}">
                <a16:creationId xmlns:a16="http://schemas.microsoft.com/office/drawing/2014/main" id="{B52C9D2E-FF23-8A88-47E9-985E0776ECCE}"/>
              </a:ext>
            </a:extLst>
          </p:cNvPr>
          <p:cNvSpPr>
            <a:spLocks noGrp="1"/>
          </p:cNvSpPr>
          <p:nvPr>
            <p:ph idx="1"/>
          </p:nvPr>
        </p:nvSpPr>
        <p:spPr>
          <a:xfrm>
            <a:off x="1287463" y="2926800"/>
            <a:ext cx="4391024" cy="2291086"/>
          </a:xfrm>
        </p:spPr>
        <p:txBody>
          <a:bodyPr>
            <a:normAutofit/>
          </a:bodyPr>
          <a:lstStyle/>
          <a:p>
            <a:r>
              <a:rPr kumimoji="1" lang="ja-JP" altLang="en-US" sz="2400" dirty="0">
                <a:solidFill>
                  <a:schemeClr val="bg1">
                    <a:alpha val="80000"/>
                  </a:schemeClr>
                </a:solidFill>
              </a:rPr>
              <a:t>上が</a:t>
            </a:r>
            <a:r>
              <a:rPr kumimoji="1" lang="en-US" altLang="ja-JP" sz="2400" dirty="0">
                <a:solidFill>
                  <a:schemeClr val="bg1">
                    <a:alpha val="80000"/>
                  </a:schemeClr>
                </a:solidFill>
              </a:rPr>
              <a:t>PMOS</a:t>
            </a:r>
            <a:r>
              <a:rPr lang="en-US" altLang="ja-JP" sz="2400" dirty="0">
                <a:solidFill>
                  <a:schemeClr val="bg1">
                    <a:alpha val="80000"/>
                  </a:schemeClr>
                </a:solidFill>
              </a:rPr>
              <a:t>,</a:t>
            </a:r>
            <a:r>
              <a:rPr lang="ja-JP" altLang="en-US" sz="2400" dirty="0">
                <a:solidFill>
                  <a:schemeClr val="bg1">
                    <a:alpha val="80000"/>
                  </a:schemeClr>
                </a:solidFill>
              </a:rPr>
              <a:t>下が</a:t>
            </a:r>
            <a:r>
              <a:rPr lang="en-US" altLang="ja-JP" sz="2400" dirty="0">
                <a:solidFill>
                  <a:schemeClr val="bg1">
                    <a:alpha val="80000"/>
                  </a:schemeClr>
                </a:solidFill>
              </a:rPr>
              <a:t>NMOS</a:t>
            </a:r>
          </a:p>
          <a:p>
            <a:r>
              <a:rPr kumimoji="1" lang="en-US" altLang="ja-JP" sz="2400" dirty="0">
                <a:solidFill>
                  <a:schemeClr val="bg1">
                    <a:alpha val="80000"/>
                  </a:schemeClr>
                </a:solidFill>
              </a:rPr>
              <a:t>VDD</a:t>
            </a:r>
            <a:r>
              <a:rPr kumimoji="1" lang="ja-JP" altLang="en-US" sz="2400" dirty="0">
                <a:solidFill>
                  <a:schemeClr val="bg1">
                    <a:alpha val="80000"/>
                  </a:schemeClr>
                </a:solidFill>
              </a:rPr>
              <a:t>と</a:t>
            </a:r>
            <a:r>
              <a:rPr kumimoji="1" lang="en-US" altLang="ja-JP" sz="2400" dirty="0">
                <a:solidFill>
                  <a:schemeClr val="bg1">
                    <a:alpha val="80000"/>
                  </a:schemeClr>
                </a:solidFill>
              </a:rPr>
              <a:t>VSS</a:t>
            </a:r>
            <a:r>
              <a:rPr kumimoji="1" lang="ja-JP" altLang="en-US" sz="2400" dirty="0">
                <a:solidFill>
                  <a:schemeClr val="bg1">
                    <a:alpha val="80000"/>
                  </a:schemeClr>
                </a:solidFill>
              </a:rPr>
              <a:t>ラインがある</a:t>
            </a:r>
            <a:endParaRPr kumimoji="1" lang="en-US" altLang="ja-JP" sz="2400" dirty="0">
              <a:solidFill>
                <a:schemeClr val="bg1">
                  <a:alpha val="80000"/>
                </a:schemeClr>
              </a:solidFill>
            </a:endParaRPr>
          </a:p>
          <a:p>
            <a:r>
              <a:rPr lang="ja-JP" altLang="en-US" sz="2400" dirty="0">
                <a:solidFill>
                  <a:schemeClr val="bg1">
                    <a:alpha val="80000"/>
                  </a:schemeClr>
                </a:solidFill>
              </a:rPr>
              <a:t>ポートは何種類かある</a:t>
            </a:r>
            <a:endParaRPr kumimoji="1" lang="ja-JP" altLang="en-US" sz="2400" dirty="0">
              <a:solidFill>
                <a:schemeClr val="bg1">
                  <a:alpha val="80000"/>
                </a:schemeClr>
              </a:solidFill>
            </a:endParaRPr>
          </a:p>
        </p:txBody>
      </p:sp>
      <p:sp>
        <p:nvSpPr>
          <p:cNvPr id="11" name="Freeform: Shape 10">
            <a:extLst>
              <a:ext uri="{FF2B5EF4-FFF2-40B4-BE49-F238E27FC236}">
                <a16:creationId xmlns:a16="http://schemas.microsoft.com/office/drawing/2014/main" id="{127393A7-D6DA-410B-8699-AA56B57B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8EC44C88-69E3-42EE-86E8-9B45F712B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角丸四角形吹き出し 4">
            <a:extLst>
              <a:ext uri="{FF2B5EF4-FFF2-40B4-BE49-F238E27FC236}">
                <a16:creationId xmlns:a16="http://schemas.microsoft.com/office/drawing/2014/main" id="{6C2F1764-764A-200F-C107-67B5634E7BD8}"/>
              </a:ext>
            </a:extLst>
          </p:cNvPr>
          <p:cNvSpPr/>
          <p:nvPr/>
        </p:nvSpPr>
        <p:spPr>
          <a:xfrm>
            <a:off x="2133600" y="0"/>
            <a:ext cx="1710266" cy="609600"/>
          </a:xfrm>
          <a:prstGeom prst="wedgeRoundRectCallout">
            <a:avLst>
              <a:gd name="adj1" fmla="val -30734"/>
              <a:gd name="adj2" fmla="val 8194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a:t>ライン</a:t>
            </a:r>
          </a:p>
        </p:txBody>
      </p:sp>
      <p:sp>
        <p:nvSpPr>
          <p:cNvPr id="6" name="角丸四角形吹き出し 5">
            <a:extLst>
              <a:ext uri="{FF2B5EF4-FFF2-40B4-BE49-F238E27FC236}">
                <a16:creationId xmlns:a16="http://schemas.microsoft.com/office/drawing/2014/main" id="{6D35B884-E46D-6C27-904E-A778A53CE8CB}"/>
              </a:ext>
            </a:extLst>
          </p:cNvPr>
          <p:cNvSpPr/>
          <p:nvPr/>
        </p:nvSpPr>
        <p:spPr>
          <a:xfrm>
            <a:off x="2133600" y="0"/>
            <a:ext cx="1710266" cy="609600"/>
          </a:xfrm>
          <a:prstGeom prst="wedgeRoundRectCallout">
            <a:avLst>
              <a:gd name="adj1" fmla="val 119761"/>
              <a:gd name="adj2" fmla="val 6805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a:t>ライン</a:t>
            </a:r>
          </a:p>
        </p:txBody>
      </p:sp>
      <p:sp>
        <p:nvSpPr>
          <p:cNvPr id="7" name="角丸四角形吹き出し 6">
            <a:extLst>
              <a:ext uri="{FF2B5EF4-FFF2-40B4-BE49-F238E27FC236}">
                <a16:creationId xmlns:a16="http://schemas.microsoft.com/office/drawing/2014/main" id="{F2753041-6A33-7E49-3EA7-039C39DA64C4}"/>
              </a:ext>
            </a:extLst>
          </p:cNvPr>
          <p:cNvSpPr/>
          <p:nvPr/>
        </p:nvSpPr>
        <p:spPr>
          <a:xfrm>
            <a:off x="432329" y="5432663"/>
            <a:ext cx="1710266" cy="609600"/>
          </a:xfrm>
          <a:prstGeom prst="wedgeRoundRectCallout">
            <a:avLst>
              <a:gd name="adj1" fmla="val 47484"/>
              <a:gd name="adj2" fmla="val 11805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ja-JP" dirty="0"/>
              <a:t>VSS</a:t>
            </a:r>
            <a:r>
              <a:rPr kumimoji="1" lang="ja-JP" altLang="en-US"/>
              <a:t>ライン</a:t>
            </a:r>
          </a:p>
        </p:txBody>
      </p:sp>
      <p:sp>
        <p:nvSpPr>
          <p:cNvPr id="8" name="角丸四角形吹き出し 7">
            <a:extLst>
              <a:ext uri="{FF2B5EF4-FFF2-40B4-BE49-F238E27FC236}">
                <a16:creationId xmlns:a16="http://schemas.microsoft.com/office/drawing/2014/main" id="{4923FB3F-F246-B1E0-FBE9-F65454BB1297}"/>
              </a:ext>
            </a:extLst>
          </p:cNvPr>
          <p:cNvSpPr/>
          <p:nvPr/>
        </p:nvSpPr>
        <p:spPr>
          <a:xfrm>
            <a:off x="432329" y="5432663"/>
            <a:ext cx="1710266" cy="609600"/>
          </a:xfrm>
          <a:prstGeom prst="wedgeRoundRectCallout">
            <a:avLst>
              <a:gd name="adj1" fmla="val 231643"/>
              <a:gd name="adj2" fmla="val 126388"/>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ja-JP" dirty="0"/>
              <a:t>VSS</a:t>
            </a:r>
            <a:r>
              <a:rPr kumimoji="1" lang="ja-JP" altLang="en-US"/>
              <a:t>ライン</a:t>
            </a:r>
          </a:p>
        </p:txBody>
      </p:sp>
      <p:sp>
        <p:nvSpPr>
          <p:cNvPr id="10" name="角丸四角形吹き出し 9">
            <a:extLst>
              <a:ext uri="{FF2B5EF4-FFF2-40B4-BE49-F238E27FC236}">
                <a16:creationId xmlns:a16="http://schemas.microsoft.com/office/drawing/2014/main" id="{9F3E9F41-9338-BBE8-E7F9-0F76F6BCA0FC}"/>
              </a:ext>
            </a:extLst>
          </p:cNvPr>
          <p:cNvSpPr/>
          <p:nvPr/>
        </p:nvSpPr>
        <p:spPr>
          <a:xfrm>
            <a:off x="7429765" y="2819400"/>
            <a:ext cx="1710266" cy="609600"/>
          </a:xfrm>
          <a:prstGeom prst="wedgeRoundRectCallout">
            <a:avLst>
              <a:gd name="adj1" fmla="val 96988"/>
              <a:gd name="adj2" fmla="val 170833"/>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
        <p:nvSpPr>
          <p:cNvPr id="12" name="角丸四角形吹き出し 11">
            <a:extLst>
              <a:ext uri="{FF2B5EF4-FFF2-40B4-BE49-F238E27FC236}">
                <a16:creationId xmlns:a16="http://schemas.microsoft.com/office/drawing/2014/main" id="{83165A6D-2403-3873-71AC-7594939DB1A6}"/>
              </a:ext>
            </a:extLst>
          </p:cNvPr>
          <p:cNvSpPr/>
          <p:nvPr/>
        </p:nvSpPr>
        <p:spPr>
          <a:xfrm>
            <a:off x="7493003" y="304800"/>
            <a:ext cx="1710266" cy="965136"/>
          </a:xfrm>
          <a:prstGeom prst="wedgeRoundRectCallout">
            <a:avLst>
              <a:gd name="adj1" fmla="val 95009"/>
              <a:gd name="adj2" fmla="val 10153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PMOS</a:t>
            </a:r>
          </a:p>
          <a:p>
            <a:pPr algn="ctr"/>
            <a:r>
              <a:rPr kumimoji="1" lang="en-US" altLang="ja-JP" dirty="0"/>
              <a:t>S</a:t>
            </a:r>
            <a:r>
              <a:rPr lang="ja-JP" altLang="en-US" dirty="0"/>
              <a:t>が共通</a:t>
            </a:r>
            <a:endParaRPr kumimoji="1" lang="ja-JP" altLang="en-US" dirty="0"/>
          </a:p>
        </p:txBody>
      </p:sp>
      <p:sp>
        <p:nvSpPr>
          <p:cNvPr id="14" name="角丸四角形吹き出し 13">
            <a:extLst>
              <a:ext uri="{FF2B5EF4-FFF2-40B4-BE49-F238E27FC236}">
                <a16:creationId xmlns:a16="http://schemas.microsoft.com/office/drawing/2014/main" id="{DFB8A465-CACB-C42D-7A95-01AD65C380A9}"/>
              </a:ext>
            </a:extLst>
          </p:cNvPr>
          <p:cNvSpPr/>
          <p:nvPr/>
        </p:nvSpPr>
        <p:spPr>
          <a:xfrm>
            <a:off x="7137403" y="4605931"/>
            <a:ext cx="1710266" cy="965136"/>
          </a:xfrm>
          <a:prstGeom prst="wedgeRoundRectCallout">
            <a:avLst>
              <a:gd name="adj1" fmla="val 113821"/>
              <a:gd name="adj2" fmla="val 6468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NMOS</a:t>
            </a:r>
          </a:p>
          <a:p>
            <a:pPr algn="ctr"/>
            <a:r>
              <a:rPr kumimoji="1" lang="en-US" altLang="ja-JP" dirty="0"/>
              <a:t>S</a:t>
            </a:r>
            <a:r>
              <a:rPr lang="ja-JP" altLang="en-US" dirty="0"/>
              <a:t>が共通</a:t>
            </a:r>
            <a:endParaRPr kumimoji="1" lang="ja-JP" altLang="en-US" dirty="0"/>
          </a:p>
        </p:txBody>
      </p:sp>
      <p:sp>
        <p:nvSpPr>
          <p:cNvPr id="15" name="角丸四角形吹き出し 14">
            <a:extLst>
              <a:ext uri="{FF2B5EF4-FFF2-40B4-BE49-F238E27FC236}">
                <a16:creationId xmlns:a16="http://schemas.microsoft.com/office/drawing/2014/main" id="{68B6E237-A10B-AE99-76CE-65FCF5AA5E42}"/>
              </a:ext>
            </a:extLst>
          </p:cNvPr>
          <p:cNvSpPr/>
          <p:nvPr/>
        </p:nvSpPr>
        <p:spPr>
          <a:xfrm>
            <a:off x="7429765" y="2819400"/>
            <a:ext cx="1710266" cy="609600"/>
          </a:xfrm>
          <a:prstGeom prst="wedgeRoundRectCallout">
            <a:avLst>
              <a:gd name="adj1" fmla="val -102022"/>
              <a:gd name="adj2" fmla="val 9305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
        <p:nvSpPr>
          <p:cNvPr id="16" name="角丸四角形吹き出し 15">
            <a:extLst>
              <a:ext uri="{FF2B5EF4-FFF2-40B4-BE49-F238E27FC236}">
                <a16:creationId xmlns:a16="http://schemas.microsoft.com/office/drawing/2014/main" id="{4A842731-DC24-A4E9-AA2C-0275F121DE80}"/>
              </a:ext>
            </a:extLst>
          </p:cNvPr>
          <p:cNvSpPr/>
          <p:nvPr/>
        </p:nvSpPr>
        <p:spPr>
          <a:xfrm>
            <a:off x="7429765" y="2819400"/>
            <a:ext cx="1710266" cy="609600"/>
          </a:xfrm>
          <a:prstGeom prst="wedgeRoundRectCallout">
            <a:avLst>
              <a:gd name="adj1" fmla="val 127681"/>
              <a:gd name="adj2" fmla="val -138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Tree>
    <p:extLst>
      <p:ext uri="{BB962C8B-B14F-4D97-AF65-F5344CB8AC3E}">
        <p14:creationId xmlns:p14="http://schemas.microsoft.com/office/powerpoint/2010/main" val="159312078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タイトル 1">
            <a:extLst>
              <a:ext uri="{FF2B5EF4-FFF2-40B4-BE49-F238E27FC236}">
                <a16:creationId xmlns:a16="http://schemas.microsoft.com/office/drawing/2014/main" id="{609089C7-A03F-344F-D774-091200267214}"/>
              </a:ext>
            </a:extLst>
          </p:cNvPr>
          <p:cNvSpPr>
            <a:spLocks noGrp="1"/>
          </p:cNvSpPr>
          <p:nvPr>
            <p:ph type="title"/>
          </p:nvPr>
        </p:nvSpPr>
        <p:spPr>
          <a:xfrm>
            <a:off x="497973" y="393380"/>
            <a:ext cx="7655427" cy="739881"/>
          </a:xfrm>
        </p:spPr>
        <p:txBody>
          <a:bodyPr vert="horz" lIns="91440" tIns="45720" rIns="91440" bIns="45720" rtlCol="0" anchor="b">
            <a:normAutofit/>
          </a:bodyPr>
          <a:lstStyle/>
          <a:p>
            <a:r>
              <a:rPr kumimoji="1" lang="ja-JP" altLang="en-US" sz="3600"/>
              <a:t>回路をレイアウトにする工程</a:t>
            </a:r>
          </a:p>
        </p:txBody>
      </p:sp>
      <p:pic>
        <p:nvPicPr>
          <p:cNvPr id="6" name="図 5">
            <a:extLst>
              <a:ext uri="{FF2B5EF4-FFF2-40B4-BE49-F238E27FC236}">
                <a16:creationId xmlns:a16="http://schemas.microsoft.com/office/drawing/2014/main" id="{E3D7ADCC-F384-8FE3-F6FA-F9A23D1216CE}"/>
              </a:ext>
            </a:extLst>
          </p:cNvPr>
          <p:cNvPicPr>
            <a:picLocks noChangeAspect="1"/>
          </p:cNvPicPr>
          <p:nvPr/>
        </p:nvPicPr>
        <p:blipFill>
          <a:blip r:embed="rId2"/>
          <a:stretch>
            <a:fillRect/>
          </a:stretch>
        </p:blipFill>
        <p:spPr>
          <a:xfrm>
            <a:off x="671179" y="1866262"/>
            <a:ext cx="11035319" cy="1876005"/>
          </a:xfrm>
          <a:prstGeom prst="rect">
            <a:avLst/>
          </a:prstGeom>
        </p:spPr>
      </p:pic>
      <p:pic>
        <p:nvPicPr>
          <p:cNvPr id="4" name="図 3">
            <a:extLst>
              <a:ext uri="{FF2B5EF4-FFF2-40B4-BE49-F238E27FC236}">
                <a16:creationId xmlns:a16="http://schemas.microsoft.com/office/drawing/2014/main" id="{7D242E66-1E31-5ABF-0CA6-C31A9770F0D8}"/>
              </a:ext>
            </a:extLst>
          </p:cNvPr>
          <p:cNvPicPr>
            <a:picLocks noChangeAspect="1"/>
          </p:cNvPicPr>
          <p:nvPr/>
        </p:nvPicPr>
        <p:blipFill>
          <a:blip r:embed="rId3"/>
          <a:stretch>
            <a:fillRect/>
          </a:stretch>
        </p:blipFill>
        <p:spPr>
          <a:xfrm>
            <a:off x="671180" y="4459571"/>
            <a:ext cx="11035318" cy="1793241"/>
          </a:xfrm>
          <a:prstGeom prst="rect">
            <a:avLst/>
          </a:prstGeom>
        </p:spPr>
      </p:pic>
      <p:sp>
        <p:nvSpPr>
          <p:cNvPr id="15" name="Freeform: Shape 14">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下矢印 6">
            <a:extLst>
              <a:ext uri="{FF2B5EF4-FFF2-40B4-BE49-F238E27FC236}">
                <a16:creationId xmlns:a16="http://schemas.microsoft.com/office/drawing/2014/main" id="{A955F918-76C9-537A-FFBD-F52E22606F8D}"/>
              </a:ext>
            </a:extLst>
          </p:cNvPr>
          <p:cNvSpPr/>
          <p:nvPr/>
        </p:nvSpPr>
        <p:spPr>
          <a:xfrm>
            <a:off x="5858933" y="3854383"/>
            <a:ext cx="474133" cy="556679"/>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06302547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E799E38D-0A82-4095-BE6B-85157473E4AE}"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153</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回路図（ベンチマーク）を描く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b="1" dirty="0">
                <a:solidFill>
                  <a:schemeClr val="accent2"/>
                </a:solidFill>
              </a:rPr>
              <a:t>回路図を基にレイアウトを描く</a:t>
            </a:r>
            <a:endParaRPr kumimoji="1" lang="en-US" altLang="ja-JP" sz="2000" b="1" dirty="0">
              <a:solidFill>
                <a:schemeClr val="accent2"/>
              </a:solidFill>
            </a:endParaRPr>
          </a:p>
          <a:p>
            <a:pPr marL="457200" indent="-457200">
              <a:buFont typeface="+mj-lt"/>
              <a:buAutoNum type="arabicPeriod"/>
            </a:pPr>
            <a:r>
              <a:rPr lang="ja-JP" altLang="en-US" sz="2000" dirty="0"/>
              <a:t>レイアウトを検証する</a:t>
            </a:r>
            <a:endParaRPr lang="en-US" altLang="ja-JP" sz="2000" dirty="0"/>
          </a:p>
          <a:p>
            <a:pPr marL="457200" indent="-457200">
              <a:buFont typeface="+mj-lt"/>
              <a:buAutoNum type="arabicPeriod"/>
            </a:pPr>
            <a:r>
              <a:rPr kumimoji="1" lang="ja-JP" altLang="en-US" sz="2000" dirty="0"/>
              <a:t>レイアウトを基に寄生成分を考慮したシミュレーションをする</a:t>
            </a:r>
            <a:br>
              <a:rPr kumimoji="1" lang="en-US" altLang="ja-JP" sz="2000" dirty="0"/>
            </a:br>
            <a:endParaRPr kumimoji="1"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229357218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ja-JP" altLang="en-US" dirty="0"/>
              <a:t>公式</a:t>
            </a:r>
            <a:r>
              <a:rPr kumimoji="1" lang="en-US" altLang="ja-JP" dirty="0"/>
              <a:t>PDK</a:t>
            </a:r>
            <a:r>
              <a:rPr kumimoji="1" lang="ja-JP" altLang="en-US" dirty="0"/>
              <a:t>のレイアウト画面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AE4924DA-8DD3-4A81-8E7F-C675E22BB926}"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154</a:t>
            </a:fld>
            <a:endParaRPr lang="ja-JP" altLang="en-US" noProof="0"/>
          </a:p>
        </p:txBody>
      </p:sp>
      <p:pic>
        <p:nvPicPr>
          <p:cNvPr id="7" name="コンテンツ プレースホルダー 6">
            <a:extLst>
              <a:ext uri="{FF2B5EF4-FFF2-40B4-BE49-F238E27FC236}">
                <a16:creationId xmlns:a16="http://schemas.microsoft.com/office/drawing/2014/main" id="{7A36D74A-13D5-3490-61F1-8555E5306246}"/>
              </a:ext>
            </a:extLst>
          </p:cNvPr>
          <p:cNvPicPr>
            <a:picLocks noGrp="1" noChangeAspect="1"/>
          </p:cNvPicPr>
          <p:nvPr>
            <p:ph sz="quarter" idx="13"/>
          </p:nvPr>
        </p:nvPicPr>
        <p:blipFill>
          <a:blip r:embed="rId2"/>
          <a:srcRect/>
          <a:stretch/>
        </p:blipFill>
        <p:spPr>
          <a:xfrm>
            <a:off x="1080644" y="1179109"/>
            <a:ext cx="10030712" cy="5386283"/>
          </a:xfrm>
        </p:spPr>
      </p:pic>
    </p:spTree>
    <p:extLst>
      <p:ext uri="{BB962C8B-B14F-4D97-AF65-F5344CB8AC3E}">
        <p14:creationId xmlns:p14="http://schemas.microsoft.com/office/powerpoint/2010/main" val="351169268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988FA0-A593-9EBD-B783-858593BF3475}"/>
              </a:ext>
            </a:extLst>
          </p:cNvPr>
          <p:cNvSpPr>
            <a:spLocks noGrp="1"/>
          </p:cNvSpPr>
          <p:nvPr>
            <p:ph type="title"/>
          </p:nvPr>
        </p:nvSpPr>
        <p:spPr/>
        <p:txBody>
          <a:bodyPr/>
          <a:lstStyle/>
          <a:p>
            <a:r>
              <a:rPr kumimoji="1" lang="en-US" altLang="ja-JP" dirty="0"/>
              <a:t>3zki / wsl_gf180mcu </a:t>
            </a:r>
            <a:r>
              <a:rPr kumimoji="1" lang="ja-JP" altLang="en-US" dirty="0"/>
              <a:t>のレイアウト画面</a:t>
            </a:r>
          </a:p>
        </p:txBody>
      </p:sp>
      <p:sp>
        <p:nvSpPr>
          <p:cNvPr id="3" name="日付プレースホルダー 2">
            <a:extLst>
              <a:ext uri="{FF2B5EF4-FFF2-40B4-BE49-F238E27FC236}">
                <a16:creationId xmlns:a16="http://schemas.microsoft.com/office/drawing/2014/main" id="{81E33F6F-5967-37AE-9E69-0EDBE930B94C}"/>
              </a:ext>
            </a:extLst>
          </p:cNvPr>
          <p:cNvSpPr>
            <a:spLocks noGrp="1"/>
          </p:cNvSpPr>
          <p:nvPr>
            <p:ph type="dt" sz="half" idx="10"/>
          </p:nvPr>
        </p:nvSpPr>
        <p:spPr/>
        <p:txBody>
          <a:bodyPr/>
          <a:lstStyle/>
          <a:p>
            <a:pPr rtl="0"/>
            <a:fld id="{08955E9F-0CD8-420D-9776-FE8768DFF11B}"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790DCDC7-514B-AACB-B346-CA976B2F9558}"/>
              </a:ext>
            </a:extLst>
          </p:cNvPr>
          <p:cNvSpPr>
            <a:spLocks noGrp="1"/>
          </p:cNvSpPr>
          <p:nvPr>
            <p:ph type="sldNum" sz="quarter" idx="12"/>
          </p:nvPr>
        </p:nvSpPr>
        <p:spPr/>
        <p:txBody>
          <a:bodyPr/>
          <a:lstStyle/>
          <a:p>
            <a:pPr rtl="0"/>
            <a:fld id="{9860EDB8-5305-433F-BE41-D7A86D811DB3}" type="slidenum">
              <a:rPr lang="en-US" altLang="ja-JP" noProof="0" smtClean="0"/>
              <a:pPr rtl="0"/>
              <a:t>155</a:t>
            </a:fld>
            <a:endParaRPr lang="ja-JP" altLang="en-US" noProof="0"/>
          </a:p>
        </p:txBody>
      </p:sp>
      <p:pic>
        <p:nvPicPr>
          <p:cNvPr id="7" name="コンテンツ プレースホルダー 6">
            <a:extLst>
              <a:ext uri="{FF2B5EF4-FFF2-40B4-BE49-F238E27FC236}">
                <a16:creationId xmlns:a16="http://schemas.microsoft.com/office/drawing/2014/main" id="{7A36D74A-13D5-3490-61F1-8555E5306246}"/>
              </a:ext>
            </a:extLst>
          </p:cNvPr>
          <p:cNvPicPr>
            <a:picLocks noGrp="1" noChangeAspect="1"/>
          </p:cNvPicPr>
          <p:nvPr>
            <p:ph sz="quarter" idx="13"/>
          </p:nvPr>
        </p:nvPicPr>
        <p:blipFill>
          <a:blip r:embed="rId2"/>
          <a:srcRect/>
          <a:stretch/>
        </p:blipFill>
        <p:spPr>
          <a:xfrm>
            <a:off x="1080644" y="1179109"/>
            <a:ext cx="10030712" cy="5386283"/>
          </a:xfrm>
        </p:spPr>
      </p:pic>
    </p:spTree>
    <p:extLst>
      <p:ext uri="{BB962C8B-B14F-4D97-AF65-F5344CB8AC3E}">
        <p14:creationId xmlns:p14="http://schemas.microsoft.com/office/powerpoint/2010/main" val="392467607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B8E3A5-518A-F74F-0B42-0CBB4FD86534}"/>
              </a:ext>
            </a:extLst>
          </p:cNvPr>
          <p:cNvSpPr>
            <a:spLocks noGrp="1"/>
          </p:cNvSpPr>
          <p:nvPr>
            <p:ph type="title"/>
          </p:nvPr>
        </p:nvSpPr>
        <p:spPr/>
        <p:txBody>
          <a:bodyPr/>
          <a:lstStyle/>
          <a:p>
            <a:r>
              <a:rPr kumimoji="1" lang="ja-JP" altLang="en-US" dirty="0"/>
              <a:t>レイアウトを描く上での注意</a:t>
            </a:r>
          </a:p>
        </p:txBody>
      </p:sp>
      <p:sp>
        <p:nvSpPr>
          <p:cNvPr id="3" name="日付プレースホルダー 2">
            <a:extLst>
              <a:ext uri="{FF2B5EF4-FFF2-40B4-BE49-F238E27FC236}">
                <a16:creationId xmlns:a16="http://schemas.microsoft.com/office/drawing/2014/main" id="{5C360578-0551-5F91-F7DB-B93B84EF0111}"/>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5869E32-3473-D77E-6CE4-E784C15AD21C}"/>
              </a:ext>
            </a:extLst>
          </p:cNvPr>
          <p:cNvSpPr>
            <a:spLocks noGrp="1"/>
          </p:cNvSpPr>
          <p:nvPr>
            <p:ph type="sldNum" sz="quarter" idx="12"/>
          </p:nvPr>
        </p:nvSpPr>
        <p:spPr/>
        <p:txBody>
          <a:bodyPr/>
          <a:lstStyle/>
          <a:p>
            <a:pPr rtl="0"/>
            <a:fld id="{9860EDB8-5305-433F-BE41-D7A86D811DB3}" type="slidenum">
              <a:rPr lang="en-US" altLang="ja-JP" noProof="0" smtClean="0"/>
              <a:pPr rtl="0"/>
              <a:t>156</a:t>
            </a:fld>
            <a:endParaRPr lang="ja-JP" altLang="en-US" noProof="0"/>
          </a:p>
        </p:txBody>
      </p:sp>
      <p:sp>
        <p:nvSpPr>
          <p:cNvPr id="5" name="コンテンツ プレースホルダー 4">
            <a:extLst>
              <a:ext uri="{FF2B5EF4-FFF2-40B4-BE49-F238E27FC236}">
                <a16:creationId xmlns:a16="http://schemas.microsoft.com/office/drawing/2014/main" id="{7C86C403-917E-3A7B-2F2C-8146F3969DEB}"/>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400" b="1" dirty="0">
                <a:solidFill>
                  <a:schemeClr val="accent2"/>
                </a:solidFill>
              </a:rPr>
              <a:t>Database unit </a:t>
            </a:r>
            <a:r>
              <a:rPr lang="ja-JP" altLang="en-US" sz="2400" b="1" dirty="0">
                <a:solidFill>
                  <a:schemeClr val="accent2"/>
                </a:solidFill>
              </a:rPr>
              <a:t>を </a:t>
            </a:r>
            <a:r>
              <a:rPr lang="en-US" altLang="ja-JP" sz="2400" b="1" dirty="0">
                <a:solidFill>
                  <a:schemeClr val="accent2"/>
                </a:solidFill>
              </a:rPr>
              <a:t>0.005</a:t>
            </a:r>
            <a:r>
              <a:rPr lang="ja-JP" altLang="en-US" sz="2400" b="1" dirty="0">
                <a:solidFill>
                  <a:schemeClr val="accent2"/>
                </a:solidFill>
              </a:rPr>
              <a:t>にする</a:t>
            </a:r>
            <a:endParaRPr kumimoji="1" lang="ja-JP" altLang="en-US" sz="2400" dirty="0"/>
          </a:p>
        </p:txBody>
      </p:sp>
      <p:pic>
        <p:nvPicPr>
          <p:cNvPr id="7" name="図 6">
            <a:extLst>
              <a:ext uri="{FF2B5EF4-FFF2-40B4-BE49-F238E27FC236}">
                <a16:creationId xmlns:a16="http://schemas.microsoft.com/office/drawing/2014/main" id="{C00DBCB5-7503-FC28-64C6-85BC0B851A38}"/>
              </a:ext>
            </a:extLst>
          </p:cNvPr>
          <p:cNvPicPr>
            <a:picLocks noChangeAspect="1"/>
          </p:cNvPicPr>
          <p:nvPr/>
        </p:nvPicPr>
        <p:blipFill>
          <a:blip r:embed="rId2"/>
          <a:stretch>
            <a:fillRect/>
          </a:stretch>
        </p:blipFill>
        <p:spPr>
          <a:xfrm>
            <a:off x="5448634" y="2017020"/>
            <a:ext cx="6020640" cy="4048690"/>
          </a:xfrm>
          <a:prstGeom prst="rect">
            <a:avLst/>
          </a:prstGeom>
        </p:spPr>
      </p:pic>
    </p:spTree>
    <p:extLst>
      <p:ext uri="{BB962C8B-B14F-4D97-AF65-F5344CB8AC3E}">
        <p14:creationId xmlns:p14="http://schemas.microsoft.com/office/powerpoint/2010/main" val="238564970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92B8C-304A-7A1E-47CC-95E100EBAA9C}"/>
              </a:ext>
            </a:extLst>
          </p:cNvPr>
          <p:cNvSpPr>
            <a:spLocks noGrp="1"/>
          </p:cNvSpPr>
          <p:nvPr>
            <p:ph type="title"/>
          </p:nvPr>
        </p:nvSpPr>
        <p:spPr/>
        <p:txBody>
          <a:bodyPr/>
          <a:lstStyle/>
          <a:p>
            <a:r>
              <a:rPr lang="ja-JP" altLang="en-US" dirty="0"/>
              <a:t>デザインルールの場所</a:t>
            </a:r>
            <a:endParaRPr kumimoji="1" lang="ja-JP" altLang="en-US" dirty="0"/>
          </a:p>
        </p:txBody>
      </p:sp>
      <p:sp>
        <p:nvSpPr>
          <p:cNvPr id="3" name="日付プレースホルダー 2">
            <a:extLst>
              <a:ext uri="{FF2B5EF4-FFF2-40B4-BE49-F238E27FC236}">
                <a16:creationId xmlns:a16="http://schemas.microsoft.com/office/drawing/2014/main" id="{9B7E0E03-6DEB-81D9-AD89-27B9C0831CE6}"/>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077003E-7301-B1D5-6423-420A77F99D15}"/>
              </a:ext>
            </a:extLst>
          </p:cNvPr>
          <p:cNvSpPr>
            <a:spLocks noGrp="1"/>
          </p:cNvSpPr>
          <p:nvPr>
            <p:ph type="sldNum" sz="quarter" idx="12"/>
          </p:nvPr>
        </p:nvSpPr>
        <p:spPr/>
        <p:txBody>
          <a:bodyPr/>
          <a:lstStyle/>
          <a:p>
            <a:pPr rtl="0"/>
            <a:fld id="{9860EDB8-5305-433F-BE41-D7A86D811DB3}" type="slidenum">
              <a:rPr lang="en-US" altLang="ja-JP" noProof="0" smtClean="0"/>
              <a:pPr rtl="0"/>
              <a:t>157</a:t>
            </a:fld>
            <a:endParaRPr lang="ja-JP" altLang="en-US" noProof="0"/>
          </a:p>
        </p:txBody>
      </p:sp>
      <p:sp>
        <p:nvSpPr>
          <p:cNvPr id="5" name="コンテンツ プレースホルダー 4">
            <a:extLst>
              <a:ext uri="{FF2B5EF4-FFF2-40B4-BE49-F238E27FC236}">
                <a16:creationId xmlns:a16="http://schemas.microsoft.com/office/drawing/2014/main" id="{54E28E9B-7F13-E717-67F9-7826A8451B6C}"/>
              </a:ext>
            </a:extLst>
          </p:cNvPr>
          <p:cNvSpPr>
            <a:spLocks noGrp="1"/>
          </p:cNvSpPr>
          <p:nvPr>
            <p:ph sz="quarter" idx="13"/>
          </p:nvPr>
        </p:nvSpPr>
        <p:spPr/>
        <p:txBody>
          <a:bodyPr/>
          <a:lstStyle/>
          <a:p>
            <a:pPr marL="285750" indent="-285750">
              <a:buFont typeface="Arial" panose="020B0604020202020204" pitchFamily="34" charset="0"/>
              <a:buChar char="•"/>
            </a:pPr>
            <a:r>
              <a:rPr kumimoji="1" lang="ja-JP" altLang="en-US" sz="2400" dirty="0"/>
              <a:t>必ずデザインルールを守る</a:t>
            </a:r>
            <a:endParaRPr kumimoji="1" lang="en-US" altLang="ja-JP" sz="2400" dirty="0"/>
          </a:p>
          <a:p>
            <a:r>
              <a:rPr kumimoji="1" lang="en-US" altLang="ja-JP" dirty="0">
                <a:hlinkClick r:id="rId2"/>
              </a:rPr>
              <a:t>https://gf180mcu-pdk.readthedocs.io/en/latest/physical_verification/design_manual/Design_Manual.html</a:t>
            </a:r>
            <a:endParaRPr kumimoji="1" lang="en-US" altLang="ja-JP" dirty="0"/>
          </a:p>
          <a:p>
            <a:endParaRPr lang="en-US" altLang="ja-JP" dirty="0"/>
          </a:p>
          <a:p>
            <a:pPr marL="285750" indent="-285750">
              <a:buFont typeface="Arial" panose="020B0604020202020204" pitchFamily="34" charset="0"/>
              <a:buChar char="•"/>
            </a:pPr>
            <a:r>
              <a:rPr kumimoji="1" lang="ja-JP" altLang="en-US" sz="2000" dirty="0"/>
              <a:t>レイヤー名を検索したほうがはやいかも・・・</a:t>
            </a:r>
            <a:endParaRPr kumimoji="1" lang="en-US" altLang="ja-JP" sz="2000" dirty="0"/>
          </a:p>
          <a:p>
            <a:endParaRPr lang="en-US" altLang="ja-JP" dirty="0"/>
          </a:p>
          <a:p>
            <a:endParaRPr kumimoji="1" lang="ja-JP" altLang="en-US" dirty="0"/>
          </a:p>
        </p:txBody>
      </p:sp>
    </p:spTree>
    <p:extLst>
      <p:ext uri="{BB962C8B-B14F-4D97-AF65-F5344CB8AC3E}">
        <p14:creationId xmlns:p14="http://schemas.microsoft.com/office/powerpoint/2010/main" val="387626419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870D8-5A69-D38B-54FE-B6A5E554AFBF}"/>
              </a:ext>
            </a:extLst>
          </p:cNvPr>
          <p:cNvSpPr>
            <a:spLocks noGrp="1"/>
          </p:cNvSpPr>
          <p:nvPr>
            <p:ph type="title"/>
          </p:nvPr>
        </p:nvSpPr>
        <p:spPr/>
        <p:txBody>
          <a:bodyPr/>
          <a:lstStyle/>
          <a:p>
            <a:r>
              <a:rPr kumimoji="1" lang="ja-JP" altLang="en-US" dirty="0"/>
              <a:t>タップ付　</a:t>
            </a:r>
            <a:r>
              <a:rPr kumimoji="1" lang="en-US" altLang="ja-JP" dirty="0"/>
              <a:t>PFET </a:t>
            </a:r>
            <a:r>
              <a:rPr kumimoji="1" lang="ja-JP" altLang="en-US" dirty="0"/>
              <a:t>と </a:t>
            </a:r>
            <a:r>
              <a:rPr kumimoji="1" lang="en-US" altLang="ja-JP" dirty="0"/>
              <a:t>NFET</a:t>
            </a:r>
            <a:endParaRPr kumimoji="1" lang="ja-JP" altLang="en-US" dirty="0"/>
          </a:p>
        </p:txBody>
      </p:sp>
      <p:sp>
        <p:nvSpPr>
          <p:cNvPr id="3" name="日付プレースホルダー 2">
            <a:extLst>
              <a:ext uri="{FF2B5EF4-FFF2-40B4-BE49-F238E27FC236}">
                <a16:creationId xmlns:a16="http://schemas.microsoft.com/office/drawing/2014/main" id="{022670EC-30CF-186E-A615-C3008B63B250}"/>
              </a:ext>
            </a:extLst>
          </p:cNvPr>
          <p:cNvSpPr>
            <a:spLocks noGrp="1"/>
          </p:cNvSpPr>
          <p:nvPr>
            <p:ph type="dt" sz="half" idx="10"/>
          </p:nvPr>
        </p:nvSpPr>
        <p:spPr/>
        <p:txBody>
          <a:bodyPr/>
          <a:lstStyle/>
          <a:p>
            <a:pPr rtl="0"/>
            <a:fld id="{884BB682-BA63-4ECD-A8A0-C601AA3E7964}"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8EFB7B8A-0DEF-5F76-37F0-52C7A051C549}"/>
              </a:ext>
            </a:extLst>
          </p:cNvPr>
          <p:cNvSpPr>
            <a:spLocks noGrp="1"/>
          </p:cNvSpPr>
          <p:nvPr>
            <p:ph type="sldNum" sz="quarter" idx="12"/>
          </p:nvPr>
        </p:nvSpPr>
        <p:spPr/>
        <p:txBody>
          <a:bodyPr/>
          <a:lstStyle/>
          <a:p>
            <a:pPr rtl="0"/>
            <a:fld id="{9860EDB8-5305-433F-BE41-D7A86D811DB3}" type="slidenum">
              <a:rPr lang="en-US" altLang="ja-JP" noProof="0" smtClean="0"/>
              <a:pPr rtl="0"/>
              <a:t>158</a:t>
            </a:fld>
            <a:endParaRPr lang="ja-JP" altLang="en-US" noProof="0"/>
          </a:p>
        </p:txBody>
      </p:sp>
      <p:pic>
        <p:nvPicPr>
          <p:cNvPr id="11" name="図 10">
            <a:extLst>
              <a:ext uri="{FF2B5EF4-FFF2-40B4-BE49-F238E27FC236}">
                <a16:creationId xmlns:a16="http://schemas.microsoft.com/office/drawing/2014/main" id="{5A916F57-BB55-C3F1-2A6E-4E90B9215195}"/>
              </a:ext>
            </a:extLst>
          </p:cNvPr>
          <p:cNvPicPr>
            <a:picLocks noChangeAspect="1"/>
          </p:cNvPicPr>
          <p:nvPr/>
        </p:nvPicPr>
        <p:blipFill>
          <a:blip r:embed="rId2"/>
          <a:stretch>
            <a:fillRect/>
          </a:stretch>
        </p:blipFill>
        <p:spPr>
          <a:xfrm>
            <a:off x="542167" y="2224478"/>
            <a:ext cx="4573437" cy="2903440"/>
          </a:xfrm>
          <a:prstGeom prst="rect">
            <a:avLst/>
          </a:prstGeom>
        </p:spPr>
      </p:pic>
      <p:pic>
        <p:nvPicPr>
          <p:cNvPr id="13" name="図 12">
            <a:extLst>
              <a:ext uri="{FF2B5EF4-FFF2-40B4-BE49-F238E27FC236}">
                <a16:creationId xmlns:a16="http://schemas.microsoft.com/office/drawing/2014/main" id="{2F53B267-B20D-3A40-ABDB-629C737892DB}"/>
              </a:ext>
            </a:extLst>
          </p:cNvPr>
          <p:cNvPicPr>
            <a:picLocks noChangeAspect="1"/>
          </p:cNvPicPr>
          <p:nvPr/>
        </p:nvPicPr>
        <p:blipFill>
          <a:blip r:embed="rId3"/>
          <a:stretch>
            <a:fillRect/>
          </a:stretch>
        </p:blipFill>
        <p:spPr>
          <a:xfrm>
            <a:off x="7128971" y="2224478"/>
            <a:ext cx="4215016" cy="2942878"/>
          </a:xfrm>
          <a:prstGeom prst="rect">
            <a:avLst/>
          </a:prstGeom>
        </p:spPr>
      </p:pic>
      <p:sp>
        <p:nvSpPr>
          <p:cNvPr id="14" name="テキスト ボックス 13">
            <a:extLst>
              <a:ext uri="{FF2B5EF4-FFF2-40B4-BE49-F238E27FC236}">
                <a16:creationId xmlns:a16="http://schemas.microsoft.com/office/drawing/2014/main" id="{01A6FD7E-9ADE-3879-4878-9DFFA6B0266B}"/>
              </a:ext>
            </a:extLst>
          </p:cNvPr>
          <p:cNvSpPr txBox="1"/>
          <p:nvPr/>
        </p:nvSpPr>
        <p:spPr>
          <a:xfrm>
            <a:off x="2297657" y="4620021"/>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5" name="テキスト ボックス 14">
            <a:extLst>
              <a:ext uri="{FF2B5EF4-FFF2-40B4-BE49-F238E27FC236}">
                <a16:creationId xmlns:a16="http://schemas.microsoft.com/office/drawing/2014/main" id="{C4BEF5C8-C4CB-3532-2C93-4D6AE5C0FD7E}"/>
              </a:ext>
            </a:extLst>
          </p:cNvPr>
          <p:cNvSpPr txBox="1"/>
          <p:nvPr/>
        </p:nvSpPr>
        <p:spPr>
          <a:xfrm>
            <a:off x="3808077" y="3491532"/>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6" name="テキスト ボックス 15">
            <a:extLst>
              <a:ext uri="{FF2B5EF4-FFF2-40B4-BE49-F238E27FC236}">
                <a16:creationId xmlns:a16="http://schemas.microsoft.com/office/drawing/2014/main" id="{C8B124EB-573A-80A9-D6ED-70D14C074103}"/>
              </a:ext>
            </a:extLst>
          </p:cNvPr>
          <p:cNvSpPr txBox="1"/>
          <p:nvPr/>
        </p:nvSpPr>
        <p:spPr>
          <a:xfrm>
            <a:off x="10394254" y="3744825"/>
            <a:ext cx="316871" cy="369332"/>
          </a:xfrm>
          <a:prstGeom prst="rect">
            <a:avLst/>
          </a:prstGeom>
          <a:solidFill>
            <a:schemeClr val="tx1"/>
          </a:solidFill>
        </p:spPr>
        <p:txBody>
          <a:bodyPr wrap="square" rtlCol="0">
            <a:spAutoFit/>
          </a:bodyPr>
          <a:lstStyle/>
          <a:p>
            <a:r>
              <a:rPr kumimoji="1" lang="en-US" altLang="ja-JP" dirty="0">
                <a:solidFill>
                  <a:schemeClr val="bg1"/>
                </a:solidFill>
              </a:rPr>
              <a:t>B</a:t>
            </a:r>
          </a:p>
        </p:txBody>
      </p:sp>
      <p:sp>
        <p:nvSpPr>
          <p:cNvPr id="17" name="テキスト ボックス 16">
            <a:extLst>
              <a:ext uri="{FF2B5EF4-FFF2-40B4-BE49-F238E27FC236}">
                <a16:creationId xmlns:a16="http://schemas.microsoft.com/office/drawing/2014/main" id="{B5D56AF6-A240-647C-4358-4DB8E0DC46AD}"/>
              </a:ext>
            </a:extLst>
          </p:cNvPr>
          <p:cNvSpPr txBox="1"/>
          <p:nvPr/>
        </p:nvSpPr>
        <p:spPr>
          <a:xfrm>
            <a:off x="8630338" y="2382306"/>
            <a:ext cx="316871" cy="369332"/>
          </a:xfrm>
          <a:prstGeom prst="rect">
            <a:avLst/>
          </a:prstGeom>
          <a:solidFill>
            <a:schemeClr val="tx1"/>
          </a:solidFill>
        </p:spPr>
        <p:txBody>
          <a:bodyPr wrap="square" rtlCol="0">
            <a:spAutoFit/>
          </a:bodyPr>
          <a:lstStyle/>
          <a:p>
            <a:r>
              <a:rPr kumimoji="1" lang="en-US" altLang="ja-JP" dirty="0">
                <a:solidFill>
                  <a:schemeClr val="bg1"/>
                </a:solidFill>
              </a:rPr>
              <a:t>G</a:t>
            </a:r>
          </a:p>
        </p:txBody>
      </p:sp>
      <p:sp>
        <p:nvSpPr>
          <p:cNvPr id="18" name="テキスト ボックス 17">
            <a:extLst>
              <a:ext uri="{FF2B5EF4-FFF2-40B4-BE49-F238E27FC236}">
                <a16:creationId xmlns:a16="http://schemas.microsoft.com/office/drawing/2014/main" id="{386E4E06-CE6B-D61F-07DF-520B7C293882}"/>
              </a:ext>
            </a:extLst>
          </p:cNvPr>
          <p:cNvSpPr txBox="1"/>
          <p:nvPr/>
        </p:nvSpPr>
        <p:spPr>
          <a:xfrm>
            <a:off x="1647994" y="3469536"/>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19" name="テキスト ボックス 18">
            <a:extLst>
              <a:ext uri="{FF2B5EF4-FFF2-40B4-BE49-F238E27FC236}">
                <a16:creationId xmlns:a16="http://schemas.microsoft.com/office/drawing/2014/main" id="{422B65C8-9F47-1672-95FB-5641B333661E}"/>
              </a:ext>
            </a:extLst>
          </p:cNvPr>
          <p:cNvSpPr txBox="1"/>
          <p:nvPr/>
        </p:nvSpPr>
        <p:spPr>
          <a:xfrm>
            <a:off x="2955521" y="3469536"/>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0" name="テキスト ボックス 19">
            <a:extLst>
              <a:ext uri="{FF2B5EF4-FFF2-40B4-BE49-F238E27FC236}">
                <a16:creationId xmlns:a16="http://schemas.microsoft.com/office/drawing/2014/main" id="{F84DE20E-370D-5611-8E15-E68B7AF54B5E}"/>
              </a:ext>
            </a:extLst>
          </p:cNvPr>
          <p:cNvSpPr txBox="1"/>
          <p:nvPr/>
        </p:nvSpPr>
        <p:spPr>
          <a:xfrm>
            <a:off x="7864502" y="3744825"/>
            <a:ext cx="31687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1" name="テキスト ボックス 20">
            <a:extLst>
              <a:ext uri="{FF2B5EF4-FFF2-40B4-BE49-F238E27FC236}">
                <a16:creationId xmlns:a16="http://schemas.microsoft.com/office/drawing/2014/main" id="{5D56553A-E4D9-DDBF-68DE-A9A465A1F224}"/>
              </a:ext>
            </a:extLst>
          </p:cNvPr>
          <p:cNvSpPr txBox="1"/>
          <p:nvPr/>
        </p:nvSpPr>
        <p:spPr>
          <a:xfrm>
            <a:off x="9374303" y="3758881"/>
            <a:ext cx="343491" cy="369332"/>
          </a:xfrm>
          <a:prstGeom prst="rect">
            <a:avLst/>
          </a:prstGeom>
          <a:solidFill>
            <a:schemeClr val="tx1"/>
          </a:solidFill>
        </p:spPr>
        <p:txBody>
          <a:bodyPr wrap="square" rtlCol="0">
            <a:spAutoFit/>
          </a:bodyPr>
          <a:lstStyle/>
          <a:p>
            <a:pPr algn="ctr"/>
            <a:r>
              <a:rPr kumimoji="1" lang="en-US" altLang="ja-JP" dirty="0">
                <a:solidFill>
                  <a:schemeClr val="bg1"/>
                </a:solidFill>
              </a:rPr>
              <a:t>*</a:t>
            </a:r>
          </a:p>
        </p:txBody>
      </p:sp>
      <p:sp>
        <p:nvSpPr>
          <p:cNvPr id="23" name="テキスト ボックス 22">
            <a:extLst>
              <a:ext uri="{FF2B5EF4-FFF2-40B4-BE49-F238E27FC236}">
                <a16:creationId xmlns:a16="http://schemas.microsoft.com/office/drawing/2014/main" id="{E95CD55B-B93D-BFB8-BDE0-17405ECFB9A6}"/>
              </a:ext>
            </a:extLst>
          </p:cNvPr>
          <p:cNvSpPr txBox="1"/>
          <p:nvPr/>
        </p:nvSpPr>
        <p:spPr>
          <a:xfrm>
            <a:off x="542167" y="1207582"/>
            <a:ext cx="7881642" cy="369332"/>
          </a:xfrm>
          <a:prstGeom prst="rect">
            <a:avLst/>
          </a:prstGeom>
          <a:noFill/>
        </p:spPr>
        <p:txBody>
          <a:bodyPr wrap="square">
            <a:spAutoFit/>
          </a:bodyPr>
          <a:lstStyle/>
          <a:p>
            <a:pPr marL="285750" indent="-285750">
              <a:buFont typeface="Arial" panose="020B0604020202020204" pitchFamily="34" charset="0"/>
              <a:buChar char="•"/>
            </a:pPr>
            <a:r>
              <a:rPr kumimoji="1" lang="en-US" altLang="ja-JP" sz="1800" dirty="0"/>
              <a:t>[*] </a:t>
            </a:r>
            <a:r>
              <a:rPr kumimoji="1" lang="ja-JP" altLang="en-US" sz="1800" dirty="0"/>
              <a:t>どちらをドレインにしてどちらをソースにするかは任意。</a:t>
            </a:r>
            <a:endParaRPr kumimoji="1" lang="en-US" altLang="ja-JP" sz="1800" dirty="0"/>
          </a:p>
        </p:txBody>
      </p:sp>
    </p:spTree>
    <p:extLst>
      <p:ext uri="{BB962C8B-B14F-4D97-AF65-F5344CB8AC3E}">
        <p14:creationId xmlns:p14="http://schemas.microsoft.com/office/powerpoint/2010/main" val="298339724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395776-2CC9-C57D-10E9-B4F1E47325B4}"/>
              </a:ext>
            </a:extLst>
          </p:cNvPr>
          <p:cNvSpPr>
            <a:spLocks noGrp="1"/>
          </p:cNvSpPr>
          <p:nvPr>
            <p:ph type="title"/>
          </p:nvPr>
        </p:nvSpPr>
        <p:spPr/>
        <p:txBody>
          <a:bodyPr/>
          <a:lstStyle/>
          <a:p>
            <a:r>
              <a:rPr lang="ja-JP" altLang="en-US" dirty="0"/>
              <a:t>アナログ</a:t>
            </a:r>
            <a:r>
              <a:rPr lang="en-US" altLang="ja-JP" dirty="0"/>
              <a:t>LSI</a:t>
            </a:r>
            <a:r>
              <a:rPr lang="ja-JP" altLang="en-US" dirty="0"/>
              <a:t>の設計フロー</a:t>
            </a:r>
            <a:endParaRPr kumimoji="1" lang="ja-JP" altLang="en-US" dirty="0"/>
          </a:p>
        </p:txBody>
      </p:sp>
      <p:sp>
        <p:nvSpPr>
          <p:cNvPr id="3" name="日付プレースホルダー 2">
            <a:extLst>
              <a:ext uri="{FF2B5EF4-FFF2-40B4-BE49-F238E27FC236}">
                <a16:creationId xmlns:a16="http://schemas.microsoft.com/office/drawing/2014/main" id="{102C7370-4158-5F3A-B29E-8AB24B8878EA}"/>
              </a:ext>
            </a:extLst>
          </p:cNvPr>
          <p:cNvSpPr>
            <a:spLocks noGrp="1"/>
          </p:cNvSpPr>
          <p:nvPr>
            <p:ph type="dt" sz="half" idx="10"/>
          </p:nvPr>
        </p:nvSpPr>
        <p:spPr/>
        <p:txBody>
          <a:bodyPr/>
          <a:lstStyle/>
          <a:p>
            <a:pPr rtl="0"/>
            <a:fld id="{DBBD7590-56EA-4C2E-8847-39D08940E649}"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40E7729A-7159-13DA-B80A-5CF547A86157}"/>
              </a:ext>
            </a:extLst>
          </p:cNvPr>
          <p:cNvSpPr>
            <a:spLocks noGrp="1"/>
          </p:cNvSpPr>
          <p:nvPr>
            <p:ph type="sldNum" sz="quarter" idx="12"/>
          </p:nvPr>
        </p:nvSpPr>
        <p:spPr/>
        <p:txBody>
          <a:bodyPr/>
          <a:lstStyle/>
          <a:p>
            <a:pPr rtl="0"/>
            <a:fld id="{9860EDB8-5305-433F-BE41-D7A86D811DB3}" type="slidenum">
              <a:rPr lang="en-US" altLang="ja-JP" noProof="0" smtClean="0"/>
              <a:pPr rtl="0"/>
              <a:t>159</a:t>
            </a:fld>
            <a:endParaRPr lang="ja-JP" altLang="en-US" noProof="0"/>
          </a:p>
        </p:txBody>
      </p:sp>
      <p:sp>
        <p:nvSpPr>
          <p:cNvPr id="5" name="コンテンツ プレースホルダー 4">
            <a:extLst>
              <a:ext uri="{FF2B5EF4-FFF2-40B4-BE49-F238E27FC236}">
                <a16:creationId xmlns:a16="http://schemas.microsoft.com/office/drawing/2014/main" id="{218D7D6A-C682-EF52-E287-45B2D617822C}"/>
              </a:ext>
            </a:extLst>
          </p:cNvPr>
          <p:cNvSpPr>
            <a:spLocks noGrp="1"/>
          </p:cNvSpPr>
          <p:nvPr>
            <p:ph sz="quarter" idx="13"/>
          </p:nvPr>
        </p:nvSpPr>
        <p:spPr/>
        <p:txBody>
          <a:bodyPr>
            <a:normAutofit/>
          </a:bodyPr>
          <a:lstStyle/>
          <a:p>
            <a:pPr marL="457200" indent="-457200">
              <a:buFont typeface="+mj-lt"/>
              <a:buAutoNum type="arabicPeriod"/>
            </a:pPr>
            <a:r>
              <a:rPr kumimoji="1" lang="ja-JP" altLang="en-US" sz="2000" dirty="0"/>
              <a:t>回路図（ベンチマーク）を描く</a:t>
            </a:r>
            <a:endParaRPr kumimoji="1" lang="en-US" altLang="ja-JP" sz="2000" dirty="0"/>
          </a:p>
          <a:p>
            <a:pPr marL="457200" indent="-457200">
              <a:buFont typeface="+mj-lt"/>
              <a:buAutoNum type="arabicPeriod"/>
            </a:pPr>
            <a:r>
              <a:rPr lang="ja-JP" altLang="en-US" sz="2000" dirty="0"/>
              <a:t>シミュレーションをする</a:t>
            </a:r>
            <a:endParaRPr lang="en-US" altLang="ja-JP" sz="2000" dirty="0"/>
          </a:p>
          <a:p>
            <a:pPr marL="457200" indent="-457200">
              <a:buFont typeface="+mj-lt"/>
              <a:buAutoNum type="arabicPeriod"/>
            </a:pPr>
            <a:r>
              <a:rPr kumimoji="1" lang="ja-JP" altLang="en-US" sz="2000" dirty="0"/>
              <a:t>回路図を基にレイアウトを描く</a:t>
            </a:r>
            <a:endParaRPr kumimoji="1" lang="en-US" altLang="ja-JP" sz="2000" dirty="0"/>
          </a:p>
          <a:p>
            <a:pPr marL="457200" indent="-457200">
              <a:buFont typeface="+mj-lt"/>
              <a:buAutoNum type="arabicPeriod"/>
            </a:pPr>
            <a:r>
              <a:rPr lang="ja-JP" altLang="en-US" sz="2000" b="1" dirty="0">
                <a:solidFill>
                  <a:schemeClr val="accent2"/>
                </a:solidFill>
              </a:rPr>
              <a:t>レイアウトを検証する</a:t>
            </a:r>
            <a:endParaRPr lang="en-US" altLang="ja-JP" sz="2000" b="1" dirty="0">
              <a:solidFill>
                <a:schemeClr val="accent2"/>
              </a:solidFill>
            </a:endParaRPr>
          </a:p>
          <a:p>
            <a:pPr marL="457200" indent="-457200">
              <a:buFont typeface="+mj-lt"/>
              <a:buAutoNum type="arabicPeriod"/>
            </a:pPr>
            <a:r>
              <a:rPr kumimoji="1" lang="ja-JP" altLang="en-US" sz="2000" dirty="0"/>
              <a:t>レイアウトを基に寄生成分を考慮したシミュレーションをする</a:t>
            </a:r>
            <a:br>
              <a:rPr kumimoji="1" lang="en-US" altLang="ja-JP" sz="2000" dirty="0"/>
            </a:br>
            <a:endParaRPr kumimoji="1" lang="en-US" altLang="ja-JP" sz="2000" dirty="0"/>
          </a:p>
          <a:p>
            <a:pPr marL="457200" indent="-457200">
              <a:buFont typeface="+mj-lt"/>
              <a:buAutoNum type="arabicPeriod"/>
            </a:pPr>
            <a:endParaRPr kumimoji="1" lang="en-US" altLang="ja-JP" sz="2000" dirty="0"/>
          </a:p>
          <a:p>
            <a:pPr marL="457200" indent="-457200">
              <a:buFont typeface="+mj-lt"/>
              <a:buAutoNum type="arabicPeriod"/>
            </a:pPr>
            <a:r>
              <a:rPr lang="ja-JP" altLang="en-US" sz="2000" dirty="0"/>
              <a:t>（フレームに載せる）</a:t>
            </a:r>
            <a:endParaRPr kumimoji="1" lang="en-US" altLang="ja-JP" sz="2000" dirty="0"/>
          </a:p>
        </p:txBody>
      </p:sp>
    </p:spTree>
    <p:extLst>
      <p:ext uri="{BB962C8B-B14F-4D97-AF65-F5344CB8AC3E}">
        <p14:creationId xmlns:p14="http://schemas.microsoft.com/office/powerpoint/2010/main" val="164171743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9CCA59-293E-3A40-4986-4A314B90FE9A}"/>
              </a:ext>
            </a:extLst>
          </p:cNvPr>
          <p:cNvSpPr>
            <a:spLocks noGrp="1"/>
          </p:cNvSpPr>
          <p:nvPr>
            <p:ph type="title"/>
          </p:nvPr>
        </p:nvSpPr>
        <p:spPr/>
        <p:txBody>
          <a:bodyPr/>
          <a:lstStyle/>
          <a:p>
            <a:r>
              <a:rPr lang="en-US" altLang="ja-JP" dirty="0"/>
              <a:t>3zki / wsl_gf180mcu </a:t>
            </a:r>
            <a:r>
              <a:rPr lang="ja-JP" altLang="en-US" dirty="0"/>
              <a:t>で利用できる レイアウト検証</a:t>
            </a:r>
            <a:endParaRPr kumimoji="1" lang="ja-JP" altLang="en-US" dirty="0"/>
          </a:p>
        </p:txBody>
      </p:sp>
      <p:sp>
        <p:nvSpPr>
          <p:cNvPr id="3" name="コンテンツ プレースホルダー 2">
            <a:extLst>
              <a:ext uri="{FF2B5EF4-FFF2-40B4-BE49-F238E27FC236}">
                <a16:creationId xmlns:a16="http://schemas.microsoft.com/office/drawing/2014/main" id="{CAB1E9A4-FE85-F645-6CE1-0C3ABCDE6CCC}"/>
              </a:ext>
            </a:extLst>
          </p:cNvPr>
          <p:cNvSpPr>
            <a:spLocks noGrp="1"/>
          </p:cNvSpPr>
          <p:nvPr>
            <p:ph idx="1"/>
          </p:nvPr>
        </p:nvSpPr>
        <p:spPr>
          <a:xfrm>
            <a:off x="448056" y="1447799"/>
            <a:ext cx="11210543" cy="5115749"/>
          </a:xfrm>
        </p:spPr>
        <p:txBody>
          <a:bodyPr>
            <a:normAutofit/>
          </a:bodyPr>
          <a:lstStyle/>
          <a:p>
            <a:r>
              <a:rPr kumimoji="1" lang="en-US" altLang="ja-JP" sz="2000" dirty="0"/>
              <a:t>Design Rules Check (DRC)</a:t>
            </a:r>
          </a:p>
          <a:p>
            <a:pPr lvl="1"/>
            <a:r>
              <a:rPr lang="ja-JP" altLang="en-US" sz="2000" dirty="0"/>
              <a:t>指定されたデザインルールから違反していないか検証</a:t>
            </a:r>
            <a:endParaRPr lang="en-US" altLang="ja-JP" sz="2000" dirty="0"/>
          </a:p>
          <a:p>
            <a:endParaRPr kumimoji="1" lang="en-US" altLang="ja-JP" sz="2000" dirty="0"/>
          </a:p>
          <a:p>
            <a:endParaRPr kumimoji="1" lang="en-US" altLang="ja-JP" sz="2000" dirty="0"/>
          </a:p>
          <a:p>
            <a:r>
              <a:rPr kumimoji="1" lang="en-US" altLang="ja-JP" sz="2000" dirty="0"/>
              <a:t>Layout Versus Schematic (LVS)</a:t>
            </a:r>
          </a:p>
          <a:p>
            <a:pPr lvl="1"/>
            <a:r>
              <a:rPr kumimoji="1" lang="ja-JP" altLang="en-US" sz="2000" dirty="0"/>
              <a:t>レイアウトが回路図通りに描けているか検証</a:t>
            </a:r>
            <a:endParaRPr kumimoji="1" lang="en-US" altLang="ja-JP" sz="2000" dirty="0"/>
          </a:p>
        </p:txBody>
      </p:sp>
      <p:sp>
        <p:nvSpPr>
          <p:cNvPr id="4" name="日付プレースホルダー 3">
            <a:extLst>
              <a:ext uri="{FF2B5EF4-FFF2-40B4-BE49-F238E27FC236}">
                <a16:creationId xmlns:a16="http://schemas.microsoft.com/office/drawing/2014/main" id="{8ED84BED-AA3E-F1FB-D56A-A90324455DBA}"/>
              </a:ext>
            </a:extLst>
          </p:cNvPr>
          <p:cNvSpPr>
            <a:spLocks noGrp="1"/>
          </p:cNvSpPr>
          <p:nvPr>
            <p:ph type="dt" sz="half" idx="10"/>
          </p:nvPr>
        </p:nvSpPr>
        <p:spPr/>
        <p:txBody>
          <a:bodyPr/>
          <a:lstStyle/>
          <a:p>
            <a:fld id="{B036865C-2FD5-432B-AD74-ED9D0A99CF69}" type="datetime1">
              <a:rPr kumimoji="1" lang="ja-JP" altLang="en-US" smtClean="0"/>
              <a:t>2026/10/24</a:t>
            </a:fld>
            <a:endParaRPr kumimoji="1" lang="ja-JP" altLang="en-US"/>
          </a:p>
        </p:txBody>
      </p:sp>
      <p:sp>
        <p:nvSpPr>
          <p:cNvPr id="6" name="スライド番号プレースホルダー 5">
            <a:extLst>
              <a:ext uri="{FF2B5EF4-FFF2-40B4-BE49-F238E27FC236}">
                <a16:creationId xmlns:a16="http://schemas.microsoft.com/office/drawing/2014/main" id="{7734696A-0DA4-4502-6119-6CFDE210924C}"/>
              </a:ext>
            </a:extLst>
          </p:cNvPr>
          <p:cNvSpPr>
            <a:spLocks noGrp="1"/>
          </p:cNvSpPr>
          <p:nvPr>
            <p:ph type="sldNum" sz="quarter" idx="12"/>
          </p:nvPr>
        </p:nvSpPr>
        <p:spPr/>
        <p:txBody>
          <a:bodyPr/>
          <a:lstStyle/>
          <a:p>
            <a:fld id="{66E89953-8AEA-4BDF-A508-664B12926AB4}" type="slidenum">
              <a:rPr kumimoji="1" lang="ja-JP" altLang="en-US" smtClean="0"/>
              <a:t>160</a:t>
            </a:fld>
            <a:endParaRPr kumimoji="1" lang="ja-JP" altLang="en-US"/>
          </a:p>
        </p:txBody>
      </p:sp>
      <p:pic>
        <p:nvPicPr>
          <p:cNvPr id="9" name="図 8">
            <a:extLst>
              <a:ext uri="{FF2B5EF4-FFF2-40B4-BE49-F238E27FC236}">
                <a16:creationId xmlns:a16="http://schemas.microsoft.com/office/drawing/2014/main" id="{ADE3C296-7CEB-2051-AC5F-D09CFBC8A4D1}"/>
              </a:ext>
            </a:extLst>
          </p:cNvPr>
          <p:cNvPicPr>
            <a:picLocks noChangeAspect="1"/>
          </p:cNvPicPr>
          <p:nvPr/>
        </p:nvPicPr>
        <p:blipFill>
          <a:blip r:embed="rId3"/>
          <a:stretch>
            <a:fillRect/>
          </a:stretch>
        </p:blipFill>
        <p:spPr>
          <a:xfrm>
            <a:off x="6096000" y="1260976"/>
            <a:ext cx="3773750" cy="2377769"/>
          </a:xfrm>
          <a:prstGeom prst="rect">
            <a:avLst/>
          </a:prstGeom>
        </p:spPr>
      </p:pic>
      <p:pic>
        <p:nvPicPr>
          <p:cNvPr id="11" name="図 10">
            <a:extLst>
              <a:ext uri="{FF2B5EF4-FFF2-40B4-BE49-F238E27FC236}">
                <a16:creationId xmlns:a16="http://schemas.microsoft.com/office/drawing/2014/main" id="{AC1B7D22-8FF2-AF69-5322-77BD6468B1E6}"/>
              </a:ext>
            </a:extLst>
          </p:cNvPr>
          <p:cNvPicPr>
            <a:picLocks noChangeAspect="1"/>
          </p:cNvPicPr>
          <p:nvPr/>
        </p:nvPicPr>
        <p:blipFill>
          <a:blip r:embed="rId4"/>
          <a:stretch>
            <a:fillRect/>
          </a:stretch>
        </p:blipFill>
        <p:spPr>
          <a:xfrm>
            <a:off x="6096000" y="3822734"/>
            <a:ext cx="4729082" cy="2070905"/>
          </a:xfrm>
          <a:prstGeom prst="rect">
            <a:avLst/>
          </a:prstGeom>
        </p:spPr>
      </p:pic>
      <p:cxnSp>
        <p:nvCxnSpPr>
          <p:cNvPr id="12" name="直線矢印コネクタ 11">
            <a:extLst>
              <a:ext uri="{FF2B5EF4-FFF2-40B4-BE49-F238E27FC236}">
                <a16:creationId xmlns:a16="http://schemas.microsoft.com/office/drawing/2014/main" id="{D6E345EB-913C-0370-30FA-600630EDFDD4}"/>
              </a:ext>
            </a:extLst>
          </p:cNvPr>
          <p:cNvCxnSpPr/>
          <p:nvPr/>
        </p:nvCxnSpPr>
        <p:spPr>
          <a:xfrm>
            <a:off x="5259843" y="2803162"/>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1BF9CB9F-9579-026C-B992-176FE08F8BB5}"/>
              </a:ext>
            </a:extLst>
          </p:cNvPr>
          <p:cNvCxnSpPr/>
          <p:nvPr/>
        </p:nvCxnSpPr>
        <p:spPr>
          <a:xfrm>
            <a:off x="5259843" y="4311451"/>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F689983D-13B2-76D9-812A-B760F1C1A4E6}"/>
              </a:ext>
            </a:extLst>
          </p:cNvPr>
          <p:cNvSpPr/>
          <p:nvPr/>
        </p:nvSpPr>
        <p:spPr>
          <a:xfrm>
            <a:off x="533401" y="5076191"/>
            <a:ext cx="5347064" cy="897886"/>
          </a:xfrm>
          <a:prstGeom prst="rect">
            <a:avLst/>
          </a:prstGeom>
          <a:noFill/>
          <a:ln w="5715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2">
                    <a:lumMod val="25000"/>
                  </a:schemeClr>
                </a:solidFill>
              </a:rPr>
              <a:t>Magic DRC, Magic LVS</a:t>
            </a:r>
            <a:r>
              <a:rPr kumimoji="1" lang="ja-JP" altLang="en-US" dirty="0">
                <a:solidFill>
                  <a:schemeClr val="bg2">
                    <a:lumMod val="25000"/>
                  </a:schemeClr>
                </a:solidFill>
              </a:rPr>
              <a:t> は未整備です</a:t>
            </a:r>
            <a:endParaRPr kumimoji="1" lang="en-US" altLang="ja-JP" dirty="0">
              <a:solidFill>
                <a:schemeClr val="bg2">
                  <a:lumMod val="25000"/>
                </a:schemeClr>
              </a:solidFill>
            </a:endParaRPr>
          </a:p>
          <a:p>
            <a:pPr algn="ctr"/>
            <a:r>
              <a:rPr kumimoji="1" lang="en-US" altLang="ja-JP" dirty="0" err="1">
                <a:solidFill>
                  <a:schemeClr val="bg2">
                    <a:lumMod val="25000"/>
                  </a:schemeClr>
                </a:solidFill>
              </a:rPr>
              <a:t>KLayout</a:t>
            </a:r>
            <a:r>
              <a:rPr kumimoji="1" lang="en-US" altLang="ja-JP" dirty="0">
                <a:solidFill>
                  <a:schemeClr val="bg2">
                    <a:lumMod val="25000"/>
                  </a:schemeClr>
                </a:solidFill>
              </a:rPr>
              <a:t> DRC, </a:t>
            </a:r>
            <a:r>
              <a:rPr kumimoji="1" lang="en-US" altLang="ja-JP" dirty="0" err="1">
                <a:solidFill>
                  <a:schemeClr val="bg2">
                    <a:lumMod val="25000"/>
                  </a:schemeClr>
                </a:solidFill>
              </a:rPr>
              <a:t>KLayout</a:t>
            </a:r>
            <a:r>
              <a:rPr kumimoji="1" lang="en-US" altLang="ja-JP" dirty="0">
                <a:solidFill>
                  <a:schemeClr val="bg2">
                    <a:lumMod val="25000"/>
                  </a:schemeClr>
                </a:solidFill>
              </a:rPr>
              <a:t> LVS</a:t>
            </a:r>
            <a:r>
              <a:rPr kumimoji="1" lang="ja-JP" altLang="en-US" dirty="0">
                <a:solidFill>
                  <a:schemeClr val="bg2">
                    <a:lumMod val="25000"/>
                  </a:schemeClr>
                </a:solidFill>
              </a:rPr>
              <a:t>を使用してください</a:t>
            </a:r>
            <a:endParaRPr kumimoji="1" lang="en-US" altLang="ja-JP" dirty="0">
              <a:solidFill>
                <a:schemeClr val="bg2">
                  <a:lumMod val="25000"/>
                </a:schemeClr>
              </a:solidFill>
            </a:endParaRPr>
          </a:p>
        </p:txBody>
      </p:sp>
    </p:spTree>
    <p:extLst>
      <p:ext uri="{BB962C8B-B14F-4D97-AF65-F5344CB8AC3E}">
        <p14:creationId xmlns:p14="http://schemas.microsoft.com/office/powerpoint/2010/main" val="283531385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kumimoji="1" lang="en-US" altLang="ja-JP" dirty="0"/>
              <a:t>LVS</a:t>
            </a:r>
            <a:r>
              <a:rPr kumimoji="1" lang="ja-JP" altLang="en-US" dirty="0"/>
              <a:t>用ネットリストの出力方法　</a:t>
            </a:r>
            <a:r>
              <a:rPr kumimoji="1" lang="en-US" altLang="ja-JP" dirty="0"/>
              <a:t>(1/2)</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161</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上であらかじめ</a:t>
            </a:r>
            <a:r>
              <a:rPr lang="en-US" altLang="ja-JP" sz="2000" dirty="0"/>
              <a:t>LVS</a:t>
            </a:r>
            <a:r>
              <a:rPr lang="ja-JP" altLang="en-US" sz="2000" dirty="0"/>
              <a:t>用の</a:t>
            </a:r>
            <a:r>
              <a:rPr kumimoji="1" lang="ja-JP" altLang="en-US" sz="2000" dirty="0"/>
              <a:t>回路図を作成しておく。</a:t>
            </a:r>
            <a:endParaRPr kumimoji="1" lang="en-US" altLang="ja-JP" sz="2000" dirty="0"/>
          </a:p>
          <a:p>
            <a:pPr marL="285750" indent="-285750">
              <a:buFont typeface="Arial" panose="020B0604020202020204" pitchFamily="34" charset="0"/>
              <a:buChar char="•"/>
            </a:pPr>
            <a:r>
              <a:rPr kumimoji="1" lang="ja-JP" altLang="en-US" sz="2000" dirty="0"/>
              <a:t>ピンは</a:t>
            </a:r>
            <a:r>
              <a:rPr kumimoji="1" lang="en-US" altLang="ja-JP" sz="2000" dirty="0" err="1"/>
              <a:t>ipin</a:t>
            </a:r>
            <a:r>
              <a:rPr kumimoji="1" lang="en-US" altLang="ja-JP" sz="2000" dirty="0"/>
              <a:t>, </a:t>
            </a:r>
            <a:r>
              <a:rPr kumimoji="1" lang="en-US" altLang="ja-JP" sz="2000" dirty="0" err="1"/>
              <a:t>iopin</a:t>
            </a:r>
            <a:r>
              <a:rPr kumimoji="1" lang="en-US" altLang="ja-JP" sz="2000" dirty="0"/>
              <a:t>, </a:t>
            </a:r>
            <a:r>
              <a:rPr kumimoji="1" lang="en-US" altLang="ja-JP" sz="2000" dirty="0" err="1"/>
              <a:t>opin</a:t>
            </a:r>
            <a:r>
              <a:rPr kumimoji="1" lang="en-US" altLang="ja-JP" sz="2000" dirty="0"/>
              <a:t> </a:t>
            </a:r>
            <a:r>
              <a:rPr kumimoji="1" lang="ja-JP" altLang="en-US" sz="2000" dirty="0"/>
              <a:t>のみを使用する。</a:t>
            </a:r>
            <a:endParaRPr kumimoji="1" lang="en-US" altLang="ja-JP" sz="2000" dirty="0"/>
          </a:p>
          <a:p>
            <a:pPr marL="569214" lvl="1" indent="-285750"/>
            <a:r>
              <a:rPr kumimoji="1" lang="en-US" altLang="ja-JP" sz="2000" dirty="0" err="1"/>
              <a:t>vdd.sym</a:t>
            </a:r>
            <a:r>
              <a:rPr kumimoji="1" lang="ja-JP" altLang="en-US" sz="2000" dirty="0"/>
              <a:t>や</a:t>
            </a:r>
            <a:r>
              <a:rPr kumimoji="1" lang="en-US" altLang="ja-JP" sz="2000" dirty="0" err="1"/>
              <a:t>gnd.sym</a:t>
            </a:r>
            <a:r>
              <a:rPr lang="ja-JP" altLang="en-US" sz="2000" dirty="0"/>
              <a:t>を使用するとうまく通らない。</a:t>
            </a:r>
            <a:endParaRPr lang="en-US" altLang="ja-JP" sz="2000" dirty="0"/>
          </a:p>
          <a:p>
            <a:pPr marL="285750" indent="-285750"/>
            <a:endParaRPr lang="en-US" altLang="ja-JP" sz="2000" dirty="0"/>
          </a:p>
          <a:p>
            <a:pPr marL="342900" indent="-342900">
              <a:buFont typeface="Arial" panose="020B0604020202020204" pitchFamily="34" charset="0"/>
              <a:buChar char="•"/>
            </a:pPr>
            <a:r>
              <a:rPr lang="ja-JP" altLang="en-US" sz="2000" dirty="0"/>
              <a:t>ファイルを同じ名前にする 例</a:t>
            </a:r>
            <a:r>
              <a:rPr lang="en-US" altLang="ja-JP" sz="2000" dirty="0"/>
              <a:t>: </a:t>
            </a:r>
            <a:r>
              <a:rPr lang="en-US" altLang="ja-JP" sz="2000" dirty="0" err="1"/>
              <a:t>nand.sch</a:t>
            </a:r>
            <a:r>
              <a:rPr lang="en-US" altLang="ja-JP" sz="2000" dirty="0"/>
              <a:t>, </a:t>
            </a:r>
            <a:r>
              <a:rPr lang="en-US" altLang="ja-JP" sz="2000" dirty="0" err="1"/>
              <a:t>nand.gds</a:t>
            </a:r>
            <a:endParaRPr lang="en-US" altLang="ja-JP" sz="2000" dirty="0"/>
          </a:p>
        </p:txBody>
      </p:sp>
      <p:pic>
        <p:nvPicPr>
          <p:cNvPr id="7" name="図 6">
            <a:extLst>
              <a:ext uri="{FF2B5EF4-FFF2-40B4-BE49-F238E27FC236}">
                <a16:creationId xmlns:a16="http://schemas.microsoft.com/office/drawing/2014/main" id="{4D0C2BD8-18AD-E48C-E94A-8F7E6AA43DF9}"/>
              </a:ext>
            </a:extLst>
          </p:cNvPr>
          <p:cNvPicPr>
            <a:picLocks noChangeAspect="1"/>
          </p:cNvPicPr>
          <p:nvPr/>
        </p:nvPicPr>
        <p:blipFill>
          <a:blip r:embed="rId2"/>
          <a:stretch>
            <a:fillRect/>
          </a:stretch>
        </p:blipFill>
        <p:spPr>
          <a:xfrm>
            <a:off x="8231251" y="1772911"/>
            <a:ext cx="3486637" cy="3982006"/>
          </a:xfrm>
          <a:prstGeom prst="rect">
            <a:avLst/>
          </a:prstGeom>
        </p:spPr>
      </p:pic>
    </p:spTree>
    <p:extLst>
      <p:ext uri="{BB962C8B-B14F-4D97-AF65-F5344CB8AC3E}">
        <p14:creationId xmlns:p14="http://schemas.microsoft.com/office/powerpoint/2010/main" val="331128612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C35BD-0EBB-124B-AD29-B1BE9C379BD0}"/>
              </a:ext>
            </a:extLst>
          </p:cNvPr>
          <p:cNvSpPr>
            <a:spLocks noGrp="1"/>
          </p:cNvSpPr>
          <p:nvPr>
            <p:ph type="title"/>
          </p:nvPr>
        </p:nvSpPr>
        <p:spPr/>
        <p:txBody>
          <a:bodyPr/>
          <a:lstStyle/>
          <a:p>
            <a:r>
              <a:rPr kumimoji="1" lang="en-US" altLang="ja-JP" dirty="0"/>
              <a:t>LVS</a:t>
            </a:r>
            <a:r>
              <a:rPr kumimoji="1" lang="ja-JP" altLang="en-US" dirty="0"/>
              <a:t>用ネットリストの出力</a:t>
            </a:r>
            <a:r>
              <a:rPr lang="ja-JP" altLang="en-US" dirty="0"/>
              <a:t>方法</a:t>
            </a:r>
            <a:r>
              <a:rPr kumimoji="1" lang="ja-JP" altLang="en-US" dirty="0"/>
              <a:t>　</a:t>
            </a:r>
            <a:r>
              <a:rPr kumimoji="1" lang="en-US" altLang="ja-JP" dirty="0"/>
              <a:t>(2/2)</a:t>
            </a:r>
            <a:endParaRPr kumimoji="1" lang="ja-JP" altLang="en-US" dirty="0"/>
          </a:p>
        </p:txBody>
      </p:sp>
      <p:sp>
        <p:nvSpPr>
          <p:cNvPr id="3" name="日付プレースホルダー 2">
            <a:extLst>
              <a:ext uri="{FF2B5EF4-FFF2-40B4-BE49-F238E27FC236}">
                <a16:creationId xmlns:a16="http://schemas.microsoft.com/office/drawing/2014/main" id="{AE6D7EDB-B738-E4BC-2932-FA245FCEC97D}"/>
              </a:ext>
            </a:extLst>
          </p:cNvPr>
          <p:cNvSpPr>
            <a:spLocks noGrp="1"/>
          </p:cNvSpPr>
          <p:nvPr>
            <p:ph type="dt" sz="half" idx="10"/>
          </p:nvPr>
        </p:nvSpPr>
        <p:spPr/>
        <p:txBody>
          <a:bodyPr/>
          <a:lstStyle/>
          <a:p>
            <a:pPr rtl="0"/>
            <a:fld id="{53F92DB4-6B15-4C89-B975-2E0FF02C38A5}" type="datetime1">
              <a:rPr lang="ja-JP" altLang="en-US" noProof="0" smtClean="0"/>
              <a:t>2026/10/24</a:t>
            </a:fld>
            <a:endParaRPr lang="ja-JP" altLang="en-US" noProof="0"/>
          </a:p>
        </p:txBody>
      </p:sp>
      <p:sp>
        <p:nvSpPr>
          <p:cNvPr id="4" name="スライド番号プレースホルダー 3">
            <a:extLst>
              <a:ext uri="{FF2B5EF4-FFF2-40B4-BE49-F238E27FC236}">
                <a16:creationId xmlns:a16="http://schemas.microsoft.com/office/drawing/2014/main" id="{0A71B91A-59AB-81A8-CF5D-A1032B1F433D}"/>
              </a:ext>
            </a:extLst>
          </p:cNvPr>
          <p:cNvSpPr>
            <a:spLocks noGrp="1"/>
          </p:cNvSpPr>
          <p:nvPr>
            <p:ph type="sldNum" sz="quarter" idx="12"/>
          </p:nvPr>
        </p:nvSpPr>
        <p:spPr/>
        <p:txBody>
          <a:bodyPr/>
          <a:lstStyle/>
          <a:p>
            <a:pPr rtl="0"/>
            <a:fld id="{9860EDB8-5305-433F-BE41-D7A86D811DB3}" type="slidenum">
              <a:rPr lang="en-US" altLang="ja-JP" noProof="0" smtClean="0"/>
              <a:pPr rtl="0"/>
              <a:t>162</a:t>
            </a:fld>
            <a:endParaRPr lang="ja-JP" altLang="en-US" noProof="0"/>
          </a:p>
        </p:txBody>
      </p:sp>
      <p:sp>
        <p:nvSpPr>
          <p:cNvPr id="5" name="コンテンツ プレースホルダー 4">
            <a:extLst>
              <a:ext uri="{FF2B5EF4-FFF2-40B4-BE49-F238E27FC236}">
                <a16:creationId xmlns:a16="http://schemas.microsoft.com/office/drawing/2014/main" id="{ABDE2A9E-62B2-A426-A719-0A70F65E45F1}"/>
              </a:ext>
            </a:extLst>
          </p:cNvPr>
          <p:cNvSpPr>
            <a:spLocks noGrp="1"/>
          </p:cNvSpPr>
          <p:nvPr>
            <p:ph sz="quarter" idx="13"/>
          </p:nvPr>
        </p:nvSpPr>
        <p:spPr/>
        <p:txBody>
          <a:bodyPr>
            <a:normAutofit/>
          </a:bodyPr>
          <a:lstStyle/>
          <a:p>
            <a:pPr marL="285750" indent="-285750">
              <a:buFont typeface="Arial" panose="020B0604020202020204" pitchFamily="34" charset="0"/>
              <a:buChar char="•"/>
            </a:pPr>
            <a:r>
              <a:rPr lang="en-US" altLang="ja-JP" sz="2000" dirty="0" err="1"/>
              <a:t>xschem</a:t>
            </a:r>
            <a:r>
              <a:rPr lang="ja-JP" altLang="en-US" sz="2000" dirty="0"/>
              <a:t>上で</a:t>
            </a:r>
            <a:r>
              <a:rPr lang="en-US" altLang="ja-JP" sz="2000" b="1" dirty="0">
                <a:solidFill>
                  <a:schemeClr val="accent2"/>
                </a:solidFill>
              </a:rPr>
              <a:t>LVS</a:t>
            </a:r>
            <a:r>
              <a:rPr lang="ja-JP" altLang="en-US" sz="2000" b="1" dirty="0">
                <a:solidFill>
                  <a:schemeClr val="accent2"/>
                </a:solidFill>
              </a:rPr>
              <a:t>用</a:t>
            </a:r>
            <a:r>
              <a:rPr lang="ja-JP" altLang="en-US" sz="2000" dirty="0"/>
              <a:t>のネットリストを出力する</a:t>
            </a:r>
            <a:r>
              <a:rPr kumimoji="1" lang="ja-JP" altLang="en-US" sz="2000" dirty="0"/>
              <a:t>。</a:t>
            </a:r>
            <a:endParaRPr kumimoji="1" lang="en-US" altLang="ja-JP" sz="2000" dirty="0"/>
          </a:p>
          <a:p>
            <a:pPr marL="457200" indent="-457200">
              <a:buFont typeface="+mj-lt"/>
              <a:buAutoNum type="arabicPeriod"/>
            </a:pPr>
            <a:r>
              <a:rPr lang="ja-JP" altLang="en-US" sz="2000" dirty="0"/>
              <a:t>メニュー </a:t>
            </a:r>
            <a:r>
              <a:rPr lang="en-US" altLang="ja-JP" sz="2000" dirty="0"/>
              <a:t>Simulation &gt; LVS netlist </a:t>
            </a:r>
            <a:r>
              <a:rPr lang="ja-JP" altLang="en-US" sz="2000" dirty="0"/>
              <a:t>に✓を入れる</a:t>
            </a:r>
            <a:endParaRPr lang="en-US" altLang="ja-JP" sz="2000" dirty="0"/>
          </a:p>
          <a:p>
            <a:pPr marL="457200" indent="-457200">
              <a:buFont typeface="+mj-lt"/>
              <a:buAutoNum type="arabicPeriod"/>
            </a:pPr>
            <a:r>
              <a:rPr lang="en-US" altLang="ja-JP" sz="2000" dirty="0"/>
              <a:t>Netlist</a:t>
            </a:r>
            <a:r>
              <a:rPr lang="ja-JP" altLang="en-US" sz="2000" dirty="0"/>
              <a:t>を押す</a:t>
            </a:r>
            <a:endParaRPr lang="en-US" altLang="ja-JP" sz="2000" dirty="0"/>
          </a:p>
          <a:p>
            <a:pPr marL="457200" indent="-457200">
              <a:buFont typeface="+mj-lt"/>
              <a:buAutoNum type="arabicPeriod"/>
            </a:pPr>
            <a:endParaRPr lang="en-US" altLang="ja-JP" sz="2000" dirty="0"/>
          </a:p>
          <a:p>
            <a:pPr marL="457200" indent="-457200">
              <a:buFont typeface="Arial" panose="020B0604020202020204" pitchFamily="34" charset="0"/>
              <a:buChar char="•"/>
            </a:pPr>
            <a:r>
              <a:rPr lang="ja-JP" altLang="en-US" sz="2000" dirty="0"/>
              <a:t>終わったら閉じて良い</a:t>
            </a:r>
            <a:endParaRPr lang="en-US" altLang="ja-JP" sz="2000" dirty="0"/>
          </a:p>
          <a:p>
            <a:pPr marL="457200" indent="-457200">
              <a:buFont typeface="Arial" panose="020B0604020202020204" pitchFamily="34" charset="0"/>
              <a:buChar char="•"/>
            </a:pPr>
            <a:r>
              <a:rPr lang="ja-JP" altLang="en-US" sz="2000" dirty="0"/>
              <a:t>デフォルトの生成場所は </a:t>
            </a:r>
            <a:r>
              <a:rPr lang="en-US" altLang="ja-JP" sz="2000" dirty="0"/>
              <a:t>~/.</a:t>
            </a:r>
            <a:r>
              <a:rPr lang="en-US" altLang="ja-JP" sz="2000" dirty="0" err="1"/>
              <a:t>xschem</a:t>
            </a:r>
            <a:r>
              <a:rPr lang="en-US" altLang="ja-JP" sz="2000" dirty="0"/>
              <a:t>/simulations/</a:t>
            </a:r>
          </a:p>
          <a:p>
            <a:pPr marL="457200" indent="-457200">
              <a:buFont typeface="+mj-lt"/>
              <a:buAutoNum type="arabicPeriod"/>
            </a:pPr>
            <a:endParaRPr kumimoji="1" lang="en-US" altLang="ja-JP" sz="2000" dirty="0"/>
          </a:p>
        </p:txBody>
      </p:sp>
      <p:pic>
        <p:nvPicPr>
          <p:cNvPr id="9" name="図 8">
            <a:extLst>
              <a:ext uri="{FF2B5EF4-FFF2-40B4-BE49-F238E27FC236}">
                <a16:creationId xmlns:a16="http://schemas.microsoft.com/office/drawing/2014/main" id="{964C2CD0-2A6C-7238-09C0-0A1D980792A7}"/>
              </a:ext>
            </a:extLst>
          </p:cNvPr>
          <p:cNvPicPr>
            <a:picLocks noChangeAspect="1"/>
          </p:cNvPicPr>
          <p:nvPr/>
        </p:nvPicPr>
        <p:blipFill>
          <a:blip r:embed="rId2"/>
          <a:stretch>
            <a:fillRect/>
          </a:stretch>
        </p:blipFill>
        <p:spPr>
          <a:xfrm>
            <a:off x="6755124" y="1320676"/>
            <a:ext cx="3753374" cy="4744112"/>
          </a:xfrm>
          <a:prstGeom prst="rect">
            <a:avLst/>
          </a:prstGeom>
        </p:spPr>
      </p:pic>
      <p:cxnSp>
        <p:nvCxnSpPr>
          <p:cNvPr id="10" name="直線矢印コネクタ 9">
            <a:extLst>
              <a:ext uri="{FF2B5EF4-FFF2-40B4-BE49-F238E27FC236}">
                <a16:creationId xmlns:a16="http://schemas.microsoft.com/office/drawing/2014/main" id="{D605E5C1-68C2-54B3-FEFA-948F5B5E7EC8}"/>
              </a:ext>
            </a:extLst>
          </p:cNvPr>
          <p:cNvCxnSpPr/>
          <p:nvPr/>
        </p:nvCxnSpPr>
        <p:spPr>
          <a:xfrm>
            <a:off x="5582105" y="5367253"/>
            <a:ext cx="1173019"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149B2D3B-19C9-EDD1-28D8-44234453FC28}"/>
              </a:ext>
            </a:extLst>
          </p:cNvPr>
          <p:cNvCxnSpPr>
            <a:cxnSpLocks/>
          </p:cNvCxnSpPr>
          <p:nvPr/>
        </p:nvCxnSpPr>
        <p:spPr>
          <a:xfrm flipH="1">
            <a:off x="9454552" y="1626382"/>
            <a:ext cx="1518248"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0511101"/>
      </p:ext>
    </p:extLst>
  </p:cSld>
  <p:clrMapOvr>
    <a:masterClrMapping/>
  </p:clrMapOvr>
</p:sld>
</file>

<file path=ppt/theme/theme1.xml><?xml version="1.0" encoding="utf-8"?>
<a:theme xmlns:a="http://schemas.openxmlformats.org/drawingml/2006/main" name="ようこそ_文書">
  <a:themeElements>
    <a:clrScheme name="緑">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6061985_TF44889724_Win32.potx" id="{CE220313-E667-4DBC-B373-C1853ECA9094}" vid="{4053D2BB-4974-4800-BD1E-F398603442E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EFEE82-03DD-4F90-81E2-2AF29E1D81FB}">
  <ds:schemaRefs>
    <ds:schemaRef ds:uri="71af3243-3dd4-4a8d-8c0d-dd76da1f02a5"/>
    <ds:schemaRef ds:uri="http://www.w3.org/XML/1998/namespace"/>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230e9df3-be65-4c73-a93b-d1236ebd677e"/>
    <ds:schemaRef ds:uri="http://purl.org/dc/terms/"/>
    <ds:schemaRef ds:uri="http://schemas.microsoft.com/sharepoint/v3"/>
    <ds:schemaRef ds:uri="16c05727-aa75-4e4a-9b5f-8a80a116589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6FB6FBE4-5ACD-4115-9139-635E82C3D35A}">
  <ds:schemaRefs>
    <ds:schemaRef ds:uri="http://schemas.microsoft.com/sharepoint/v3/contenttype/forms"/>
  </ds:schemaRefs>
</ds:datastoreItem>
</file>

<file path=customXml/itemProps3.xml><?xml version="1.0" encoding="utf-8"?>
<ds:datastoreItem xmlns:ds="http://schemas.openxmlformats.org/officeDocument/2006/customXml" ds:itemID="{D7E109C5-7A21-42A3-B17A-36E7B8E5EF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オンライン プレゼンテーションのヒント</Template>
  <TotalTime>2280</TotalTime>
  <Words>7641</Words>
  <Application>Microsoft Office PowerPoint</Application>
  <PresentationFormat>ワイド画面</PresentationFormat>
  <Paragraphs>1331</Paragraphs>
  <Slides>162</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162</vt:i4>
      </vt:variant>
    </vt:vector>
  </HeadingPairs>
  <TitlesOfParts>
    <vt:vector size="170" baseType="lpstr">
      <vt:lpstr>Meiryo UI</vt:lpstr>
      <vt:lpstr>ＭＳ Ｐゴシック</vt:lpstr>
      <vt:lpstr></vt:lpstr>
      <vt:lpstr>Arial</vt:lpstr>
      <vt:lpstr>Cambria Math</vt:lpstr>
      <vt:lpstr>Segoe UI</vt:lpstr>
      <vt:lpstr>Segoe UI Light</vt:lpstr>
      <vt:lpstr>ようこそ_文書</vt:lpstr>
      <vt:lpstr>CMOSインバータ設計・半導体チップ製作ハンズオン(GF180mcu)</vt:lpstr>
      <vt:lpstr>最初に 1/3</vt:lpstr>
      <vt:lpstr>最初に 2/3</vt:lpstr>
      <vt:lpstr>最初に 3/3</vt:lpstr>
      <vt:lpstr>アジェンダ</vt:lpstr>
      <vt:lpstr>なぜ、半導体を学ぶのか？</vt:lpstr>
      <vt:lpstr>現在は、専用チップ化が進む世界</vt:lpstr>
      <vt:lpstr>半導体を自作する世界がやってきた</vt:lpstr>
      <vt:lpstr>次世代電子工作の世界へ</vt:lpstr>
      <vt:lpstr>半導体の基礎知識</vt:lpstr>
      <vt:lpstr>ICとは？</vt:lpstr>
      <vt:lpstr>プレーナ型FETプロセスとは</vt:lpstr>
      <vt:lpstr>プレーナ型FETプロセスで作れる素子</vt:lpstr>
      <vt:lpstr>PMOS, NMOSとは</vt:lpstr>
      <vt:lpstr>PMOS, NMOSとは</vt:lpstr>
      <vt:lpstr>NMOS 簡単な模式図</vt:lpstr>
      <vt:lpstr>NMOS 簡単な模式図</vt:lpstr>
      <vt:lpstr>NMOS 簡単な模式図</vt:lpstr>
      <vt:lpstr>NMOS 簡単な模式図</vt:lpstr>
      <vt:lpstr>PMOS, NMOSとは</vt:lpstr>
      <vt:lpstr>可変抵抗 vs NMOS</vt:lpstr>
      <vt:lpstr>NMOSの特性</vt:lpstr>
      <vt:lpstr>設計する前に…</vt:lpstr>
      <vt:lpstr>アナログ半導体の設計フロー</vt:lpstr>
      <vt:lpstr>アナログ半導体の設計フロー</vt:lpstr>
      <vt:lpstr>そもそもアナログ半導体回路設計に必要なものとは？</vt:lpstr>
      <vt:lpstr>PDKの場所</vt:lpstr>
      <vt:lpstr>回路図(ベンチマーク)を描いて・・・</vt:lpstr>
      <vt:lpstr>論理検証をして・・・</vt:lpstr>
      <vt:lpstr>レイアウトを描いて・・・</vt:lpstr>
      <vt:lpstr>レイアウトを検証して・・・</vt:lpstr>
      <vt:lpstr>寄生成分を抽出して・・・</vt:lpstr>
      <vt:lpstr>ベンチマークを作成して…</vt:lpstr>
      <vt:lpstr>ポストレイアウトシミュレーションをする</vt:lpstr>
      <vt:lpstr>全て完成したら指定のフレームに回路を載せる</vt:lpstr>
      <vt:lpstr>九州大学大学院システム情報科学府附属価値創造型半導体人材育成センター主催2025年度実習シリーズで採用</vt:lpstr>
      <vt:lpstr>書籍紹介コーナー</vt:lpstr>
      <vt:lpstr>アナログ半導体設計デモンストレーション</vt:lpstr>
      <vt:lpstr>CMOSインバータ（NOT論理回路）</vt:lpstr>
      <vt:lpstr>アナログ半導体の設計フロー</vt:lpstr>
      <vt:lpstr>論理検証</vt:lpstr>
      <vt:lpstr>CMOSインバーター回路の例</vt:lpstr>
      <vt:lpstr>作業用ディレクトリを作成する</vt:lpstr>
      <vt:lpstr>xschemの起動画面(この画面以外はインストールに失敗しています)</vt:lpstr>
      <vt:lpstr>xschem使い方：新規回路図とMODULEウィンドウ</vt:lpstr>
      <vt:lpstr>ファイルを保存する</vt:lpstr>
      <vt:lpstr>xschem使い方： gf180mcuD/libs.tech/のMODULEの選択：P-FET</vt:lpstr>
      <vt:lpstr>xschem使い方： MODULEの配置とプロパティ</vt:lpstr>
      <vt:lpstr>xschem使い方： 標準のMODULEの選択：VDD</vt:lpstr>
      <vt:lpstr>xschem使い方： 標準のMODULEの配置とプロパティ：VDD</vt:lpstr>
      <vt:lpstr>xschem使い方： 標準のMODULEの選択：ipin, opin, iopin</vt:lpstr>
      <vt:lpstr>xschem使い方： wireの引き方</vt:lpstr>
      <vt:lpstr>ハンズオン：CMOSインバータを作る</vt:lpstr>
      <vt:lpstr>ハンズオン：CMOSインバータのサンプル</vt:lpstr>
      <vt:lpstr>アナログ半導体の設計フロー</vt:lpstr>
      <vt:lpstr>xschem：ベンチマーク例</vt:lpstr>
      <vt:lpstr>xschem：ベンチマーク</vt:lpstr>
      <vt:lpstr>xschem：GF180_MODELSを記述する際の注意点x</vt:lpstr>
      <vt:lpstr>ngspice ：シミュレーションの実行</vt:lpstr>
      <vt:lpstr>ngspice：シミュレーション結果（3.3V素子の場合）</vt:lpstr>
      <vt:lpstr>ngspice：wrdata　と　gawによる波形表示</vt:lpstr>
      <vt:lpstr>ngspice：過渡応答、遅延時間</vt:lpstr>
      <vt:lpstr>ngspice：過渡解析ベンチマーク例</vt:lpstr>
      <vt:lpstr>ngspice：過渡解析シミュレーション結果</vt:lpstr>
      <vt:lpstr>ワンポイントアドバイス：サンプル回路の読み込み</vt:lpstr>
      <vt:lpstr>半導体の基礎知識</vt:lpstr>
      <vt:lpstr>インバータ回路の設計ポイント</vt:lpstr>
      <vt:lpstr>インバータ回路ってなにもの？</vt:lpstr>
      <vt:lpstr>トランジスタのパラメータ</vt:lpstr>
      <vt:lpstr>チャネル幅　Wを変えるとどうなる？</vt:lpstr>
      <vt:lpstr>ゲートの本数</vt:lpstr>
      <vt:lpstr>チャネル長　Lを変えるとどうなる？</vt:lpstr>
      <vt:lpstr>チャネル長　Lを変えるとどうなる？</vt:lpstr>
      <vt:lpstr>設計方針</vt:lpstr>
      <vt:lpstr>アナログ半導体の設計フロー</vt:lpstr>
      <vt:lpstr>半導体の基礎知識</vt:lpstr>
      <vt:lpstr>プレーナ（平面）型MOSトランジスタ</vt:lpstr>
      <vt:lpstr>レイアウトを描く上での注意</vt:lpstr>
      <vt:lpstr>プレーナ型PMOS</vt:lpstr>
      <vt:lpstr>プレーナ型PMOS</vt:lpstr>
      <vt:lpstr>プレーナ型PMOS</vt:lpstr>
      <vt:lpstr>プレーナ型NMOS</vt:lpstr>
      <vt:lpstr>プレーナ型NMOS</vt:lpstr>
      <vt:lpstr>プレーナ型NMOS</vt:lpstr>
      <vt:lpstr>PCELLでのボディの扱い</vt:lpstr>
      <vt:lpstr>レイヤーの名前と意味（カッコ内はOpenSUSI-TR10での名前）</vt:lpstr>
      <vt:lpstr>配線層ができるまで</vt:lpstr>
      <vt:lpstr>配線層ができるまで</vt:lpstr>
      <vt:lpstr>アナログ半導体の設計フロー</vt:lpstr>
      <vt:lpstr>Klayout：テンプレートを開く 1/2</vt:lpstr>
      <vt:lpstr>klayoutの起動画面(この画面以外はインストールに失敗しています)</vt:lpstr>
      <vt:lpstr>Klayout：テンプレートを開く 2/2</vt:lpstr>
      <vt:lpstr>Klayout：TOPセルの名前を変更する</vt:lpstr>
      <vt:lpstr>Klayout：公式PDKのレイアウト画面</vt:lpstr>
      <vt:lpstr>Klayout：バッググラウンドが「黒」のレイアウト画面</vt:lpstr>
      <vt:lpstr>Klayout：バックグラウンドを「黒」にする</vt:lpstr>
      <vt:lpstr>Klayout：デザインルールの場所</vt:lpstr>
      <vt:lpstr>Klayout：完成サンプル</vt:lpstr>
      <vt:lpstr>Klayout：P-Cellの使い方</vt:lpstr>
      <vt:lpstr>Klayout：P-Cellの使い方</vt:lpstr>
      <vt:lpstr>Klayout：P-Cellの使い方</vt:lpstr>
      <vt:lpstr>Klayout：P-Cellの使い方</vt:lpstr>
      <vt:lpstr>Pcellのパラメータ</vt:lpstr>
      <vt:lpstr>セルの共通パラメータ（Geometry）</vt:lpstr>
      <vt:lpstr>Klayout：タップ付　PFET と NFET</vt:lpstr>
      <vt:lpstr>Klayout：ネットリスト（ワイヤー）の引き方</vt:lpstr>
      <vt:lpstr>Klayout：ネットリスト（ワイヤー）の設定</vt:lpstr>
      <vt:lpstr>アナログ半導体の設計フロー</vt:lpstr>
      <vt:lpstr>Klayout：レイアウト検証</vt:lpstr>
      <vt:lpstr>Klayout：DRCエラー</vt:lpstr>
      <vt:lpstr>Klayout：DRC OK</vt:lpstr>
      <vt:lpstr>Magic：DRC OK</vt:lpstr>
      <vt:lpstr>Klayout：LVS用ネットリストの出力方法　(1/2)</vt:lpstr>
      <vt:lpstr>Klayout：LVS用ネットリストの出力方法　(2/2)</vt:lpstr>
      <vt:lpstr>Klayout：LVSの実行</vt:lpstr>
      <vt:lpstr>Klayout：LVS NG</vt:lpstr>
      <vt:lpstr>Klayout：LVS OK</vt:lpstr>
      <vt:lpstr>アナログLSIの設計フロー</vt:lpstr>
      <vt:lpstr>レイアウト検証 : PEX, Parasitic Extraction</vt:lpstr>
      <vt:lpstr>PEX前の下準備 : Flatten</vt:lpstr>
      <vt:lpstr>寄生抽出</vt:lpstr>
      <vt:lpstr>寄生容量を考慮したベンチマークに変更する</vt:lpstr>
      <vt:lpstr>外部ネットリストへのパスを通す</vt:lpstr>
      <vt:lpstr>外部ネットリスト用のシンボル作成</vt:lpstr>
      <vt:lpstr>外部ネットリスト用のシンボル作成　（基本形）</vt:lpstr>
      <vt:lpstr>外部ネットリスト用のシンボル作成例　（インバータ）</vt:lpstr>
      <vt:lpstr>外部ネットリスト用のシンボル作成例　（インバータ）</vt:lpstr>
      <vt:lpstr>ベンチマーク例</vt:lpstr>
      <vt:lpstr>シミュレーション結果</vt:lpstr>
      <vt:lpstr>シミュレーション結果</vt:lpstr>
      <vt:lpstr>アナログ半導体の設計フロー</vt:lpstr>
      <vt:lpstr>フレームとパッド</vt:lpstr>
      <vt:lpstr>ウェハーとレチクル（マスク）とフレームの関係</vt:lpstr>
      <vt:lpstr>MPW：今回の形態</vt:lpstr>
      <vt:lpstr>パッケージ</vt:lpstr>
      <vt:lpstr>ファブの関係性：PCB基板との対比</vt:lpstr>
      <vt:lpstr>パッドとESD</vt:lpstr>
      <vt:lpstr>ドライブ能力</vt:lpstr>
      <vt:lpstr>ngspice：過渡解析ベンチマークのCload=40pFにした例</vt:lpstr>
      <vt:lpstr>自分でフレームに載せる場合</vt:lpstr>
      <vt:lpstr>シリコンアート</vt:lpstr>
      <vt:lpstr>提出方法</vt:lpstr>
      <vt:lpstr>1bit-CPU設計（TR10）</vt:lpstr>
      <vt:lpstr>論理合成</vt:lpstr>
      <vt:lpstr>OpenLANEによる生成フロー</vt:lpstr>
      <vt:lpstr>生成フロー詳細</vt:lpstr>
      <vt:lpstr>論理回路の正体</vt:lpstr>
      <vt:lpstr>スタンダードセル</vt:lpstr>
      <vt:lpstr>スタンダードセルの特徴</vt:lpstr>
      <vt:lpstr>PowerPoint プレゼンテーション</vt:lpstr>
      <vt:lpstr>スタンダードセルの特徴</vt:lpstr>
      <vt:lpstr>回路をレイアウトにする工程</vt:lpstr>
      <vt:lpstr>アナログLSIの設計フロー</vt:lpstr>
      <vt:lpstr>公式PDKのレイアウト画面</vt:lpstr>
      <vt:lpstr>3zki / wsl_gf180mcu のレイアウト画面</vt:lpstr>
      <vt:lpstr>レイアウトを描く上での注意</vt:lpstr>
      <vt:lpstr>デザインルールの場所</vt:lpstr>
      <vt:lpstr>タップ付　PFET と NFET</vt:lpstr>
      <vt:lpstr>アナログLSIの設計フロー</vt:lpstr>
      <vt:lpstr>3zki / wsl_gf180mcu で利用できる レイアウト検証</vt:lpstr>
      <vt:lpstr>LVS用ネットリストの出力方法　(1/2)</vt:lpstr>
      <vt:lpstr>LVS用ネットリストの出力方法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アナログ開発ツールの使い方 (GF180MCU)</dc:title>
  <dc:creator>森瑞紀</dc:creator>
  <cp:keywords/>
  <cp:lastModifiedBy>Noritsuna Imamura</cp:lastModifiedBy>
  <cp:revision>108</cp:revision>
  <dcterms:created xsi:type="dcterms:W3CDTF">2023-11-10T01:55:50Z</dcterms:created>
  <dcterms:modified xsi:type="dcterms:W3CDTF">2026-10-24T05:48:17Z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